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ong, Thi Quynh Nhi  SH/HZA-HAAGS" userId="fa5d8dce-1e87-4da3-b2b1-08b1cf4c506d" providerId="ADAL" clId="{0E0F48B5-6ACB-41CC-903C-113F4497A02B}"/>
    <pc:docChg chg="modSld">
      <pc:chgData name="Duong, Thi Quynh Nhi  SH/HZA-HAAGS" userId="fa5d8dce-1e87-4da3-b2b1-08b1cf4c506d" providerId="ADAL" clId="{0E0F48B5-6ACB-41CC-903C-113F4497A02B}" dt="2026-03-19T10:10:48.806" v="0" actId="20577"/>
      <pc:docMkLst>
        <pc:docMk/>
      </pc:docMkLst>
      <pc:sldChg chg="modSp mod">
        <pc:chgData name="Duong, Thi Quynh Nhi  SH/HZA-HAAGS" userId="fa5d8dce-1e87-4da3-b2b1-08b1cf4c506d" providerId="ADAL" clId="{0E0F48B5-6ACB-41CC-903C-113F4497A02B}" dt="2026-03-19T10:10:48.806" v="0" actId="20577"/>
        <pc:sldMkLst>
          <pc:docMk/>
          <pc:sldMk cId="0" sldId="258"/>
        </pc:sldMkLst>
        <pc:spChg chg="mod">
          <ac:chgData name="Duong, Thi Quynh Nhi  SH/HZA-HAAGS" userId="fa5d8dce-1e87-4da3-b2b1-08b1cf4c506d" providerId="ADAL" clId="{0E0F48B5-6ACB-41CC-903C-113F4497A02B}" dt="2026-03-19T10:10:48.806" v="0" actId="20577"/>
          <ac:spMkLst>
            <pc:docMk/>
            <pc:sldMk cId="0" sldId="258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4262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E1D8037D-82B0-E99A-6877-475F006FD67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47337" y="4958080"/>
            <a:ext cx="4699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chemeClr val="bg1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33832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DuckDB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0" y="91440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analytische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In-Process-Datenbank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0" y="2834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CCCCC"/>
                </a:solidFill>
              </a:rPr>
              <a:t>Schnell  ·  Einfach  ·  Open Source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114800" y="4663440"/>
            <a:ext cx="5029200" cy="4800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297680" y="4709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8888"/>
                </a:solidFill>
              </a:rPr>
              <a:t>Gruppenreferat  |  Datenbanksysteme</a:t>
            </a:r>
            <a:endParaRPr lang="en-US" sz="140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188B52F-1E68-E433-3958-FC41BA9DD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" y="807720"/>
            <a:ext cx="2545080" cy="2545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45720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DuckDB?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1005840"/>
            <a:ext cx="2743200" cy="65836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20040" y="1664208"/>
            <a:ext cx="91440" cy="2999232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103327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</a:rPr>
              <a:t>Art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21208" y="1737360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Relationales DBMS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(eingebettet)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OLAP-orientiert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00400" y="100584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743200" cy="65836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00400" y="1664208"/>
            <a:ext cx="91440" cy="2999232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337560" y="103327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</a:rPr>
              <a:t>Architektur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401568" y="1737360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Spaltenbasierte Speicherung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Vektorisierte Ausführung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Single-Thread-fähig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080760" y="100584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080760" y="1005840"/>
            <a:ext cx="2743200" cy="65836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080760" y="1664208"/>
            <a:ext cx="91440" cy="2999232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217920" y="103327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</a:rPr>
              <a:t>Funktionsweise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281928" y="1737360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Läuft direkt im Prozess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Server notwendig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Ähnlich SQLite – für Analytics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320040" y="4736592"/>
            <a:ext cx="8503920" cy="3108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CC00"/>
                </a:solidFill>
              </a:rPr>
              <a:t>💡  DuckDB = "SQLite für Analytics"  –  eingebettet, schnell, kein Server</a:t>
            </a:r>
            <a:endParaRPr lang="en-US" sz="1400" dirty="0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3048C65-3B16-2289-A516-BD8B9B7AE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" y="167259"/>
            <a:ext cx="468630" cy="4686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45720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Vorteile</a:t>
            </a:r>
            <a:r>
              <a:rPr lang="en-US" sz="30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von DuckDB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2004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960120"/>
            <a:ext cx="91440" cy="118872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21208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Sehr </a:t>
            </a:r>
            <a:r>
              <a:rPr lang="en-US" sz="2000" b="1" dirty="0" err="1">
                <a:solidFill>
                  <a:srgbClr val="111111"/>
                </a:solidFill>
              </a:rPr>
              <a:t>hohe</a:t>
            </a:r>
            <a:r>
              <a:rPr lang="en-US" sz="2000" b="1" dirty="0">
                <a:solidFill>
                  <a:srgbClr val="111111"/>
                </a:solidFill>
              </a:rPr>
              <a:t> Performance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21208" y="14904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Vektorisierte Abfragen verarbeiten Millionen Zeilen in Sekunden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75488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960120"/>
            <a:ext cx="91440" cy="118872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956048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Keine Installation nötig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956048" y="14904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Läuft direkt im Prozess – kein Server, kein Setup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20040" y="231343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0040" y="2313432"/>
            <a:ext cx="91440" cy="118872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21208" y="24048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Breite Formatunterstützung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21208" y="284378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Liest CSV, Parquet, JSON, Arrow direkt aus Dateien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754880" y="231343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54880" y="2313432"/>
            <a:ext cx="91440" cy="118872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956048" y="24048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Python &amp; R Integration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956048" y="284378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Nahtlose Einbettung in Data-Science-Workflows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320040" y="3666744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20040" y="3666744"/>
            <a:ext cx="91440" cy="118872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21208" y="375818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11111"/>
                </a:solidFill>
              </a:rPr>
              <a:t>Kostenlos</a:t>
            </a:r>
            <a:r>
              <a:rPr lang="en-US" sz="2000" b="1" dirty="0">
                <a:solidFill>
                  <a:srgbClr val="111111"/>
                </a:solidFill>
              </a:rPr>
              <a:t> &amp; Open Source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21208" y="419709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MIT-Lizenz – frei nutzbar für Forschung und Produktion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4754880" y="3666744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754880" y="3666744"/>
            <a:ext cx="91440" cy="118872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956048" y="375818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11111"/>
                </a:solidFill>
              </a:rPr>
              <a:t>Vollständiges</a:t>
            </a:r>
            <a:r>
              <a:rPr lang="en-US" sz="2000" b="1" dirty="0">
                <a:solidFill>
                  <a:srgbClr val="111111"/>
                </a:solidFill>
              </a:rPr>
              <a:t> SQL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4956048" y="419709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Unterstützt Window-Funktionen, CTEs, komplexe Joins</a:t>
            </a:r>
            <a:endParaRPr lang="en-US" sz="1800" dirty="0"/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F92B5EF9-EB53-3120-9A5A-69D5D01E5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" y="167259"/>
            <a:ext cx="468630" cy="4686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45720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Nachteile</a:t>
            </a:r>
            <a:r>
              <a:rPr lang="en-US" sz="30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von DuckDB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20040" y="96012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960120"/>
            <a:ext cx="91440" cy="7132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51560" y="99669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Kein Multi-User-Betrieb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114800" y="99669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Nicht für gleichzeitige Schreibzugriffe mehrerer Nutzer geeignet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20040" y="178308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0040" y="1783080"/>
            <a:ext cx="91440" cy="7132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51560" y="181965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Kein Client-Server-Modus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114800" y="181965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Nicht netzwerkfähig – kein Zugriff von außen möglich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320040" y="260604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0040" y="2606040"/>
            <a:ext cx="91440" cy="7132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51560" y="264261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Schwaches OLTP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114800" y="264261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Nicht optimiert für häufige Einzel-Updates (kein Transaktions-Workload)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320040" y="342900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20040" y="3429000"/>
            <a:ext cx="91440" cy="7132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051560" y="346557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Junges Ökosystem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114800" y="346557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Weniger Tools &amp; Community-Ressourcen als PostgreSQL oder MySQL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320040" y="425196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320040" y="4251960"/>
            <a:ext cx="91440" cy="7132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051560" y="428853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Hoher RAM-Bedarf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4114800" y="428853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In-Memory-Verarbeitung kann bei sehr großen Datasets begrenzt sein</a:t>
            </a:r>
            <a:endParaRPr lang="en-US" sz="1800" dirty="0"/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FFDD3AE2-0EC2-A920-B739-BC4EC9AC4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" y="167259"/>
            <a:ext cx="468630" cy="4686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45720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Praxisbeispiel</a:t>
            </a:r>
            <a:r>
              <a:rPr lang="en-US" sz="30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Datensatz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365760" y="93268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Szenario: Online-Shop analysiert seine Bestelldaten (sales.csv)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7315200" cy="26060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</a:rPr>
                        <a:t>order_id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</a:rPr>
                        <a:t>customer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</a:rPr>
                        <a:t>product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</a:rPr>
                        <a:t>amount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</a:rPr>
                        <a:t>date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1001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Anna Müller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Laptop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€ 1.299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2024-01-15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1002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Ben Schmidt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Maus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€ 29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2024-01-16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1003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Clara Weber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Tastatur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€ 79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2024-02-01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1004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David Koch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Laptop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€ 1.299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2024-02-03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1005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Eva Braun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Monitor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€ 349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2024-02-14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20040" y="4133088"/>
            <a:ext cx="8503920" cy="84124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20040" y="4133088"/>
            <a:ext cx="109728" cy="8412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48640" y="4151376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DuckDB kann diese CSV </a:t>
            </a:r>
            <a:r>
              <a:rPr lang="en-US" sz="18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abfragen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vorherigen Import!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Befehl:  SELECT * FROM 'sales.csv' LIMIT 5;</a:t>
            </a:r>
            <a:endParaRPr lang="en-US" sz="180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29DD398-CB56-3284-C179-3309599F8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" y="167259"/>
            <a:ext cx="468630" cy="4686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45720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</a:t>
            </a:r>
            <a:r>
              <a:rPr lang="en-US" sz="3000" b="1" dirty="0" err="1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Abfragen</a:t>
            </a:r>
            <a:r>
              <a:rPr lang="en-US" sz="30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DuckDB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20040" y="960120"/>
            <a:ext cx="4206240" cy="22402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960120"/>
            <a:ext cx="4206240" cy="402336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978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</a:rPr>
              <a:t>Abfrage 1: Umsatz pro Produkt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11480" y="1389888"/>
            <a:ext cx="40233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product,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SUM(amount) AS umsatz,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AS bestellungen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'sales.csv'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product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umsatz DESC;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4206240" cy="22402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9160" y="960120"/>
            <a:ext cx="4206240" cy="402336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46320" y="978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</a:rPr>
              <a:t>Abfrage 2: Monatlicher Umsatz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800600" y="1389888"/>
            <a:ext cx="40233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strftime(date,'%Y-%m')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monat,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SUM(amount) AS umsatz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'sales.csv'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monat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monat;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0040" y="3227832"/>
            <a:ext cx="8595360" cy="1746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0040" y="3227832"/>
            <a:ext cx="91440" cy="1746504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8640" y="32522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</a:rPr>
              <a:t> Erwartetes Ergebnis (Abfrage 1):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924402"/>
              </p:ext>
            </p:extLst>
          </p:nvPr>
        </p:nvGraphicFramePr>
        <p:xfrm>
          <a:off x="594360" y="3550920"/>
          <a:ext cx="5029200" cy="13411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11111"/>
                          </a:solidFill>
                        </a:rPr>
                        <a:t>product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11111"/>
                          </a:solidFill>
                        </a:rPr>
                        <a:t>umsatz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11111"/>
                          </a:solidFill>
                        </a:rPr>
                        <a:t>bestellungen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Laptop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€ 2.598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Monitor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€ 349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Tastatur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€ 79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8" name="Grafik 17">
            <a:extLst>
              <a:ext uri="{FF2B5EF4-FFF2-40B4-BE49-F238E27FC236}">
                <a16:creationId xmlns:a16="http://schemas.microsoft.com/office/drawing/2014/main" id="{86CB74FC-1C9D-B96D-3BF0-8392EE551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" y="167259"/>
            <a:ext cx="468630" cy="4686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852160" y="2514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DuckDB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28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CCCCC"/>
                </a:solidFill>
              </a:rPr>
              <a:t>Wann lohnt sich DuckDB?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73736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Analytische Abfragen auf Datensätzen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 Science &amp; Exploration (Python / R)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Prototyping ohne Datenbankserver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Nicht für Mehrbenutzer-Webanwendungen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Nicht für transaktionslastige Systeme</a:t>
            </a:r>
            <a:endParaRPr lang="en-US" sz="200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2549334-EB88-EAD7-787D-226D9327A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059" y="722946"/>
            <a:ext cx="1670685" cy="16706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</Words>
  <Application>Microsoft Office PowerPoint</Application>
  <PresentationFormat>Bildschirmpräsentation (16:9)</PresentationFormat>
  <Paragraphs>121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3" baseType="lpstr">
      <vt:lpstr>Aptos</vt:lpstr>
      <vt:lpstr>Arial</vt:lpstr>
      <vt:lpstr>Arial Black</vt:lpstr>
      <vt:lpstr>Calibri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DuckDB – Gruppenreferat</dc:title>
  <dc:subject>PptxGenJS Presentation</dc:subject>
  <dc:creator>PptxGenJS</dc:creator>
  <cp:lastModifiedBy>Duong, Thi Quynh Nhi  SH/HZA-HAAGS</cp:lastModifiedBy>
  <cp:revision>2</cp:revision>
  <dcterms:created xsi:type="dcterms:W3CDTF">2026-03-19T09:21:08Z</dcterms:created>
  <dcterms:modified xsi:type="dcterms:W3CDTF">2026-03-19T10:10:58Z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3c2d95-ffb8-4f09-8d49-eacb0a6220f7_Enabled">
    <vt:lpwstr>true</vt:lpwstr>
  </property>
  <property fmtid="{D5CDD505-2E9C-101B-9397-08002B2CF9AE}" pid="3" name="MSIP_Label_f33c2d95-ffb8-4f09-8d49-eacb0a6220f7_SetDate">
    <vt:lpwstr>2026-03-19T09:45:38Z</vt:lpwstr>
  </property>
  <property fmtid="{D5CDD505-2E9C-101B-9397-08002B2CF9AE}" pid="4" name="MSIP_Label_f33c2d95-ffb8-4f09-8d49-eacb0a6220f7_Method">
    <vt:lpwstr>Standard</vt:lpwstr>
  </property>
  <property fmtid="{D5CDD505-2E9C-101B-9397-08002B2CF9AE}" pid="5" name="MSIP_Label_f33c2d95-ffb8-4f09-8d49-eacb0a6220f7_Name">
    <vt:lpwstr>Internal</vt:lpwstr>
  </property>
  <property fmtid="{D5CDD505-2E9C-101B-9397-08002B2CF9AE}" pid="6" name="MSIP_Label_f33c2d95-ffb8-4f09-8d49-eacb0a6220f7_SiteId">
    <vt:lpwstr>67416604-6509-4014-9859-45e709f53d3f</vt:lpwstr>
  </property>
  <property fmtid="{D5CDD505-2E9C-101B-9397-08002B2CF9AE}" pid="7" name="MSIP_Label_f33c2d95-ffb8-4f09-8d49-eacb0a6220f7_ActionId">
    <vt:lpwstr>4ed5a4f4-3f4f-423e-a542-6416ac43ade3</vt:lpwstr>
  </property>
  <property fmtid="{D5CDD505-2E9C-101B-9397-08002B2CF9AE}" pid="8" name="MSIP_Label_f33c2d95-ffb8-4f09-8d49-eacb0a6220f7_ContentBits">
    <vt:lpwstr>2</vt:lpwstr>
  </property>
  <property fmtid="{D5CDD505-2E9C-101B-9397-08002B2CF9AE}" pid="9" name="MSIP_Label_f33c2d95-ffb8-4f09-8d49-eacb0a6220f7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INTERNAL</vt:lpwstr>
  </property>
</Properties>
</file>