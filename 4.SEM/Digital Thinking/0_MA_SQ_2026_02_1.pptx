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6"/>
  </p:notesMasterIdLst>
  <p:handoutMasterIdLst>
    <p:handoutMasterId r:id="rId47"/>
  </p:handoutMasterIdLst>
  <p:sldIdLst>
    <p:sldId id="353" r:id="rId2"/>
    <p:sldId id="847" r:id="rId3"/>
    <p:sldId id="849" r:id="rId4"/>
    <p:sldId id="764" r:id="rId5"/>
    <p:sldId id="957" r:id="rId6"/>
    <p:sldId id="966" r:id="rId7"/>
    <p:sldId id="962" r:id="rId8"/>
    <p:sldId id="391" r:id="rId9"/>
    <p:sldId id="435" r:id="rId10"/>
    <p:sldId id="840" r:id="rId11"/>
    <p:sldId id="841" r:id="rId12"/>
    <p:sldId id="960" r:id="rId13"/>
    <p:sldId id="438" r:id="rId14"/>
    <p:sldId id="439" r:id="rId15"/>
    <p:sldId id="861" r:id="rId16"/>
    <p:sldId id="850" r:id="rId17"/>
    <p:sldId id="776" r:id="rId18"/>
    <p:sldId id="744" r:id="rId19"/>
    <p:sldId id="777" r:id="rId20"/>
    <p:sldId id="759" r:id="rId21"/>
    <p:sldId id="738" r:id="rId22"/>
    <p:sldId id="740" r:id="rId23"/>
    <p:sldId id="741" r:id="rId24"/>
    <p:sldId id="767" r:id="rId25"/>
    <p:sldId id="956" r:id="rId26"/>
    <p:sldId id="967" r:id="rId27"/>
    <p:sldId id="720" r:id="rId28"/>
    <p:sldId id="833" r:id="rId29"/>
    <p:sldId id="795" r:id="rId30"/>
    <p:sldId id="750" r:id="rId31"/>
    <p:sldId id="834" r:id="rId32"/>
    <p:sldId id="760" r:id="rId33"/>
    <p:sldId id="761" r:id="rId34"/>
    <p:sldId id="842" r:id="rId35"/>
    <p:sldId id="961" r:id="rId36"/>
    <p:sldId id="539" r:id="rId37"/>
    <p:sldId id="447" r:id="rId38"/>
    <p:sldId id="535" r:id="rId39"/>
    <p:sldId id="746" r:id="rId40"/>
    <p:sldId id="888" r:id="rId41"/>
    <p:sldId id="748" r:id="rId42"/>
    <p:sldId id="419" r:id="rId43"/>
    <p:sldId id="963" r:id="rId44"/>
    <p:sldId id="965" r:id="rId45"/>
  </p:sldIdLst>
  <p:sldSz cx="9144000" cy="6858000" type="screen4x3"/>
  <p:notesSz cx="6881813" cy="10002838"/>
  <p:defaultTextStyle>
    <a:defPPr>
      <a:defRPr lang="de-DE"/>
    </a:defPPr>
    <a:lvl1pPr marL="0" algn="l" defTabSz="914400" rtl="0" eaLnBrk="1" latinLnBrk="0" hangingPunct="1">
      <a:defRPr lang="de-DE" sz="1800" kern="1200">
        <a:solidFill>
          <a:schemeClr val="tx1"/>
        </a:solidFill>
        <a:latin typeface="Arial"/>
        <a:ea typeface="+mn-ea"/>
        <a:cs typeface="+mn-cs"/>
      </a:defRPr>
    </a:lvl1pPr>
    <a:lvl2pPr marL="457200" algn="l" defTabSz="914400" rtl="0" eaLnBrk="1" latinLnBrk="0" hangingPunct="1">
      <a:buClr>
        <a:srgbClr val="FDB913"/>
      </a:buClr>
      <a:buSzPct val="100000"/>
      <a:buFont typeface="wingdings"/>
      <a:buChar char=""/>
      <a:defRPr lang="de-DE" sz="1800" kern="1200">
        <a:solidFill>
          <a:schemeClr val="tx1"/>
        </a:solidFill>
        <a:latin typeface="Arial"/>
        <a:ea typeface="+mn-ea"/>
        <a:cs typeface="+mn-cs"/>
      </a:defRPr>
    </a:lvl2pPr>
    <a:lvl3pPr marL="914400" algn="l" defTabSz="914400" rtl="0" eaLnBrk="1" latinLnBrk="0" hangingPunct="1">
      <a:buClr>
        <a:srgbClr val="666666"/>
      </a:buClr>
      <a:buSzPct val="80000"/>
      <a:buFont typeface="Wingdings"/>
      <a:buChar char="n"/>
      <a:defRPr lang="de-DE" sz="1400" kern="1200">
        <a:solidFill>
          <a:schemeClr val="tx1"/>
        </a:solidFill>
        <a:latin typeface="Arial"/>
        <a:ea typeface="+mn-ea"/>
        <a:cs typeface="+mn-cs"/>
      </a:defRPr>
    </a:lvl3pPr>
    <a:lvl4pPr marL="1371600" algn="l" defTabSz="914400" rtl="0" eaLnBrk="1" latinLnBrk="0" hangingPunct="1">
      <a:buClr>
        <a:srgbClr val="666666"/>
      </a:buClr>
      <a:buSzPct val="80000"/>
      <a:buFont typeface="Arial"/>
      <a:buChar char=""/>
      <a:defRPr lang="de-DE" sz="1200" kern="1200">
        <a:solidFill>
          <a:schemeClr val="tx1"/>
        </a:solidFill>
        <a:latin typeface="Arial"/>
        <a:ea typeface="+mn-ea"/>
        <a:cs typeface="+mn-cs"/>
      </a:defRPr>
    </a:lvl4pPr>
    <a:lvl5pPr marL="1828800" algn="l" defTabSz="914400" rtl="0" eaLnBrk="1" latinLnBrk="0" hangingPunct="1">
      <a:buClr>
        <a:srgbClr val="666666"/>
      </a:buClr>
      <a:buSzPct val="80000"/>
      <a:buFont typeface="Arial"/>
      <a:buChar char=""/>
      <a:defRPr lang="de-DE" sz="1000" kern="1200">
        <a:solidFill>
          <a:schemeClr val="tx1"/>
        </a:solidFill>
        <a:latin typeface="Arial"/>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117">
          <p15:clr>
            <a:srgbClr val="A4A3A4"/>
          </p15:clr>
        </p15:guide>
        <p15:guide id="2" orient="horz" pos="206">
          <p15:clr>
            <a:srgbClr val="A4A3A4"/>
          </p15:clr>
        </p15:guide>
        <p15:guide id="3" orient="horz" pos="3834">
          <p15:clr>
            <a:srgbClr val="A4A3A4"/>
          </p15:clr>
        </p15:guide>
        <p15:guide id="4" orient="horz" pos="1065">
          <p15:clr>
            <a:srgbClr val="A4A3A4"/>
          </p15:clr>
        </p15:guide>
        <p15:guide id="5" orient="horz" pos="777">
          <p15:clr>
            <a:srgbClr val="A4A3A4"/>
          </p15:clr>
        </p15:guide>
        <p15:guide id="6" pos="5556">
          <p15:clr>
            <a:srgbClr val="A4A3A4"/>
          </p15:clr>
        </p15:guide>
        <p15:guide id="7" pos="206">
          <p15:clr>
            <a:srgbClr val="A4A3A4"/>
          </p15:clr>
        </p15:guide>
        <p15:guide id="8" pos="2886">
          <p15:clr>
            <a:srgbClr val="A4A3A4"/>
          </p15:clr>
        </p15:guide>
      </p15:sldGuideLst>
    </p:ext>
    <p:ext uri="{2D200454-40CA-4A62-9FC3-DE9A4176ACB9}">
      <p15:notesGuideLst xmlns:p15="http://schemas.microsoft.com/office/powerpoint/2012/main">
        <p15:guide id="1" orient="horz" pos="3151" userDrawn="1">
          <p15:clr>
            <a:srgbClr val="A4A3A4"/>
          </p15:clr>
        </p15:guide>
        <p15:guide id="2" pos="2168"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clrMru>
    <a:srgbClr val="FF5050"/>
    <a:srgbClr val="003283"/>
    <a:srgbClr val="FF0000"/>
    <a:srgbClr val="666666"/>
    <a:srgbClr val="2B3F7B"/>
    <a:srgbClr val="9C277B"/>
    <a:srgbClr val="D4652D"/>
    <a:srgbClr val="9E3039"/>
    <a:srgbClr val="9999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D5ABB26-0587-4C30-8999-92F81FD0307C}">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68D230F3-CF80-4859-8CE7-A43EE81993B5}" styleName="Helle Formatvorlage 1 - Akz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E8B1032C-EA38-4F05-BA0D-38AFFFC7BED3}" styleName="Helle Formatvorlage 3 - Akz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284E427A-3D55-4303-BF80-6455036E1DE7}" styleName="Designformatvorlage 1 - Akz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06799F8-075E-4A3A-A7F6-7FBC6576F1A4}" styleName="Designformatvorlage 2 - Akz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38B1855-1B75-4FBE-930C-398BA8C253C6}" styleName="Designformatvorlage 2 - Akz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184" autoAdjust="0"/>
    <p:restoredTop sz="94704" autoAdjust="0"/>
  </p:normalViewPr>
  <p:slideViewPr>
    <p:cSldViewPr snapToGrid="0" showGuides="1">
      <p:cViewPr varScale="1">
        <p:scale>
          <a:sx n="104" d="100"/>
          <a:sy n="104" d="100"/>
        </p:scale>
        <p:origin x="1530" y="108"/>
      </p:cViewPr>
      <p:guideLst>
        <p:guide orient="horz" pos="4117"/>
        <p:guide orient="horz" pos="206"/>
        <p:guide orient="horz" pos="3834"/>
        <p:guide orient="horz" pos="1065"/>
        <p:guide orient="horz" pos="777"/>
        <p:guide pos="5556"/>
        <p:guide pos="206"/>
        <p:guide pos="2886"/>
      </p:guideLst>
    </p:cSldViewPr>
  </p:slideViewPr>
  <p:notesTextViewPr>
    <p:cViewPr>
      <p:scale>
        <a:sx n="100" d="100"/>
        <a:sy n="100" d="100"/>
      </p:scale>
      <p:origin x="0" y="0"/>
    </p:cViewPr>
  </p:notesTextViewPr>
  <p:sorterViewPr>
    <p:cViewPr>
      <p:scale>
        <a:sx n="125" d="100"/>
        <a:sy n="125" d="100"/>
      </p:scale>
      <p:origin x="0" y="0"/>
    </p:cViewPr>
  </p:sorterViewPr>
  <p:notesViewPr>
    <p:cSldViewPr snapToGrid="0" showGuides="1">
      <p:cViewPr>
        <p:scale>
          <a:sx n="75" d="100"/>
          <a:sy n="75" d="100"/>
        </p:scale>
        <p:origin x="-4402" y="-562"/>
      </p:cViewPr>
      <p:guideLst>
        <p:guide orient="horz" pos="3151"/>
        <p:guide pos="2168"/>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handoutMaster" Target="handoutMasters/handout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Slide Number Placeholder 4"/>
          <p:cNvSpPr>
            <a:spLocks noGrp="1"/>
          </p:cNvSpPr>
          <p:nvPr>
            <p:ph type="sldNum" sz="quarter" idx="3"/>
          </p:nvPr>
        </p:nvSpPr>
        <p:spPr>
          <a:xfrm>
            <a:off x="1949848" y="9500961"/>
            <a:ext cx="2982119" cy="500142"/>
          </a:xfrm>
          <a:prstGeom prst="rect">
            <a:avLst/>
          </a:prstGeom>
        </p:spPr>
        <p:txBody>
          <a:bodyPr vert="horz" lIns="92300" tIns="46150" rIns="92300" bIns="46150" rtlCol="0" anchor="b"/>
          <a:lstStyle>
            <a:lvl1pPr algn="r">
              <a:defRPr sz="1200"/>
            </a:lvl1pPr>
          </a:lstStyle>
          <a:p>
            <a:pPr algn="ctr"/>
            <a:fld id="{47855BD9-AF71-426C-9B9B-B0E52B88852E}" type="slidenum">
              <a:rPr lang="de-DE" sz="1000"/>
              <a:pPr algn="ctr"/>
              <a:t>‹Nr.›</a:t>
            </a:fld>
            <a:endParaRPr lang="de-DE" sz="1000" dirty="0"/>
          </a:p>
        </p:txBody>
      </p:sp>
    </p:spTree>
    <p:extLst>
      <p:ext uri="{BB962C8B-B14F-4D97-AF65-F5344CB8AC3E}">
        <p14:creationId xmlns:p14="http://schemas.microsoft.com/office/powerpoint/2010/main" val="378067011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509588" y="427038"/>
            <a:ext cx="5862637" cy="4397375"/>
          </a:xfrm>
          <a:prstGeom prst="rect">
            <a:avLst/>
          </a:prstGeom>
          <a:noFill/>
          <a:ln w="12700">
            <a:solidFill>
              <a:prstClr val="black"/>
            </a:solidFill>
          </a:ln>
        </p:spPr>
        <p:txBody>
          <a:bodyPr vert="horz" lIns="92300" tIns="46150" rIns="92300" bIns="46150" rtlCol="0" anchor="ctr"/>
          <a:lstStyle/>
          <a:p>
            <a:endParaRPr lang="de-DE" dirty="0"/>
          </a:p>
        </p:txBody>
      </p:sp>
      <p:sp>
        <p:nvSpPr>
          <p:cNvPr id="5" name="Notes Placeholder 4"/>
          <p:cNvSpPr>
            <a:spLocks noGrp="1"/>
          </p:cNvSpPr>
          <p:nvPr>
            <p:ph type="body" sz="quarter" idx="3"/>
          </p:nvPr>
        </p:nvSpPr>
        <p:spPr>
          <a:xfrm>
            <a:off x="753207" y="5148127"/>
            <a:ext cx="5375400" cy="4309255"/>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p:txBody>
      </p:sp>
      <p:sp>
        <p:nvSpPr>
          <p:cNvPr id="7" name="Slide Number Placeholder 6"/>
          <p:cNvSpPr>
            <a:spLocks noGrp="1"/>
          </p:cNvSpPr>
          <p:nvPr>
            <p:ph type="sldNum" sz="quarter" idx="5"/>
          </p:nvPr>
        </p:nvSpPr>
        <p:spPr>
          <a:xfrm>
            <a:off x="2967782" y="9752770"/>
            <a:ext cx="946250" cy="224646"/>
          </a:xfrm>
          <a:prstGeom prst="rect">
            <a:avLst/>
          </a:prstGeom>
        </p:spPr>
        <p:txBody>
          <a:bodyPr vert="horz" lIns="92300" tIns="46150" rIns="92300" bIns="46150" rtlCol="0" anchor="b"/>
          <a:lstStyle>
            <a:lvl1pPr algn="ctr">
              <a:defRPr sz="1000"/>
            </a:lvl1pPr>
          </a:lstStyle>
          <a:p>
            <a:fld id="{7D8C2C35-2B8A-446E-BEC0-FD36716C29AC}" type="slidenum">
              <a:rPr lang="de-DE" smtClean="0"/>
              <a:pPr/>
              <a:t>‹Nr.›</a:t>
            </a:fld>
            <a:endParaRPr lang="de-DE" dirty="0"/>
          </a:p>
        </p:txBody>
      </p:sp>
    </p:spTree>
    <p:extLst>
      <p:ext uri="{BB962C8B-B14F-4D97-AF65-F5344CB8AC3E}">
        <p14:creationId xmlns:p14="http://schemas.microsoft.com/office/powerpoint/2010/main" val="19087484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180975" indent="-180975" algn="l" defTabSz="914400" rtl="0" eaLnBrk="1" latinLnBrk="0" hangingPunct="1">
      <a:buClr>
        <a:schemeClr val="accent1"/>
      </a:buClr>
      <a:buSzPct val="100000"/>
      <a:buFont typeface="Wingdings" pitchFamily="2" charset="2"/>
      <a:buChar char=""/>
      <a:defRPr sz="1100" kern="1200">
        <a:solidFill>
          <a:schemeClr val="tx1"/>
        </a:solidFill>
        <a:latin typeface="+mn-lt"/>
        <a:ea typeface="+mn-ea"/>
        <a:cs typeface="+mn-cs"/>
      </a:defRPr>
    </a:lvl2pPr>
    <a:lvl3pPr marL="357188" indent="-176213" algn="l" defTabSz="914400" rtl="0" eaLnBrk="1" latinLnBrk="0" hangingPunct="1">
      <a:buClr>
        <a:schemeClr val="accent2"/>
      </a:buClr>
      <a:buSzPct val="80000"/>
      <a:buFont typeface="Symbol" pitchFamily="18" charset="2"/>
      <a:buChar char="-"/>
      <a:defRPr sz="1000" kern="1200">
        <a:solidFill>
          <a:schemeClr val="tx1"/>
        </a:solidFill>
        <a:latin typeface="+mn-lt"/>
        <a:ea typeface="+mn-ea"/>
        <a:cs typeface="+mn-cs"/>
      </a:defRPr>
    </a:lvl3pPr>
    <a:lvl4pPr marL="566738" indent="-133350" algn="l" defTabSz="914400" rtl="0" eaLnBrk="1" latinLnBrk="0" hangingPunct="1">
      <a:buClr>
        <a:schemeClr val="accent2"/>
      </a:buClr>
      <a:buFont typeface="Arial" pitchFamily="34" charset="0"/>
      <a:buChar char="–"/>
      <a:defRPr sz="10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de-DE" dirty="0"/>
          </a:p>
        </p:txBody>
      </p:sp>
      <p:sp>
        <p:nvSpPr>
          <p:cNvPr id="4" name="Slide Number Placeholder 3"/>
          <p:cNvSpPr>
            <a:spLocks noGrp="1"/>
          </p:cNvSpPr>
          <p:nvPr>
            <p:ph type="sldNum" sz="quarter" idx="10"/>
          </p:nvPr>
        </p:nvSpPr>
        <p:spPr/>
        <p:txBody>
          <a:bodyPr/>
          <a:lstStyle/>
          <a:p>
            <a:fld id="{7D8C2C35-2B8A-446E-BEC0-FD36716C29AC}" type="slidenum">
              <a:rPr lang="de-DE" smtClean="0"/>
              <a:pPr/>
              <a:t>1</a:t>
            </a:fld>
            <a:endParaRPr lang="de-DE" dirty="0"/>
          </a:p>
        </p:txBody>
      </p:sp>
    </p:spTree>
    <p:extLst>
      <p:ext uri="{BB962C8B-B14F-4D97-AF65-F5344CB8AC3E}">
        <p14:creationId xmlns:p14="http://schemas.microsoft.com/office/powerpoint/2010/main" val="36989089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e-DE" dirty="0"/>
          </a:p>
        </p:txBody>
      </p:sp>
      <p:sp>
        <p:nvSpPr>
          <p:cNvPr id="4" name="Slide Number Placeholder 3"/>
          <p:cNvSpPr>
            <a:spLocks noGrp="1"/>
          </p:cNvSpPr>
          <p:nvPr>
            <p:ph type="sldNum" sz="quarter" idx="10"/>
          </p:nvPr>
        </p:nvSpPr>
        <p:spPr/>
        <p:txBody>
          <a:bodyPr/>
          <a:lstStyle/>
          <a:p>
            <a:fld id="{7D8C2C35-2B8A-446E-BEC0-FD36716C29AC}" type="slidenum">
              <a:rPr lang="de-DE" smtClean="0"/>
              <a:pPr/>
              <a:t>2</a:t>
            </a:fld>
            <a:endParaRPr lang="de-DE" dirty="0"/>
          </a:p>
        </p:txBody>
      </p:sp>
    </p:spTree>
    <p:extLst>
      <p:ext uri="{BB962C8B-B14F-4D97-AF65-F5344CB8AC3E}">
        <p14:creationId xmlns:p14="http://schemas.microsoft.com/office/powerpoint/2010/main" val="21296549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e-DE" dirty="0"/>
          </a:p>
        </p:txBody>
      </p:sp>
      <p:sp>
        <p:nvSpPr>
          <p:cNvPr id="4" name="Slide Number Placeholder 3"/>
          <p:cNvSpPr>
            <a:spLocks noGrp="1"/>
          </p:cNvSpPr>
          <p:nvPr>
            <p:ph type="sldNum" sz="quarter" idx="10"/>
          </p:nvPr>
        </p:nvSpPr>
        <p:spPr/>
        <p:txBody>
          <a:bodyPr/>
          <a:lstStyle/>
          <a:p>
            <a:fld id="{7D8C2C35-2B8A-446E-BEC0-FD36716C29AC}" type="slidenum">
              <a:rPr lang="de-DE" smtClean="0"/>
              <a:pPr/>
              <a:t>3</a:t>
            </a:fld>
            <a:endParaRPr lang="de-DE" dirty="0"/>
          </a:p>
        </p:txBody>
      </p:sp>
    </p:spTree>
    <p:extLst>
      <p:ext uri="{BB962C8B-B14F-4D97-AF65-F5344CB8AC3E}">
        <p14:creationId xmlns:p14="http://schemas.microsoft.com/office/powerpoint/2010/main" val="37107826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e-DE" dirty="0"/>
          </a:p>
        </p:txBody>
      </p:sp>
      <p:sp>
        <p:nvSpPr>
          <p:cNvPr id="4" name="Slide Number Placeholder 3"/>
          <p:cNvSpPr>
            <a:spLocks noGrp="1"/>
          </p:cNvSpPr>
          <p:nvPr>
            <p:ph type="sldNum" sz="quarter" idx="10"/>
          </p:nvPr>
        </p:nvSpPr>
        <p:spPr/>
        <p:txBody>
          <a:bodyPr/>
          <a:lstStyle/>
          <a:p>
            <a:fld id="{7D8C2C35-2B8A-446E-BEC0-FD36716C29AC}" type="slidenum">
              <a:rPr lang="de-DE" smtClean="0"/>
              <a:pPr/>
              <a:t>4</a:t>
            </a:fld>
            <a:endParaRPr lang="de-DE" dirty="0"/>
          </a:p>
        </p:txBody>
      </p:sp>
    </p:spTree>
    <p:extLst>
      <p:ext uri="{BB962C8B-B14F-4D97-AF65-F5344CB8AC3E}">
        <p14:creationId xmlns:p14="http://schemas.microsoft.com/office/powerpoint/2010/main" val="33846240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e-DE" dirty="0"/>
          </a:p>
        </p:txBody>
      </p:sp>
      <p:sp>
        <p:nvSpPr>
          <p:cNvPr id="4" name="Slide Number Placeholder 3"/>
          <p:cNvSpPr>
            <a:spLocks noGrp="1"/>
          </p:cNvSpPr>
          <p:nvPr>
            <p:ph type="sldNum" sz="quarter" idx="10"/>
          </p:nvPr>
        </p:nvSpPr>
        <p:spPr/>
        <p:txBody>
          <a:bodyPr/>
          <a:lstStyle/>
          <a:p>
            <a:fld id="{7D8C2C35-2B8A-446E-BEC0-FD36716C29AC}" type="slidenum">
              <a:rPr lang="de-DE" smtClean="0"/>
              <a:pPr/>
              <a:t>5</a:t>
            </a:fld>
            <a:endParaRPr lang="de-DE" dirty="0"/>
          </a:p>
        </p:txBody>
      </p:sp>
    </p:spTree>
    <p:extLst>
      <p:ext uri="{BB962C8B-B14F-4D97-AF65-F5344CB8AC3E}">
        <p14:creationId xmlns:p14="http://schemas.microsoft.com/office/powerpoint/2010/main" val="6221303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e-DE" dirty="0"/>
          </a:p>
        </p:txBody>
      </p:sp>
      <p:sp>
        <p:nvSpPr>
          <p:cNvPr id="4" name="Slide Number Placeholder 3"/>
          <p:cNvSpPr>
            <a:spLocks noGrp="1"/>
          </p:cNvSpPr>
          <p:nvPr>
            <p:ph type="sldNum" sz="quarter" idx="10"/>
          </p:nvPr>
        </p:nvSpPr>
        <p:spPr/>
        <p:txBody>
          <a:bodyPr/>
          <a:lstStyle/>
          <a:p>
            <a:fld id="{7D8C2C35-2B8A-446E-BEC0-FD36716C29AC}" type="slidenum">
              <a:rPr lang="de-DE" smtClean="0"/>
              <a:pPr/>
              <a:t>6</a:t>
            </a:fld>
            <a:endParaRPr lang="de-DE" dirty="0"/>
          </a:p>
        </p:txBody>
      </p:sp>
    </p:spTree>
    <p:extLst>
      <p:ext uri="{BB962C8B-B14F-4D97-AF65-F5344CB8AC3E}">
        <p14:creationId xmlns:p14="http://schemas.microsoft.com/office/powerpoint/2010/main" val="25879695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e-DE" dirty="0"/>
          </a:p>
        </p:txBody>
      </p:sp>
      <p:sp>
        <p:nvSpPr>
          <p:cNvPr id="4" name="Slide Number Placeholder 3"/>
          <p:cNvSpPr>
            <a:spLocks noGrp="1"/>
          </p:cNvSpPr>
          <p:nvPr>
            <p:ph type="sldNum" sz="quarter" idx="10"/>
          </p:nvPr>
        </p:nvSpPr>
        <p:spPr/>
        <p:txBody>
          <a:bodyPr/>
          <a:lstStyle/>
          <a:p>
            <a:fld id="{7D8C2C35-2B8A-446E-BEC0-FD36716C29AC}" type="slidenum">
              <a:rPr lang="de-DE" smtClean="0"/>
              <a:pPr/>
              <a:t>7</a:t>
            </a:fld>
            <a:endParaRPr lang="de-DE" dirty="0"/>
          </a:p>
        </p:txBody>
      </p:sp>
    </p:spTree>
    <p:extLst>
      <p:ext uri="{BB962C8B-B14F-4D97-AF65-F5344CB8AC3E}">
        <p14:creationId xmlns:p14="http://schemas.microsoft.com/office/powerpoint/2010/main" val="22957582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e-DE" dirty="0"/>
          </a:p>
        </p:txBody>
      </p:sp>
      <p:sp>
        <p:nvSpPr>
          <p:cNvPr id="4" name="Slide Number Placeholder 3"/>
          <p:cNvSpPr>
            <a:spLocks noGrp="1"/>
          </p:cNvSpPr>
          <p:nvPr>
            <p:ph type="sldNum" sz="quarter" idx="10"/>
          </p:nvPr>
        </p:nvSpPr>
        <p:spPr/>
        <p:txBody>
          <a:bodyPr/>
          <a:lstStyle/>
          <a:p>
            <a:fld id="{7D8C2C35-2B8A-446E-BEC0-FD36716C29AC}" type="slidenum">
              <a:rPr lang="de-DE" smtClean="0"/>
              <a:pPr/>
              <a:t>8</a:t>
            </a:fld>
            <a:endParaRPr lang="de-DE" dirty="0"/>
          </a:p>
        </p:txBody>
      </p:sp>
    </p:spTree>
    <p:extLst>
      <p:ext uri="{BB962C8B-B14F-4D97-AF65-F5344CB8AC3E}">
        <p14:creationId xmlns:p14="http://schemas.microsoft.com/office/powerpoint/2010/main" val="15942645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e-DE" dirty="0"/>
          </a:p>
        </p:txBody>
      </p:sp>
      <p:sp>
        <p:nvSpPr>
          <p:cNvPr id="4" name="Slide Number Placeholder 3"/>
          <p:cNvSpPr>
            <a:spLocks noGrp="1"/>
          </p:cNvSpPr>
          <p:nvPr>
            <p:ph type="sldNum" sz="quarter" idx="10"/>
          </p:nvPr>
        </p:nvSpPr>
        <p:spPr/>
        <p:txBody>
          <a:bodyPr/>
          <a:lstStyle/>
          <a:p>
            <a:fld id="{7D8C2C35-2B8A-446E-BEC0-FD36716C29AC}" type="slidenum">
              <a:rPr lang="de-DE" smtClean="0"/>
              <a:pPr/>
              <a:t>9</a:t>
            </a:fld>
            <a:endParaRPr lang="de-DE" dirty="0"/>
          </a:p>
        </p:txBody>
      </p:sp>
    </p:spTree>
    <p:extLst>
      <p:ext uri="{BB962C8B-B14F-4D97-AF65-F5344CB8AC3E}">
        <p14:creationId xmlns:p14="http://schemas.microsoft.com/office/powerpoint/2010/main" val="36117903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e-DE" dirty="0"/>
          </a:p>
        </p:txBody>
      </p:sp>
      <p:sp>
        <p:nvSpPr>
          <p:cNvPr id="4" name="Slide Number Placeholder 3"/>
          <p:cNvSpPr>
            <a:spLocks noGrp="1"/>
          </p:cNvSpPr>
          <p:nvPr>
            <p:ph type="sldNum" sz="quarter" idx="10"/>
          </p:nvPr>
        </p:nvSpPr>
        <p:spPr/>
        <p:txBody>
          <a:bodyPr/>
          <a:lstStyle/>
          <a:p>
            <a:fld id="{7D8C2C35-2B8A-446E-BEC0-FD36716C29AC}" type="slidenum">
              <a:rPr lang="de-DE" smtClean="0"/>
              <a:pPr/>
              <a:t>10</a:t>
            </a:fld>
            <a:endParaRPr lang="de-DE" dirty="0"/>
          </a:p>
        </p:txBody>
      </p:sp>
    </p:spTree>
    <p:extLst>
      <p:ext uri="{BB962C8B-B14F-4D97-AF65-F5344CB8AC3E}">
        <p14:creationId xmlns:p14="http://schemas.microsoft.com/office/powerpoint/2010/main" val="20773270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e-DE" dirty="0"/>
          </a:p>
        </p:txBody>
      </p:sp>
      <p:sp>
        <p:nvSpPr>
          <p:cNvPr id="4" name="Slide Number Placeholder 3"/>
          <p:cNvSpPr>
            <a:spLocks noGrp="1"/>
          </p:cNvSpPr>
          <p:nvPr>
            <p:ph type="sldNum" sz="quarter" idx="10"/>
          </p:nvPr>
        </p:nvSpPr>
        <p:spPr/>
        <p:txBody>
          <a:bodyPr/>
          <a:lstStyle/>
          <a:p>
            <a:fld id="{7D8C2C35-2B8A-446E-BEC0-FD36716C29AC}" type="slidenum">
              <a:rPr lang="de-DE" smtClean="0"/>
              <a:pPr/>
              <a:t>11</a:t>
            </a:fld>
            <a:endParaRPr lang="de-DE" dirty="0"/>
          </a:p>
        </p:txBody>
      </p:sp>
    </p:spTree>
    <p:extLst>
      <p:ext uri="{BB962C8B-B14F-4D97-AF65-F5344CB8AC3E}">
        <p14:creationId xmlns:p14="http://schemas.microsoft.com/office/powerpoint/2010/main" val="25431810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e-DE" dirty="0"/>
          </a:p>
        </p:txBody>
      </p:sp>
      <p:sp>
        <p:nvSpPr>
          <p:cNvPr id="4" name="Slide Number Placeholder 3"/>
          <p:cNvSpPr>
            <a:spLocks noGrp="1"/>
          </p:cNvSpPr>
          <p:nvPr>
            <p:ph type="sldNum" sz="quarter" idx="10"/>
          </p:nvPr>
        </p:nvSpPr>
        <p:spPr/>
        <p:txBody>
          <a:bodyPr/>
          <a:lstStyle/>
          <a:p>
            <a:fld id="{7D8C2C35-2B8A-446E-BEC0-FD36716C29AC}" type="slidenum">
              <a:rPr lang="de-DE" smtClean="0"/>
              <a:pPr/>
              <a:t>12</a:t>
            </a:fld>
            <a:endParaRPr lang="de-DE" dirty="0"/>
          </a:p>
        </p:txBody>
      </p:sp>
    </p:spTree>
    <p:extLst>
      <p:ext uri="{BB962C8B-B14F-4D97-AF65-F5344CB8AC3E}">
        <p14:creationId xmlns:p14="http://schemas.microsoft.com/office/powerpoint/2010/main" val="93364206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e-DE" dirty="0"/>
          </a:p>
        </p:txBody>
      </p:sp>
      <p:sp>
        <p:nvSpPr>
          <p:cNvPr id="4" name="Slide Number Placeholder 3"/>
          <p:cNvSpPr>
            <a:spLocks noGrp="1"/>
          </p:cNvSpPr>
          <p:nvPr>
            <p:ph type="sldNum" sz="quarter" idx="10"/>
          </p:nvPr>
        </p:nvSpPr>
        <p:spPr/>
        <p:txBody>
          <a:bodyPr/>
          <a:lstStyle/>
          <a:p>
            <a:fld id="{7D8C2C35-2B8A-446E-BEC0-FD36716C29AC}" type="slidenum">
              <a:rPr lang="de-DE" smtClean="0"/>
              <a:pPr/>
              <a:t>13</a:t>
            </a:fld>
            <a:endParaRPr lang="de-DE" dirty="0"/>
          </a:p>
        </p:txBody>
      </p:sp>
    </p:spTree>
    <p:extLst>
      <p:ext uri="{BB962C8B-B14F-4D97-AF65-F5344CB8AC3E}">
        <p14:creationId xmlns:p14="http://schemas.microsoft.com/office/powerpoint/2010/main" val="346968358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e-DE" dirty="0"/>
          </a:p>
        </p:txBody>
      </p:sp>
      <p:sp>
        <p:nvSpPr>
          <p:cNvPr id="4" name="Slide Number Placeholder 3"/>
          <p:cNvSpPr>
            <a:spLocks noGrp="1"/>
          </p:cNvSpPr>
          <p:nvPr>
            <p:ph type="sldNum" sz="quarter" idx="10"/>
          </p:nvPr>
        </p:nvSpPr>
        <p:spPr/>
        <p:txBody>
          <a:bodyPr/>
          <a:lstStyle/>
          <a:p>
            <a:fld id="{7D8C2C35-2B8A-446E-BEC0-FD36716C29AC}" type="slidenum">
              <a:rPr lang="de-DE" smtClean="0"/>
              <a:pPr/>
              <a:t>14</a:t>
            </a:fld>
            <a:endParaRPr lang="de-DE" dirty="0"/>
          </a:p>
        </p:txBody>
      </p:sp>
    </p:spTree>
    <p:extLst>
      <p:ext uri="{BB962C8B-B14F-4D97-AF65-F5344CB8AC3E}">
        <p14:creationId xmlns:p14="http://schemas.microsoft.com/office/powerpoint/2010/main" val="375944363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6"/>
        <p:cNvGrpSpPr/>
        <p:nvPr/>
      </p:nvGrpSpPr>
      <p:grpSpPr>
        <a:xfrm>
          <a:off x="0" y="0"/>
          <a:ext cx="0" cy="0"/>
          <a:chOff x="0" y="0"/>
          <a:chExt cx="0" cy="0"/>
        </a:xfrm>
      </p:grpSpPr>
      <p:sp>
        <p:nvSpPr>
          <p:cNvPr id="707" name="Google Shape;707;g8e78176f7a_3_296:notes"/>
          <p:cNvSpPr>
            <a:spLocks noGrp="1" noRot="1" noChangeAspect="1"/>
          </p:cNvSpPr>
          <p:nvPr>
            <p:ph type="sldImg" idx="2"/>
          </p:nvPr>
        </p:nvSpPr>
        <p:spPr>
          <a:xfrm>
            <a:off x="1168400" y="690563"/>
            <a:ext cx="4606925" cy="34544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8" name="Google Shape;708;g8e78176f7a_3_296:notes"/>
          <p:cNvSpPr txBox="1">
            <a:spLocks noGrp="1"/>
          </p:cNvSpPr>
          <p:nvPr>
            <p:ph type="body" idx="1"/>
          </p:nvPr>
        </p:nvSpPr>
        <p:spPr>
          <a:xfrm>
            <a:off x="694288" y="4376042"/>
            <a:ext cx="5554308" cy="4145724"/>
          </a:xfrm>
          <a:prstGeom prst="rect">
            <a:avLst/>
          </a:prstGeom>
        </p:spPr>
        <p:txBody>
          <a:bodyPr spcFirstLastPara="1" wrap="square" lIns="92284" tIns="92284" rIns="92284" bIns="92284" anchor="t" anchorCtr="0">
            <a:noAutofit/>
          </a:bodyPr>
          <a:lstStyle/>
          <a:p>
            <a:endParaRPr/>
          </a:p>
        </p:txBody>
      </p:sp>
    </p:spTree>
    <p:extLst>
      <p:ext uri="{BB962C8B-B14F-4D97-AF65-F5344CB8AC3E}">
        <p14:creationId xmlns:p14="http://schemas.microsoft.com/office/powerpoint/2010/main" val="210005902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6"/>
        <p:cNvGrpSpPr/>
        <p:nvPr/>
      </p:nvGrpSpPr>
      <p:grpSpPr>
        <a:xfrm>
          <a:off x="0" y="0"/>
          <a:ext cx="0" cy="0"/>
          <a:chOff x="0" y="0"/>
          <a:chExt cx="0" cy="0"/>
        </a:xfrm>
      </p:grpSpPr>
      <p:sp>
        <p:nvSpPr>
          <p:cNvPr id="707" name="Google Shape;707;g8e78176f7a_3_29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8" name="Google Shape;708;g8e78176f7a_3_2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1830123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6"/>
        <p:cNvGrpSpPr/>
        <p:nvPr/>
      </p:nvGrpSpPr>
      <p:grpSpPr>
        <a:xfrm>
          <a:off x="0" y="0"/>
          <a:ext cx="0" cy="0"/>
          <a:chOff x="0" y="0"/>
          <a:chExt cx="0" cy="0"/>
        </a:xfrm>
      </p:grpSpPr>
      <p:sp>
        <p:nvSpPr>
          <p:cNvPr id="707" name="Google Shape;707;g8e78176f7a_3_29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8" name="Google Shape;708;g8e78176f7a_3_2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6741731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6"/>
        <p:cNvGrpSpPr/>
        <p:nvPr/>
      </p:nvGrpSpPr>
      <p:grpSpPr>
        <a:xfrm>
          <a:off x="0" y="0"/>
          <a:ext cx="0" cy="0"/>
          <a:chOff x="0" y="0"/>
          <a:chExt cx="0" cy="0"/>
        </a:xfrm>
      </p:grpSpPr>
      <p:sp>
        <p:nvSpPr>
          <p:cNvPr id="707" name="Google Shape;707;g8e78176f7a_3_29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8" name="Google Shape;708;g8e78176f7a_3_2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060767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6"/>
        <p:cNvGrpSpPr/>
        <p:nvPr/>
      </p:nvGrpSpPr>
      <p:grpSpPr>
        <a:xfrm>
          <a:off x="0" y="0"/>
          <a:ext cx="0" cy="0"/>
          <a:chOff x="0" y="0"/>
          <a:chExt cx="0" cy="0"/>
        </a:xfrm>
      </p:grpSpPr>
      <p:sp>
        <p:nvSpPr>
          <p:cNvPr id="707" name="Google Shape;707;g8e78176f7a_3_29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8" name="Google Shape;708;g8e78176f7a_3_2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6207032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6"/>
        <p:cNvGrpSpPr/>
        <p:nvPr/>
      </p:nvGrpSpPr>
      <p:grpSpPr>
        <a:xfrm>
          <a:off x="0" y="0"/>
          <a:ext cx="0" cy="0"/>
          <a:chOff x="0" y="0"/>
          <a:chExt cx="0" cy="0"/>
        </a:xfrm>
      </p:grpSpPr>
      <p:sp>
        <p:nvSpPr>
          <p:cNvPr id="707" name="Google Shape;707;g8e78176f7a_3_29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8" name="Google Shape;708;g8e78176f7a_3_2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2108595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6"/>
        <p:cNvGrpSpPr/>
        <p:nvPr/>
      </p:nvGrpSpPr>
      <p:grpSpPr>
        <a:xfrm>
          <a:off x="0" y="0"/>
          <a:ext cx="0" cy="0"/>
          <a:chOff x="0" y="0"/>
          <a:chExt cx="0" cy="0"/>
        </a:xfrm>
      </p:grpSpPr>
      <p:sp>
        <p:nvSpPr>
          <p:cNvPr id="707" name="Google Shape;707;g8e78176f7a_3_29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8" name="Google Shape;708;g8e78176f7a_3_2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7740942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6"/>
        <p:cNvGrpSpPr/>
        <p:nvPr/>
      </p:nvGrpSpPr>
      <p:grpSpPr>
        <a:xfrm>
          <a:off x="0" y="0"/>
          <a:ext cx="0" cy="0"/>
          <a:chOff x="0" y="0"/>
          <a:chExt cx="0" cy="0"/>
        </a:xfrm>
      </p:grpSpPr>
      <p:sp>
        <p:nvSpPr>
          <p:cNvPr id="707" name="Google Shape;707;g8e78176f7a_3_296:notes"/>
          <p:cNvSpPr>
            <a:spLocks noGrp="1" noRot="1" noChangeAspect="1"/>
          </p:cNvSpPr>
          <p:nvPr>
            <p:ph type="sldImg" idx="2"/>
          </p:nvPr>
        </p:nvSpPr>
        <p:spPr>
          <a:xfrm>
            <a:off x="1139825"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8" name="Google Shape;708;g8e78176f7a_3_296:notes"/>
          <p:cNvSpPr txBox="1">
            <a:spLocks noGrp="1"/>
          </p:cNvSpPr>
          <p:nvPr>
            <p:ph type="body" idx="1"/>
          </p:nvPr>
        </p:nvSpPr>
        <p:spPr>
          <a:xfrm>
            <a:off x="685167" y="4343400"/>
            <a:ext cx="5481338"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3756552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6"/>
        <p:cNvGrpSpPr/>
        <p:nvPr/>
      </p:nvGrpSpPr>
      <p:grpSpPr>
        <a:xfrm>
          <a:off x="0" y="0"/>
          <a:ext cx="0" cy="0"/>
          <a:chOff x="0" y="0"/>
          <a:chExt cx="0" cy="0"/>
        </a:xfrm>
      </p:grpSpPr>
      <p:sp>
        <p:nvSpPr>
          <p:cNvPr id="707" name="Google Shape;707;g8e78176f7a_3_296:notes"/>
          <p:cNvSpPr>
            <a:spLocks noGrp="1" noRot="1" noChangeAspect="1"/>
          </p:cNvSpPr>
          <p:nvPr>
            <p:ph type="sldImg" idx="2"/>
          </p:nvPr>
        </p:nvSpPr>
        <p:spPr>
          <a:xfrm>
            <a:off x="1168400" y="690563"/>
            <a:ext cx="4606925" cy="34544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8" name="Google Shape;708;g8e78176f7a_3_296:notes"/>
          <p:cNvSpPr txBox="1">
            <a:spLocks noGrp="1"/>
          </p:cNvSpPr>
          <p:nvPr>
            <p:ph type="body" idx="1"/>
          </p:nvPr>
        </p:nvSpPr>
        <p:spPr>
          <a:xfrm>
            <a:off x="694288" y="4376042"/>
            <a:ext cx="5554308" cy="4145724"/>
          </a:xfrm>
          <a:prstGeom prst="rect">
            <a:avLst/>
          </a:prstGeom>
        </p:spPr>
        <p:txBody>
          <a:bodyPr spcFirstLastPara="1" wrap="square" lIns="92284" tIns="92284" rIns="92284" bIns="92284" anchor="t" anchorCtr="0">
            <a:noAutofit/>
          </a:bodyPr>
          <a:lstStyle/>
          <a:p>
            <a:endParaRPr/>
          </a:p>
        </p:txBody>
      </p:sp>
    </p:spTree>
    <p:extLst>
      <p:ext uri="{BB962C8B-B14F-4D97-AF65-F5344CB8AC3E}">
        <p14:creationId xmlns:p14="http://schemas.microsoft.com/office/powerpoint/2010/main" val="21777293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6"/>
        <p:cNvGrpSpPr/>
        <p:nvPr/>
      </p:nvGrpSpPr>
      <p:grpSpPr>
        <a:xfrm>
          <a:off x="0" y="0"/>
          <a:ext cx="0" cy="0"/>
          <a:chOff x="0" y="0"/>
          <a:chExt cx="0" cy="0"/>
        </a:xfrm>
      </p:grpSpPr>
      <p:sp>
        <p:nvSpPr>
          <p:cNvPr id="707" name="Google Shape;707;g8e78176f7a_3_296:notes"/>
          <p:cNvSpPr>
            <a:spLocks noGrp="1" noRot="1" noChangeAspect="1"/>
          </p:cNvSpPr>
          <p:nvPr>
            <p:ph type="sldImg" idx="2"/>
          </p:nvPr>
        </p:nvSpPr>
        <p:spPr>
          <a:xfrm>
            <a:off x="1168400" y="690563"/>
            <a:ext cx="4606925" cy="34544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8" name="Google Shape;708;g8e78176f7a_3_296:notes"/>
          <p:cNvSpPr txBox="1">
            <a:spLocks noGrp="1"/>
          </p:cNvSpPr>
          <p:nvPr>
            <p:ph type="body" idx="1"/>
          </p:nvPr>
        </p:nvSpPr>
        <p:spPr>
          <a:xfrm>
            <a:off x="694288" y="4376042"/>
            <a:ext cx="5554308" cy="4145724"/>
          </a:xfrm>
          <a:prstGeom prst="rect">
            <a:avLst/>
          </a:prstGeom>
        </p:spPr>
        <p:txBody>
          <a:bodyPr spcFirstLastPara="1" wrap="square" lIns="92284" tIns="92284" rIns="92284" bIns="92284" anchor="t" anchorCtr="0">
            <a:noAutofit/>
          </a:bodyPr>
          <a:lstStyle/>
          <a:p>
            <a:endParaRPr/>
          </a:p>
        </p:txBody>
      </p:sp>
    </p:spTree>
    <p:extLst>
      <p:ext uri="{BB962C8B-B14F-4D97-AF65-F5344CB8AC3E}">
        <p14:creationId xmlns:p14="http://schemas.microsoft.com/office/powerpoint/2010/main" val="293745330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6"/>
        <p:cNvGrpSpPr/>
        <p:nvPr/>
      </p:nvGrpSpPr>
      <p:grpSpPr>
        <a:xfrm>
          <a:off x="0" y="0"/>
          <a:ext cx="0" cy="0"/>
          <a:chOff x="0" y="0"/>
          <a:chExt cx="0" cy="0"/>
        </a:xfrm>
      </p:grpSpPr>
      <p:sp>
        <p:nvSpPr>
          <p:cNvPr id="707" name="Google Shape;707;g8e78176f7a_3_296:notes"/>
          <p:cNvSpPr>
            <a:spLocks noGrp="1" noRot="1" noChangeAspect="1"/>
          </p:cNvSpPr>
          <p:nvPr>
            <p:ph type="sldImg" idx="2"/>
          </p:nvPr>
        </p:nvSpPr>
        <p:spPr>
          <a:xfrm>
            <a:off x="1168400" y="690563"/>
            <a:ext cx="4606925" cy="34544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8" name="Google Shape;708;g8e78176f7a_3_296:notes"/>
          <p:cNvSpPr txBox="1">
            <a:spLocks noGrp="1"/>
          </p:cNvSpPr>
          <p:nvPr>
            <p:ph type="body" idx="1"/>
          </p:nvPr>
        </p:nvSpPr>
        <p:spPr>
          <a:xfrm>
            <a:off x="694288" y="4376042"/>
            <a:ext cx="5554308" cy="4145724"/>
          </a:xfrm>
          <a:prstGeom prst="rect">
            <a:avLst/>
          </a:prstGeom>
        </p:spPr>
        <p:txBody>
          <a:bodyPr spcFirstLastPara="1" wrap="square" lIns="92284" tIns="92284" rIns="92284" bIns="92284" anchor="t" anchorCtr="0">
            <a:noAutofit/>
          </a:bodyPr>
          <a:lstStyle/>
          <a:p>
            <a:endParaRPr/>
          </a:p>
        </p:txBody>
      </p:sp>
    </p:spTree>
    <p:extLst>
      <p:ext uri="{BB962C8B-B14F-4D97-AF65-F5344CB8AC3E}">
        <p14:creationId xmlns:p14="http://schemas.microsoft.com/office/powerpoint/2010/main" val="75009342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6"/>
        <p:cNvGrpSpPr/>
        <p:nvPr/>
      </p:nvGrpSpPr>
      <p:grpSpPr>
        <a:xfrm>
          <a:off x="0" y="0"/>
          <a:ext cx="0" cy="0"/>
          <a:chOff x="0" y="0"/>
          <a:chExt cx="0" cy="0"/>
        </a:xfrm>
      </p:grpSpPr>
      <p:sp>
        <p:nvSpPr>
          <p:cNvPr id="707" name="Google Shape;707;g8e78176f7a_3_296:notes"/>
          <p:cNvSpPr>
            <a:spLocks noGrp="1" noRot="1" noChangeAspect="1"/>
          </p:cNvSpPr>
          <p:nvPr>
            <p:ph type="sldImg" idx="2"/>
          </p:nvPr>
        </p:nvSpPr>
        <p:spPr>
          <a:xfrm>
            <a:off x="1168400" y="690563"/>
            <a:ext cx="4606925" cy="34544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8" name="Google Shape;708;g8e78176f7a_3_296:notes"/>
          <p:cNvSpPr txBox="1">
            <a:spLocks noGrp="1"/>
          </p:cNvSpPr>
          <p:nvPr>
            <p:ph type="body" idx="1"/>
          </p:nvPr>
        </p:nvSpPr>
        <p:spPr>
          <a:xfrm>
            <a:off x="694288" y="4376042"/>
            <a:ext cx="5554308" cy="4145724"/>
          </a:xfrm>
          <a:prstGeom prst="rect">
            <a:avLst/>
          </a:prstGeom>
        </p:spPr>
        <p:txBody>
          <a:bodyPr spcFirstLastPara="1" wrap="square" lIns="92284" tIns="92284" rIns="92284" bIns="92284" anchor="t" anchorCtr="0">
            <a:noAutofit/>
          </a:bodyPr>
          <a:lstStyle/>
          <a:p>
            <a:endParaRPr/>
          </a:p>
        </p:txBody>
      </p:sp>
    </p:spTree>
    <p:extLst>
      <p:ext uri="{BB962C8B-B14F-4D97-AF65-F5344CB8AC3E}">
        <p14:creationId xmlns:p14="http://schemas.microsoft.com/office/powerpoint/2010/main" val="299015718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6"/>
        <p:cNvGrpSpPr/>
        <p:nvPr/>
      </p:nvGrpSpPr>
      <p:grpSpPr>
        <a:xfrm>
          <a:off x="0" y="0"/>
          <a:ext cx="0" cy="0"/>
          <a:chOff x="0" y="0"/>
          <a:chExt cx="0" cy="0"/>
        </a:xfrm>
      </p:grpSpPr>
      <p:sp>
        <p:nvSpPr>
          <p:cNvPr id="707" name="Google Shape;707;g8e78176f7a_3_296:notes"/>
          <p:cNvSpPr>
            <a:spLocks noGrp="1" noRot="1" noChangeAspect="1"/>
          </p:cNvSpPr>
          <p:nvPr>
            <p:ph type="sldImg" idx="2"/>
          </p:nvPr>
        </p:nvSpPr>
        <p:spPr>
          <a:xfrm>
            <a:off x="1168400" y="690563"/>
            <a:ext cx="4606925" cy="34544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8" name="Google Shape;708;g8e78176f7a_3_296:notes"/>
          <p:cNvSpPr txBox="1">
            <a:spLocks noGrp="1"/>
          </p:cNvSpPr>
          <p:nvPr>
            <p:ph type="body" idx="1"/>
          </p:nvPr>
        </p:nvSpPr>
        <p:spPr>
          <a:xfrm>
            <a:off x="694288" y="4376042"/>
            <a:ext cx="5554308" cy="4145724"/>
          </a:xfrm>
          <a:prstGeom prst="rect">
            <a:avLst/>
          </a:prstGeom>
        </p:spPr>
        <p:txBody>
          <a:bodyPr spcFirstLastPara="1" wrap="square" lIns="92284" tIns="92284" rIns="92284" bIns="92284" anchor="t" anchorCtr="0">
            <a:noAutofit/>
          </a:bodyPr>
          <a:lstStyle/>
          <a:p>
            <a:endParaRPr/>
          </a:p>
        </p:txBody>
      </p:sp>
    </p:spTree>
    <p:extLst>
      <p:ext uri="{BB962C8B-B14F-4D97-AF65-F5344CB8AC3E}">
        <p14:creationId xmlns:p14="http://schemas.microsoft.com/office/powerpoint/2010/main" val="85421116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e-DE" dirty="0"/>
          </a:p>
        </p:txBody>
      </p:sp>
      <p:sp>
        <p:nvSpPr>
          <p:cNvPr id="4" name="Slide Number Placeholder 3"/>
          <p:cNvSpPr>
            <a:spLocks noGrp="1"/>
          </p:cNvSpPr>
          <p:nvPr>
            <p:ph type="sldNum" sz="quarter" idx="10"/>
          </p:nvPr>
        </p:nvSpPr>
        <p:spPr/>
        <p:txBody>
          <a:bodyPr/>
          <a:lstStyle/>
          <a:p>
            <a:fld id="{7D8C2C35-2B8A-446E-BEC0-FD36716C29AC}" type="slidenum">
              <a:rPr lang="de-DE" smtClean="0"/>
              <a:pPr/>
              <a:t>34</a:t>
            </a:fld>
            <a:endParaRPr lang="de-DE" dirty="0"/>
          </a:p>
        </p:txBody>
      </p:sp>
    </p:spTree>
    <p:extLst>
      <p:ext uri="{BB962C8B-B14F-4D97-AF65-F5344CB8AC3E}">
        <p14:creationId xmlns:p14="http://schemas.microsoft.com/office/powerpoint/2010/main" val="71719549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e-DE" dirty="0"/>
          </a:p>
        </p:txBody>
      </p:sp>
      <p:sp>
        <p:nvSpPr>
          <p:cNvPr id="4" name="Slide Number Placeholder 3"/>
          <p:cNvSpPr>
            <a:spLocks noGrp="1"/>
          </p:cNvSpPr>
          <p:nvPr>
            <p:ph type="sldNum" sz="quarter" idx="10"/>
          </p:nvPr>
        </p:nvSpPr>
        <p:spPr/>
        <p:txBody>
          <a:bodyPr/>
          <a:lstStyle/>
          <a:p>
            <a:fld id="{7D8C2C35-2B8A-446E-BEC0-FD36716C29AC}" type="slidenum">
              <a:rPr lang="de-DE" smtClean="0"/>
              <a:pPr/>
              <a:t>35</a:t>
            </a:fld>
            <a:endParaRPr lang="de-DE" dirty="0"/>
          </a:p>
        </p:txBody>
      </p:sp>
    </p:spTree>
    <p:extLst>
      <p:ext uri="{BB962C8B-B14F-4D97-AF65-F5344CB8AC3E}">
        <p14:creationId xmlns:p14="http://schemas.microsoft.com/office/powerpoint/2010/main" val="201520655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e-DE" dirty="0"/>
          </a:p>
        </p:txBody>
      </p:sp>
      <p:sp>
        <p:nvSpPr>
          <p:cNvPr id="4" name="Slide Number Placeholder 3"/>
          <p:cNvSpPr>
            <a:spLocks noGrp="1"/>
          </p:cNvSpPr>
          <p:nvPr>
            <p:ph type="sldNum" sz="quarter" idx="10"/>
          </p:nvPr>
        </p:nvSpPr>
        <p:spPr/>
        <p:txBody>
          <a:bodyPr/>
          <a:lstStyle/>
          <a:p>
            <a:fld id="{7D8C2C35-2B8A-446E-BEC0-FD36716C29AC}" type="slidenum">
              <a:rPr lang="de-DE" smtClean="0"/>
              <a:pPr/>
              <a:t>36</a:t>
            </a:fld>
            <a:endParaRPr lang="de-DE" dirty="0"/>
          </a:p>
        </p:txBody>
      </p:sp>
    </p:spTree>
    <p:extLst>
      <p:ext uri="{BB962C8B-B14F-4D97-AF65-F5344CB8AC3E}">
        <p14:creationId xmlns:p14="http://schemas.microsoft.com/office/powerpoint/2010/main" val="177192951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e-DE" dirty="0"/>
          </a:p>
        </p:txBody>
      </p:sp>
      <p:sp>
        <p:nvSpPr>
          <p:cNvPr id="4" name="Slide Number Placeholder 3"/>
          <p:cNvSpPr>
            <a:spLocks noGrp="1"/>
          </p:cNvSpPr>
          <p:nvPr>
            <p:ph type="sldNum" sz="quarter" idx="10"/>
          </p:nvPr>
        </p:nvSpPr>
        <p:spPr/>
        <p:txBody>
          <a:bodyPr/>
          <a:lstStyle/>
          <a:p>
            <a:fld id="{7D8C2C35-2B8A-446E-BEC0-FD36716C29AC}" type="slidenum">
              <a:rPr lang="de-DE" smtClean="0"/>
              <a:pPr/>
              <a:t>37</a:t>
            </a:fld>
            <a:endParaRPr lang="de-DE" dirty="0"/>
          </a:p>
        </p:txBody>
      </p:sp>
    </p:spTree>
    <p:extLst>
      <p:ext uri="{BB962C8B-B14F-4D97-AF65-F5344CB8AC3E}">
        <p14:creationId xmlns:p14="http://schemas.microsoft.com/office/powerpoint/2010/main" val="66858067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e-DE" dirty="0"/>
          </a:p>
        </p:txBody>
      </p:sp>
      <p:sp>
        <p:nvSpPr>
          <p:cNvPr id="4" name="Slide Number Placeholder 3"/>
          <p:cNvSpPr>
            <a:spLocks noGrp="1"/>
          </p:cNvSpPr>
          <p:nvPr>
            <p:ph type="sldNum" sz="quarter" idx="10"/>
          </p:nvPr>
        </p:nvSpPr>
        <p:spPr/>
        <p:txBody>
          <a:bodyPr/>
          <a:lstStyle/>
          <a:p>
            <a:fld id="{7D8C2C35-2B8A-446E-BEC0-FD36716C29AC}" type="slidenum">
              <a:rPr lang="de-DE" smtClean="0"/>
              <a:pPr/>
              <a:t>38</a:t>
            </a:fld>
            <a:endParaRPr lang="de-DE" dirty="0"/>
          </a:p>
        </p:txBody>
      </p:sp>
    </p:spTree>
    <p:extLst>
      <p:ext uri="{BB962C8B-B14F-4D97-AF65-F5344CB8AC3E}">
        <p14:creationId xmlns:p14="http://schemas.microsoft.com/office/powerpoint/2010/main" val="352151766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e-DE" dirty="0"/>
          </a:p>
        </p:txBody>
      </p:sp>
      <p:sp>
        <p:nvSpPr>
          <p:cNvPr id="4" name="Slide Number Placeholder 3"/>
          <p:cNvSpPr>
            <a:spLocks noGrp="1"/>
          </p:cNvSpPr>
          <p:nvPr>
            <p:ph type="sldNum" sz="quarter" idx="10"/>
          </p:nvPr>
        </p:nvSpPr>
        <p:spPr/>
        <p:txBody>
          <a:bodyPr/>
          <a:lstStyle/>
          <a:p>
            <a:fld id="{7D8C2C35-2B8A-446E-BEC0-FD36716C29AC}" type="slidenum">
              <a:rPr lang="de-DE" smtClean="0"/>
              <a:pPr/>
              <a:t>39</a:t>
            </a:fld>
            <a:endParaRPr lang="de-DE" dirty="0"/>
          </a:p>
        </p:txBody>
      </p:sp>
    </p:spTree>
    <p:extLst>
      <p:ext uri="{BB962C8B-B14F-4D97-AF65-F5344CB8AC3E}">
        <p14:creationId xmlns:p14="http://schemas.microsoft.com/office/powerpoint/2010/main" val="9165482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e-DE" dirty="0"/>
          </a:p>
        </p:txBody>
      </p:sp>
      <p:sp>
        <p:nvSpPr>
          <p:cNvPr id="4" name="Slide Number Placeholder 3"/>
          <p:cNvSpPr>
            <a:spLocks noGrp="1"/>
          </p:cNvSpPr>
          <p:nvPr>
            <p:ph type="sldNum" sz="quarter" idx="10"/>
          </p:nvPr>
        </p:nvSpPr>
        <p:spPr/>
        <p:txBody>
          <a:bodyPr/>
          <a:lstStyle/>
          <a:p>
            <a:fld id="{7D8C2C35-2B8A-446E-BEC0-FD36716C29AC}" type="slidenum">
              <a:rPr lang="de-DE" smtClean="0"/>
              <a:pPr/>
              <a:t>40</a:t>
            </a:fld>
            <a:endParaRPr lang="de-DE" dirty="0"/>
          </a:p>
        </p:txBody>
      </p:sp>
    </p:spTree>
    <p:extLst>
      <p:ext uri="{BB962C8B-B14F-4D97-AF65-F5344CB8AC3E}">
        <p14:creationId xmlns:p14="http://schemas.microsoft.com/office/powerpoint/2010/main" val="389917522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e-DE" dirty="0"/>
          </a:p>
        </p:txBody>
      </p:sp>
      <p:sp>
        <p:nvSpPr>
          <p:cNvPr id="4" name="Slide Number Placeholder 3"/>
          <p:cNvSpPr>
            <a:spLocks noGrp="1"/>
          </p:cNvSpPr>
          <p:nvPr>
            <p:ph type="sldNum" sz="quarter" idx="10"/>
          </p:nvPr>
        </p:nvSpPr>
        <p:spPr/>
        <p:txBody>
          <a:bodyPr/>
          <a:lstStyle/>
          <a:p>
            <a:fld id="{7D8C2C35-2B8A-446E-BEC0-FD36716C29AC}" type="slidenum">
              <a:rPr lang="de-DE" smtClean="0"/>
              <a:pPr/>
              <a:t>41</a:t>
            </a:fld>
            <a:endParaRPr lang="de-DE" dirty="0"/>
          </a:p>
        </p:txBody>
      </p:sp>
    </p:spTree>
    <p:extLst>
      <p:ext uri="{BB962C8B-B14F-4D97-AF65-F5344CB8AC3E}">
        <p14:creationId xmlns:p14="http://schemas.microsoft.com/office/powerpoint/2010/main" val="269857956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e-DE" dirty="0"/>
          </a:p>
        </p:txBody>
      </p:sp>
      <p:sp>
        <p:nvSpPr>
          <p:cNvPr id="4" name="Slide Number Placeholder 3"/>
          <p:cNvSpPr>
            <a:spLocks noGrp="1"/>
          </p:cNvSpPr>
          <p:nvPr>
            <p:ph type="sldNum" sz="quarter" idx="10"/>
          </p:nvPr>
        </p:nvSpPr>
        <p:spPr/>
        <p:txBody>
          <a:bodyPr/>
          <a:lstStyle/>
          <a:p>
            <a:fld id="{7D8C2C35-2B8A-446E-BEC0-FD36716C29AC}" type="slidenum">
              <a:rPr lang="de-DE" smtClean="0"/>
              <a:pPr/>
              <a:t>42</a:t>
            </a:fld>
            <a:endParaRPr lang="de-DE" dirty="0"/>
          </a:p>
        </p:txBody>
      </p:sp>
    </p:spTree>
    <p:extLst>
      <p:ext uri="{BB962C8B-B14F-4D97-AF65-F5344CB8AC3E}">
        <p14:creationId xmlns:p14="http://schemas.microsoft.com/office/powerpoint/2010/main" val="159773622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e-DE" dirty="0"/>
          </a:p>
        </p:txBody>
      </p:sp>
      <p:sp>
        <p:nvSpPr>
          <p:cNvPr id="4" name="Slide Number Placeholder 3"/>
          <p:cNvSpPr>
            <a:spLocks noGrp="1"/>
          </p:cNvSpPr>
          <p:nvPr>
            <p:ph type="sldNum" sz="quarter" idx="10"/>
          </p:nvPr>
        </p:nvSpPr>
        <p:spPr/>
        <p:txBody>
          <a:bodyPr/>
          <a:lstStyle/>
          <a:p>
            <a:fld id="{7D8C2C35-2B8A-446E-BEC0-FD36716C29AC}" type="slidenum">
              <a:rPr lang="de-DE" smtClean="0"/>
              <a:pPr/>
              <a:t>43</a:t>
            </a:fld>
            <a:endParaRPr lang="de-DE" dirty="0"/>
          </a:p>
        </p:txBody>
      </p:sp>
    </p:spTree>
    <p:extLst>
      <p:ext uri="{BB962C8B-B14F-4D97-AF65-F5344CB8AC3E}">
        <p14:creationId xmlns:p14="http://schemas.microsoft.com/office/powerpoint/2010/main" val="372816714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e-DE" dirty="0"/>
          </a:p>
        </p:txBody>
      </p:sp>
      <p:sp>
        <p:nvSpPr>
          <p:cNvPr id="4" name="Slide Number Placeholder 3"/>
          <p:cNvSpPr>
            <a:spLocks noGrp="1"/>
          </p:cNvSpPr>
          <p:nvPr>
            <p:ph type="sldNum" sz="quarter" idx="10"/>
          </p:nvPr>
        </p:nvSpPr>
        <p:spPr/>
        <p:txBody>
          <a:bodyPr/>
          <a:lstStyle/>
          <a:p>
            <a:fld id="{7D8C2C35-2B8A-446E-BEC0-FD36716C29AC}" type="slidenum">
              <a:rPr lang="de-DE" smtClean="0"/>
              <a:pPr/>
              <a:t>44</a:t>
            </a:fld>
            <a:endParaRPr lang="de-DE" dirty="0"/>
          </a:p>
        </p:txBody>
      </p:sp>
    </p:spTree>
    <p:extLst>
      <p:ext uri="{BB962C8B-B14F-4D97-AF65-F5344CB8AC3E}">
        <p14:creationId xmlns:p14="http://schemas.microsoft.com/office/powerpoint/2010/main" val="387102687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hyperlink" Target="http://global12.sap.com/corporate-en/legal/copyright/index.epx" TargetMode="External"/><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hyperlink" Target="http://global.sap.com/corporate-de/legal/copyright/index.epx" TargetMode="External"/><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 short">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3" name="Rectangle 2"/>
          <p:cNvSpPr/>
          <p:nvPr userDrawn="1"/>
        </p:nvSpPr>
        <p:spPr bwMode="gray">
          <a:xfrm>
            <a:off x="324000" y="-1"/>
            <a:ext cx="8496000" cy="2143126"/>
          </a:xfrm>
          <a:prstGeom prst="rect">
            <a:avLst/>
          </a:prstGeom>
          <a:solidFill>
            <a:schemeClr val="bg1">
              <a:alpha val="75000"/>
            </a:schemeClr>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de-DE"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2" name="Title 1"/>
          <p:cNvSpPr>
            <a:spLocks noGrp="1"/>
          </p:cNvSpPr>
          <p:nvPr>
            <p:ph type="title" hasCustomPrompt="1"/>
          </p:nvPr>
        </p:nvSpPr>
        <p:spPr>
          <a:xfrm>
            <a:off x="414000" y="324000"/>
            <a:ext cx="8280000" cy="738000"/>
          </a:xfrm>
        </p:spPr>
        <p:txBody>
          <a:bodyPr anchor="t" anchorCtr="0">
            <a:noAutofit/>
          </a:bodyPr>
          <a:lstStyle>
            <a:lvl1pPr>
              <a:defRPr sz="4800">
                <a:solidFill>
                  <a:schemeClr val="tx1"/>
                </a:solidFill>
              </a:defRPr>
            </a:lvl1pPr>
          </a:lstStyle>
          <a:p>
            <a:r>
              <a:rPr lang="de-DE" dirty="0"/>
              <a:t>Short </a:t>
            </a:r>
            <a:r>
              <a:rPr lang="de-DE" dirty="0" err="1"/>
              <a:t>Presentation</a:t>
            </a:r>
            <a:r>
              <a:rPr lang="de-DE" dirty="0"/>
              <a:t> Title</a:t>
            </a:r>
          </a:p>
        </p:txBody>
      </p:sp>
      <p:pic>
        <p:nvPicPr>
          <p:cNvPr id="4" name="Picture 3" descr="SAP_grad_R_pref.pn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28613" y="6081713"/>
            <a:ext cx="916953" cy="454025"/>
          </a:xfrm>
          <a:prstGeom prst="rect">
            <a:avLst/>
          </a:prstGeom>
        </p:spPr>
      </p:pic>
      <p:sp>
        <p:nvSpPr>
          <p:cNvPr id="5" name="Rectangle 4"/>
          <p:cNvSpPr/>
          <p:nvPr userDrawn="1"/>
        </p:nvSpPr>
        <p:spPr bwMode="gray">
          <a:xfrm>
            <a:off x="324000" y="0"/>
            <a:ext cx="8496000" cy="162000"/>
          </a:xfrm>
          <a:prstGeom prst="rect">
            <a:avLst/>
          </a:prstGeom>
          <a:solidFill>
            <a:schemeClr val="accent1"/>
          </a:solidFill>
          <a:ln w="9525"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de-DE" sz="16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6" name="Subtitle 2"/>
          <p:cNvSpPr>
            <a:spLocks noGrp="1"/>
          </p:cNvSpPr>
          <p:nvPr>
            <p:ph type="subTitle" idx="1" hasCustomPrompt="1"/>
          </p:nvPr>
        </p:nvSpPr>
        <p:spPr bwMode="gray">
          <a:xfrm>
            <a:off x="414000" y="1499870"/>
            <a:ext cx="6840000" cy="492443"/>
          </a:xfrm>
        </p:spPr>
        <p:txBody>
          <a:bodyPr anchor="t" anchorCtr="0">
            <a:noAutofit/>
          </a:bodyPr>
          <a:lstStyle>
            <a:lvl1pPr marL="0" marR="0" indent="0" algn="l" defTabSz="914400" rtl="0" eaLnBrk="1" fontAlgn="auto" latinLnBrk="0" hangingPunct="1">
              <a:lnSpc>
                <a:spcPct val="100000"/>
              </a:lnSpc>
              <a:spcBef>
                <a:spcPts val="0"/>
              </a:spcBef>
              <a:spcAft>
                <a:spcPts val="0"/>
              </a:spcAft>
              <a:buClr>
                <a:schemeClr val="accent1"/>
              </a:buClr>
              <a:buSzPct val="80000"/>
              <a:buFontTx/>
              <a:buNone/>
              <a:tabLst/>
              <a:defRPr sz="1600" b="0">
                <a:solidFill>
                  <a:sysClr val="windowText" lastClr="000000"/>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de-DE" dirty="0" err="1"/>
              <a:t>Speaker’s</a:t>
            </a:r>
            <a:r>
              <a:rPr lang="de-DE" dirty="0"/>
              <a:t> Name/Department (</a:t>
            </a:r>
            <a:r>
              <a:rPr lang="de-DE" dirty="0" err="1"/>
              <a:t>delete</a:t>
            </a:r>
            <a:r>
              <a:rPr lang="de-DE" dirty="0"/>
              <a:t> </a:t>
            </a:r>
            <a:r>
              <a:rPr lang="de-DE" dirty="0" err="1"/>
              <a:t>if</a:t>
            </a:r>
            <a:r>
              <a:rPr lang="de-DE" dirty="0"/>
              <a:t> not </a:t>
            </a:r>
            <a:r>
              <a:rPr lang="de-DE" dirty="0" err="1"/>
              <a:t>needed</a:t>
            </a:r>
            <a:r>
              <a:rPr lang="de-DE" dirty="0"/>
              <a:t>)</a:t>
            </a:r>
            <a:br>
              <a:rPr lang="de-DE" dirty="0"/>
            </a:br>
            <a:r>
              <a:rPr lang="de-DE" dirty="0" err="1"/>
              <a:t>Month</a:t>
            </a:r>
            <a:r>
              <a:rPr lang="de-DE" dirty="0"/>
              <a:t> 00, 2015</a:t>
            </a:r>
          </a:p>
        </p:txBody>
      </p:sp>
      <p:sp>
        <p:nvSpPr>
          <p:cNvPr id="7" name="TextBox 6"/>
          <p:cNvSpPr txBox="1"/>
          <p:nvPr userDrawn="1"/>
        </p:nvSpPr>
        <p:spPr>
          <a:xfrm rot="21360000">
            <a:off x="2896863" y="3808216"/>
            <a:ext cx="3350276" cy="246221"/>
          </a:xfrm>
          <a:prstGeom prst="rect">
            <a:avLst/>
          </a:prstGeom>
          <a:noFill/>
        </p:spPr>
        <p:txBody>
          <a:bodyPr wrap="none" lIns="0" tIns="0" rIns="0" bIns="0" rtlCol="0">
            <a:spAutoFit/>
          </a:bodyPr>
          <a:lstStyle/>
          <a:p>
            <a:pPr fontAlgn="base">
              <a:spcBef>
                <a:spcPct val="50000"/>
              </a:spcBef>
              <a:spcAft>
                <a:spcPct val="0"/>
              </a:spcAft>
              <a:buClr>
                <a:srgbClr val="F0AB00"/>
              </a:buClr>
              <a:buSzPct val="80000"/>
            </a:pPr>
            <a:r>
              <a:rPr lang="de-DE" sz="1600" kern="0" dirty="0" err="1">
                <a:solidFill>
                  <a:schemeClr val="tx1"/>
                </a:solidFill>
                <a:ea typeface="Arial Unicode MS" pitchFamily="34" charset="-128"/>
                <a:cs typeface="Arial Unicode MS" pitchFamily="34" charset="-128"/>
              </a:rPr>
              <a:t>Use</a:t>
            </a:r>
            <a:r>
              <a:rPr lang="de-DE" sz="1600" kern="0" dirty="0">
                <a:solidFill>
                  <a:schemeClr val="tx1"/>
                </a:solidFill>
                <a:ea typeface="Arial Unicode MS" pitchFamily="34" charset="-128"/>
                <a:cs typeface="Arial Unicode MS" pitchFamily="34" charset="-128"/>
              </a:rPr>
              <a:t> </a:t>
            </a:r>
            <a:r>
              <a:rPr lang="de-DE" sz="1600" kern="0" dirty="0" err="1">
                <a:solidFill>
                  <a:schemeClr val="tx1"/>
                </a:solidFill>
                <a:ea typeface="Arial Unicode MS" pitchFamily="34" charset="-128"/>
                <a:cs typeface="Arial Unicode MS" pitchFamily="34" charset="-128"/>
              </a:rPr>
              <a:t>this</a:t>
            </a:r>
            <a:r>
              <a:rPr lang="de-DE" sz="1600" kern="0" dirty="0">
                <a:solidFill>
                  <a:schemeClr val="tx1"/>
                </a:solidFill>
                <a:ea typeface="Arial Unicode MS" pitchFamily="34" charset="-128"/>
                <a:cs typeface="Arial Unicode MS" pitchFamily="34" charset="-128"/>
              </a:rPr>
              <a:t> title </a:t>
            </a:r>
            <a:r>
              <a:rPr lang="de-DE" sz="1600" kern="0" dirty="0" err="1">
                <a:solidFill>
                  <a:schemeClr val="tx1"/>
                </a:solidFill>
                <a:ea typeface="Arial Unicode MS" pitchFamily="34" charset="-128"/>
                <a:cs typeface="Arial Unicode MS" pitchFamily="34" charset="-128"/>
              </a:rPr>
              <a:t>slide</a:t>
            </a:r>
            <a:r>
              <a:rPr lang="de-DE" sz="1600" kern="0" dirty="0">
                <a:solidFill>
                  <a:schemeClr val="tx1"/>
                </a:solidFill>
                <a:ea typeface="Arial Unicode MS" pitchFamily="34" charset="-128"/>
                <a:cs typeface="Arial Unicode MS" pitchFamily="34" charset="-128"/>
              </a:rPr>
              <a:t> </a:t>
            </a:r>
            <a:r>
              <a:rPr lang="de-DE" sz="1600" kern="0" dirty="0" err="1">
                <a:solidFill>
                  <a:schemeClr val="tx1"/>
                </a:solidFill>
                <a:ea typeface="Arial Unicode MS" pitchFamily="34" charset="-128"/>
                <a:cs typeface="Arial Unicode MS" pitchFamily="34" charset="-128"/>
              </a:rPr>
              <a:t>only</a:t>
            </a:r>
            <a:r>
              <a:rPr lang="de-DE" sz="1600" kern="0" dirty="0">
                <a:solidFill>
                  <a:schemeClr val="tx1"/>
                </a:solidFill>
                <a:ea typeface="Arial Unicode MS" pitchFamily="34" charset="-128"/>
                <a:cs typeface="Arial Unicode MS" pitchFamily="34" charset="-128"/>
              </a:rPr>
              <a:t> </a:t>
            </a:r>
            <a:r>
              <a:rPr lang="de-DE" sz="1600" kern="0" dirty="0" err="1">
                <a:solidFill>
                  <a:schemeClr val="tx1"/>
                </a:solidFill>
                <a:ea typeface="Arial Unicode MS" pitchFamily="34" charset="-128"/>
                <a:cs typeface="Arial Unicode MS" pitchFamily="34" charset="-128"/>
              </a:rPr>
              <a:t>with</a:t>
            </a:r>
            <a:r>
              <a:rPr lang="de-DE" sz="1600" kern="0" dirty="0">
                <a:solidFill>
                  <a:schemeClr val="tx1"/>
                </a:solidFill>
                <a:ea typeface="Arial Unicode MS" pitchFamily="34" charset="-128"/>
                <a:cs typeface="Arial Unicode MS" pitchFamily="34" charset="-128"/>
              </a:rPr>
              <a:t> an</a:t>
            </a:r>
            <a:r>
              <a:rPr lang="de-DE" sz="1600" kern="0" baseline="0" dirty="0">
                <a:solidFill>
                  <a:schemeClr val="tx1"/>
                </a:solidFill>
                <a:ea typeface="Arial Unicode MS" pitchFamily="34" charset="-128"/>
                <a:cs typeface="Arial Unicode MS" pitchFamily="34" charset="-128"/>
              </a:rPr>
              <a:t> </a:t>
            </a:r>
            <a:r>
              <a:rPr lang="de-DE" sz="1600" kern="0" baseline="0" dirty="0" err="1">
                <a:solidFill>
                  <a:schemeClr val="tx1"/>
                </a:solidFill>
                <a:ea typeface="Arial Unicode MS" pitchFamily="34" charset="-128"/>
                <a:cs typeface="Arial Unicode MS" pitchFamily="34" charset="-128"/>
              </a:rPr>
              <a:t>image</a:t>
            </a:r>
            <a:endParaRPr lang="de-DE" sz="1600" kern="0" dirty="0">
              <a:solidFill>
                <a:schemeClr val="tx1"/>
              </a:solidFill>
              <a:ea typeface="Arial Unicode MS" pitchFamily="34" charset="-128"/>
              <a:cs typeface="Arial Unicode MS" pitchFamily="34" charset="-128"/>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 two lines">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3" name="Rectangle 2"/>
          <p:cNvSpPr/>
          <p:nvPr userDrawn="1"/>
        </p:nvSpPr>
        <p:spPr bwMode="gray">
          <a:xfrm>
            <a:off x="324000" y="-1"/>
            <a:ext cx="8496000" cy="2143126"/>
          </a:xfrm>
          <a:prstGeom prst="rect">
            <a:avLst/>
          </a:prstGeom>
          <a:solidFill>
            <a:schemeClr val="bg1">
              <a:alpha val="75000"/>
            </a:schemeClr>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de-DE" b="0" i="0" u="none" strike="noStrike" kern="0" cap="none" spc="0" normalizeH="0" baseline="0" noProof="0" dirty="0">
              <a:ln>
                <a:noFill/>
              </a:ln>
              <a:effectLst/>
              <a:uLnTx/>
              <a:uFillTx/>
              <a:ea typeface="Arial Unicode MS" pitchFamily="34" charset="-128"/>
              <a:cs typeface="Arial Unicode MS" pitchFamily="34" charset="-128"/>
            </a:endParaRPr>
          </a:p>
        </p:txBody>
      </p:sp>
      <p:pic>
        <p:nvPicPr>
          <p:cNvPr id="4" name="Picture 3" descr="SAP_grad_R_pref.pn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28613" y="6081713"/>
            <a:ext cx="916953" cy="454025"/>
          </a:xfrm>
          <a:prstGeom prst="rect">
            <a:avLst/>
          </a:prstGeom>
        </p:spPr>
      </p:pic>
      <p:sp>
        <p:nvSpPr>
          <p:cNvPr id="5" name="Rectangle 4"/>
          <p:cNvSpPr/>
          <p:nvPr userDrawn="1"/>
        </p:nvSpPr>
        <p:spPr bwMode="gray">
          <a:xfrm>
            <a:off x="324000" y="0"/>
            <a:ext cx="8496000" cy="162000"/>
          </a:xfrm>
          <a:prstGeom prst="rect">
            <a:avLst/>
          </a:prstGeom>
          <a:solidFill>
            <a:schemeClr val="accent1"/>
          </a:solidFill>
          <a:ln w="9525"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de-DE" sz="16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6" name="Subtitle 2"/>
          <p:cNvSpPr>
            <a:spLocks noGrp="1"/>
          </p:cNvSpPr>
          <p:nvPr>
            <p:ph type="subTitle" idx="1" hasCustomPrompt="1"/>
          </p:nvPr>
        </p:nvSpPr>
        <p:spPr bwMode="gray">
          <a:xfrm>
            <a:off x="414000" y="1499870"/>
            <a:ext cx="6840000" cy="492443"/>
          </a:xfrm>
        </p:spPr>
        <p:txBody>
          <a:bodyPr anchor="t" anchorCtr="0">
            <a:noAutofit/>
          </a:bodyPr>
          <a:lstStyle>
            <a:lvl1pPr marL="0" marR="0" indent="0" algn="l" defTabSz="914400" rtl="0" eaLnBrk="1" fontAlgn="auto" latinLnBrk="0" hangingPunct="1">
              <a:lnSpc>
                <a:spcPct val="100000"/>
              </a:lnSpc>
              <a:spcBef>
                <a:spcPts val="0"/>
              </a:spcBef>
              <a:spcAft>
                <a:spcPts val="0"/>
              </a:spcAft>
              <a:buClr>
                <a:schemeClr val="accent1"/>
              </a:buClr>
              <a:buSzPct val="80000"/>
              <a:buFontTx/>
              <a:buNone/>
              <a:tabLst/>
              <a:defRPr sz="1600" b="0">
                <a:solidFill>
                  <a:sysClr val="windowText" lastClr="000000"/>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de-DE" dirty="0" err="1"/>
              <a:t>Speaker’s</a:t>
            </a:r>
            <a:r>
              <a:rPr lang="de-DE" dirty="0"/>
              <a:t> Name/Department (</a:t>
            </a:r>
            <a:r>
              <a:rPr lang="de-DE" dirty="0" err="1"/>
              <a:t>delete</a:t>
            </a:r>
            <a:r>
              <a:rPr lang="de-DE" dirty="0"/>
              <a:t> </a:t>
            </a:r>
            <a:r>
              <a:rPr lang="de-DE" dirty="0" err="1"/>
              <a:t>if</a:t>
            </a:r>
            <a:r>
              <a:rPr lang="de-DE" dirty="0"/>
              <a:t> not </a:t>
            </a:r>
            <a:r>
              <a:rPr lang="de-DE" dirty="0" err="1"/>
              <a:t>needed</a:t>
            </a:r>
            <a:r>
              <a:rPr lang="de-DE" dirty="0"/>
              <a:t>)</a:t>
            </a:r>
            <a:br>
              <a:rPr lang="de-DE" dirty="0"/>
            </a:br>
            <a:r>
              <a:rPr lang="de-DE" dirty="0" err="1"/>
              <a:t>Month</a:t>
            </a:r>
            <a:r>
              <a:rPr lang="de-DE" dirty="0"/>
              <a:t> 00, 2015</a:t>
            </a:r>
          </a:p>
        </p:txBody>
      </p:sp>
      <p:sp>
        <p:nvSpPr>
          <p:cNvPr id="9" name="Title 1"/>
          <p:cNvSpPr>
            <a:spLocks noGrp="1"/>
          </p:cNvSpPr>
          <p:nvPr>
            <p:ph type="ctrTitle" hasCustomPrompt="1"/>
          </p:nvPr>
        </p:nvSpPr>
        <p:spPr bwMode="gray">
          <a:xfrm>
            <a:off x="414000" y="324000"/>
            <a:ext cx="8280000" cy="923330"/>
          </a:xfrm>
        </p:spPr>
        <p:txBody>
          <a:bodyPr anchor="t" anchorCtr="0">
            <a:noAutofit/>
          </a:bodyPr>
          <a:lstStyle>
            <a:lvl1pPr>
              <a:defRPr sz="3000">
                <a:solidFill>
                  <a:sysClr val="windowText" lastClr="000000"/>
                </a:solidFill>
                <a:latin typeface="+mj-lt"/>
              </a:defRPr>
            </a:lvl1pPr>
          </a:lstStyle>
          <a:p>
            <a:r>
              <a:rPr lang="de-DE" sz="3000" dirty="0" err="1"/>
              <a:t>Alternate</a:t>
            </a:r>
            <a:r>
              <a:rPr lang="de-DE" sz="3000" dirty="0"/>
              <a:t> </a:t>
            </a:r>
            <a:r>
              <a:rPr lang="de-DE" sz="3000" dirty="0" err="1"/>
              <a:t>Presentation</a:t>
            </a:r>
            <a:r>
              <a:rPr lang="de-DE" sz="3000" dirty="0"/>
              <a:t> Title</a:t>
            </a:r>
            <a:br>
              <a:rPr lang="de-DE" sz="3000" dirty="0"/>
            </a:br>
            <a:r>
              <a:rPr lang="de-DE" sz="3000" dirty="0"/>
              <a:t>Breaks </a:t>
            </a:r>
            <a:r>
              <a:rPr lang="de-DE" sz="3000" dirty="0" err="1"/>
              <a:t>to</a:t>
            </a:r>
            <a:r>
              <a:rPr lang="de-DE" sz="3000" dirty="0"/>
              <a:t> </a:t>
            </a:r>
            <a:r>
              <a:rPr lang="de-DE" sz="3000" dirty="0" err="1"/>
              <a:t>Two</a:t>
            </a:r>
            <a:r>
              <a:rPr lang="de-DE" sz="3000" dirty="0"/>
              <a:t> Lines</a:t>
            </a:r>
            <a:endParaRPr lang="de-DE" dirty="0"/>
          </a:p>
        </p:txBody>
      </p:sp>
      <p:sp>
        <p:nvSpPr>
          <p:cNvPr id="10" name="TextBox 9"/>
          <p:cNvSpPr txBox="1"/>
          <p:nvPr userDrawn="1"/>
        </p:nvSpPr>
        <p:spPr>
          <a:xfrm rot="21360000">
            <a:off x="2896863" y="3808216"/>
            <a:ext cx="3350276" cy="246221"/>
          </a:xfrm>
          <a:prstGeom prst="rect">
            <a:avLst/>
          </a:prstGeom>
          <a:noFill/>
        </p:spPr>
        <p:txBody>
          <a:bodyPr wrap="none" lIns="0" tIns="0" rIns="0" bIns="0" rtlCol="0">
            <a:spAutoFit/>
          </a:bodyPr>
          <a:lstStyle/>
          <a:p>
            <a:pPr fontAlgn="base">
              <a:spcBef>
                <a:spcPct val="50000"/>
              </a:spcBef>
              <a:spcAft>
                <a:spcPct val="0"/>
              </a:spcAft>
              <a:buClr>
                <a:srgbClr val="F0AB00"/>
              </a:buClr>
              <a:buSzPct val="80000"/>
            </a:pPr>
            <a:r>
              <a:rPr lang="de-DE" sz="1600" kern="0" dirty="0" err="1">
                <a:solidFill>
                  <a:schemeClr val="tx1"/>
                </a:solidFill>
                <a:ea typeface="Arial Unicode MS" pitchFamily="34" charset="-128"/>
                <a:cs typeface="Arial Unicode MS" pitchFamily="34" charset="-128"/>
              </a:rPr>
              <a:t>Use</a:t>
            </a:r>
            <a:r>
              <a:rPr lang="de-DE" sz="1600" kern="0" dirty="0">
                <a:solidFill>
                  <a:schemeClr val="tx1"/>
                </a:solidFill>
                <a:ea typeface="Arial Unicode MS" pitchFamily="34" charset="-128"/>
                <a:cs typeface="Arial Unicode MS" pitchFamily="34" charset="-128"/>
              </a:rPr>
              <a:t> </a:t>
            </a:r>
            <a:r>
              <a:rPr lang="de-DE" sz="1600" kern="0" dirty="0" err="1">
                <a:solidFill>
                  <a:schemeClr val="tx1"/>
                </a:solidFill>
                <a:ea typeface="Arial Unicode MS" pitchFamily="34" charset="-128"/>
                <a:cs typeface="Arial Unicode MS" pitchFamily="34" charset="-128"/>
              </a:rPr>
              <a:t>this</a:t>
            </a:r>
            <a:r>
              <a:rPr lang="de-DE" sz="1600" kern="0" dirty="0">
                <a:solidFill>
                  <a:schemeClr val="tx1"/>
                </a:solidFill>
                <a:ea typeface="Arial Unicode MS" pitchFamily="34" charset="-128"/>
                <a:cs typeface="Arial Unicode MS" pitchFamily="34" charset="-128"/>
              </a:rPr>
              <a:t> title </a:t>
            </a:r>
            <a:r>
              <a:rPr lang="de-DE" sz="1600" kern="0" dirty="0" err="1">
                <a:solidFill>
                  <a:schemeClr val="tx1"/>
                </a:solidFill>
                <a:ea typeface="Arial Unicode MS" pitchFamily="34" charset="-128"/>
                <a:cs typeface="Arial Unicode MS" pitchFamily="34" charset="-128"/>
              </a:rPr>
              <a:t>slide</a:t>
            </a:r>
            <a:r>
              <a:rPr lang="de-DE" sz="1600" kern="0" dirty="0">
                <a:solidFill>
                  <a:schemeClr val="tx1"/>
                </a:solidFill>
                <a:ea typeface="Arial Unicode MS" pitchFamily="34" charset="-128"/>
                <a:cs typeface="Arial Unicode MS" pitchFamily="34" charset="-128"/>
              </a:rPr>
              <a:t> </a:t>
            </a:r>
            <a:r>
              <a:rPr lang="de-DE" sz="1600" kern="0" dirty="0" err="1">
                <a:solidFill>
                  <a:schemeClr val="tx1"/>
                </a:solidFill>
                <a:ea typeface="Arial Unicode MS" pitchFamily="34" charset="-128"/>
                <a:cs typeface="Arial Unicode MS" pitchFamily="34" charset="-128"/>
              </a:rPr>
              <a:t>only</a:t>
            </a:r>
            <a:r>
              <a:rPr lang="de-DE" sz="1600" kern="0" dirty="0">
                <a:solidFill>
                  <a:schemeClr val="tx1"/>
                </a:solidFill>
                <a:ea typeface="Arial Unicode MS" pitchFamily="34" charset="-128"/>
                <a:cs typeface="Arial Unicode MS" pitchFamily="34" charset="-128"/>
              </a:rPr>
              <a:t> </a:t>
            </a:r>
            <a:r>
              <a:rPr lang="de-DE" sz="1600" kern="0" dirty="0" err="1">
                <a:solidFill>
                  <a:schemeClr val="tx1"/>
                </a:solidFill>
                <a:ea typeface="Arial Unicode MS" pitchFamily="34" charset="-128"/>
                <a:cs typeface="Arial Unicode MS" pitchFamily="34" charset="-128"/>
              </a:rPr>
              <a:t>with</a:t>
            </a:r>
            <a:r>
              <a:rPr lang="de-DE" sz="1600" kern="0" dirty="0">
                <a:solidFill>
                  <a:schemeClr val="tx1"/>
                </a:solidFill>
                <a:ea typeface="Arial Unicode MS" pitchFamily="34" charset="-128"/>
                <a:cs typeface="Arial Unicode MS" pitchFamily="34" charset="-128"/>
              </a:rPr>
              <a:t> an</a:t>
            </a:r>
            <a:r>
              <a:rPr lang="de-DE" sz="1600" kern="0" baseline="0" dirty="0">
                <a:solidFill>
                  <a:schemeClr val="tx1"/>
                </a:solidFill>
                <a:ea typeface="Arial Unicode MS" pitchFamily="34" charset="-128"/>
                <a:cs typeface="Arial Unicode MS" pitchFamily="34" charset="-128"/>
              </a:rPr>
              <a:t> </a:t>
            </a:r>
            <a:r>
              <a:rPr lang="de-DE" sz="1600" kern="0" baseline="0" dirty="0" err="1">
                <a:solidFill>
                  <a:schemeClr val="tx1"/>
                </a:solidFill>
                <a:ea typeface="Arial Unicode MS" pitchFamily="34" charset="-128"/>
                <a:cs typeface="Arial Unicode MS" pitchFamily="34" charset="-128"/>
              </a:rPr>
              <a:t>image</a:t>
            </a:r>
            <a:endParaRPr lang="de-DE" sz="1600" kern="0" dirty="0">
              <a:solidFill>
                <a:schemeClr val="tx1"/>
              </a:solidFill>
              <a:ea typeface="Arial Unicode MS" pitchFamily="34" charset="-128"/>
              <a:cs typeface="Arial Unicode MS" pitchFamily="34" charset="-128"/>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 short">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24000" y="324000"/>
            <a:ext cx="8496000" cy="738000"/>
          </a:xfrm>
        </p:spPr>
        <p:txBody>
          <a:bodyPr anchor="t" anchorCtr="0">
            <a:noAutofit/>
          </a:bodyPr>
          <a:lstStyle>
            <a:lvl1pPr>
              <a:defRPr sz="4800">
                <a:solidFill>
                  <a:schemeClr val="tx1"/>
                </a:solidFill>
              </a:defRPr>
            </a:lvl1pPr>
          </a:lstStyle>
          <a:p>
            <a:r>
              <a:rPr lang="de-DE" dirty="0"/>
              <a:t>Short </a:t>
            </a:r>
            <a:r>
              <a:rPr lang="de-DE" dirty="0" err="1"/>
              <a:t>Presentation</a:t>
            </a:r>
            <a:r>
              <a:rPr lang="de-DE" dirty="0"/>
              <a:t> Title</a:t>
            </a:r>
          </a:p>
        </p:txBody>
      </p:sp>
      <p:pic>
        <p:nvPicPr>
          <p:cNvPr id="4" name="Picture 3" descr="SAP_grad_R_pref.pn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28613" y="6081713"/>
            <a:ext cx="916953" cy="454025"/>
          </a:xfrm>
          <a:prstGeom prst="rect">
            <a:avLst/>
          </a:prstGeom>
        </p:spPr>
      </p:pic>
      <p:sp>
        <p:nvSpPr>
          <p:cNvPr id="6" name="Subtitle 2"/>
          <p:cNvSpPr>
            <a:spLocks noGrp="1"/>
          </p:cNvSpPr>
          <p:nvPr>
            <p:ph type="subTitle" idx="1" hasCustomPrompt="1"/>
          </p:nvPr>
        </p:nvSpPr>
        <p:spPr bwMode="gray">
          <a:xfrm>
            <a:off x="324000" y="1499870"/>
            <a:ext cx="6840000" cy="492443"/>
          </a:xfrm>
        </p:spPr>
        <p:txBody>
          <a:bodyPr anchor="t" anchorCtr="0">
            <a:noAutofit/>
          </a:bodyPr>
          <a:lstStyle>
            <a:lvl1pPr marL="0" marR="0" indent="0" algn="l" defTabSz="914400" rtl="0" eaLnBrk="1" fontAlgn="auto" latinLnBrk="0" hangingPunct="1">
              <a:lnSpc>
                <a:spcPct val="100000"/>
              </a:lnSpc>
              <a:spcBef>
                <a:spcPts val="0"/>
              </a:spcBef>
              <a:spcAft>
                <a:spcPts val="0"/>
              </a:spcAft>
              <a:buClr>
                <a:schemeClr val="accent1"/>
              </a:buClr>
              <a:buSzPct val="80000"/>
              <a:buFontTx/>
              <a:buNone/>
              <a:tabLst/>
              <a:defRPr sz="1600" b="0">
                <a:solidFill>
                  <a:sysClr val="windowText" lastClr="000000"/>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de-DE" dirty="0" err="1"/>
              <a:t>Speaker’s</a:t>
            </a:r>
            <a:r>
              <a:rPr lang="de-DE" dirty="0"/>
              <a:t> Name/Department (</a:t>
            </a:r>
            <a:r>
              <a:rPr lang="de-DE" dirty="0" err="1"/>
              <a:t>delete</a:t>
            </a:r>
            <a:r>
              <a:rPr lang="de-DE" dirty="0"/>
              <a:t> </a:t>
            </a:r>
            <a:r>
              <a:rPr lang="de-DE" dirty="0" err="1"/>
              <a:t>if</a:t>
            </a:r>
            <a:r>
              <a:rPr lang="de-DE" dirty="0"/>
              <a:t> not </a:t>
            </a:r>
            <a:r>
              <a:rPr lang="de-DE" dirty="0" err="1"/>
              <a:t>needed</a:t>
            </a:r>
            <a:r>
              <a:rPr lang="de-DE" dirty="0"/>
              <a:t>)</a:t>
            </a:r>
            <a:br>
              <a:rPr lang="de-DE" dirty="0"/>
            </a:br>
            <a:r>
              <a:rPr lang="de-DE" dirty="0" err="1"/>
              <a:t>Month</a:t>
            </a:r>
            <a:r>
              <a:rPr lang="de-DE" dirty="0"/>
              <a:t> 00, 2015</a:t>
            </a:r>
          </a:p>
        </p:txBody>
      </p:sp>
      <p:sp>
        <p:nvSpPr>
          <p:cNvPr id="5" name="Rectangle 4"/>
          <p:cNvSpPr/>
          <p:nvPr userDrawn="1"/>
        </p:nvSpPr>
        <p:spPr bwMode="gray">
          <a:xfrm>
            <a:off x="324000" y="0"/>
            <a:ext cx="8496000" cy="162000"/>
          </a:xfrm>
          <a:prstGeom prst="rect">
            <a:avLst/>
          </a:prstGeom>
          <a:solidFill>
            <a:schemeClr val="accent1"/>
          </a:solidFill>
          <a:ln w="9525"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de-DE" sz="1600" b="0" i="0" u="none" strike="noStrike" kern="0" cap="none" spc="0" normalizeH="0" baseline="0" noProof="0" dirty="0" err="1">
              <a:ln>
                <a:noFill/>
              </a:ln>
              <a:effectLst/>
              <a:uLnTx/>
              <a:uFillTx/>
              <a:ea typeface="Arial Unicode MS" pitchFamily="34" charset="-128"/>
              <a:cs typeface="Arial Unicode MS" pitchFamily="34" charset="-128"/>
            </a:endParaRPr>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 two lines">
    <p:bg>
      <p:bgRef idx="1001">
        <a:schemeClr val="bg1"/>
      </p:bgRef>
    </p:bg>
    <p:spTree>
      <p:nvGrpSpPr>
        <p:cNvPr id="1" name=""/>
        <p:cNvGrpSpPr/>
        <p:nvPr/>
      </p:nvGrpSpPr>
      <p:grpSpPr>
        <a:xfrm>
          <a:off x="0" y="0"/>
          <a:ext cx="0" cy="0"/>
          <a:chOff x="0" y="0"/>
          <a:chExt cx="0" cy="0"/>
        </a:xfrm>
      </p:grpSpPr>
      <p:pic>
        <p:nvPicPr>
          <p:cNvPr id="4" name="Picture 3" descr="SAP_grad_R_pref.pn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24000" y="6081713"/>
            <a:ext cx="916953" cy="454025"/>
          </a:xfrm>
          <a:prstGeom prst="rect">
            <a:avLst/>
          </a:prstGeom>
        </p:spPr>
      </p:pic>
      <p:sp>
        <p:nvSpPr>
          <p:cNvPr id="6" name="Subtitle 2"/>
          <p:cNvSpPr>
            <a:spLocks noGrp="1"/>
          </p:cNvSpPr>
          <p:nvPr>
            <p:ph type="subTitle" idx="1" hasCustomPrompt="1"/>
          </p:nvPr>
        </p:nvSpPr>
        <p:spPr bwMode="gray">
          <a:xfrm>
            <a:off x="324000" y="1499870"/>
            <a:ext cx="6840000" cy="492443"/>
          </a:xfrm>
        </p:spPr>
        <p:txBody>
          <a:bodyPr anchor="t" anchorCtr="0">
            <a:noAutofit/>
          </a:bodyPr>
          <a:lstStyle>
            <a:lvl1pPr marL="0" marR="0" indent="0" algn="l" defTabSz="914400" rtl="0" eaLnBrk="1" fontAlgn="auto" latinLnBrk="0" hangingPunct="1">
              <a:lnSpc>
                <a:spcPct val="100000"/>
              </a:lnSpc>
              <a:spcBef>
                <a:spcPts val="0"/>
              </a:spcBef>
              <a:spcAft>
                <a:spcPts val="0"/>
              </a:spcAft>
              <a:buClr>
                <a:schemeClr val="accent1"/>
              </a:buClr>
              <a:buSzPct val="80000"/>
              <a:buFontTx/>
              <a:buNone/>
              <a:tabLst/>
              <a:defRPr sz="1600" b="0">
                <a:solidFill>
                  <a:sysClr val="windowText" lastClr="000000"/>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de-DE" dirty="0" err="1"/>
              <a:t>Speaker’s</a:t>
            </a:r>
            <a:r>
              <a:rPr lang="de-DE" dirty="0"/>
              <a:t> Name/Department (</a:t>
            </a:r>
            <a:r>
              <a:rPr lang="de-DE" dirty="0" err="1"/>
              <a:t>delete</a:t>
            </a:r>
            <a:r>
              <a:rPr lang="de-DE" dirty="0"/>
              <a:t> </a:t>
            </a:r>
            <a:r>
              <a:rPr lang="de-DE" dirty="0" err="1"/>
              <a:t>if</a:t>
            </a:r>
            <a:r>
              <a:rPr lang="de-DE" dirty="0"/>
              <a:t> not </a:t>
            </a:r>
            <a:r>
              <a:rPr lang="de-DE" dirty="0" err="1"/>
              <a:t>needed</a:t>
            </a:r>
            <a:r>
              <a:rPr lang="de-DE" dirty="0"/>
              <a:t>)</a:t>
            </a:r>
            <a:br>
              <a:rPr lang="de-DE" dirty="0"/>
            </a:br>
            <a:r>
              <a:rPr lang="de-DE" dirty="0" err="1"/>
              <a:t>Month</a:t>
            </a:r>
            <a:r>
              <a:rPr lang="de-DE" dirty="0"/>
              <a:t> 00, 2015</a:t>
            </a:r>
          </a:p>
        </p:txBody>
      </p:sp>
      <p:sp>
        <p:nvSpPr>
          <p:cNvPr id="9" name="Title 1"/>
          <p:cNvSpPr>
            <a:spLocks noGrp="1"/>
          </p:cNvSpPr>
          <p:nvPr>
            <p:ph type="ctrTitle" hasCustomPrompt="1"/>
          </p:nvPr>
        </p:nvSpPr>
        <p:spPr bwMode="gray">
          <a:xfrm>
            <a:off x="324000" y="324000"/>
            <a:ext cx="8496000" cy="923330"/>
          </a:xfrm>
        </p:spPr>
        <p:txBody>
          <a:bodyPr anchor="t" anchorCtr="0">
            <a:noAutofit/>
          </a:bodyPr>
          <a:lstStyle>
            <a:lvl1pPr>
              <a:defRPr sz="3000">
                <a:solidFill>
                  <a:sysClr val="windowText" lastClr="000000"/>
                </a:solidFill>
                <a:latin typeface="+mj-lt"/>
              </a:defRPr>
            </a:lvl1pPr>
          </a:lstStyle>
          <a:p>
            <a:r>
              <a:rPr lang="de-DE" sz="3000" dirty="0" err="1"/>
              <a:t>Alternate</a:t>
            </a:r>
            <a:r>
              <a:rPr lang="de-DE" sz="3000" dirty="0"/>
              <a:t> </a:t>
            </a:r>
            <a:r>
              <a:rPr lang="de-DE" sz="3000" dirty="0" err="1"/>
              <a:t>Presentation</a:t>
            </a:r>
            <a:r>
              <a:rPr lang="de-DE" sz="3000" dirty="0"/>
              <a:t> Title</a:t>
            </a:r>
            <a:br>
              <a:rPr lang="de-DE" sz="3000" dirty="0"/>
            </a:br>
            <a:r>
              <a:rPr lang="de-DE" sz="3000" dirty="0"/>
              <a:t>Breaks </a:t>
            </a:r>
            <a:r>
              <a:rPr lang="de-DE" sz="3000" dirty="0" err="1"/>
              <a:t>to</a:t>
            </a:r>
            <a:r>
              <a:rPr lang="de-DE" sz="3000" dirty="0"/>
              <a:t> </a:t>
            </a:r>
            <a:r>
              <a:rPr lang="de-DE" sz="3000" dirty="0" err="1"/>
              <a:t>Two</a:t>
            </a:r>
            <a:r>
              <a:rPr lang="de-DE" sz="3000" dirty="0"/>
              <a:t> Lines</a:t>
            </a:r>
            <a:endParaRPr lang="de-DE" dirty="0"/>
          </a:p>
        </p:txBody>
      </p:sp>
      <p:sp>
        <p:nvSpPr>
          <p:cNvPr id="5" name="Rectangle 4"/>
          <p:cNvSpPr/>
          <p:nvPr userDrawn="1"/>
        </p:nvSpPr>
        <p:spPr bwMode="gray">
          <a:xfrm>
            <a:off x="324000" y="0"/>
            <a:ext cx="8496000" cy="162000"/>
          </a:xfrm>
          <a:prstGeom prst="rect">
            <a:avLst/>
          </a:prstGeom>
          <a:solidFill>
            <a:schemeClr val="accent1"/>
          </a:solidFill>
          <a:ln w="9525"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de-DE" sz="1600" b="0" i="0" u="none" strike="noStrike" kern="0" cap="none" spc="0" normalizeH="0" baseline="0" noProof="0" dirty="0" err="1">
              <a:ln>
                <a:noFill/>
              </a:ln>
              <a:effectLst/>
              <a:uLnTx/>
              <a:uFillTx/>
              <a:ea typeface="Arial Unicode MS" pitchFamily="34" charset="-128"/>
              <a:cs typeface="Arial Unicode MS" pitchFamily="34" charset="-128"/>
            </a:endParaRPr>
          </a:p>
        </p:txBody>
      </p:sp>
    </p:spTree>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Divider Page">
    <p:bg bwMode="gray">
      <p:bgRef idx="1001">
        <a:schemeClr val="bg1"/>
      </p:bgRef>
    </p:bg>
    <p:spTree>
      <p:nvGrpSpPr>
        <p:cNvPr id="1" name=""/>
        <p:cNvGrpSpPr/>
        <p:nvPr/>
      </p:nvGrpSpPr>
      <p:grpSpPr>
        <a:xfrm>
          <a:off x="0" y="0"/>
          <a:ext cx="0" cy="0"/>
          <a:chOff x="0" y="0"/>
          <a:chExt cx="0" cy="0"/>
        </a:xfrm>
      </p:grpSpPr>
      <p:sp>
        <p:nvSpPr>
          <p:cNvPr id="9" name="Rectangle 8"/>
          <p:cNvSpPr/>
          <p:nvPr userDrawn="1"/>
        </p:nvSpPr>
        <p:spPr bwMode="gray">
          <a:xfrm>
            <a:off x="324150" y="0"/>
            <a:ext cx="8496000" cy="2295525"/>
          </a:xfrm>
          <a:prstGeom prst="rect">
            <a:avLst/>
          </a:prstGeom>
          <a:solidFill>
            <a:schemeClr val="accent1"/>
          </a:solidFill>
          <a:ln w="9525"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de-DE" sz="16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2" name="Title 1"/>
          <p:cNvSpPr>
            <a:spLocks noGrp="1"/>
          </p:cNvSpPr>
          <p:nvPr>
            <p:ph type="ctrTitle" hasCustomPrompt="1"/>
          </p:nvPr>
        </p:nvSpPr>
        <p:spPr bwMode="gray">
          <a:xfrm>
            <a:off x="324000" y="2444400"/>
            <a:ext cx="8496000" cy="738664"/>
          </a:xfrm>
        </p:spPr>
        <p:txBody>
          <a:bodyPr anchor="t" anchorCtr="0">
            <a:noAutofit/>
          </a:bodyPr>
          <a:lstStyle>
            <a:lvl1pPr>
              <a:defRPr sz="4800">
                <a:solidFill>
                  <a:schemeClr val="tx1"/>
                </a:solidFill>
                <a:latin typeface="+mj-lt"/>
              </a:defRPr>
            </a:lvl1pPr>
          </a:lstStyle>
          <a:p>
            <a:r>
              <a:rPr lang="de-DE" dirty="0" err="1"/>
              <a:t>Divider</a:t>
            </a:r>
            <a:r>
              <a:rPr lang="de-DE" dirty="0"/>
              <a:t> </a:t>
            </a:r>
            <a:r>
              <a:rPr lang="de-DE" dirty="0" err="1"/>
              <a:t>page</a:t>
            </a:r>
            <a:endParaRPr lang="de-DE" dirty="0"/>
          </a:p>
        </p:txBody>
      </p:sp>
      <p:sp>
        <p:nvSpPr>
          <p:cNvPr id="93" name="Text Placeholder 92"/>
          <p:cNvSpPr>
            <a:spLocks noGrp="1"/>
          </p:cNvSpPr>
          <p:nvPr>
            <p:ph type="body" sz="quarter" idx="10" hasCustomPrompt="1"/>
          </p:nvPr>
        </p:nvSpPr>
        <p:spPr>
          <a:xfrm>
            <a:off x="324000" y="3506400"/>
            <a:ext cx="8496300" cy="620713"/>
          </a:xfrm>
        </p:spPr>
        <p:txBody>
          <a:bodyPr/>
          <a:lstStyle>
            <a:lvl1pPr>
              <a:spcBef>
                <a:spcPts val="1200"/>
              </a:spcBef>
              <a:defRPr sz="1600" b="0"/>
            </a:lvl1pPr>
          </a:lstStyle>
          <a:p>
            <a:r>
              <a:rPr lang="de-DE" dirty="0" err="1"/>
              <a:t>Subtitle</a:t>
            </a:r>
            <a:r>
              <a:rPr lang="de-DE" dirty="0"/>
              <a:t> </a:t>
            </a:r>
            <a:r>
              <a:rPr lang="de-DE" dirty="0" err="1"/>
              <a:t>if</a:t>
            </a:r>
            <a:r>
              <a:rPr lang="de-DE" dirty="0"/>
              <a:t> </a:t>
            </a:r>
            <a:r>
              <a:rPr lang="de-DE" dirty="0" err="1"/>
              <a:t>needed</a:t>
            </a:r>
            <a:endParaRPr lang="de-DE" dirty="0"/>
          </a:p>
        </p:txBody>
      </p:sp>
      <p:pic>
        <p:nvPicPr>
          <p:cNvPr id="175" name="Picture 174" descr="SAP_grad_R_pref.pn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24000" y="6081713"/>
            <a:ext cx="916953" cy="454025"/>
          </a:xfrm>
          <a:prstGeom prst="rect">
            <a:avLst/>
          </a:prstGeom>
        </p:spPr>
      </p:pic>
    </p:spTree>
  </p:cSld>
  <p:clrMapOvr>
    <a:overrideClrMapping bg1="lt1" tx1="dk1" bg2="lt2" tx2="dk2" accent1="accent1" accent2="accent2" accent3="accent3" accent4="accent4" accent5="accent5" accent6="accent6" hlink="hlink" folHlink="folHlink"/>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Divider Page with picture">
    <p:bg bwMode="gray">
      <p:bgRef idx="1001">
        <a:schemeClr val="bg1"/>
      </p:bgRef>
    </p:bg>
    <p:spTree>
      <p:nvGrpSpPr>
        <p:cNvPr id="1" name=""/>
        <p:cNvGrpSpPr/>
        <p:nvPr/>
      </p:nvGrpSpPr>
      <p:grpSpPr>
        <a:xfrm>
          <a:off x="0" y="0"/>
          <a:ext cx="0" cy="0"/>
          <a:chOff x="0" y="0"/>
          <a:chExt cx="0" cy="0"/>
        </a:xfrm>
      </p:grpSpPr>
      <p:sp>
        <p:nvSpPr>
          <p:cNvPr id="8" name="Picture Placeholder 7"/>
          <p:cNvSpPr>
            <a:spLocks noGrp="1"/>
          </p:cNvSpPr>
          <p:nvPr>
            <p:ph type="pic" sz="quarter" idx="11"/>
          </p:nvPr>
        </p:nvSpPr>
        <p:spPr>
          <a:xfrm>
            <a:off x="324000" y="162000"/>
            <a:ext cx="8496000" cy="2134800"/>
          </a:xfrm>
          <a:solidFill>
            <a:schemeClr val="bg1">
              <a:lumMod val="95000"/>
            </a:schemeClr>
          </a:solidFill>
        </p:spPr>
        <p:txBody>
          <a:bodyPr tIns="504000" anchor="t" anchorCtr="0"/>
          <a:lstStyle>
            <a:lvl1pPr algn="ctr">
              <a:defRPr b="0"/>
            </a:lvl1pPr>
          </a:lstStyle>
          <a:p>
            <a:r>
              <a:rPr lang="de-DE" dirty="0"/>
              <a:t>Click </a:t>
            </a:r>
            <a:r>
              <a:rPr lang="de-DE" dirty="0" err="1"/>
              <a:t>icon</a:t>
            </a:r>
            <a:r>
              <a:rPr lang="de-DE" dirty="0"/>
              <a:t> </a:t>
            </a:r>
            <a:r>
              <a:rPr lang="de-DE" dirty="0" err="1"/>
              <a:t>to</a:t>
            </a:r>
            <a:r>
              <a:rPr lang="de-DE" dirty="0"/>
              <a:t> </a:t>
            </a:r>
            <a:r>
              <a:rPr lang="de-DE" dirty="0" err="1"/>
              <a:t>add</a:t>
            </a:r>
            <a:r>
              <a:rPr lang="de-DE" dirty="0"/>
              <a:t> </a:t>
            </a:r>
            <a:r>
              <a:rPr lang="de-DE" dirty="0" err="1"/>
              <a:t>picture</a:t>
            </a:r>
            <a:endParaRPr lang="de-DE" dirty="0"/>
          </a:p>
        </p:txBody>
      </p:sp>
      <p:sp>
        <p:nvSpPr>
          <p:cNvPr id="2" name="Title 1"/>
          <p:cNvSpPr>
            <a:spLocks noGrp="1"/>
          </p:cNvSpPr>
          <p:nvPr>
            <p:ph type="ctrTitle" hasCustomPrompt="1"/>
          </p:nvPr>
        </p:nvSpPr>
        <p:spPr bwMode="gray">
          <a:xfrm>
            <a:off x="324000" y="2444400"/>
            <a:ext cx="8496000" cy="738664"/>
          </a:xfrm>
        </p:spPr>
        <p:txBody>
          <a:bodyPr anchor="t" anchorCtr="0">
            <a:noAutofit/>
          </a:bodyPr>
          <a:lstStyle>
            <a:lvl1pPr>
              <a:defRPr sz="4800">
                <a:solidFill>
                  <a:schemeClr val="tx1"/>
                </a:solidFill>
                <a:latin typeface="+mj-lt"/>
              </a:defRPr>
            </a:lvl1pPr>
          </a:lstStyle>
          <a:p>
            <a:r>
              <a:rPr lang="de-DE" dirty="0" err="1"/>
              <a:t>Divider</a:t>
            </a:r>
            <a:r>
              <a:rPr lang="de-DE" dirty="0"/>
              <a:t> </a:t>
            </a:r>
            <a:r>
              <a:rPr lang="de-DE" dirty="0" err="1"/>
              <a:t>page</a:t>
            </a:r>
            <a:endParaRPr lang="de-DE" dirty="0"/>
          </a:p>
        </p:txBody>
      </p:sp>
      <p:sp>
        <p:nvSpPr>
          <p:cNvPr id="12" name="Rectangle 11"/>
          <p:cNvSpPr/>
          <p:nvPr userDrawn="1"/>
        </p:nvSpPr>
        <p:spPr bwMode="gray">
          <a:xfrm>
            <a:off x="324000" y="0"/>
            <a:ext cx="8496000" cy="162000"/>
          </a:xfrm>
          <a:prstGeom prst="rect">
            <a:avLst/>
          </a:prstGeom>
          <a:solidFill>
            <a:schemeClr val="accent1"/>
          </a:solidFill>
          <a:ln w="9525"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de-DE" sz="16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93" name="Text Placeholder 92"/>
          <p:cNvSpPr>
            <a:spLocks noGrp="1"/>
          </p:cNvSpPr>
          <p:nvPr>
            <p:ph type="body" sz="quarter" idx="10" hasCustomPrompt="1"/>
          </p:nvPr>
        </p:nvSpPr>
        <p:spPr>
          <a:xfrm>
            <a:off x="324000" y="3506400"/>
            <a:ext cx="8496300" cy="620713"/>
          </a:xfrm>
        </p:spPr>
        <p:txBody>
          <a:bodyPr/>
          <a:lstStyle>
            <a:lvl1pPr>
              <a:spcBef>
                <a:spcPts val="1200"/>
              </a:spcBef>
              <a:defRPr sz="1600" b="0"/>
            </a:lvl1pPr>
          </a:lstStyle>
          <a:p>
            <a:r>
              <a:rPr lang="de-DE" dirty="0" err="1"/>
              <a:t>Subtitle</a:t>
            </a:r>
            <a:r>
              <a:rPr lang="de-DE" dirty="0"/>
              <a:t> </a:t>
            </a:r>
            <a:r>
              <a:rPr lang="de-DE" dirty="0" err="1"/>
              <a:t>if</a:t>
            </a:r>
            <a:r>
              <a:rPr lang="de-DE" dirty="0"/>
              <a:t> </a:t>
            </a:r>
            <a:r>
              <a:rPr lang="de-DE" dirty="0" err="1"/>
              <a:t>needed</a:t>
            </a:r>
            <a:endParaRPr lang="de-DE" dirty="0"/>
          </a:p>
        </p:txBody>
      </p:sp>
      <p:pic>
        <p:nvPicPr>
          <p:cNvPr id="175" name="Picture 174" descr="SAP_grad_R_pref.pn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24000" y="6081713"/>
            <a:ext cx="916953" cy="454025"/>
          </a:xfrm>
          <a:prstGeom prst="rect">
            <a:avLst/>
          </a:prstGeom>
        </p:spPr>
      </p:pic>
    </p:spTree>
  </p:cSld>
  <p:clrMapOvr>
    <a:overrideClrMapping bg1="lt1" tx1="dk1" bg2="lt2" tx2="dk2" accent1="accent1" accent2="accent2" accent3="accent3" accent4="accent4" accent5="accent5" accent6="accent6" hlink="hlink" folHlink="folHlink"/>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Contact / Thank You">
    <p:bg bwMode="gray">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bwMode="gray">
          <a:xfrm>
            <a:off x="324000" y="2444400"/>
            <a:ext cx="8496000" cy="738664"/>
          </a:xfrm>
        </p:spPr>
        <p:txBody>
          <a:bodyPr anchor="t" anchorCtr="0">
            <a:noAutofit/>
          </a:bodyPr>
          <a:lstStyle>
            <a:lvl1pPr>
              <a:defRPr sz="4800">
                <a:solidFill>
                  <a:schemeClr val="tx1"/>
                </a:solidFill>
                <a:latin typeface="+mj-lt"/>
              </a:defRPr>
            </a:lvl1pPr>
          </a:lstStyle>
          <a:p>
            <a:r>
              <a:rPr lang="de-DE" dirty="0" err="1"/>
              <a:t>Thank</a:t>
            </a:r>
            <a:r>
              <a:rPr lang="de-DE" dirty="0"/>
              <a:t> </a:t>
            </a:r>
            <a:r>
              <a:rPr lang="de-DE" dirty="0" err="1"/>
              <a:t>you</a:t>
            </a:r>
            <a:endParaRPr lang="de-DE" dirty="0"/>
          </a:p>
        </p:txBody>
      </p:sp>
      <p:sp>
        <p:nvSpPr>
          <p:cNvPr id="12" name="Rectangle 11"/>
          <p:cNvSpPr/>
          <p:nvPr userDrawn="1"/>
        </p:nvSpPr>
        <p:spPr bwMode="gray">
          <a:xfrm>
            <a:off x="324000" y="0"/>
            <a:ext cx="8496000" cy="162000"/>
          </a:xfrm>
          <a:prstGeom prst="rect">
            <a:avLst/>
          </a:prstGeom>
          <a:solidFill>
            <a:schemeClr val="accent1"/>
          </a:solidFill>
          <a:ln w="9525"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de-DE" sz="16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93" name="Text Placeholder 92"/>
          <p:cNvSpPr>
            <a:spLocks noGrp="1"/>
          </p:cNvSpPr>
          <p:nvPr>
            <p:ph type="body" sz="quarter" idx="10" hasCustomPrompt="1"/>
          </p:nvPr>
        </p:nvSpPr>
        <p:spPr>
          <a:xfrm>
            <a:off x="324000" y="4604385"/>
            <a:ext cx="8496300" cy="1477328"/>
          </a:xfrm>
        </p:spPr>
        <p:txBody>
          <a:bodyPr anchor="b" anchorCtr="0">
            <a:noAutofit/>
          </a:bodyPr>
          <a:lstStyle>
            <a:lvl1pPr>
              <a:spcBef>
                <a:spcPts val="0"/>
              </a:spcBef>
              <a:defRPr sz="1600" b="0"/>
            </a:lvl1pPr>
          </a:lstStyle>
          <a:p>
            <a:r>
              <a:rPr lang="de-DE" dirty="0" err="1"/>
              <a:t>Contact</a:t>
            </a:r>
            <a:r>
              <a:rPr lang="de-DE" dirty="0"/>
              <a:t> </a:t>
            </a:r>
            <a:r>
              <a:rPr lang="de-DE" dirty="0" err="1"/>
              <a:t>information</a:t>
            </a:r>
            <a:r>
              <a:rPr lang="de-DE" dirty="0"/>
              <a:t>:</a:t>
            </a:r>
          </a:p>
          <a:p>
            <a:endParaRPr lang="de-DE" dirty="0"/>
          </a:p>
          <a:p>
            <a:r>
              <a:rPr lang="de-DE" dirty="0"/>
              <a:t>F </a:t>
            </a:r>
            <a:r>
              <a:rPr lang="de-DE" dirty="0" err="1"/>
              <a:t>name</a:t>
            </a:r>
            <a:r>
              <a:rPr lang="de-DE" dirty="0"/>
              <a:t> MI. L </a:t>
            </a:r>
            <a:r>
              <a:rPr lang="de-DE" dirty="0" err="1"/>
              <a:t>name</a:t>
            </a:r>
            <a:endParaRPr lang="de-DE" dirty="0"/>
          </a:p>
          <a:p>
            <a:r>
              <a:rPr lang="de-DE" dirty="0"/>
              <a:t>Title</a:t>
            </a:r>
          </a:p>
          <a:p>
            <a:r>
              <a:rPr lang="de-DE" dirty="0" err="1"/>
              <a:t>Address</a:t>
            </a:r>
            <a:endParaRPr lang="de-DE" dirty="0"/>
          </a:p>
          <a:p>
            <a:r>
              <a:rPr lang="de-DE" dirty="0"/>
              <a:t>Phone </a:t>
            </a:r>
            <a:r>
              <a:rPr lang="de-DE" dirty="0" err="1"/>
              <a:t>number</a:t>
            </a:r>
            <a:endParaRPr lang="de-DE" dirty="0"/>
          </a:p>
        </p:txBody>
      </p:sp>
      <p:pic>
        <p:nvPicPr>
          <p:cNvPr id="175" name="Picture 174" descr="SAP_grad_R_pref.pn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24000" y="478631"/>
            <a:ext cx="1832305" cy="907257"/>
          </a:xfrm>
          <a:prstGeom prst="rect">
            <a:avLst/>
          </a:prstGeom>
        </p:spPr>
      </p:pic>
      <p:sp>
        <p:nvSpPr>
          <p:cNvPr id="6" name="TextBox 5"/>
          <p:cNvSpPr txBox="1"/>
          <p:nvPr userDrawn="1"/>
        </p:nvSpPr>
        <p:spPr bwMode="black">
          <a:xfrm>
            <a:off x="324000" y="6626658"/>
            <a:ext cx="3007233" cy="123111"/>
          </a:xfrm>
          <a:prstGeom prst="rect">
            <a:avLst/>
          </a:prstGeom>
          <a:noFill/>
        </p:spPr>
        <p:txBody>
          <a:bodyPr wrap="none" lIns="0" tIns="0" rIns="0" bIns="0" rtlCol="0">
            <a:spAutoFit/>
          </a:bodyPr>
          <a:lstStyle/>
          <a:p>
            <a:pPr marL="133200" indent="-133200" algn="l">
              <a:buClr>
                <a:schemeClr val="tx1"/>
              </a:buClr>
              <a:buFont typeface="Arial" pitchFamily="34" charset="0"/>
              <a:buChar char="©"/>
              <a:tabLst/>
            </a:pPr>
            <a:r>
              <a:rPr lang="de-DE" sz="800" noProof="0" dirty="0">
                <a:solidFill>
                  <a:schemeClr val="tx1"/>
                </a:solidFill>
              </a:rPr>
              <a:t>2015 SAP SE </a:t>
            </a:r>
            <a:r>
              <a:rPr lang="de-DE" sz="800" noProof="0" dirty="0" err="1">
                <a:solidFill>
                  <a:schemeClr val="tx1"/>
                </a:solidFill>
              </a:rPr>
              <a:t>or</a:t>
            </a:r>
            <a:r>
              <a:rPr lang="de-DE" sz="800" noProof="0" dirty="0">
                <a:solidFill>
                  <a:schemeClr val="tx1"/>
                </a:solidFill>
              </a:rPr>
              <a:t> an SAP </a:t>
            </a:r>
            <a:r>
              <a:rPr lang="de-DE" sz="800" noProof="0" dirty="0" err="1">
                <a:solidFill>
                  <a:schemeClr val="tx1"/>
                </a:solidFill>
              </a:rPr>
              <a:t>affiliate</a:t>
            </a:r>
            <a:r>
              <a:rPr lang="de-DE" sz="800" noProof="0" dirty="0">
                <a:solidFill>
                  <a:schemeClr val="tx1"/>
                </a:solidFill>
              </a:rPr>
              <a:t> </a:t>
            </a:r>
            <a:r>
              <a:rPr lang="de-DE" sz="800" noProof="0" dirty="0" err="1">
                <a:solidFill>
                  <a:schemeClr val="tx1"/>
                </a:solidFill>
              </a:rPr>
              <a:t>company</a:t>
            </a:r>
            <a:r>
              <a:rPr lang="de-DE" sz="800" noProof="0" dirty="0">
                <a:solidFill>
                  <a:schemeClr val="tx1"/>
                </a:solidFill>
              </a:rPr>
              <a:t>. All </a:t>
            </a:r>
            <a:r>
              <a:rPr lang="de-DE" sz="800" noProof="0" dirty="0" err="1">
                <a:solidFill>
                  <a:schemeClr val="tx1"/>
                </a:solidFill>
              </a:rPr>
              <a:t>rights</a:t>
            </a:r>
            <a:r>
              <a:rPr lang="de-DE" sz="800" noProof="0" dirty="0">
                <a:solidFill>
                  <a:schemeClr val="tx1"/>
                </a:solidFill>
              </a:rPr>
              <a:t> </a:t>
            </a:r>
            <a:r>
              <a:rPr lang="de-DE" sz="800" noProof="0" dirty="0" err="1">
                <a:solidFill>
                  <a:schemeClr val="tx1"/>
                </a:solidFill>
              </a:rPr>
              <a:t>reserved</a:t>
            </a:r>
            <a:r>
              <a:rPr lang="de-DE" sz="800" noProof="0" dirty="0">
                <a:solidFill>
                  <a:schemeClr val="tx1"/>
                </a:solidFill>
              </a:rPr>
              <a:t>.</a:t>
            </a:r>
          </a:p>
        </p:txBody>
      </p:sp>
    </p:spTree>
  </p:cSld>
  <p:clrMapOvr>
    <a:overrideClrMapping bg1="lt1" tx1="dk1" bg2="lt2" tx2="dk2" accent1="accent1" accent2="accent2" accent3="accent3" accent4="accent4" accent5="accent5" accent6="accent6" hlink="hlink" folHlink="folHlink"/>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genda">
    <p:bg bwMode="gray">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de-DE" dirty="0"/>
              <a:t>&lt;Agenda&gt;</a:t>
            </a:r>
          </a:p>
        </p:txBody>
      </p:sp>
      <p:sp>
        <p:nvSpPr>
          <p:cNvPr id="4" name="Text Placeholder 3"/>
          <p:cNvSpPr>
            <a:spLocks noGrp="1"/>
          </p:cNvSpPr>
          <p:nvPr>
            <p:ph type="body" sz="quarter" idx="10" hasCustomPrompt="1"/>
          </p:nvPr>
        </p:nvSpPr>
        <p:spPr>
          <a:xfrm>
            <a:off x="324000" y="1692000"/>
            <a:ext cx="8494713" cy="3831818"/>
          </a:xfrm>
        </p:spPr>
        <p:txBody>
          <a:bodyPr>
            <a:noAutofit/>
          </a:bodyPr>
          <a:lstStyle>
            <a:lvl1pPr marL="0" marR="0" indent="0" algn="l" defTabSz="914400" rtl="0" eaLnBrk="1" fontAlgn="auto" latinLnBrk="0" hangingPunct="1">
              <a:lnSpc>
                <a:spcPct val="100000"/>
              </a:lnSpc>
              <a:spcBef>
                <a:spcPts val="1200"/>
              </a:spcBef>
              <a:spcAft>
                <a:spcPts val="0"/>
              </a:spcAft>
              <a:buClr>
                <a:schemeClr val="accent1"/>
              </a:buClr>
              <a:buSzPct val="80000"/>
              <a:buFontTx/>
              <a:buNone/>
              <a:tabLst/>
              <a:defRPr b="0"/>
            </a:lvl1pPr>
            <a:lvl2pPr marL="180000" marR="0" indent="-180000" algn="l" defTabSz="914400" rtl="0" eaLnBrk="1" fontAlgn="auto" latinLnBrk="0" hangingPunct="1">
              <a:lnSpc>
                <a:spcPct val="100000"/>
              </a:lnSpc>
              <a:spcBef>
                <a:spcPts val="600"/>
              </a:spcBef>
              <a:spcAft>
                <a:spcPts val="0"/>
              </a:spcAft>
              <a:buClr>
                <a:schemeClr val="accent1"/>
              </a:buClr>
              <a:buSzPct val="100000"/>
              <a:buFont typeface="Wingdings" pitchFamily="2" charset="2"/>
              <a:buChar char=""/>
              <a:tabLst/>
              <a:defRPr/>
            </a:lvl2pPr>
            <a:lvl3pPr marL="360000" marR="0" indent="-180975" algn="l" defTabSz="914400" rtl="0" eaLnBrk="1" fontAlgn="auto" latinLnBrk="0" hangingPunct="1">
              <a:lnSpc>
                <a:spcPct val="100000"/>
              </a:lnSpc>
              <a:spcBef>
                <a:spcPts val="600"/>
              </a:spcBef>
              <a:spcAft>
                <a:spcPts val="0"/>
              </a:spcAft>
              <a:buClr>
                <a:schemeClr val="accent2"/>
              </a:buClr>
              <a:buSzPct val="100000"/>
              <a:buFont typeface="Arial" pitchFamily="34" charset="0"/>
              <a:buChar char="–"/>
              <a:tabLst/>
              <a:defRPr/>
            </a:lvl3pPr>
            <a:lvl4pPr marL="533400" marR="0" indent="-177800" algn="l" defTabSz="914400" rtl="0" eaLnBrk="1" fontAlgn="auto" latinLnBrk="0" hangingPunct="1">
              <a:lnSpc>
                <a:spcPct val="100000"/>
              </a:lnSpc>
              <a:spcBef>
                <a:spcPts val="600"/>
              </a:spcBef>
              <a:spcAft>
                <a:spcPts val="0"/>
              </a:spcAft>
              <a:buClr>
                <a:schemeClr val="accent2"/>
              </a:buClr>
              <a:buSzPct val="100000"/>
              <a:buFont typeface="Arial" pitchFamily="34" charset="0"/>
              <a:buChar char="–"/>
              <a:tabLst/>
              <a:defRPr sz="1600"/>
            </a:lvl4pPr>
            <a:lvl5pPr marL="540000">
              <a:buClr>
                <a:schemeClr val="accent2"/>
              </a:buClr>
              <a:buFont typeface="Courier New" pitchFamily="49" charset="0"/>
              <a:buChar char="o"/>
              <a:defRPr/>
            </a:lvl5pPr>
          </a:lstStyle>
          <a:p>
            <a:pPr lvl="0"/>
            <a:r>
              <a:rPr lang="de-DE" dirty="0"/>
              <a:t>Agenda Item/</a:t>
            </a:r>
            <a:r>
              <a:rPr lang="de-DE" dirty="0" err="1"/>
              <a:t>Divider</a:t>
            </a:r>
            <a:r>
              <a:rPr lang="de-DE" dirty="0"/>
              <a:t> Headline</a:t>
            </a:r>
          </a:p>
          <a:p>
            <a:pPr lvl="1"/>
            <a:r>
              <a:rPr lang="de-DE" dirty="0"/>
              <a:t>Details</a:t>
            </a:r>
          </a:p>
          <a:p>
            <a:pPr lvl="2"/>
            <a:r>
              <a:rPr lang="de-DE" dirty="0"/>
              <a:t>Third Level</a:t>
            </a:r>
          </a:p>
          <a:p>
            <a:pPr lvl="4"/>
            <a:r>
              <a:rPr lang="de-DE" dirty="0" err="1"/>
              <a:t>Fourth</a:t>
            </a:r>
            <a:r>
              <a:rPr lang="de-DE" dirty="0"/>
              <a:t> Level</a:t>
            </a:r>
          </a:p>
          <a:p>
            <a:endParaRPr lang="de-DE"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bwMode="gray"/>
        <p:txBody>
          <a:bodyPr/>
          <a:lstStyle>
            <a:lvl1pPr>
              <a:defRPr/>
            </a:lvl1pPr>
          </a:lstStyle>
          <a:p>
            <a:r>
              <a:rPr lang="de-DE" noProof="0" dirty="0"/>
              <a:t>Insert </a:t>
            </a:r>
            <a:r>
              <a:rPr lang="de-DE" noProof="0" dirty="0" err="1"/>
              <a:t>page</a:t>
            </a:r>
            <a:r>
              <a:rPr lang="de-DE" noProof="0" dirty="0"/>
              <a:t> title</a:t>
            </a:r>
            <a:endParaRPr lang="de-DE"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Tex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de-DE" noProof="0" dirty="0"/>
              <a:t>Insert </a:t>
            </a:r>
            <a:r>
              <a:rPr lang="de-DE" noProof="0" dirty="0" err="1"/>
              <a:t>page</a:t>
            </a:r>
            <a:r>
              <a:rPr lang="de-DE" noProof="0" dirty="0"/>
              <a:t> title</a:t>
            </a:r>
            <a:endParaRPr lang="de-DE" dirty="0"/>
          </a:p>
        </p:txBody>
      </p:sp>
      <p:sp>
        <p:nvSpPr>
          <p:cNvPr id="4" name="Text Placeholder 3"/>
          <p:cNvSpPr>
            <a:spLocks noGrp="1"/>
          </p:cNvSpPr>
          <p:nvPr>
            <p:ph type="body" sz="quarter" idx="10" hasCustomPrompt="1"/>
          </p:nvPr>
        </p:nvSpPr>
        <p:spPr>
          <a:xfrm>
            <a:off x="324000" y="1690687"/>
            <a:ext cx="8494713" cy="4391026"/>
          </a:xfrm>
        </p:spPr>
        <p:txBody>
          <a:bodyPr/>
          <a:lstStyle>
            <a:lvl1pPr>
              <a:defRPr/>
            </a:lvl1pPr>
          </a:lstStyle>
          <a:p>
            <a:pPr lvl="0"/>
            <a:r>
              <a:rPr lang="de-DE" noProof="0" dirty="0"/>
              <a:t>First </a:t>
            </a:r>
            <a:r>
              <a:rPr lang="de-DE" noProof="0" dirty="0" err="1"/>
              <a:t>level</a:t>
            </a:r>
            <a:endParaRPr lang="de-DE" noProof="0" dirty="0"/>
          </a:p>
          <a:p>
            <a:pPr lvl="1"/>
            <a:r>
              <a:rPr lang="de-DE" dirty="0"/>
              <a:t>Second </a:t>
            </a:r>
            <a:r>
              <a:rPr lang="de-DE" dirty="0" err="1"/>
              <a:t>level</a:t>
            </a:r>
            <a:endParaRPr lang="de-DE" dirty="0"/>
          </a:p>
          <a:p>
            <a:pPr lvl="2"/>
            <a:r>
              <a:rPr lang="de-DE" dirty="0"/>
              <a:t>Third </a:t>
            </a:r>
            <a:r>
              <a:rPr lang="de-DE" dirty="0" err="1"/>
              <a:t>level</a:t>
            </a:r>
            <a:endParaRPr lang="de-DE" dirty="0"/>
          </a:p>
          <a:p>
            <a:pPr lvl="3"/>
            <a:r>
              <a:rPr lang="de-DE" dirty="0" err="1"/>
              <a:t>Fourth</a:t>
            </a:r>
            <a:r>
              <a:rPr lang="de-DE" dirty="0"/>
              <a:t> </a:t>
            </a:r>
            <a:r>
              <a:rPr lang="de-DE" dirty="0" err="1"/>
              <a:t>level</a:t>
            </a:r>
            <a:endParaRPr lang="de-DE" dirty="0"/>
          </a:p>
          <a:p>
            <a:pPr lvl="4"/>
            <a:r>
              <a:rPr lang="de-DE" dirty="0" err="1"/>
              <a:t>Fifth</a:t>
            </a:r>
            <a:r>
              <a:rPr lang="de-DE" dirty="0"/>
              <a:t> </a:t>
            </a:r>
            <a:r>
              <a:rPr lang="de-DE" dirty="0" err="1"/>
              <a:t>level</a:t>
            </a:r>
            <a:endParaRPr lang="de-DE"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Text: 2 columns">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de-DE" noProof="0" dirty="0"/>
              <a:t>Insert </a:t>
            </a:r>
            <a:r>
              <a:rPr lang="de-DE" noProof="0" dirty="0" err="1"/>
              <a:t>page</a:t>
            </a:r>
            <a:r>
              <a:rPr lang="de-DE" noProof="0" dirty="0"/>
              <a:t> title</a:t>
            </a:r>
            <a:endParaRPr lang="de-DE" dirty="0"/>
          </a:p>
        </p:txBody>
      </p:sp>
      <p:sp>
        <p:nvSpPr>
          <p:cNvPr id="4" name="Text Placeholder 3"/>
          <p:cNvSpPr>
            <a:spLocks noGrp="1"/>
          </p:cNvSpPr>
          <p:nvPr>
            <p:ph type="body" sz="quarter" idx="10" hasCustomPrompt="1"/>
          </p:nvPr>
        </p:nvSpPr>
        <p:spPr>
          <a:xfrm>
            <a:off x="324000" y="1691999"/>
            <a:ext cx="4165200" cy="4392000"/>
          </a:xfrm>
        </p:spPr>
        <p:txBody>
          <a:bodyPr/>
          <a:lstStyle>
            <a:lvl1pPr>
              <a:defRPr/>
            </a:lvl1pPr>
          </a:lstStyle>
          <a:p>
            <a:pPr lvl="0"/>
            <a:r>
              <a:rPr lang="de-DE" noProof="0" dirty="0"/>
              <a:t>First </a:t>
            </a:r>
            <a:r>
              <a:rPr lang="de-DE" noProof="0" dirty="0" err="1"/>
              <a:t>level</a:t>
            </a:r>
            <a:endParaRPr lang="de-DE" noProof="0" dirty="0"/>
          </a:p>
          <a:p>
            <a:pPr lvl="1"/>
            <a:r>
              <a:rPr lang="de-DE" dirty="0"/>
              <a:t>Second </a:t>
            </a:r>
            <a:r>
              <a:rPr lang="de-DE" dirty="0" err="1"/>
              <a:t>level</a:t>
            </a:r>
            <a:endParaRPr lang="de-DE" dirty="0"/>
          </a:p>
          <a:p>
            <a:pPr lvl="2"/>
            <a:r>
              <a:rPr lang="de-DE" dirty="0"/>
              <a:t>Third </a:t>
            </a:r>
            <a:r>
              <a:rPr lang="de-DE" dirty="0" err="1"/>
              <a:t>level</a:t>
            </a:r>
            <a:endParaRPr lang="de-DE" dirty="0"/>
          </a:p>
          <a:p>
            <a:pPr lvl="3"/>
            <a:r>
              <a:rPr lang="de-DE" dirty="0" err="1"/>
              <a:t>Fourth</a:t>
            </a:r>
            <a:r>
              <a:rPr lang="de-DE" dirty="0"/>
              <a:t> </a:t>
            </a:r>
            <a:r>
              <a:rPr lang="de-DE" dirty="0" err="1"/>
              <a:t>level</a:t>
            </a:r>
            <a:endParaRPr lang="de-DE" dirty="0"/>
          </a:p>
          <a:p>
            <a:pPr lvl="4"/>
            <a:r>
              <a:rPr lang="de-DE" dirty="0" err="1"/>
              <a:t>Fifth</a:t>
            </a:r>
            <a:r>
              <a:rPr lang="de-DE" dirty="0"/>
              <a:t> </a:t>
            </a:r>
            <a:r>
              <a:rPr lang="de-DE" dirty="0" err="1"/>
              <a:t>level</a:t>
            </a:r>
            <a:endParaRPr lang="de-DE" dirty="0"/>
          </a:p>
        </p:txBody>
      </p:sp>
      <p:sp>
        <p:nvSpPr>
          <p:cNvPr id="5" name="Text Placeholder 3"/>
          <p:cNvSpPr>
            <a:spLocks noGrp="1"/>
          </p:cNvSpPr>
          <p:nvPr>
            <p:ph type="body" sz="quarter" idx="11" hasCustomPrompt="1"/>
          </p:nvPr>
        </p:nvSpPr>
        <p:spPr>
          <a:xfrm>
            <a:off x="4654800" y="1691999"/>
            <a:ext cx="4165200" cy="4392000"/>
          </a:xfrm>
        </p:spPr>
        <p:txBody>
          <a:bodyPr/>
          <a:lstStyle>
            <a:lvl1pPr>
              <a:defRPr/>
            </a:lvl1pPr>
          </a:lstStyle>
          <a:p>
            <a:pPr lvl="0"/>
            <a:r>
              <a:rPr lang="de-DE" noProof="0" dirty="0"/>
              <a:t>First </a:t>
            </a:r>
            <a:r>
              <a:rPr lang="de-DE" noProof="0" dirty="0" err="1"/>
              <a:t>level</a:t>
            </a:r>
            <a:endParaRPr lang="de-DE" noProof="0" dirty="0"/>
          </a:p>
          <a:p>
            <a:pPr lvl="1"/>
            <a:r>
              <a:rPr lang="de-DE" dirty="0"/>
              <a:t>Second </a:t>
            </a:r>
            <a:r>
              <a:rPr lang="de-DE" dirty="0" err="1"/>
              <a:t>level</a:t>
            </a:r>
            <a:endParaRPr lang="de-DE" dirty="0"/>
          </a:p>
          <a:p>
            <a:pPr lvl="2"/>
            <a:r>
              <a:rPr lang="de-DE" dirty="0"/>
              <a:t>Third </a:t>
            </a:r>
            <a:r>
              <a:rPr lang="de-DE" dirty="0" err="1"/>
              <a:t>level</a:t>
            </a:r>
            <a:endParaRPr lang="de-DE" dirty="0"/>
          </a:p>
          <a:p>
            <a:pPr lvl="3"/>
            <a:r>
              <a:rPr lang="de-DE" dirty="0" err="1"/>
              <a:t>Fourth</a:t>
            </a:r>
            <a:r>
              <a:rPr lang="de-DE" dirty="0"/>
              <a:t> </a:t>
            </a:r>
            <a:r>
              <a:rPr lang="de-DE" dirty="0" err="1"/>
              <a:t>level</a:t>
            </a:r>
            <a:endParaRPr lang="de-DE" dirty="0"/>
          </a:p>
          <a:p>
            <a:pPr lvl="4"/>
            <a:r>
              <a:rPr lang="de-DE" dirty="0" err="1"/>
              <a:t>Fifth</a:t>
            </a:r>
            <a:r>
              <a:rPr lang="de-DE" dirty="0"/>
              <a:t> </a:t>
            </a:r>
            <a:r>
              <a:rPr lang="de-DE" dirty="0" err="1"/>
              <a:t>level</a:t>
            </a:r>
            <a:endParaRPr lang="de-DE"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Text: 3 column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24000" y="324000"/>
            <a:ext cx="8496000" cy="756000"/>
          </a:xfrm>
        </p:spPr>
        <p:txBody>
          <a:bodyPr/>
          <a:lstStyle/>
          <a:p>
            <a:r>
              <a:rPr lang="de-DE" noProof="0" dirty="0"/>
              <a:t>Insert </a:t>
            </a:r>
            <a:r>
              <a:rPr lang="de-DE" noProof="0" dirty="0" err="1"/>
              <a:t>page</a:t>
            </a:r>
            <a:r>
              <a:rPr lang="de-DE" noProof="0" dirty="0"/>
              <a:t> title</a:t>
            </a:r>
            <a:endParaRPr lang="de-DE" dirty="0"/>
          </a:p>
        </p:txBody>
      </p:sp>
      <p:sp>
        <p:nvSpPr>
          <p:cNvPr id="4" name="Text Placeholder 3"/>
          <p:cNvSpPr>
            <a:spLocks noGrp="1"/>
          </p:cNvSpPr>
          <p:nvPr>
            <p:ph type="body" sz="quarter" idx="10" hasCustomPrompt="1"/>
          </p:nvPr>
        </p:nvSpPr>
        <p:spPr>
          <a:xfrm>
            <a:off x="324000" y="1691999"/>
            <a:ext cx="2721600" cy="4392000"/>
          </a:xfrm>
        </p:spPr>
        <p:txBody>
          <a:bodyPr/>
          <a:lstStyle>
            <a:lvl1pPr>
              <a:defRPr/>
            </a:lvl1pPr>
          </a:lstStyle>
          <a:p>
            <a:pPr lvl="0"/>
            <a:r>
              <a:rPr lang="de-DE" noProof="0" dirty="0"/>
              <a:t>First </a:t>
            </a:r>
            <a:r>
              <a:rPr lang="de-DE" noProof="0" dirty="0" err="1"/>
              <a:t>level</a:t>
            </a:r>
            <a:endParaRPr lang="de-DE" noProof="0" dirty="0"/>
          </a:p>
          <a:p>
            <a:pPr lvl="1"/>
            <a:r>
              <a:rPr lang="de-DE" dirty="0"/>
              <a:t>Second </a:t>
            </a:r>
            <a:r>
              <a:rPr lang="de-DE" dirty="0" err="1"/>
              <a:t>level</a:t>
            </a:r>
            <a:endParaRPr lang="de-DE" dirty="0"/>
          </a:p>
          <a:p>
            <a:pPr lvl="2"/>
            <a:r>
              <a:rPr lang="de-DE" dirty="0"/>
              <a:t>Third </a:t>
            </a:r>
            <a:r>
              <a:rPr lang="de-DE" dirty="0" err="1"/>
              <a:t>level</a:t>
            </a:r>
            <a:endParaRPr lang="de-DE" dirty="0"/>
          </a:p>
          <a:p>
            <a:pPr lvl="3"/>
            <a:r>
              <a:rPr lang="de-DE" dirty="0" err="1"/>
              <a:t>Fourth</a:t>
            </a:r>
            <a:r>
              <a:rPr lang="de-DE" dirty="0"/>
              <a:t> </a:t>
            </a:r>
            <a:r>
              <a:rPr lang="de-DE" dirty="0" err="1"/>
              <a:t>level</a:t>
            </a:r>
            <a:endParaRPr lang="de-DE" dirty="0"/>
          </a:p>
          <a:p>
            <a:pPr lvl="4"/>
            <a:r>
              <a:rPr lang="de-DE" dirty="0" err="1"/>
              <a:t>Fifth</a:t>
            </a:r>
            <a:r>
              <a:rPr lang="de-DE" dirty="0"/>
              <a:t> </a:t>
            </a:r>
            <a:r>
              <a:rPr lang="de-DE" dirty="0" err="1"/>
              <a:t>level</a:t>
            </a:r>
            <a:endParaRPr lang="de-DE" dirty="0"/>
          </a:p>
        </p:txBody>
      </p:sp>
      <p:sp>
        <p:nvSpPr>
          <p:cNvPr id="5" name="Text Placeholder 3"/>
          <p:cNvSpPr>
            <a:spLocks noGrp="1"/>
          </p:cNvSpPr>
          <p:nvPr>
            <p:ph type="body" sz="quarter" idx="11" hasCustomPrompt="1"/>
          </p:nvPr>
        </p:nvSpPr>
        <p:spPr>
          <a:xfrm>
            <a:off x="6098400" y="1691999"/>
            <a:ext cx="2721600" cy="4392000"/>
          </a:xfrm>
        </p:spPr>
        <p:txBody>
          <a:bodyPr/>
          <a:lstStyle>
            <a:lvl1pPr>
              <a:defRPr/>
            </a:lvl1pPr>
          </a:lstStyle>
          <a:p>
            <a:pPr lvl="0"/>
            <a:r>
              <a:rPr lang="de-DE" noProof="0" dirty="0"/>
              <a:t>First </a:t>
            </a:r>
            <a:r>
              <a:rPr lang="de-DE" noProof="0" dirty="0" err="1"/>
              <a:t>level</a:t>
            </a:r>
            <a:endParaRPr lang="de-DE" noProof="0" dirty="0"/>
          </a:p>
          <a:p>
            <a:pPr lvl="1"/>
            <a:r>
              <a:rPr lang="de-DE" dirty="0"/>
              <a:t>Second </a:t>
            </a:r>
            <a:r>
              <a:rPr lang="de-DE" dirty="0" err="1"/>
              <a:t>level</a:t>
            </a:r>
            <a:endParaRPr lang="de-DE" dirty="0"/>
          </a:p>
          <a:p>
            <a:pPr lvl="2"/>
            <a:r>
              <a:rPr lang="de-DE" dirty="0"/>
              <a:t>Third </a:t>
            </a:r>
            <a:r>
              <a:rPr lang="de-DE" dirty="0" err="1"/>
              <a:t>level</a:t>
            </a:r>
            <a:endParaRPr lang="de-DE" dirty="0"/>
          </a:p>
          <a:p>
            <a:pPr lvl="3"/>
            <a:r>
              <a:rPr lang="de-DE" dirty="0" err="1"/>
              <a:t>Fourth</a:t>
            </a:r>
            <a:r>
              <a:rPr lang="de-DE" dirty="0"/>
              <a:t> </a:t>
            </a:r>
            <a:r>
              <a:rPr lang="de-DE" dirty="0" err="1"/>
              <a:t>level</a:t>
            </a:r>
            <a:endParaRPr lang="de-DE" dirty="0"/>
          </a:p>
          <a:p>
            <a:pPr lvl="4"/>
            <a:r>
              <a:rPr lang="de-DE" dirty="0" err="1"/>
              <a:t>Fifth</a:t>
            </a:r>
            <a:r>
              <a:rPr lang="de-DE" dirty="0"/>
              <a:t> </a:t>
            </a:r>
            <a:r>
              <a:rPr lang="de-DE" dirty="0" err="1"/>
              <a:t>level</a:t>
            </a:r>
            <a:endParaRPr lang="de-DE" dirty="0"/>
          </a:p>
        </p:txBody>
      </p:sp>
      <p:sp>
        <p:nvSpPr>
          <p:cNvPr id="7" name="Text Placeholder 3"/>
          <p:cNvSpPr>
            <a:spLocks noGrp="1"/>
          </p:cNvSpPr>
          <p:nvPr>
            <p:ph type="body" sz="quarter" idx="12" hasCustomPrompt="1"/>
          </p:nvPr>
        </p:nvSpPr>
        <p:spPr>
          <a:xfrm>
            <a:off x="3220725" y="1691999"/>
            <a:ext cx="2721600" cy="4392000"/>
          </a:xfrm>
        </p:spPr>
        <p:txBody>
          <a:bodyPr/>
          <a:lstStyle>
            <a:lvl1pPr>
              <a:defRPr/>
            </a:lvl1pPr>
          </a:lstStyle>
          <a:p>
            <a:pPr lvl="0"/>
            <a:r>
              <a:rPr lang="de-DE" noProof="0" dirty="0"/>
              <a:t>First </a:t>
            </a:r>
            <a:r>
              <a:rPr lang="de-DE" noProof="0" dirty="0" err="1"/>
              <a:t>level</a:t>
            </a:r>
            <a:endParaRPr lang="de-DE" noProof="0" dirty="0"/>
          </a:p>
          <a:p>
            <a:pPr lvl="1"/>
            <a:r>
              <a:rPr lang="de-DE" dirty="0"/>
              <a:t>Second </a:t>
            </a:r>
            <a:r>
              <a:rPr lang="de-DE" dirty="0" err="1"/>
              <a:t>level</a:t>
            </a:r>
            <a:endParaRPr lang="de-DE" dirty="0"/>
          </a:p>
          <a:p>
            <a:pPr lvl="2"/>
            <a:r>
              <a:rPr lang="de-DE" dirty="0"/>
              <a:t>Third </a:t>
            </a:r>
            <a:r>
              <a:rPr lang="de-DE" dirty="0" err="1"/>
              <a:t>level</a:t>
            </a:r>
            <a:endParaRPr lang="de-DE" dirty="0"/>
          </a:p>
          <a:p>
            <a:pPr lvl="3"/>
            <a:r>
              <a:rPr lang="de-DE" dirty="0" err="1"/>
              <a:t>Fourth</a:t>
            </a:r>
            <a:r>
              <a:rPr lang="de-DE" dirty="0"/>
              <a:t> </a:t>
            </a:r>
            <a:r>
              <a:rPr lang="de-DE" dirty="0" err="1"/>
              <a:t>level</a:t>
            </a:r>
            <a:endParaRPr lang="de-DE" dirty="0"/>
          </a:p>
          <a:p>
            <a:pPr lvl="4"/>
            <a:r>
              <a:rPr lang="de-DE" dirty="0" err="1"/>
              <a:t>Fifth</a:t>
            </a:r>
            <a:r>
              <a:rPr lang="de-DE" dirty="0"/>
              <a:t> </a:t>
            </a:r>
            <a:r>
              <a:rPr lang="de-DE" dirty="0" err="1"/>
              <a:t>level</a:t>
            </a:r>
            <a:endParaRPr lang="de-DE"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and Text with picture right 1">
    <p:spTree>
      <p:nvGrpSpPr>
        <p:cNvPr id="1" name=""/>
        <p:cNvGrpSpPr/>
        <p:nvPr/>
      </p:nvGrpSpPr>
      <p:grpSpPr>
        <a:xfrm>
          <a:off x="0" y="0"/>
          <a:ext cx="0" cy="0"/>
          <a:chOff x="0" y="0"/>
          <a:chExt cx="0" cy="0"/>
        </a:xfrm>
      </p:grpSpPr>
      <p:sp>
        <p:nvSpPr>
          <p:cNvPr id="2" name="Title 1"/>
          <p:cNvSpPr>
            <a:spLocks noGrp="1"/>
          </p:cNvSpPr>
          <p:nvPr>
            <p:ph type="title" hasCustomPrompt="1"/>
          </p:nvPr>
        </p:nvSpPr>
        <p:spPr bwMode="gray"/>
        <p:txBody>
          <a:bodyPr/>
          <a:lstStyle>
            <a:lvl1pPr>
              <a:defRPr/>
            </a:lvl1pPr>
          </a:lstStyle>
          <a:p>
            <a:r>
              <a:rPr lang="de-DE" noProof="0" dirty="0"/>
              <a:t>Insert </a:t>
            </a:r>
            <a:r>
              <a:rPr lang="de-DE" noProof="0" dirty="0" err="1"/>
              <a:t>page</a:t>
            </a:r>
            <a:r>
              <a:rPr lang="de-DE" noProof="0" dirty="0"/>
              <a:t> title</a:t>
            </a:r>
            <a:endParaRPr lang="de-DE" dirty="0"/>
          </a:p>
        </p:txBody>
      </p:sp>
      <p:sp>
        <p:nvSpPr>
          <p:cNvPr id="5" name="Picture Placeholder 4"/>
          <p:cNvSpPr>
            <a:spLocks noGrp="1"/>
          </p:cNvSpPr>
          <p:nvPr>
            <p:ph type="pic" sz="quarter" idx="10"/>
          </p:nvPr>
        </p:nvSpPr>
        <p:spPr bwMode="gray">
          <a:xfrm>
            <a:off x="5745600" y="1690687"/>
            <a:ext cx="3078000" cy="4391025"/>
          </a:xfrm>
          <a:solidFill>
            <a:schemeClr val="bg1">
              <a:lumMod val="95000"/>
            </a:schemeClr>
          </a:solidFill>
        </p:spPr>
        <p:txBody>
          <a:bodyPr tIns="1296000" anchor="t" anchorCtr="0"/>
          <a:lstStyle>
            <a:lvl1pPr algn="ctr">
              <a:defRPr b="0"/>
            </a:lvl1pPr>
          </a:lstStyle>
          <a:p>
            <a:r>
              <a:rPr lang="de-DE" dirty="0"/>
              <a:t>Click </a:t>
            </a:r>
            <a:r>
              <a:rPr lang="de-DE" dirty="0" err="1"/>
              <a:t>icon</a:t>
            </a:r>
            <a:r>
              <a:rPr lang="de-DE" dirty="0"/>
              <a:t> </a:t>
            </a:r>
            <a:r>
              <a:rPr lang="de-DE" dirty="0" err="1"/>
              <a:t>to</a:t>
            </a:r>
            <a:r>
              <a:rPr lang="de-DE" dirty="0"/>
              <a:t> </a:t>
            </a:r>
            <a:r>
              <a:rPr lang="de-DE" dirty="0" err="1"/>
              <a:t>add</a:t>
            </a:r>
            <a:r>
              <a:rPr lang="de-DE" dirty="0"/>
              <a:t> </a:t>
            </a:r>
            <a:r>
              <a:rPr lang="de-DE" dirty="0" err="1"/>
              <a:t>picture</a:t>
            </a:r>
            <a:endParaRPr lang="de-DE" dirty="0"/>
          </a:p>
        </p:txBody>
      </p:sp>
      <p:sp>
        <p:nvSpPr>
          <p:cNvPr id="7" name="Text Placeholder 6"/>
          <p:cNvSpPr>
            <a:spLocks noGrp="1"/>
          </p:cNvSpPr>
          <p:nvPr>
            <p:ph type="body" sz="quarter" idx="11" hasCustomPrompt="1"/>
          </p:nvPr>
        </p:nvSpPr>
        <p:spPr bwMode="gray">
          <a:xfrm>
            <a:off x="324000" y="1690687"/>
            <a:ext cx="5238000" cy="4391025"/>
          </a:xfrm>
        </p:spPr>
        <p:txBody>
          <a:bodyPr/>
          <a:lstStyle>
            <a:lvl1pPr>
              <a:defRPr/>
            </a:lvl1pPr>
          </a:lstStyle>
          <a:p>
            <a:pPr lvl="0"/>
            <a:r>
              <a:rPr lang="de-DE" noProof="0" dirty="0"/>
              <a:t>First </a:t>
            </a:r>
            <a:r>
              <a:rPr lang="de-DE" noProof="0" dirty="0" err="1"/>
              <a:t>level</a:t>
            </a:r>
            <a:endParaRPr lang="de-DE" noProof="0" dirty="0"/>
          </a:p>
          <a:p>
            <a:pPr lvl="1"/>
            <a:r>
              <a:rPr lang="de-DE" dirty="0"/>
              <a:t>Second </a:t>
            </a:r>
            <a:r>
              <a:rPr lang="de-DE" dirty="0" err="1"/>
              <a:t>level</a:t>
            </a:r>
            <a:endParaRPr lang="de-DE" dirty="0"/>
          </a:p>
          <a:p>
            <a:pPr lvl="2"/>
            <a:r>
              <a:rPr lang="de-DE" dirty="0"/>
              <a:t>Third </a:t>
            </a:r>
            <a:r>
              <a:rPr lang="de-DE" dirty="0" err="1"/>
              <a:t>level</a:t>
            </a:r>
            <a:endParaRPr lang="de-DE" dirty="0"/>
          </a:p>
          <a:p>
            <a:pPr lvl="3"/>
            <a:r>
              <a:rPr lang="de-DE" dirty="0" err="1"/>
              <a:t>Fourth</a:t>
            </a:r>
            <a:r>
              <a:rPr lang="de-DE" dirty="0"/>
              <a:t> </a:t>
            </a:r>
            <a:r>
              <a:rPr lang="de-DE" dirty="0" err="1"/>
              <a:t>level</a:t>
            </a:r>
            <a:endParaRPr lang="de-DE" dirty="0"/>
          </a:p>
          <a:p>
            <a:pPr lvl="4"/>
            <a:r>
              <a:rPr lang="de-DE" dirty="0" err="1"/>
              <a:t>Fifth</a:t>
            </a:r>
            <a:r>
              <a:rPr lang="de-DE" dirty="0"/>
              <a:t> </a:t>
            </a:r>
            <a:r>
              <a:rPr lang="de-DE" dirty="0" err="1"/>
              <a:t>level</a:t>
            </a:r>
            <a:endParaRPr lang="de-DE"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and Text with picture right 2">
    <p:spTree>
      <p:nvGrpSpPr>
        <p:cNvPr id="1" name=""/>
        <p:cNvGrpSpPr/>
        <p:nvPr/>
      </p:nvGrpSpPr>
      <p:grpSpPr>
        <a:xfrm>
          <a:off x="0" y="0"/>
          <a:ext cx="0" cy="0"/>
          <a:chOff x="0" y="0"/>
          <a:chExt cx="0" cy="0"/>
        </a:xfrm>
      </p:grpSpPr>
      <p:sp>
        <p:nvSpPr>
          <p:cNvPr id="2" name="Title 1"/>
          <p:cNvSpPr>
            <a:spLocks noGrp="1"/>
          </p:cNvSpPr>
          <p:nvPr>
            <p:ph type="title" hasCustomPrompt="1"/>
          </p:nvPr>
        </p:nvSpPr>
        <p:spPr bwMode="gray"/>
        <p:txBody>
          <a:bodyPr/>
          <a:lstStyle>
            <a:lvl1pPr>
              <a:defRPr/>
            </a:lvl1pPr>
          </a:lstStyle>
          <a:p>
            <a:r>
              <a:rPr lang="de-DE" noProof="0" dirty="0"/>
              <a:t>Insert </a:t>
            </a:r>
            <a:r>
              <a:rPr lang="de-DE" noProof="0" dirty="0" err="1"/>
              <a:t>page</a:t>
            </a:r>
            <a:r>
              <a:rPr lang="de-DE" noProof="0" dirty="0"/>
              <a:t> title</a:t>
            </a:r>
            <a:endParaRPr lang="de-DE" dirty="0"/>
          </a:p>
        </p:txBody>
      </p:sp>
      <p:sp>
        <p:nvSpPr>
          <p:cNvPr id="5" name="Picture Placeholder 4"/>
          <p:cNvSpPr>
            <a:spLocks noGrp="1"/>
          </p:cNvSpPr>
          <p:nvPr>
            <p:ph type="pic" sz="quarter" idx="10"/>
          </p:nvPr>
        </p:nvSpPr>
        <p:spPr bwMode="gray">
          <a:xfrm>
            <a:off x="4654800" y="1692000"/>
            <a:ext cx="4165200" cy="4392000"/>
          </a:xfrm>
          <a:solidFill>
            <a:schemeClr val="bg1">
              <a:lumMod val="95000"/>
            </a:schemeClr>
          </a:solidFill>
        </p:spPr>
        <p:txBody>
          <a:bodyPr vert="horz" lIns="0" tIns="1296000" rIns="0" bIns="0" rtlCol="0" anchor="t" anchorCtr="0">
            <a:noAutofit/>
          </a:bodyPr>
          <a:lstStyle>
            <a:lvl1pPr marL="0" indent="0" algn="ctr" defTabSz="914400" rtl="0" eaLnBrk="1" latinLnBrk="0" hangingPunct="1">
              <a:spcBef>
                <a:spcPts val="1620"/>
              </a:spcBef>
              <a:buClr>
                <a:schemeClr val="accent1"/>
              </a:buClr>
              <a:buSzPct val="80000"/>
              <a:buFontTx/>
              <a:buNone/>
              <a:defRPr lang="de-DE" sz="1800" b="0" kern="1200" dirty="0">
                <a:solidFill>
                  <a:schemeClr val="tx1"/>
                </a:solidFill>
                <a:latin typeface="+mn-lt"/>
                <a:ea typeface="+mn-ea"/>
                <a:cs typeface="+mn-cs"/>
              </a:defRPr>
            </a:lvl1pPr>
          </a:lstStyle>
          <a:p>
            <a:r>
              <a:rPr lang="de-DE" dirty="0"/>
              <a:t>Click </a:t>
            </a:r>
            <a:r>
              <a:rPr lang="de-DE" dirty="0" err="1"/>
              <a:t>icon</a:t>
            </a:r>
            <a:r>
              <a:rPr lang="de-DE" dirty="0"/>
              <a:t> </a:t>
            </a:r>
            <a:r>
              <a:rPr lang="de-DE" dirty="0" err="1"/>
              <a:t>to</a:t>
            </a:r>
            <a:r>
              <a:rPr lang="de-DE" dirty="0"/>
              <a:t> </a:t>
            </a:r>
            <a:r>
              <a:rPr lang="de-DE" dirty="0" err="1"/>
              <a:t>add</a:t>
            </a:r>
            <a:r>
              <a:rPr lang="de-DE" dirty="0"/>
              <a:t> </a:t>
            </a:r>
            <a:r>
              <a:rPr lang="de-DE" dirty="0" err="1"/>
              <a:t>picture</a:t>
            </a:r>
            <a:endParaRPr lang="de-DE" dirty="0"/>
          </a:p>
        </p:txBody>
      </p:sp>
      <p:sp>
        <p:nvSpPr>
          <p:cNvPr id="7" name="Text Placeholder 6"/>
          <p:cNvSpPr>
            <a:spLocks noGrp="1"/>
          </p:cNvSpPr>
          <p:nvPr>
            <p:ph type="body" sz="quarter" idx="11" hasCustomPrompt="1"/>
          </p:nvPr>
        </p:nvSpPr>
        <p:spPr bwMode="gray">
          <a:xfrm>
            <a:off x="324000" y="1692000"/>
            <a:ext cx="4165200" cy="4392000"/>
          </a:xfrm>
        </p:spPr>
        <p:txBody>
          <a:bodyPr/>
          <a:lstStyle>
            <a:lvl1pPr>
              <a:defRPr/>
            </a:lvl1pPr>
          </a:lstStyle>
          <a:p>
            <a:pPr lvl="0"/>
            <a:r>
              <a:rPr lang="de-DE" noProof="0" dirty="0"/>
              <a:t>First </a:t>
            </a:r>
            <a:r>
              <a:rPr lang="de-DE" noProof="0" dirty="0" err="1"/>
              <a:t>level</a:t>
            </a:r>
            <a:endParaRPr lang="de-DE" noProof="0" dirty="0"/>
          </a:p>
          <a:p>
            <a:pPr lvl="1"/>
            <a:r>
              <a:rPr lang="de-DE" dirty="0"/>
              <a:t>Second </a:t>
            </a:r>
            <a:r>
              <a:rPr lang="de-DE" dirty="0" err="1"/>
              <a:t>level</a:t>
            </a:r>
            <a:endParaRPr lang="de-DE" dirty="0"/>
          </a:p>
          <a:p>
            <a:pPr lvl="2"/>
            <a:r>
              <a:rPr lang="de-DE" dirty="0"/>
              <a:t>Third </a:t>
            </a:r>
            <a:r>
              <a:rPr lang="de-DE" dirty="0" err="1"/>
              <a:t>level</a:t>
            </a:r>
            <a:endParaRPr lang="de-DE" dirty="0"/>
          </a:p>
          <a:p>
            <a:pPr lvl="3"/>
            <a:r>
              <a:rPr lang="de-DE" dirty="0" err="1"/>
              <a:t>Fourth</a:t>
            </a:r>
            <a:r>
              <a:rPr lang="de-DE" dirty="0"/>
              <a:t> </a:t>
            </a:r>
            <a:r>
              <a:rPr lang="de-DE" dirty="0" err="1"/>
              <a:t>level</a:t>
            </a:r>
            <a:endParaRPr lang="de-DE" dirty="0"/>
          </a:p>
          <a:p>
            <a:pPr lvl="4"/>
            <a:r>
              <a:rPr lang="de-DE" dirty="0" err="1"/>
              <a:t>Fifth</a:t>
            </a:r>
            <a:r>
              <a:rPr lang="de-DE" dirty="0"/>
              <a:t> </a:t>
            </a:r>
            <a:r>
              <a:rPr lang="de-DE" dirty="0" err="1"/>
              <a:t>level</a:t>
            </a:r>
            <a:endParaRPr lang="de-DE"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 and Text with picture right 3">
    <p:spTree>
      <p:nvGrpSpPr>
        <p:cNvPr id="1" name=""/>
        <p:cNvGrpSpPr/>
        <p:nvPr/>
      </p:nvGrpSpPr>
      <p:grpSpPr>
        <a:xfrm>
          <a:off x="0" y="0"/>
          <a:ext cx="0" cy="0"/>
          <a:chOff x="0" y="0"/>
          <a:chExt cx="0" cy="0"/>
        </a:xfrm>
      </p:grpSpPr>
      <p:sp>
        <p:nvSpPr>
          <p:cNvPr id="2" name="Title 1"/>
          <p:cNvSpPr>
            <a:spLocks noGrp="1"/>
          </p:cNvSpPr>
          <p:nvPr>
            <p:ph type="title" hasCustomPrompt="1"/>
          </p:nvPr>
        </p:nvSpPr>
        <p:spPr bwMode="gray"/>
        <p:txBody>
          <a:bodyPr/>
          <a:lstStyle>
            <a:lvl1pPr>
              <a:defRPr/>
            </a:lvl1pPr>
          </a:lstStyle>
          <a:p>
            <a:r>
              <a:rPr lang="de-DE" noProof="0" dirty="0"/>
              <a:t>Insert </a:t>
            </a:r>
            <a:r>
              <a:rPr lang="de-DE" noProof="0" dirty="0" err="1"/>
              <a:t>page</a:t>
            </a:r>
            <a:r>
              <a:rPr lang="de-DE" noProof="0" dirty="0"/>
              <a:t> title</a:t>
            </a:r>
            <a:endParaRPr lang="de-DE" dirty="0"/>
          </a:p>
        </p:txBody>
      </p:sp>
      <p:sp>
        <p:nvSpPr>
          <p:cNvPr id="5" name="Picture Placeholder 4"/>
          <p:cNvSpPr>
            <a:spLocks noGrp="1"/>
          </p:cNvSpPr>
          <p:nvPr>
            <p:ph type="pic" sz="quarter" idx="10"/>
          </p:nvPr>
        </p:nvSpPr>
        <p:spPr bwMode="gray">
          <a:xfrm>
            <a:off x="3575304" y="1692000"/>
            <a:ext cx="5238000" cy="4392000"/>
          </a:xfrm>
          <a:solidFill>
            <a:schemeClr val="bg1">
              <a:lumMod val="95000"/>
            </a:schemeClr>
          </a:solidFill>
        </p:spPr>
        <p:txBody>
          <a:bodyPr vert="horz" lIns="0" tIns="1296000" rIns="0" bIns="0" rtlCol="0" anchor="t" anchorCtr="0">
            <a:noAutofit/>
          </a:bodyPr>
          <a:lstStyle>
            <a:lvl1pPr marL="0" indent="0" algn="ctr" defTabSz="914400" rtl="0" eaLnBrk="1" latinLnBrk="0" hangingPunct="1">
              <a:spcBef>
                <a:spcPts val="1620"/>
              </a:spcBef>
              <a:buClr>
                <a:schemeClr val="accent1"/>
              </a:buClr>
              <a:buSzPct val="80000"/>
              <a:buFontTx/>
              <a:buNone/>
              <a:defRPr lang="de-DE" sz="1800" b="0" kern="1200" dirty="0">
                <a:solidFill>
                  <a:schemeClr val="tx1"/>
                </a:solidFill>
                <a:latin typeface="+mn-lt"/>
                <a:ea typeface="+mn-ea"/>
                <a:cs typeface="+mn-cs"/>
              </a:defRPr>
            </a:lvl1pPr>
          </a:lstStyle>
          <a:p>
            <a:r>
              <a:rPr lang="de-DE" dirty="0"/>
              <a:t>Click </a:t>
            </a:r>
            <a:r>
              <a:rPr lang="de-DE" dirty="0" err="1"/>
              <a:t>icon</a:t>
            </a:r>
            <a:r>
              <a:rPr lang="de-DE" dirty="0"/>
              <a:t> </a:t>
            </a:r>
            <a:r>
              <a:rPr lang="de-DE" dirty="0" err="1"/>
              <a:t>to</a:t>
            </a:r>
            <a:r>
              <a:rPr lang="de-DE" dirty="0"/>
              <a:t> </a:t>
            </a:r>
            <a:r>
              <a:rPr lang="de-DE" dirty="0" err="1"/>
              <a:t>add</a:t>
            </a:r>
            <a:r>
              <a:rPr lang="de-DE" dirty="0"/>
              <a:t> </a:t>
            </a:r>
            <a:r>
              <a:rPr lang="de-DE" dirty="0" err="1"/>
              <a:t>picture</a:t>
            </a:r>
            <a:endParaRPr lang="de-DE" dirty="0"/>
          </a:p>
        </p:txBody>
      </p:sp>
      <p:sp>
        <p:nvSpPr>
          <p:cNvPr id="7" name="Text Placeholder 6"/>
          <p:cNvSpPr>
            <a:spLocks noGrp="1"/>
          </p:cNvSpPr>
          <p:nvPr>
            <p:ph type="body" sz="quarter" idx="11" hasCustomPrompt="1"/>
          </p:nvPr>
        </p:nvSpPr>
        <p:spPr bwMode="gray">
          <a:xfrm>
            <a:off x="324000" y="1692000"/>
            <a:ext cx="3078000" cy="4392000"/>
          </a:xfrm>
        </p:spPr>
        <p:txBody>
          <a:bodyPr/>
          <a:lstStyle>
            <a:lvl1pPr>
              <a:defRPr/>
            </a:lvl1pPr>
          </a:lstStyle>
          <a:p>
            <a:pPr lvl="0"/>
            <a:r>
              <a:rPr lang="de-DE" noProof="0" dirty="0"/>
              <a:t>First </a:t>
            </a:r>
            <a:r>
              <a:rPr lang="de-DE" noProof="0" dirty="0" err="1"/>
              <a:t>level</a:t>
            </a:r>
            <a:endParaRPr lang="de-DE" noProof="0" dirty="0"/>
          </a:p>
          <a:p>
            <a:pPr lvl="1"/>
            <a:r>
              <a:rPr lang="de-DE" dirty="0"/>
              <a:t>Second </a:t>
            </a:r>
            <a:r>
              <a:rPr lang="de-DE" dirty="0" err="1"/>
              <a:t>level</a:t>
            </a:r>
            <a:endParaRPr lang="de-DE" dirty="0"/>
          </a:p>
          <a:p>
            <a:pPr lvl="2"/>
            <a:r>
              <a:rPr lang="de-DE" dirty="0"/>
              <a:t>Third </a:t>
            </a:r>
            <a:r>
              <a:rPr lang="de-DE" dirty="0" err="1"/>
              <a:t>level</a:t>
            </a:r>
            <a:endParaRPr lang="de-DE" dirty="0"/>
          </a:p>
          <a:p>
            <a:pPr lvl="3"/>
            <a:r>
              <a:rPr lang="de-DE" dirty="0" err="1"/>
              <a:t>Fourth</a:t>
            </a:r>
            <a:r>
              <a:rPr lang="de-DE" dirty="0"/>
              <a:t> </a:t>
            </a:r>
            <a:r>
              <a:rPr lang="de-DE" dirty="0" err="1"/>
              <a:t>level</a:t>
            </a:r>
            <a:endParaRPr lang="de-DE" dirty="0"/>
          </a:p>
          <a:p>
            <a:pPr lvl="4"/>
            <a:r>
              <a:rPr lang="de-DE" dirty="0" err="1"/>
              <a:t>Fifth</a:t>
            </a:r>
            <a:r>
              <a:rPr lang="de-DE" dirty="0"/>
              <a:t> </a:t>
            </a:r>
            <a:r>
              <a:rPr lang="de-DE" dirty="0" err="1"/>
              <a:t>level</a:t>
            </a:r>
            <a:endParaRPr lang="de-DE"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and Text with picture: 2 columns">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de-DE" noProof="0" dirty="0"/>
              <a:t>Insert </a:t>
            </a:r>
            <a:r>
              <a:rPr lang="de-DE" noProof="0" dirty="0" err="1"/>
              <a:t>page</a:t>
            </a:r>
            <a:r>
              <a:rPr lang="de-DE" noProof="0" dirty="0"/>
              <a:t> title</a:t>
            </a:r>
            <a:endParaRPr lang="de-DE" dirty="0"/>
          </a:p>
        </p:txBody>
      </p:sp>
      <p:sp>
        <p:nvSpPr>
          <p:cNvPr id="4" name="Text Placeholder 3"/>
          <p:cNvSpPr>
            <a:spLocks noGrp="1"/>
          </p:cNvSpPr>
          <p:nvPr>
            <p:ph type="body" sz="quarter" idx="10" hasCustomPrompt="1"/>
          </p:nvPr>
        </p:nvSpPr>
        <p:spPr>
          <a:xfrm>
            <a:off x="324000" y="1690688"/>
            <a:ext cx="4165200" cy="1720800"/>
          </a:xfrm>
        </p:spPr>
        <p:txBody>
          <a:bodyPr/>
          <a:lstStyle>
            <a:lvl1pPr>
              <a:defRPr/>
            </a:lvl1pPr>
          </a:lstStyle>
          <a:p>
            <a:pPr lvl="0"/>
            <a:r>
              <a:rPr lang="de-DE" noProof="0" dirty="0"/>
              <a:t>First </a:t>
            </a:r>
            <a:r>
              <a:rPr lang="de-DE" noProof="0" dirty="0" err="1"/>
              <a:t>level</a:t>
            </a:r>
            <a:endParaRPr lang="de-DE" noProof="0" dirty="0"/>
          </a:p>
          <a:p>
            <a:pPr lvl="1"/>
            <a:r>
              <a:rPr lang="de-DE" dirty="0"/>
              <a:t>Second </a:t>
            </a:r>
            <a:r>
              <a:rPr lang="de-DE" dirty="0" err="1"/>
              <a:t>level</a:t>
            </a:r>
            <a:endParaRPr lang="de-DE" dirty="0"/>
          </a:p>
        </p:txBody>
      </p:sp>
      <p:sp>
        <p:nvSpPr>
          <p:cNvPr id="13" name="Text Placeholder 3"/>
          <p:cNvSpPr>
            <a:spLocks noGrp="1"/>
          </p:cNvSpPr>
          <p:nvPr>
            <p:ph type="body" sz="quarter" idx="14" hasCustomPrompt="1"/>
          </p:nvPr>
        </p:nvSpPr>
        <p:spPr>
          <a:xfrm>
            <a:off x="4654800" y="1690688"/>
            <a:ext cx="4165200" cy="1720800"/>
          </a:xfrm>
        </p:spPr>
        <p:txBody>
          <a:bodyPr/>
          <a:lstStyle>
            <a:lvl1pPr>
              <a:defRPr/>
            </a:lvl1pPr>
          </a:lstStyle>
          <a:p>
            <a:pPr lvl="0"/>
            <a:r>
              <a:rPr lang="de-DE" noProof="0" dirty="0"/>
              <a:t>First </a:t>
            </a:r>
            <a:r>
              <a:rPr lang="de-DE" noProof="0" dirty="0" err="1"/>
              <a:t>level</a:t>
            </a:r>
            <a:endParaRPr lang="de-DE" noProof="0" dirty="0"/>
          </a:p>
          <a:p>
            <a:pPr lvl="1"/>
            <a:r>
              <a:rPr lang="de-DE" dirty="0"/>
              <a:t>Second </a:t>
            </a:r>
            <a:r>
              <a:rPr lang="de-DE" dirty="0" err="1"/>
              <a:t>level</a:t>
            </a:r>
            <a:endParaRPr lang="de-DE" dirty="0"/>
          </a:p>
        </p:txBody>
      </p:sp>
      <p:sp>
        <p:nvSpPr>
          <p:cNvPr id="9" name="Picture Placeholder 4"/>
          <p:cNvSpPr>
            <a:spLocks noGrp="1"/>
          </p:cNvSpPr>
          <p:nvPr>
            <p:ph type="pic" sz="quarter" idx="15"/>
          </p:nvPr>
        </p:nvSpPr>
        <p:spPr bwMode="gray">
          <a:xfrm>
            <a:off x="324000" y="3573490"/>
            <a:ext cx="4165200" cy="2508223"/>
          </a:xfrm>
          <a:solidFill>
            <a:schemeClr val="bg1">
              <a:lumMod val="95000"/>
            </a:schemeClr>
          </a:solidFill>
        </p:spPr>
        <p:txBody>
          <a:bodyPr tIns="504000" anchor="t" anchorCtr="0"/>
          <a:lstStyle>
            <a:lvl1pPr algn="ctr">
              <a:defRPr b="0"/>
            </a:lvl1pPr>
          </a:lstStyle>
          <a:p>
            <a:r>
              <a:rPr lang="de-DE" dirty="0"/>
              <a:t>Click </a:t>
            </a:r>
            <a:r>
              <a:rPr lang="de-DE" dirty="0" err="1"/>
              <a:t>icon</a:t>
            </a:r>
            <a:r>
              <a:rPr lang="de-DE" dirty="0"/>
              <a:t> </a:t>
            </a:r>
            <a:r>
              <a:rPr lang="de-DE" dirty="0" err="1"/>
              <a:t>to</a:t>
            </a:r>
            <a:r>
              <a:rPr lang="de-DE" dirty="0"/>
              <a:t> </a:t>
            </a:r>
            <a:r>
              <a:rPr lang="de-DE" dirty="0" err="1"/>
              <a:t>add</a:t>
            </a:r>
            <a:r>
              <a:rPr lang="de-DE" dirty="0"/>
              <a:t> </a:t>
            </a:r>
            <a:r>
              <a:rPr lang="de-DE" dirty="0" err="1"/>
              <a:t>picture</a:t>
            </a:r>
            <a:endParaRPr lang="de-DE" dirty="0"/>
          </a:p>
        </p:txBody>
      </p:sp>
      <p:sp>
        <p:nvSpPr>
          <p:cNvPr id="11" name="Picture Placeholder 4"/>
          <p:cNvSpPr>
            <a:spLocks noGrp="1"/>
          </p:cNvSpPr>
          <p:nvPr>
            <p:ph type="pic" sz="quarter" idx="16"/>
          </p:nvPr>
        </p:nvSpPr>
        <p:spPr bwMode="gray">
          <a:xfrm>
            <a:off x="4654800" y="3573490"/>
            <a:ext cx="4165200" cy="2508223"/>
          </a:xfrm>
          <a:solidFill>
            <a:schemeClr val="bg1">
              <a:lumMod val="95000"/>
            </a:schemeClr>
          </a:solidFill>
        </p:spPr>
        <p:txBody>
          <a:bodyPr tIns="504000" anchor="t" anchorCtr="0"/>
          <a:lstStyle>
            <a:lvl1pPr algn="ctr">
              <a:defRPr b="0"/>
            </a:lvl1pPr>
          </a:lstStyle>
          <a:p>
            <a:r>
              <a:rPr lang="de-DE" dirty="0"/>
              <a:t>Click </a:t>
            </a:r>
            <a:r>
              <a:rPr lang="de-DE" dirty="0" err="1"/>
              <a:t>icon</a:t>
            </a:r>
            <a:r>
              <a:rPr lang="de-DE" dirty="0"/>
              <a:t> </a:t>
            </a:r>
            <a:r>
              <a:rPr lang="de-DE" dirty="0" err="1"/>
              <a:t>to</a:t>
            </a:r>
            <a:r>
              <a:rPr lang="de-DE" dirty="0"/>
              <a:t> </a:t>
            </a:r>
            <a:r>
              <a:rPr lang="de-DE" dirty="0" err="1"/>
              <a:t>add</a:t>
            </a:r>
            <a:r>
              <a:rPr lang="de-DE" dirty="0"/>
              <a:t> </a:t>
            </a:r>
            <a:r>
              <a:rPr lang="de-DE" dirty="0" err="1"/>
              <a:t>picture</a:t>
            </a:r>
            <a:endParaRPr lang="de-DE"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5" name="Content Placeholder 4"/>
          <p:cNvSpPr>
            <a:spLocks noGrp="1"/>
          </p:cNvSpPr>
          <p:nvPr>
            <p:ph sz="quarter" idx="10" hasCustomPrompt="1"/>
          </p:nvPr>
        </p:nvSpPr>
        <p:spPr>
          <a:xfrm>
            <a:off x="327024" y="1690688"/>
            <a:ext cx="8493125" cy="4395787"/>
          </a:xfrm>
        </p:spPr>
        <p:txBody>
          <a:bodyPr/>
          <a:lstStyle>
            <a:lvl1pPr>
              <a:defRPr/>
            </a:lvl1pPr>
          </a:lstStyle>
          <a:p>
            <a:pPr lvl="0"/>
            <a:r>
              <a:rPr lang="de-DE" noProof="0" dirty="0"/>
              <a:t>Click </a:t>
            </a:r>
            <a:r>
              <a:rPr lang="de-DE" noProof="0" dirty="0" err="1"/>
              <a:t>to</a:t>
            </a:r>
            <a:r>
              <a:rPr lang="de-DE" noProof="0" dirty="0"/>
              <a:t> </a:t>
            </a:r>
            <a:r>
              <a:rPr lang="de-DE" noProof="0" dirty="0" err="1"/>
              <a:t>add</a:t>
            </a:r>
            <a:r>
              <a:rPr lang="de-DE" noProof="0" dirty="0"/>
              <a:t> </a:t>
            </a:r>
            <a:r>
              <a:rPr lang="de-DE" noProof="0" dirty="0" err="1"/>
              <a:t>content</a:t>
            </a:r>
            <a:endParaRPr lang="de-DE" noProof="0" dirty="0"/>
          </a:p>
          <a:p>
            <a:pPr lvl="1"/>
            <a:r>
              <a:rPr lang="de-DE" noProof="0" dirty="0"/>
              <a:t>Second </a:t>
            </a:r>
            <a:r>
              <a:rPr lang="de-DE" noProof="0" dirty="0" err="1"/>
              <a:t>level</a:t>
            </a:r>
            <a:endParaRPr lang="de-DE" noProof="0" dirty="0"/>
          </a:p>
          <a:p>
            <a:pPr lvl="2"/>
            <a:r>
              <a:rPr lang="de-DE" noProof="0" dirty="0"/>
              <a:t>Third </a:t>
            </a:r>
            <a:r>
              <a:rPr lang="de-DE" noProof="0" dirty="0" err="1"/>
              <a:t>level</a:t>
            </a:r>
            <a:endParaRPr lang="de-DE" noProof="0" dirty="0"/>
          </a:p>
          <a:p>
            <a:pPr lvl="3"/>
            <a:r>
              <a:rPr lang="de-DE" noProof="0" dirty="0" err="1"/>
              <a:t>Fourth</a:t>
            </a:r>
            <a:r>
              <a:rPr lang="de-DE" noProof="0" dirty="0"/>
              <a:t> </a:t>
            </a:r>
            <a:r>
              <a:rPr lang="de-DE" noProof="0" dirty="0" err="1"/>
              <a:t>level</a:t>
            </a:r>
            <a:endParaRPr lang="de-DE" noProof="0" dirty="0"/>
          </a:p>
          <a:p>
            <a:pPr lvl="4"/>
            <a:r>
              <a:rPr lang="de-DE" noProof="0" dirty="0" err="1"/>
              <a:t>Fifth</a:t>
            </a:r>
            <a:r>
              <a:rPr lang="de-DE" noProof="0" dirty="0"/>
              <a:t> </a:t>
            </a:r>
            <a:r>
              <a:rPr lang="de-DE" noProof="0" dirty="0" err="1"/>
              <a:t>level</a:t>
            </a:r>
            <a:endParaRPr lang="de-DE" noProof="0" dirty="0"/>
          </a:p>
        </p:txBody>
      </p:sp>
      <p:sp>
        <p:nvSpPr>
          <p:cNvPr id="2" name="Title 1"/>
          <p:cNvSpPr>
            <a:spLocks noGrp="1"/>
          </p:cNvSpPr>
          <p:nvPr>
            <p:ph type="title" hasCustomPrompt="1"/>
          </p:nvPr>
        </p:nvSpPr>
        <p:spPr/>
        <p:txBody>
          <a:bodyPr/>
          <a:lstStyle/>
          <a:p>
            <a:r>
              <a:rPr lang="de-DE" noProof="0" dirty="0"/>
              <a:t>Insert </a:t>
            </a:r>
            <a:r>
              <a:rPr lang="de-DE" noProof="0" dirty="0" err="1"/>
              <a:t>page</a:t>
            </a:r>
            <a:r>
              <a:rPr lang="de-DE" noProof="0" dirty="0"/>
              <a:t> title</a:t>
            </a:r>
            <a:endParaRPr lang="de-DE"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iscussion Panel">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de-DE" dirty="0" err="1"/>
              <a:t>Discussion</a:t>
            </a:r>
            <a:r>
              <a:rPr lang="de-DE" dirty="0"/>
              <a:t> </a:t>
            </a:r>
            <a:r>
              <a:rPr lang="de-DE" dirty="0" err="1"/>
              <a:t>panel</a:t>
            </a:r>
            <a:endParaRPr lang="de-DE" dirty="0"/>
          </a:p>
        </p:txBody>
      </p:sp>
      <p:sp>
        <p:nvSpPr>
          <p:cNvPr id="5" name="Text Placeholder 4"/>
          <p:cNvSpPr>
            <a:spLocks noGrp="1"/>
          </p:cNvSpPr>
          <p:nvPr>
            <p:ph type="body" sz="quarter" idx="10" hasCustomPrompt="1"/>
          </p:nvPr>
        </p:nvSpPr>
        <p:spPr>
          <a:xfrm>
            <a:off x="324000" y="1692000"/>
            <a:ext cx="8494713" cy="2816156"/>
          </a:xfrm>
        </p:spPr>
        <p:txBody>
          <a:bodyPr>
            <a:noAutofit/>
          </a:bodyPr>
          <a:lstStyle>
            <a:lvl1pPr>
              <a:spcBef>
                <a:spcPts val="1800"/>
              </a:spcBef>
              <a:defRPr/>
            </a:lvl1pPr>
          </a:lstStyle>
          <a:p>
            <a:r>
              <a:rPr lang="de-DE" dirty="0"/>
              <a:t>Title </a:t>
            </a:r>
            <a:r>
              <a:rPr lang="de-DE" dirty="0" err="1"/>
              <a:t>of</a:t>
            </a:r>
            <a:r>
              <a:rPr lang="de-DE" dirty="0"/>
              <a:t> </a:t>
            </a:r>
            <a:r>
              <a:rPr lang="de-DE" dirty="0" err="1"/>
              <a:t>discussion</a:t>
            </a:r>
            <a:r>
              <a:rPr lang="de-DE" dirty="0"/>
              <a:t> </a:t>
            </a:r>
            <a:r>
              <a:rPr lang="de-DE" dirty="0" err="1"/>
              <a:t>panel</a:t>
            </a:r>
            <a:endParaRPr lang="de-DE" dirty="0"/>
          </a:p>
          <a:p>
            <a:r>
              <a:rPr lang="de-DE" b="0" dirty="0"/>
              <a:t>Speaker Name, Company 1</a:t>
            </a:r>
          </a:p>
          <a:p>
            <a:r>
              <a:rPr lang="de-DE" b="0" dirty="0"/>
              <a:t>Speaker Name, Company 2</a:t>
            </a:r>
          </a:p>
          <a:p>
            <a:r>
              <a:rPr lang="de-DE" b="0" dirty="0"/>
              <a:t>Speaker Name, Company 3</a:t>
            </a:r>
          </a:p>
          <a:p>
            <a:r>
              <a:rPr lang="de-DE" b="0" dirty="0"/>
              <a:t>Speaker Name, Company 4</a:t>
            </a:r>
          </a:p>
          <a:p>
            <a:r>
              <a:rPr lang="de-DE" b="0" dirty="0"/>
              <a:t>Speaker Name, Company 5</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3" name="TextBox 2"/>
          <p:cNvSpPr txBox="1"/>
          <p:nvPr userDrawn="1"/>
        </p:nvSpPr>
        <p:spPr bwMode="black">
          <a:xfrm>
            <a:off x="8698291" y="6636183"/>
            <a:ext cx="125034" cy="123111"/>
          </a:xfrm>
          <a:prstGeom prst="rect">
            <a:avLst/>
          </a:prstGeom>
          <a:noFill/>
        </p:spPr>
        <p:txBody>
          <a:bodyPr wrap="none" lIns="0" tIns="0" rIns="0" bIns="0" rtlCol="0">
            <a:spAutoFit/>
          </a:bodyPr>
          <a:lstStyle/>
          <a:p>
            <a:pPr marL="93663" indent="-93663" algn="r">
              <a:buClr>
                <a:schemeClr val="accent2"/>
              </a:buClr>
              <a:buFont typeface="Arial" pitchFamily="34" charset="0"/>
              <a:buNone/>
            </a:pPr>
            <a:fld id="{0BDC132A-5C91-4078-9777-31DA19A62E0A}" type="slidenum">
              <a:rPr lang="de-DE" sz="800" baseline="0" noProof="0" smtClean="0">
                <a:solidFill>
                  <a:schemeClr val="tx1"/>
                </a:solidFill>
              </a:rPr>
              <a:pPr marL="93663" indent="-93663" algn="r">
                <a:buClr>
                  <a:schemeClr val="accent2"/>
                </a:buClr>
                <a:buFont typeface="Arial" pitchFamily="34" charset="0"/>
                <a:buNone/>
              </a:pPr>
              <a:t>‹Nr.›</a:t>
            </a:fld>
            <a:endParaRPr lang="de-DE" sz="800" noProof="0" dirty="0">
              <a:solidFill>
                <a:schemeClr val="tx1"/>
              </a:solidFill>
            </a:endParaRPr>
          </a:p>
        </p:txBody>
      </p:sp>
      <p:sp>
        <p:nvSpPr>
          <p:cNvPr id="4" name="TextBox 3"/>
          <p:cNvSpPr txBox="1"/>
          <p:nvPr userDrawn="1"/>
        </p:nvSpPr>
        <p:spPr bwMode="black">
          <a:xfrm>
            <a:off x="324000" y="6636183"/>
            <a:ext cx="2981585" cy="123111"/>
          </a:xfrm>
          <a:prstGeom prst="rect">
            <a:avLst/>
          </a:prstGeom>
          <a:noFill/>
        </p:spPr>
        <p:txBody>
          <a:bodyPr wrap="none" lIns="0" tIns="0" rIns="0" bIns="0" rtlCol="0">
            <a:spAutoFit/>
          </a:bodyPr>
          <a:lstStyle/>
          <a:p>
            <a:pPr marL="133200" indent="-133200" algn="l">
              <a:buClr>
                <a:schemeClr val="tx1"/>
              </a:buClr>
              <a:buFont typeface="Arial" pitchFamily="34" charset="0"/>
              <a:buChar char="©"/>
              <a:tabLst/>
            </a:pPr>
            <a:r>
              <a:rPr lang="de-DE" sz="800" noProof="0" dirty="0">
                <a:solidFill>
                  <a:schemeClr val="tx1"/>
                </a:solidFill>
              </a:rPr>
              <a:t>2015 SAP SE </a:t>
            </a:r>
            <a:r>
              <a:rPr lang="de-DE" sz="800" noProof="0" dirty="0" err="1">
                <a:solidFill>
                  <a:schemeClr val="tx1"/>
                </a:solidFill>
              </a:rPr>
              <a:t>or</a:t>
            </a:r>
            <a:r>
              <a:rPr lang="de-DE" sz="800" noProof="0" dirty="0">
                <a:solidFill>
                  <a:schemeClr val="tx1"/>
                </a:solidFill>
              </a:rPr>
              <a:t> an SAP </a:t>
            </a:r>
            <a:r>
              <a:rPr lang="de-DE" sz="800" noProof="0" dirty="0" err="1">
                <a:solidFill>
                  <a:schemeClr val="tx1"/>
                </a:solidFill>
              </a:rPr>
              <a:t>affiliate</a:t>
            </a:r>
            <a:r>
              <a:rPr lang="de-DE" sz="800" noProof="0" dirty="0">
                <a:solidFill>
                  <a:schemeClr val="tx1"/>
                </a:solidFill>
              </a:rPr>
              <a:t> </a:t>
            </a:r>
            <a:r>
              <a:rPr lang="de-DE" sz="800" noProof="0" dirty="0" err="1">
                <a:solidFill>
                  <a:schemeClr val="tx1"/>
                </a:solidFill>
              </a:rPr>
              <a:t>company</a:t>
            </a:r>
            <a:r>
              <a:rPr lang="de-DE" sz="800" noProof="0" dirty="0">
                <a:solidFill>
                  <a:schemeClr val="tx1"/>
                </a:solidFill>
              </a:rPr>
              <a:t>. All </a:t>
            </a:r>
            <a:r>
              <a:rPr lang="de-DE" sz="800" noProof="0" dirty="0" err="1">
                <a:solidFill>
                  <a:schemeClr val="tx1"/>
                </a:solidFill>
              </a:rPr>
              <a:t>rights</a:t>
            </a:r>
            <a:r>
              <a:rPr lang="de-DE" sz="800" noProof="0" dirty="0">
                <a:solidFill>
                  <a:schemeClr val="tx1"/>
                </a:solidFill>
              </a:rPr>
              <a:t> </a:t>
            </a:r>
            <a:r>
              <a:rPr lang="de-DE" sz="800" noProof="0" dirty="0" err="1">
                <a:solidFill>
                  <a:schemeClr val="tx1"/>
                </a:solidFill>
              </a:rPr>
              <a:t>reserved</a:t>
            </a:r>
            <a:r>
              <a:rPr lang="de-DE" sz="800" noProof="0" dirty="0">
                <a:solidFill>
                  <a:schemeClr val="tx1"/>
                </a:solidFill>
              </a:rPr>
              <a:t>.</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pyright">
    <p:bg bwMode="gray">
      <p:bgRef idx="1001">
        <a:schemeClr val="bg1"/>
      </p:bgRef>
    </p:bg>
    <p:spTree>
      <p:nvGrpSpPr>
        <p:cNvPr id="1" name=""/>
        <p:cNvGrpSpPr/>
        <p:nvPr/>
      </p:nvGrpSpPr>
      <p:grpSpPr>
        <a:xfrm>
          <a:off x="0" y="0"/>
          <a:ext cx="0" cy="0"/>
          <a:chOff x="0" y="0"/>
          <a:chExt cx="0" cy="0"/>
        </a:xfrm>
      </p:grpSpPr>
      <p:sp>
        <p:nvSpPr>
          <p:cNvPr id="11" name="TextBox 10"/>
          <p:cNvSpPr txBox="1"/>
          <p:nvPr userDrawn="1"/>
        </p:nvSpPr>
        <p:spPr bwMode="gray">
          <a:xfrm>
            <a:off x="324000" y="324000"/>
            <a:ext cx="8496150" cy="756000"/>
          </a:xfrm>
          <a:prstGeom prst="rect">
            <a:avLst/>
          </a:prstGeom>
        </p:spPr>
        <p:txBody>
          <a:bodyPr vert="horz" lIns="0" tIns="0" rIns="0" bIns="0" rtlCol="0" anchor="ctr" anchorCtr="0">
            <a:noAutofit/>
          </a:bodyPr>
          <a:lstStyle/>
          <a:p>
            <a:pPr algn="l" defTabSz="914400" rtl="0" eaLnBrk="1" latinLnBrk="0" hangingPunct="1">
              <a:spcBef>
                <a:spcPct val="0"/>
              </a:spcBef>
              <a:buNone/>
            </a:pPr>
            <a:r>
              <a:rPr lang="de-DE" sz="2400" b="1" kern="1200" noProof="0" dirty="0">
                <a:solidFill>
                  <a:schemeClr val="accent2"/>
                </a:solidFill>
                <a:latin typeface="+mj-lt"/>
                <a:ea typeface="+mj-ea"/>
                <a:cs typeface="+mj-cs"/>
              </a:rPr>
              <a:t>© 2015 SAP SE </a:t>
            </a:r>
            <a:r>
              <a:rPr lang="de-DE" sz="2400" b="1" kern="1200" noProof="0" dirty="0" err="1">
                <a:solidFill>
                  <a:schemeClr val="accent2"/>
                </a:solidFill>
                <a:latin typeface="+mj-lt"/>
                <a:ea typeface="+mj-ea"/>
                <a:cs typeface="+mj-cs"/>
              </a:rPr>
              <a:t>or</a:t>
            </a:r>
            <a:r>
              <a:rPr lang="de-DE" sz="2400" b="1" kern="1200" noProof="0" dirty="0">
                <a:solidFill>
                  <a:schemeClr val="accent2"/>
                </a:solidFill>
                <a:latin typeface="+mj-lt"/>
                <a:ea typeface="+mj-ea"/>
                <a:cs typeface="+mj-cs"/>
              </a:rPr>
              <a:t> an SAP </a:t>
            </a:r>
            <a:r>
              <a:rPr lang="de-DE" sz="2400" b="1" kern="1200" noProof="0" dirty="0" err="1">
                <a:solidFill>
                  <a:schemeClr val="accent2"/>
                </a:solidFill>
                <a:latin typeface="+mj-lt"/>
                <a:ea typeface="+mj-ea"/>
                <a:cs typeface="+mj-cs"/>
              </a:rPr>
              <a:t>affiliate</a:t>
            </a:r>
            <a:r>
              <a:rPr lang="de-DE" sz="2400" b="1" kern="1200" noProof="0" dirty="0">
                <a:solidFill>
                  <a:schemeClr val="accent2"/>
                </a:solidFill>
                <a:latin typeface="+mj-lt"/>
                <a:ea typeface="+mj-ea"/>
                <a:cs typeface="+mj-cs"/>
              </a:rPr>
              <a:t> </a:t>
            </a:r>
            <a:r>
              <a:rPr lang="de-DE" sz="2400" b="1" kern="1200" noProof="0" dirty="0" err="1">
                <a:solidFill>
                  <a:schemeClr val="accent2"/>
                </a:solidFill>
                <a:latin typeface="+mj-lt"/>
                <a:ea typeface="+mj-ea"/>
                <a:cs typeface="+mj-cs"/>
              </a:rPr>
              <a:t>company</a:t>
            </a:r>
            <a:r>
              <a:rPr lang="de-DE" sz="2400" b="1" kern="1200" noProof="0" dirty="0">
                <a:solidFill>
                  <a:schemeClr val="accent2"/>
                </a:solidFill>
                <a:latin typeface="+mj-lt"/>
                <a:ea typeface="+mj-ea"/>
                <a:cs typeface="+mj-cs"/>
              </a:rPr>
              <a:t>. </a:t>
            </a:r>
            <a:br>
              <a:rPr lang="de-DE" sz="2400" b="1" kern="1200" noProof="0" dirty="0">
                <a:solidFill>
                  <a:schemeClr val="accent2"/>
                </a:solidFill>
                <a:latin typeface="+mj-lt"/>
                <a:ea typeface="+mj-ea"/>
                <a:cs typeface="+mj-cs"/>
              </a:rPr>
            </a:br>
            <a:r>
              <a:rPr lang="de-DE" sz="2400" b="1" kern="1200" noProof="0" dirty="0">
                <a:solidFill>
                  <a:schemeClr val="accent2"/>
                </a:solidFill>
                <a:latin typeface="+mj-lt"/>
                <a:ea typeface="+mj-ea"/>
                <a:cs typeface="+mj-cs"/>
              </a:rPr>
              <a:t>All </a:t>
            </a:r>
            <a:r>
              <a:rPr lang="de-DE" sz="2400" b="1" kern="1200" noProof="0" dirty="0" err="1">
                <a:solidFill>
                  <a:schemeClr val="accent2"/>
                </a:solidFill>
                <a:latin typeface="+mj-lt"/>
                <a:ea typeface="+mj-ea"/>
                <a:cs typeface="+mj-cs"/>
              </a:rPr>
              <a:t>rights</a:t>
            </a:r>
            <a:r>
              <a:rPr lang="de-DE" sz="2400" b="1" kern="1200" noProof="0" dirty="0">
                <a:solidFill>
                  <a:schemeClr val="accent2"/>
                </a:solidFill>
                <a:latin typeface="+mj-lt"/>
                <a:ea typeface="+mj-ea"/>
                <a:cs typeface="+mj-cs"/>
              </a:rPr>
              <a:t> </a:t>
            </a:r>
            <a:r>
              <a:rPr lang="de-DE" sz="2400" b="1" kern="1200" noProof="0" dirty="0" err="1">
                <a:solidFill>
                  <a:schemeClr val="accent2"/>
                </a:solidFill>
                <a:latin typeface="+mj-lt"/>
                <a:ea typeface="+mj-ea"/>
                <a:cs typeface="+mj-cs"/>
              </a:rPr>
              <a:t>reserved</a:t>
            </a:r>
            <a:r>
              <a:rPr lang="de-DE" sz="2400" b="1" kern="1200" noProof="0" dirty="0">
                <a:solidFill>
                  <a:schemeClr val="accent2"/>
                </a:solidFill>
                <a:latin typeface="+mj-lt"/>
                <a:ea typeface="+mj-ea"/>
                <a:cs typeface="+mj-cs"/>
              </a:rPr>
              <a:t>.</a:t>
            </a:r>
          </a:p>
        </p:txBody>
      </p:sp>
      <p:sp>
        <p:nvSpPr>
          <p:cNvPr id="5" name="TextBox 4"/>
          <p:cNvSpPr txBox="1"/>
          <p:nvPr userDrawn="1"/>
        </p:nvSpPr>
        <p:spPr bwMode="gray">
          <a:xfrm>
            <a:off x="324000" y="1692000"/>
            <a:ext cx="8496150" cy="3539430"/>
          </a:xfrm>
          <a:prstGeom prst="rect">
            <a:avLst/>
          </a:prstGeom>
          <a:noFill/>
        </p:spPr>
        <p:txBody>
          <a:bodyPr wrap="square" lIns="0" tIns="0" rIns="0" bIns="0" rtlCol="0">
            <a:spAutoFit/>
          </a:bodyPr>
          <a:lstStyle/>
          <a:p>
            <a:r>
              <a:rPr lang="de-DE" sz="1000" kern="1200" dirty="0" err="1">
                <a:solidFill>
                  <a:schemeClr val="tx1"/>
                </a:solidFill>
                <a:latin typeface="Arial"/>
                <a:ea typeface="MS PGothic" pitchFamily="34" charset="-128"/>
                <a:cs typeface="+mn-cs"/>
              </a:rPr>
              <a:t>No</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part</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of</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this</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publication</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may</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be</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reproduced</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or</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transmitted</a:t>
            </a:r>
            <a:r>
              <a:rPr lang="de-DE" sz="1000" kern="1200" dirty="0">
                <a:solidFill>
                  <a:schemeClr val="tx1"/>
                </a:solidFill>
                <a:latin typeface="Arial"/>
                <a:ea typeface="MS PGothic" pitchFamily="34" charset="-128"/>
                <a:cs typeface="+mn-cs"/>
              </a:rPr>
              <a:t> in </a:t>
            </a:r>
            <a:r>
              <a:rPr lang="de-DE" sz="1000" kern="1200" dirty="0" err="1">
                <a:solidFill>
                  <a:schemeClr val="tx1"/>
                </a:solidFill>
                <a:latin typeface="Arial"/>
                <a:ea typeface="MS PGothic" pitchFamily="34" charset="-128"/>
                <a:cs typeface="+mn-cs"/>
              </a:rPr>
              <a:t>any</a:t>
            </a:r>
            <a:r>
              <a:rPr lang="de-DE" sz="1000" kern="1200" dirty="0">
                <a:solidFill>
                  <a:schemeClr val="tx1"/>
                </a:solidFill>
                <a:latin typeface="Arial"/>
                <a:ea typeface="MS PGothic" pitchFamily="34" charset="-128"/>
                <a:cs typeface="+mn-cs"/>
              </a:rPr>
              <a:t> form </a:t>
            </a:r>
            <a:r>
              <a:rPr lang="de-DE" sz="1000" kern="1200" dirty="0" err="1">
                <a:solidFill>
                  <a:schemeClr val="tx1"/>
                </a:solidFill>
                <a:latin typeface="Arial"/>
                <a:ea typeface="MS PGothic" pitchFamily="34" charset="-128"/>
                <a:cs typeface="+mn-cs"/>
              </a:rPr>
              <a:t>or</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for</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any</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purpose</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without</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the</a:t>
            </a:r>
            <a:r>
              <a:rPr lang="de-DE" sz="1000" kern="1200" dirty="0">
                <a:solidFill>
                  <a:schemeClr val="tx1"/>
                </a:solidFill>
                <a:latin typeface="Arial"/>
                <a:ea typeface="MS PGothic" pitchFamily="34" charset="-128"/>
                <a:cs typeface="+mn-cs"/>
              </a:rPr>
              <a:t> express </a:t>
            </a:r>
            <a:r>
              <a:rPr lang="de-DE" sz="1000" kern="1200" dirty="0" err="1">
                <a:solidFill>
                  <a:schemeClr val="tx1"/>
                </a:solidFill>
                <a:latin typeface="Arial"/>
                <a:ea typeface="MS PGothic" pitchFamily="34" charset="-128"/>
                <a:cs typeface="+mn-cs"/>
              </a:rPr>
              <a:t>permission</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of</a:t>
            </a:r>
            <a:r>
              <a:rPr lang="de-DE" sz="1000" kern="1200" dirty="0">
                <a:solidFill>
                  <a:schemeClr val="tx1"/>
                </a:solidFill>
                <a:latin typeface="Arial"/>
                <a:ea typeface="MS PGothic" pitchFamily="34" charset="-128"/>
                <a:cs typeface="+mn-cs"/>
              </a:rPr>
              <a:t> SAP SE </a:t>
            </a:r>
            <a:r>
              <a:rPr lang="de-DE" sz="1000" kern="1200" dirty="0" err="1">
                <a:solidFill>
                  <a:schemeClr val="tx1"/>
                </a:solidFill>
                <a:latin typeface="Arial"/>
                <a:ea typeface="MS PGothic" pitchFamily="34" charset="-128"/>
                <a:cs typeface="+mn-cs"/>
              </a:rPr>
              <a:t>or</a:t>
            </a:r>
            <a:r>
              <a:rPr lang="de-DE" sz="1000" kern="1200" dirty="0">
                <a:solidFill>
                  <a:schemeClr val="tx1"/>
                </a:solidFill>
                <a:latin typeface="Arial"/>
                <a:ea typeface="MS PGothic" pitchFamily="34" charset="-128"/>
                <a:cs typeface="+mn-cs"/>
              </a:rPr>
              <a:t> an </a:t>
            </a:r>
          </a:p>
          <a:p>
            <a:r>
              <a:rPr lang="de-DE" sz="1000" kern="1200" dirty="0">
                <a:solidFill>
                  <a:schemeClr val="tx1"/>
                </a:solidFill>
                <a:latin typeface="Arial"/>
                <a:ea typeface="MS PGothic" pitchFamily="34" charset="-128"/>
                <a:cs typeface="+mn-cs"/>
              </a:rPr>
              <a:t>SAP </a:t>
            </a:r>
            <a:r>
              <a:rPr lang="de-DE" sz="1000" kern="1200" dirty="0" err="1">
                <a:solidFill>
                  <a:schemeClr val="tx1"/>
                </a:solidFill>
                <a:latin typeface="Arial"/>
                <a:ea typeface="MS PGothic" pitchFamily="34" charset="-128"/>
                <a:cs typeface="+mn-cs"/>
              </a:rPr>
              <a:t>affiliate</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company</a:t>
            </a:r>
            <a:r>
              <a:rPr lang="de-DE" sz="1000" kern="1200" dirty="0">
                <a:solidFill>
                  <a:schemeClr val="tx1"/>
                </a:solidFill>
                <a:latin typeface="Arial"/>
                <a:ea typeface="MS PGothic" pitchFamily="34" charset="-128"/>
                <a:cs typeface="+mn-cs"/>
              </a:rPr>
              <a:t>.</a:t>
            </a:r>
          </a:p>
          <a:p>
            <a:pPr>
              <a:spcBef>
                <a:spcPts val="1200"/>
              </a:spcBef>
            </a:pPr>
            <a:r>
              <a:rPr lang="de-DE" sz="1000" kern="1200" dirty="0">
                <a:solidFill>
                  <a:schemeClr val="tx1"/>
                </a:solidFill>
                <a:latin typeface="Arial"/>
                <a:ea typeface="MS PGothic" pitchFamily="34" charset="-128"/>
                <a:cs typeface="+mn-cs"/>
              </a:rPr>
              <a:t>SAP </a:t>
            </a:r>
            <a:r>
              <a:rPr lang="de-DE" sz="1000" kern="1200" dirty="0" err="1">
                <a:solidFill>
                  <a:schemeClr val="tx1"/>
                </a:solidFill>
                <a:latin typeface="Arial"/>
                <a:ea typeface="MS PGothic" pitchFamily="34" charset="-128"/>
                <a:cs typeface="+mn-cs"/>
              </a:rPr>
              <a:t>and</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other</a:t>
            </a:r>
            <a:r>
              <a:rPr lang="de-DE" sz="1000" kern="1200" dirty="0">
                <a:solidFill>
                  <a:schemeClr val="tx1"/>
                </a:solidFill>
                <a:latin typeface="Arial"/>
                <a:ea typeface="MS PGothic" pitchFamily="34" charset="-128"/>
                <a:cs typeface="+mn-cs"/>
              </a:rPr>
              <a:t> SAP </a:t>
            </a:r>
            <a:r>
              <a:rPr lang="de-DE" sz="1000" kern="1200" dirty="0" err="1">
                <a:solidFill>
                  <a:schemeClr val="tx1"/>
                </a:solidFill>
                <a:latin typeface="Arial"/>
                <a:ea typeface="MS PGothic" pitchFamily="34" charset="-128"/>
                <a:cs typeface="+mn-cs"/>
              </a:rPr>
              <a:t>products</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and</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services</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mentioned</a:t>
            </a:r>
            <a:r>
              <a:rPr lang="de-DE" sz="1000" kern="1200" dirty="0">
                <a:solidFill>
                  <a:schemeClr val="tx1"/>
                </a:solidFill>
                <a:latin typeface="Arial"/>
                <a:ea typeface="MS PGothic" pitchFamily="34" charset="-128"/>
                <a:cs typeface="+mn-cs"/>
              </a:rPr>
              <a:t> herein </a:t>
            </a:r>
            <a:r>
              <a:rPr lang="de-DE" sz="1000" kern="1200" dirty="0" err="1">
                <a:solidFill>
                  <a:schemeClr val="tx1"/>
                </a:solidFill>
                <a:latin typeface="Arial"/>
                <a:ea typeface="MS PGothic" pitchFamily="34" charset="-128"/>
                <a:cs typeface="+mn-cs"/>
              </a:rPr>
              <a:t>as</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well</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as</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their</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respective</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logos</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are</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trademarks</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or</a:t>
            </a:r>
            <a:r>
              <a:rPr lang="de-DE" sz="1000" kern="1200" dirty="0">
                <a:solidFill>
                  <a:schemeClr val="tx1"/>
                </a:solidFill>
                <a:latin typeface="Arial"/>
                <a:ea typeface="MS PGothic" pitchFamily="34" charset="-128"/>
                <a:cs typeface="+mn-cs"/>
              </a:rPr>
              <a:t> registered </a:t>
            </a:r>
            <a:r>
              <a:rPr lang="de-DE" sz="1000" kern="1200" dirty="0" err="1">
                <a:solidFill>
                  <a:schemeClr val="tx1"/>
                </a:solidFill>
                <a:latin typeface="Arial"/>
                <a:ea typeface="MS PGothic" pitchFamily="34" charset="-128"/>
                <a:cs typeface="+mn-cs"/>
              </a:rPr>
              <a:t>trademarks</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of</a:t>
            </a:r>
            <a:r>
              <a:rPr lang="de-DE" sz="1000" kern="1200" dirty="0">
                <a:solidFill>
                  <a:schemeClr val="tx1"/>
                </a:solidFill>
                <a:latin typeface="Arial"/>
                <a:ea typeface="MS PGothic" pitchFamily="34" charset="-128"/>
                <a:cs typeface="+mn-cs"/>
              </a:rPr>
              <a:t> SAP SE </a:t>
            </a:r>
            <a:br>
              <a:rPr lang="de-DE" sz="1000" kern="1200" dirty="0">
                <a:solidFill>
                  <a:schemeClr val="tx1"/>
                </a:solidFill>
                <a:latin typeface="Arial"/>
                <a:ea typeface="MS PGothic" pitchFamily="34" charset="-128"/>
                <a:cs typeface="+mn-cs"/>
              </a:rPr>
            </a:br>
            <a:r>
              <a:rPr lang="de-DE" sz="1000" kern="1200" dirty="0">
                <a:solidFill>
                  <a:schemeClr val="tx1"/>
                </a:solidFill>
                <a:latin typeface="Arial"/>
                <a:ea typeface="MS PGothic" pitchFamily="34" charset="-128"/>
                <a:cs typeface="+mn-cs"/>
              </a:rPr>
              <a:t>(</a:t>
            </a:r>
            <a:r>
              <a:rPr lang="de-DE" sz="1000" kern="1200" dirty="0" err="1">
                <a:solidFill>
                  <a:schemeClr val="tx1"/>
                </a:solidFill>
                <a:latin typeface="Arial"/>
                <a:ea typeface="MS PGothic" pitchFamily="34" charset="-128"/>
                <a:cs typeface="+mn-cs"/>
              </a:rPr>
              <a:t>or</a:t>
            </a:r>
            <a:r>
              <a:rPr lang="de-DE" sz="1000" kern="1200" dirty="0">
                <a:solidFill>
                  <a:schemeClr val="tx1"/>
                </a:solidFill>
                <a:latin typeface="Arial"/>
                <a:ea typeface="MS PGothic" pitchFamily="34" charset="-128"/>
                <a:cs typeface="+mn-cs"/>
              </a:rPr>
              <a:t> an SAP </a:t>
            </a:r>
            <a:r>
              <a:rPr lang="de-DE" sz="1000" kern="1200" dirty="0" err="1">
                <a:solidFill>
                  <a:schemeClr val="tx1"/>
                </a:solidFill>
                <a:latin typeface="Arial"/>
                <a:ea typeface="MS PGothic" pitchFamily="34" charset="-128"/>
                <a:cs typeface="+mn-cs"/>
              </a:rPr>
              <a:t>affiliate</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company</a:t>
            </a:r>
            <a:r>
              <a:rPr lang="de-DE" sz="1000" kern="1200" dirty="0">
                <a:solidFill>
                  <a:schemeClr val="tx1"/>
                </a:solidFill>
                <a:latin typeface="Arial"/>
                <a:ea typeface="MS PGothic" pitchFamily="34" charset="-128"/>
                <a:cs typeface="+mn-cs"/>
              </a:rPr>
              <a:t>) in Germany </a:t>
            </a:r>
            <a:r>
              <a:rPr lang="de-DE" sz="1000" kern="1200" dirty="0" err="1">
                <a:solidFill>
                  <a:schemeClr val="tx1"/>
                </a:solidFill>
                <a:latin typeface="Arial"/>
                <a:ea typeface="MS PGothic" pitchFamily="34" charset="-128"/>
                <a:cs typeface="+mn-cs"/>
              </a:rPr>
              <a:t>and</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other</a:t>
            </a:r>
            <a:r>
              <a:rPr lang="de-DE" sz="1000" kern="1200" dirty="0">
                <a:solidFill>
                  <a:schemeClr val="tx1"/>
                </a:solidFill>
                <a:latin typeface="Arial"/>
                <a:ea typeface="MS PGothic" pitchFamily="34" charset="-128"/>
                <a:cs typeface="+mn-cs"/>
              </a:rPr>
              <a:t> countries. </a:t>
            </a:r>
            <a:r>
              <a:rPr lang="de-DE" sz="1000" kern="1200" dirty="0" err="1">
                <a:solidFill>
                  <a:schemeClr val="tx1"/>
                </a:solidFill>
                <a:latin typeface="Arial"/>
                <a:ea typeface="MS PGothic" pitchFamily="34" charset="-128"/>
                <a:cs typeface="+mn-cs"/>
              </a:rPr>
              <a:t>Please</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see</a:t>
            </a:r>
            <a:r>
              <a:rPr lang="de-DE" sz="1000" kern="1200" dirty="0">
                <a:solidFill>
                  <a:schemeClr val="tx1"/>
                </a:solidFill>
                <a:latin typeface="Arial"/>
                <a:ea typeface="MS PGothic" pitchFamily="34" charset="-128"/>
                <a:cs typeface="+mn-cs"/>
              </a:rPr>
              <a:t> </a:t>
            </a:r>
            <a:r>
              <a:rPr lang="de-DE" sz="1000" kern="1200" dirty="0">
                <a:solidFill>
                  <a:schemeClr val="tx1"/>
                </a:solidFill>
                <a:latin typeface="Arial"/>
                <a:ea typeface="MS PGothic" pitchFamily="34" charset="-128"/>
                <a:cs typeface="+mn-cs"/>
                <a:hlinkClick r:id="rId2"/>
              </a:rPr>
              <a:t>http://global12.sap.com/corporate-en/legal/copyright/index.epx</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for</a:t>
            </a:r>
            <a:r>
              <a:rPr lang="de-DE" sz="1000" kern="1200" dirty="0">
                <a:solidFill>
                  <a:schemeClr val="tx1"/>
                </a:solidFill>
                <a:latin typeface="Arial"/>
                <a:ea typeface="MS PGothic" pitchFamily="34" charset="-128"/>
                <a:cs typeface="+mn-cs"/>
              </a:rPr>
              <a:t> additional </a:t>
            </a:r>
            <a:r>
              <a:rPr lang="de-DE" sz="1000" kern="1200" dirty="0" err="1">
                <a:solidFill>
                  <a:schemeClr val="tx1"/>
                </a:solidFill>
                <a:latin typeface="Arial"/>
                <a:ea typeface="MS PGothic" pitchFamily="34" charset="-128"/>
                <a:cs typeface="+mn-cs"/>
              </a:rPr>
              <a:t>trademark</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information</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and</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notices</a:t>
            </a:r>
            <a:r>
              <a:rPr lang="de-DE" sz="1000" kern="1200" dirty="0">
                <a:solidFill>
                  <a:schemeClr val="tx1"/>
                </a:solidFill>
                <a:latin typeface="Arial"/>
                <a:ea typeface="MS PGothic" pitchFamily="34" charset="-128"/>
                <a:cs typeface="+mn-cs"/>
              </a:rPr>
              <a:t>.</a:t>
            </a:r>
          </a:p>
          <a:p>
            <a:pPr>
              <a:spcBef>
                <a:spcPts val="1200"/>
              </a:spcBef>
            </a:pPr>
            <a:r>
              <a:rPr lang="de-DE" sz="1000" kern="1200" dirty="0" err="1">
                <a:solidFill>
                  <a:schemeClr val="tx1"/>
                </a:solidFill>
                <a:latin typeface="Arial"/>
                <a:ea typeface="MS PGothic" pitchFamily="34" charset="-128"/>
                <a:cs typeface="+mn-cs"/>
              </a:rPr>
              <a:t>Some</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software</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products</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marketed</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by</a:t>
            </a:r>
            <a:r>
              <a:rPr lang="de-DE" sz="1000" kern="1200" dirty="0">
                <a:solidFill>
                  <a:schemeClr val="tx1"/>
                </a:solidFill>
                <a:latin typeface="Arial"/>
                <a:ea typeface="MS PGothic" pitchFamily="34" charset="-128"/>
                <a:cs typeface="+mn-cs"/>
              </a:rPr>
              <a:t> SAP SE </a:t>
            </a:r>
            <a:r>
              <a:rPr lang="de-DE" sz="1000" kern="1200" dirty="0" err="1">
                <a:solidFill>
                  <a:schemeClr val="tx1"/>
                </a:solidFill>
                <a:latin typeface="Arial"/>
                <a:ea typeface="MS PGothic" pitchFamily="34" charset="-128"/>
                <a:cs typeface="+mn-cs"/>
              </a:rPr>
              <a:t>and</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its</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distributors</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contain</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proprietary</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software</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components</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of</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other</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software</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vendors</a:t>
            </a:r>
            <a:r>
              <a:rPr lang="de-DE" sz="1000" kern="1200" dirty="0">
                <a:solidFill>
                  <a:schemeClr val="tx1"/>
                </a:solidFill>
                <a:latin typeface="Arial"/>
                <a:ea typeface="MS PGothic" pitchFamily="34" charset="-128"/>
                <a:cs typeface="+mn-cs"/>
              </a:rPr>
              <a:t>.</a:t>
            </a:r>
          </a:p>
          <a:p>
            <a:pPr>
              <a:spcBef>
                <a:spcPts val="1200"/>
              </a:spcBef>
            </a:pPr>
            <a:r>
              <a:rPr lang="de-DE" sz="1000" kern="1200" dirty="0">
                <a:solidFill>
                  <a:schemeClr val="tx1"/>
                </a:solidFill>
                <a:latin typeface="Arial"/>
                <a:ea typeface="MS PGothic" pitchFamily="34" charset="-128"/>
                <a:cs typeface="+mn-cs"/>
              </a:rPr>
              <a:t>National </a:t>
            </a:r>
            <a:r>
              <a:rPr lang="de-DE" sz="1000" kern="1200" dirty="0" err="1">
                <a:solidFill>
                  <a:schemeClr val="tx1"/>
                </a:solidFill>
                <a:latin typeface="Arial"/>
                <a:ea typeface="MS PGothic" pitchFamily="34" charset="-128"/>
                <a:cs typeface="+mn-cs"/>
              </a:rPr>
              <a:t>product</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specifications</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may</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vary</a:t>
            </a:r>
            <a:r>
              <a:rPr lang="de-DE" sz="1000" kern="1200" dirty="0">
                <a:solidFill>
                  <a:schemeClr val="tx1"/>
                </a:solidFill>
                <a:latin typeface="Arial"/>
                <a:ea typeface="MS PGothic" pitchFamily="34" charset="-128"/>
                <a:cs typeface="+mn-cs"/>
              </a:rPr>
              <a:t>.</a:t>
            </a:r>
          </a:p>
          <a:p>
            <a:pPr>
              <a:spcBef>
                <a:spcPts val="1200"/>
              </a:spcBef>
            </a:pPr>
            <a:r>
              <a:rPr lang="de-DE" sz="1000" kern="1200" dirty="0">
                <a:solidFill>
                  <a:schemeClr val="tx1"/>
                </a:solidFill>
                <a:latin typeface="Arial"/>
                <a:ea typeface="MS PGothic" pitchFamily="34" charset="-128"/>
                <a:cs typeface="+mn-cs"/>
              </a:rPr>
              <a:t>These </a:t>
            </a:r>
            <a:r>
              <a:rPr lang="de-DE" sz="1000" kern="1200" dirty="0" err="1">
                <a:solidFill>
                  <a:schemeClr val="tx1"/>
                </a:solidFill>
                <a:latin typeface="Arial"/>
                <a:ea typeface="MS PGothic" pitchFamily="34" charset="-128"/>
                <a:cs typeface="+mn-cs"/>
              </a:rPr>
              <a:t>materials</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are</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provided</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by</a:t>
            </a:r>
            <a:r>
              <a:rPr lang="de-DE" sz="1000" kern="1200" dirty="0">
                <a:solidFill>
                  <a:schemeClr val="tx1"/>
                </a:solidFill>
                <a:latin typeface="Arial"/>
                <a:ea typeface="MS PGothic" pitchFamily="34" charset="-128"/>
                <a:cs typeface="+mn-cs"/>
              </a:rPr>
              <a:t> SAP SE </a:t>
            </a:r>
            <a:r>
              <a:rPr lang="de-DE" sz="1000" kern="1200" dirty="0" err="1">
                <a:solidFill>
                  <a:schemeClr val="tx1"/>
                </a:solidFill>
                <a:latin typeface="Arial"/>
                <a:ea typeface="MS PGothic" pitchFamily="34" charset="-128"/>
                <a:cs typeface="+mn-cs"/>
              </a:rPr>
              <a:t>or</a:t>
            </a:r>
            <a:r>
              <a:rPr lang="de-DE" sz="1000" kern="1200" dirty="0">
                <a:solidFill>
                  <a:schemeClr val="tx1"/>
                </a:solidFill>
                <a:latin typeface="Arial"/>
                <a:ea typeface="MS PGothic" pitchFamily="34" charset="-128"/>
                <a:cs typeface="+mn-cs"/>
              </a:rPr>
              <a:t> an SAP </a:t>
            </a:r>
            <a:r>
              <a:rPr lang="de-DE" sz="1000" kern="1200" dirty="0" err="1">
                <a:solidFill>
                  <a:schemeClr val="tx1"/>
                </a:solidFill>
                <a:latin typeface="Arial"/>
                <a:ea typeface="MS PGothic" pitchFamily="34" charset="-128"/>
                <a:cs typeface="+mn-cs"/>
              </a:rPr>
              <a:t>affiliate</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company</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for</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informational</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purposes</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only</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without</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representation</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or</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warranty</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of</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any</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kind</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and</a:t>
            </a:r>
            <a:r>
              <a:rPr lang="de-DE" sz="1000" kern="1200" dirty="0">
                <a:solidFill>
                  <a:schemeClr val="tx1"/>
                </a:solidFill>
                <a:latin typeface="Arial"/>
                <a:ea typeface="MS PGothic" pitchFamily="34" charset="-128"/>
                <a:cs typeface="+mn-cs"/>
              </a:rPr>
              <a:t> SAP SE </a:t>
            </a:r>
            <a:r>
              <a:rPr lang="de-DE" sz="1000" kern="1200" dirty="0" err="1">
                <a:solidFill>
                  <a:schemeClr val="tx1"/>
                </a:solidFill>
                <a:latin typeface="Arial"/>
                <a:ea typeface="MS PGothic" pitchFamily="34" charset="-128"/>
                <a:cs typeface="+mn-cs"/>
              </a:rPr>
              <a:t>or</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its</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affiliated</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companies</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shall</a:t>
            </a:r>
            <a:r>
              <a:rPr lang="de-DE" sz="1000" kern="1200" dirty="0">
                <a:solidFill>
                  <a:schemeClr val="tx1"/>
                </a:solidFill>
                <a:latin typeface="Arial"/>
                <a:ea typeface="MS PGothic" pitchFamily="34" charset="-128"/>
                <a:cs typeface="+mn-cs"/>
              </a:rPr>
              <a:t> not </a:t>
            </a:r>
            <a:r>
              <a:rPr lang="de-DE" sz="1000" kern="1200" dirty="0" err="1">
                <a:solidFill>
                  <a:schemeClr val="tx1"/>
                </a:solidFill>
                <a:latin typeface="Arial"/>
                <a:ea typeface="MS PGothic" pitchFamily="34" charset="-128"/>
                <a:cs typeface="+mn-cs"/>
              </a:rPr>
              <a:t>be</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liable</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for</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errors</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or</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omissions</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with</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respect</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to</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the</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materials</a:t>
            </a:r>
            <a:r>
              <a:rPr lang="de-DE" sz="1000" kern="1200" dirty="0">
                <a:solidFill>
                  <a:schemeClr val="tx1"/>
                </a:solidFill>
                <a:latin typeface="Arial"/>
                <a:ea typeface="MS PGothic" pitchFamily="34" charset="-128"/>
                <a:cs typeface="+mn-cs"/>
              </a:rPr>
              <a:t>. The </a:t>
            </a:r>
            <a:r>
              <a:rPr lang="de-DE" sz="1000" kern="1200" dirty="0" err="1">
                <a:solidFill>
                  <a:schemeClr val="tx1"/>
                </a:solidFill>
                <a:latin typeface="Arial"/>
                <a:ea typeface="MS PGothic" pitchFamily="34" charset="-128"/>
                <a:cs typeface="+mn-cs"/>
              </a:rPr>
              <a:t>only</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warranties</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for</a:t>
            </a:r>
            <a:r>
              <a:rPr lang="de-DE" sz="1000" kern="1200" dirty="0">
                <a:solidFill>
                  <a:schemeClr val="tx1"/>
                </a:solidFill>
                <a:latin typeface="Arial"/>
                <a:ea typeface="MS PGothic" pitchFamily="34" charset="-128"/>
                <a:cs typeface="+mn-cs"/>
              </a:rPr>
              <a:t> SAP SE </a:t>
            </a:r>
            <a:r>
              <a:rPr lang="de-DE" sz="1000" kern="1200" dirty="0" err="1">
                <a:solidFill>
                  <a:schemeClr val="tx1"/>
                </a:solidFill>
                <a:latin typeface="Arial"/>
                <a:ea typeface="MS PGothic" pitchFamily="34" charset="-128"/>
                <a:cs typeface="+mn-cs"/>
              </a:rPr>
              <a:t>or</a:t>
            </a:r>
            <a:r>
              <a:rPr lang="de-DE" sz="1000" kern="1200" dirty="0">
                <a:solidFill>
                  <a:schemeClr val="tx1"/>
                </a:solidFill>
                <a:latin typeface="Arial"/>
                <a:ea typeface="MS PGothic" pitchFamily="34" charset="-128"/>
                <a:cs typeface="+mn-cs"/>
              </a:rPr>
              <a:t> </a:t>
            </a:r>
            <a:br>
              <a:rPr lang="de-DE" sz="1000" kern="1200" dirty="0">
                <a:solidFill>
                  <a:schemeClr val="tx1"/>
                </a:solidFill>
                <a:latin typeface="Arial"/>
                <a:ea typeface="MS PGothic" pitchFamily="34" charset="-128"/>
                <a:cs typeface="+mn-cs"/>
              </a:rPr>
            </a:br>
            <a:r>
              <a:rPr lang="de-DE" sz="1000" kern="1200" dirty="0">
                <a:solidFill>
                  <a:schemeClr val="tx1"/>
                </a:solidFill>
                <a:latin typeface="Arial"/>
                <a:ea typeface="MS PGothic" pitchFamily="34" charset="-128"/>
                <a:cs typeface="+mn-cs"/>
              </a:rPr>
              <a:t>SAP </a:t>
            </a:r>
            <a:r>
              <a:rPr lang="de-DE" sz="1000" kern="1200" dirty="0" err="1">
                <a:solidFill>
                  <a:schemeClr val="tx1"/>
                </a:solidFill>
                <a:latin typeface="Arial"/>
                <a:ea typeface="MS PGothic" pitchFamily="34" charset="-128"/>
                <a:cs typeface="+mn-cs"/>
              </a:rPr>
              <a:t>affiliate</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company</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products</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and</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services</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are</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those</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that</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are</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set</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forth</a:t>
            </a:r>
            <a:r>
              <a:rPr lang="de-DE" sz="1000" kern="1200" dirty="0">
                <a:solidFill>
                  <a:schemeClr val="tx1"/>
                </a:solidFill>
                <a:latin typeface="Arial"/>
                <a:ea typeface="MS PGothic" pitchFamily="34" charset="-128"/>
                <a:cs typeface="+mn-cs"/>
              </a:rPr>
              <a:t> in </a:t>
            </a:r>
            <a:r>
              <a:rPr lang="de-DE" sz="1000" kern="1200" dirty="0" err="1">
                <a:solidFill>
                  <a:schemeClr val="tx1"/>
                </a:solidFill>
                <a:latin typeface="Arial"/>
                <a:ea typeface="MS PGothic" pitchFamily="34" charset="-128"/>
                <a:cs typeface="+mn-cs"/>
              </a:rPr>
              <a:t>the</a:t>
            </a:r>
            <a:r>
              <a:rPr lang="de-DE" sz="1000" kern="1200" dirty="0">
                <a:solidFill>
                  <a:schemeClr val="tx1"/>
                </a:solidFill>
                <a:latin typeface="Arial"/>
                <a:ea typeface="MS PGothic" pitchFamily="34" charset="-128"/>
                <a:cs typeface="+mn-cs"/>
              </a:rPr>
              <a:t> express </a:t>
            </a:r>
            <a:r>
              <a:rPr lang="de-DE" sz="1000" kern="1200" dirty="0" err="1">
                <a:solidFill>
                  <a:schemeClr val="tx1"/>
                </a:solidFill>
                <a:latin typeface="Arial"/>
                <a:ea typeface="MS PGothic" pitchFamily="34" charset="-128"/>
                <a:cs typeface="+mn-cs"/>
              </a:rPr>
              <a:t>warranty</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statements</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accompanying</a:t>
            </a:r>
            <a:r>
              <a:rPr lang="de-DE" sz="1000" kern="1200" dirty="0">
                <a:solidFill>
                  <a:schemeClr val="tx1"/>
                </a:solidFill>
                <a:latin typeface="Arial"/>
                <a:ea typeface="MS PGothic" pitchFamily="34" charset="-128"/>
                <a:cs typeface="+mn-cs"/>
              </a:rPr>
              <a:t> such </a:t>
            </a:r>
            <a:r>
              <a:rPr lang="de-DE" sz="1000" kern="1200" dirty="0" err="1">
                <a:solidFill>
                  <a:schemeClr val="tx1"/>
                </a:solidFill>
                <a:latin typeface="Arial"/>
                <a:ea typeface="MS PGothic" pitchFamily="34" charset="-128"/>
                <a:cs typeface="+mn-cs"/>
              </a:rPr>
              <a:t>products</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and</a:t>
            </a:r>
            <a:r>
              <a:rPr lang="de-DE" sz="1000" kern="1200" dirty="0">
                <a:solidFill>
                  <a:schemeClr val="tx1"/>
                </a:solidFill>
                <a:latin typeface="Arial"/>
                <a:ea typeface="MS PGothic" pitchFamily="34" charset="-128"/>
                <a:cs typeface="+mn-cs"/>
              </a:rPr>
              <a:t> </a:t>
            </a:r>
            <a:br>
              <a:rPr lang="de-DE" sz="1000" kern="1200" dirty="0">
                <a:solidFill>
                  <a:schemeClr val="tx1"/>
                </a:solidFill>
                <a:latin typeface="Arial"/>
                <a:ea typeface="MS PGothic" pitchFamily="34" charset="-128"/>
                <a:cs typeface="+mn-cs"/>
              </a:rPr>
            </a:br>
            <a:r>
              <a:rPr lang="de-DE" sz="1000" kern="1200" dirty="0" err="1">
                <a:solidFill>
                  <a:schemeClr val="tx1"/>
                </a:solidFill>
                <a:latin typeface="Arial"/>
                <a:ea typeface="MS PGothic" pitchFamily="34" charset="-128"/>
                <a:cs typeface="+mn-cs"/>
              </a:rPr>
              <a:t>services</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if</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any</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Nothing</a:t>
            </a:r>
            <a:r>
              <a:rPr lang="de-DE" sz="1000" kern="1200" dirty="0">
                <a:solidFill>
                  <a:schemeClr val="tx1"/>
                </a:solidFill>
                <a:latin typeface="Arial"/>
                <a:ea typeface="MS PGothic" pitchFamily="34" charset="-128"/>
                <a:cs typeface="+mn-cs"/>
              </a:rPr>
              <a:t> herein </a:t>
            </a:r>
            <a:r>
              <a:rPr lang="de-DE" sz="1000" kern="1200" dirty="0" err="1">
                <a:solidFill>
                  <a:schemeClr val="tx1"/>
                </a:solidFill>
                <a:latin typeface="Arial"/>
                <a:ea typeface="MS PGothic" pitchFamily="34" charset="-128"/>
                <a:cs typeface="+mn-cs"/>
              </a:rPr>
              <a:t>should</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be</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construed</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as</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constituting</a:t>
            </a:r>
            <a:r>
              <a:rPr lang="de-DE" sz="1000" kern="1200" dirty="0">
                <a:solidFill>
                  <a:schemeClr val="tx1"/>
                </a:solidFill>
                <a:latin typeface="Arial"/>
                <a:ea typeface="MS PGothic" pitchFamily="34" charset="-128"/>
                <a:cs typeface="+mn-cs"/>
              </a:rPr>
              <a:t> an additional </a:t>
            </a:r>
            <a:r>
              <a:rPr lang="de-DE" sz="1000" kern="1200" dirty="0" err="1">
                <a:solidFill>
                  <a:schemeClr val="tx1"/>
                </a:solidFill>
                <a:latin typeface="Arial"/>
                <a:ea typeface="MS PGothic" pitchFamily="34" charset="-128"/>
                <a:cs typeface="+mn-cs"/>
              </a:rPr>
              <a:t>warranty</a:t>
            </a:r>
            <a:r>
              <a:rPr lang="de-DE" sz="1000" kern="1200" dirty="0">
                <a:solidFill>
                  <a:schemeClr val="tx1"/>
                </a:solidFill>
                <a:latin typeface="Arial"/>
                <a:ea typeface="MS PGothic" pitchFamily="34" charset="-128"/>
                <a:cs typeface="+mn-cs"/>
              </a:rPr>
              <a:t>. </a:t>
            </a:r>
          </a:p>
          <a:p>
            <a:pPr>
              <a:spcBef>
                <a:spcPts val="1200"/>
              </a:spcBef>
            </a:pPr>
            <a:r>
              <a:rPr lang="de-DE" sz="1000" kern="1200" dirty="0">
                <a:solidFill>
                  <a:schemeClr val="tx1"/>
                </a:solidFill>
                <a:latin typeface="Arial"/>
                <a:ea typeface="MS PGothic" pitchFamily="34" charset="-128"/>
                <a:cs typeface="+mn-cs"/>
              </a:rPr>
              <a:t>In </a:t>
            </a:r>
            <a:r>
              <a:rPr lang="de-DE" sz="1000" kern="1200" dirty="0" err="1">
                <a:solidFill>
                  <a:schemeClr val="tx1"/>
                </a:solidFill>
                <a:latin typeface="Arial"/>
                <a:ea typeface="MS PGothic" pitchFamily="34" charset="-128"/>
                <a:cs typeface="+mn-cs"/>
              </a:rPr>
              <a:t>particular</a:t>
            </a:r>
            <a:r>
              <a:rPr lang="de-DE" sz="1000" kern="1200" dirty="0">
                <a:solidFill>
                  <a:schemeClr val="tx1"/>
                </a:solidFill>
                <a:latin typeface="Arial"/>
                <a:ea typeface="MS PGothic" pitchFamily="34" charset="-128"/>
                <a:cs typeface="+mn-cs"/>
              </a:rPr>
              <a:t>, SAP SE </a:t>
            </a:r>
            <a:r>
              <a:rPr lang="de-DE" sz="1000" kern="1200" dirty="0" err="1">
                <a:solidFill>
                  <a:schemeClr val="tx1"/>
                </a:solidFill>
                <a:latin typeface="Arial"/>
                <a:ea typeface="MS PGothic" pitchFamily="34" charset="-128"/>
                <a:cs typeface="+mn-cs"/>
              </a:rPr>
              <a:t>or</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its</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affiliated</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companies</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have</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no</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obligation</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to</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pursue</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any</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course</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of</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business</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outlined</a:t>
            </a:r>
            <a:r>
              <a:rPr lang="de-DE" sz="1000" kern="1200" dirty="0">
                <a:solidFill>
                  <a:schemeClr val="tx1"/>
                </a:solidFill>
                <a:latin typeface="Arial"/>
                <a:ea typeface="MS PGothic" pitchFamily="34" charset="-128"/>
                <a:cs typeface="+mn-cs"/>
              </a:rPr>
              <a:t> in </a:t>
            </a:r>
            <a:r>
              <a:rPr lang="de-DE" sz="1000" kern="1200" dirty="0" err="1">
                <a:solidFill>
                  <a:schemeClr val="tx1"/>
                </a:solidFill>
                <a:latin typeface="Arial"/>
                <a:ea typeface="MS PGothic" pitchFamily="34" charset="-128"/>
                <a:cs typeface="+mn-cs"/>
              </a:rPr>
              <a:t>this</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document</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or</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any</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related</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presentation</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or</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to</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develop</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or</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release</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any</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functionality</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mentioned</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therein</a:t>
            </a:r>
            <a:r>
              <a:rPr lang="de-DE" sz="1000" kern="1200" dirty="0">
                <a:solidFill>
                  <a:schemeClr val="tx1"/>
                </a:solidFill>
                <a:latin typeface="Arial"/>
                <a:ea typeface="MS PGothic" pitchFamily="34" charset="-128"/>
                <a:cs typeface="+mn-cs"/>
              </a:rPr>
              <a:t>. This </a:t>
            </a:r>
            <a:r>
              <a:rPr lang="de-DE" sz="1000" kern="1200" dirty="0" err="1">
                <a:solidFill>
                  <a:schemeClr val="tx1"/>
                </a:solidFill>
                <a:latin typeface="Arial"/>
                <a:ea typeface="MS PGothic" pitchFamily="34" charset="-128"/>
                <a:cs typeface="+mn-cs"/>
              </a:rPr>
              <a:t>document</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or</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any</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related</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presentation</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and</a:t>
            </a:r>
            <a:r>
              <a:rPr lang="de-DE" sz="1000" kern="1200" dirty="0">
                <a:solidFill>
                  <a:schemeClr val="tx1"/>
                </a:solidFill>
                <a:latin typeface="Arial"/>
                <a:ea typeface="MS PGothic" pitchFamily="34" charset="-128"/>
                <a:cs typeface="+mn-cs"/>
              </a:rPr>
              <a:t> SAP </a:t>
            </a:r>
            <a:r>
              <a:rPr lang="de-DE" sz="1000" kern="1200" dirty="0" err="1">
                <a:solidFill>
                  <a:schemeClr val="tx1"/>
                </a:solidFill>
                <a:latin typeface="Arial"/>
                <a:ea typeface="MS PGothic" pitchFamily="34" charset="-128"/>
                <a:cs typeface="+mn-cs"/>
              </a:rPr>
              <a:t>SE’s</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or</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its</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affiliated</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companies</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strategy</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and</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possible</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future</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developments</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products</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and</a:t>
            </a:r>
            <a:r>
              <a:rPr lang="de-DE" sz="1000" kern="1200" dirty="0">
                <a:solidFill>
                  <a:schemeClr val="tx1"/>
                </a:solidFill>
                <a:latin typeface="Arial"/>
                <a:ea typeface="MS PGothic" pitchFamily="34" charset="-128"/>
                <a:cs typeface="+mn-cs"/>
              </a:rPr>
              <a:t>/</a:t>
            </a:r>
            <a:r>
              <a:rPr lang="de-DE" sz="1000" kern="1200" dirty="0" err="1">
                <a:solidFill>
                  <a:schemeClr val="tx1"/>
                </a:solidFill>
                <a:latin typeface="Arial"/>
                <a:ea typeface="MS PGothic" pitchFamily="34" charset="-128"/>
                <a:cs typeface="+mn-cs"/>
              </a:rPr>
              <a:t>or</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platform</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directions</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and</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functionality</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are</a:t>
            </a:r>
            <a:r>
              <a:rPr lang="de-DE" sz="1000" kern="1200" dirty="0">
                <a:solidFill>
                  <a:schemeClr val="tx1"/>
                </a:solidFill>
                <a:latin typeface="Arial"/>
                <a:ea typeface="MS PGothic" pitchFamily="34" charset="-128"/>
                <a:cs typeface="+mn-cs"/>
              </a:rPr>
              <a:t> all </a:t>
            </a:r>
            <a:r>
              <a:rPr lang="de-DE" sz="1000" kern="1200" dirty="0" err="1">
                <a:solidFill>
                  <a:schemeClr val="tx1"/>
                </a:solidFill>
                <a:latin typeface="Arial"/>
                <a:ea typeface="MS PGothic" pitchFamily="34" charset="-128"/>
                <a:cs typeface="+mn-cs"/>
              </a:rPr>
              <a:t>subject</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to</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change</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and</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may</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be</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changed</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by</a:t>
            </a:r>
            <a:r>
              <a:rPr lang="de-DE" sz="1000" kern="1200" dirty="0">
                <a:solidFill>
                  <a:schemeClr val="tx1"/>
                </a:solidFill>
                <a:latin typeface="Arial"/>
                <a:ea typeface="MS PGothic" pitchFamily="34" charset="-128"/>
                <a:cs typeface="+mn-cs"/>
              </a:rPr>
              <a:t> SAP SE </a:t>
            </a:r>
            <a:r>
              <a:rPr lang="de-DE" sz="1000" kern="1200" dirty="0" err="1">
                <a:solidFill>
                  <a:schemeClr val="tx1"/>
                </a:solidFill>
                <a:latin typeface="Arial"/>
                <a:ea typeface="MS PGothic" pitchFamily="34" charset="-128"/>
                <a:cs typeface="+mn-cs"/>
              </a:rPr>
              <a:t>or</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its</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affiliated</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companies</a:t>
            </a:r>
            <a:r>
              <a:rPr lang="de-DE" sz="1000" kern="1200" dirty="0">
                <a:solidFill>
                  <a:schemeClr val="tx1"/>
                </a:solidFill>
                <a:latin typeface="Arial"/>
                <a:ea typeface="MS PGothic" pitchFamily="34" charset="-128"/>
                <a:cs typeface="+mn-cs"/>
              </a:rPr>
              <a:t> at </a:t>
            </a:r>
            <a:r>
              <a:rPr lang="de-DE" sz="1000" kern="1200" dirty="0" err="1">
                <a:solidFill>
                  <a:schemeClr val="tx1"/>
                </a:solidFill>
                <a:latin typeface="Arial"/>
                <a:ea typeface="MS PGothic" pitchFamily="34" charset="-128"/>
                <a:cs typeface="+mn-cs"/>
              </a:rPr>
              <a:t>any</a:t>
            </a:r>
            <a:r>
              <a:rPr lang="de-DE" sz="1000" kern="1200" dirty="0">
                <a:solidFill>
                  <a:schemeClr val="tx1"/>
                </a:solidFill>
                <a:latin typeface="Arial"/>
                <a:ea typeface="MS PGothic" pitchFamily="34" charset="-128"/>
                <a:cs typeface="+mn-cs"/>
              </a:rPr>
              <a:t> time </a:t>
            </a:r>
            <a:r>
              <a:rPr lang="de-DE" sz="1000" kern="1200" dirty="0" err="1">
                <a:solidFill>
                  <a:schemeClr val="tx1"/>
                </a:solidFill>
                <a:latin typeface="Arial"/>
                <a:ea typeface="MS PGothic" pitchFamily="34" charset="-128"/>
                <a:cs typeface="+mn-cs"/>
              </a:rPr>
              <a:t>for</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any</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reason</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without</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notice</a:t>
            </a:r>
            <a:r>
              <a:rPr lang="de-DE" sz="1000" kern="1200" dirty="0">
                <a:solidFill>
                  <a:schemeClr val="tx1"/>
                </a:solidFill>
                <a:latin typeface="Arial"/>
                <a:ea typeface="MS PGothic" pitchFamily="34" charset="-128"/>
                <a:cs typeface="+mn-cs"/>
              </a:rPr>
              <a:t>. The </a:t>
            </a:r>
            <a:r>
              <a:rPr lang="de-DE" sz="1000" kern="1200" dirty="0" err="1">
                <a:solidFill>
                  <a:schemeClr val="tx1"/>
                </a:solidFill>
                <a:latin typeface="Arial"/>
                <a:ea typeface="MS PGothic" pitchFamily="34" charset="-128"/>
                <a:cs typeface="+mn-cs"/>
              </a:rPr>
              <a:t>information</a:t>
            </a:r>
            <a:r>
              <a:rPr lang="de-DE" sz="1000" kern="1200" dirty="0">
                <a:solidFill>
                  <a:schemeClr val="tx1"/>
                </a:solidFill>
                <a:latin typeface="Arial"/>
                <a:ea typeface="MS PGothic" pitchFamily="34" charset="-128"/>
                <a:cs typeface="+mn-cs"/>
              </a:rPr>
              <a:t> in </a:t>
            </a:r>
            <a:r>
              <a:rPr lang="de-DE" sz="1000" kern="1200" dirty="0" err="1">
                <a:solidFill>
                  <a:schemeClr val="tx1"/>
                </a:solidFill>
                <a:latin typeface="Arial"/>
                <a:ea typeface="MS PGothic" pitchFamily="34" charset="-128"/>
                <a:cs typeface="+mn-cs"/>
              </a:rPr>
              <a:t>this</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document</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is</a:t>
            </a:r>
            <a:r>
              <a:rPr lang="de-DE" sz="1000" kern="1200" dirty="0">
                <a:solidFill>
                  <a:schemeClr val="tx1"/>
                </a:solidFill>
                <a:latin typeface="Arial"/>
                <a:ea typeface="MS PGothic" pitchFamily="34" charset="-128"/>
                <a:cs typeface="+mn-cs"/>
              </a:rPr>
              <a:t> not a </a:t>
            </a:r>
            <a:r>
              <a:rPr lang="de-DE" sz="1000" kern="1200" dirty="0" err="1">
                <a:solidFill>
                  <a:schemeClr val="tx1"/>
                </a:solidFill>
                <a:latin typeface="Arial"/>
                <a:ea typeface="MS PGothic" pitchFamily="34" charset="-128"/>
                <a:cs typeface="+mn-cs"/>
              </a:rPr>
              <a:t>commitment</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promise</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or</a:t>
            </a:r>
            <a:r>
              <a:rPr lang="de-DE" sz="1000" kern="1200" dirty="0">
                <a:solidFill>
                  <a:schemeClr val="tx1"/>
                </a:solidFill>
                <a:latin typeface="Arial"/>
                <a:ea typeface="MS PGothic" pitchFamily="34" charset="-128"/>
                <a:cs typeface="+mn-cs"/>
              </a:rPr>
              <a:t> legal </a:t>
            </a:r>
            <a:r>
              <a:rPr lang="de-DE" sz="1000" kern="1200" dirty="0" err="1">
                <a:solidFill>
                  <a:schemeClr val="tx1"/>
                </a:solidFill>
                <a:latin typeface="Arial"/>
                <a:ea typeface="MS PGothic" pitchFamily="34" charset="-128"/>
                <a:cs typeface="+mn-cs"/>
              </a:rPr>
              <a:t>obligation</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to</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deliver</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any</a:t>
            </a:r>
            <a:r>
              <a:rPr lang="de-DE" sz="1000" kern="1200" dirty="0">
                <a:solidFill>
                  <a:schemeClr val="tx1"/>
                </a:solidFill>
                <a:latin typeface="Arial"/>
                <a:ea typeface="MS PGothic" pitchFamily="34" charset="-128"/>
                <a:cs typeface="+mn-cs"/>
              </a:rPr>
              <a:t> material, </a:t>
            </a:r>
            <a:r>
              <a:rPr lang="de-DE" sz="1000" kern="1200" dirty="0" err="1">
                <a:solidFill>
                  <a:schemeClr val="tx1"/>
                </a:solidFill>
                <a:latin typeface="Arial"/>
                <a:ea typeface="MS PGothic" pitchFamily="34" charset="-128"/>
                <a:cs typeface="+mn-cs"/>
              </a:rPr>
              <a:t>code</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or</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functionality</a:t>
            </a:r>
            <a:r>
              <a:rPr lang="de-DE" sz="1000" kern="1200" dirty="0">
                <a:solidFill>
                  <a:schemeClr val="tx1"/>
                </a:solidFill>
                <a:latin typeface="Arial"/>
                <a:ea typeface="MS PGothic" pitchFamily="34" charset="-128"/>
                <a:cs typeface="+mn-cs"/>
              </a:rPr>
              <a:t>. All </a:t>
            </a:r>
            <a:r>
              <a:rPr lang="de-DE" sz="1000" kern="1200" dirty="0" err="1">
                <a:solidFill>
                  <a:schemeClr val="tx1"/>
                </a:solidFill>
                <a:latin typeface="Arial"/>
                <a:ea typeface="MS PGothic" pitchFamily="34" charset="-128"/>
                <a:cs typeface="+mn-cs"/>
              </a:rPr>
              <a:t>forward-looking</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statements</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are</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subject</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to</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various</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risks</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and</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uncertainties</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that</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could</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cause</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actual</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results</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to</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differ</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materially</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from</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expectations</a:t>
            </a:r>
            <a:r>
              <a:rPr lang="de-DE" sz="1000" kern="1200" dirty="0">
                <a:solidFill>
                  <a:schemeClr val="tx1"/>
                </a:solidFill>
                <a:latin typeface="Arial"/>
                <a:ea typeface="MS PGothic" pitchFamily="34" charset="-128"/>
                <a:cs typeface="+mn-cs"/>
              </a:rPr>
              <a:t>. Readers </a:t>
            </a:r>
            <a:r>
              <a:rPr lang="de-DE" sz="1000" kern="1200" dirty="0" err="1">
                <a:solidFill>
                  <a:schemeClr val="tx1"/>
                </a:solidFill>
                <a:latin typeface="Arial"/>
                <a:ea typeface="MS PGothic" pitchFamily="34" charset="-128"/>
                <a:cs typeface="+mn-cs"/>
              </a:rPr>
              <a:t>are</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cautioned</a:t>
            </a:r>
            <a:r>
              <a:rPr lang="de-DE" sz="1000" kern="1200" dirty="0">
                <a:solidFill>
                  <a:schemeClr val="tx1"/>
                </a:solidFill>
                <a:latin typeface="Arial"/>
                <a:ea typeface="MS PGothic" pitchFamily="34" charset="-128"/>
                <a:cs typeface="+mn-cs"/>
              </a:rPr>
              <a:t> not </a:t>
            </a:r>
            <a:r>
              <a:rPr lang="de-DE" sz="1000" kern="1200" dirty="0" err="1">
                <a:solidFill>
                  <a:schemeClr val="tx1"/>
                </a:solidFill>
                <a:latin typeface="Arial"/>
                <a:ea typeface="MS PGothic" pitchFamily="34" charset="-128"/>
                <a:cs typeface="+mn-cs"/>
              </a:rPr>
              <a:t>to</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place</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undue</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reliance</a:t>
            </a:r>
            <a:r>
              <a:rPr lang="de-DE" sz="1000" kern="1200" dirty="0">
                <a:solidFill>
                  <a:schemeClr val="tx1"/>
                </a:solidFill>
                <a:latin typeface="Arial"/>
                <a:ea typeface="MS PGothic" pitchFamily="34" charset="-128"/>
                <a:cs typeface="+mn-cs"/>
              </a:rPr>
              <a:t> on </a:t>
            </a:r>
            <a:r>
              <a:rPr lang="de-DE" sz="1000" kern="1200" dirty="0" err="1">
                <a:solidFill>
                  <a:schemeClr val="tx1"/>
                </a:solidFill>
                <a:latin typeface="Arial"/>
                <a:ea typeface="MS PGothic" pitchFamily="34" charset="-128"/>
                <a:cs typeface="+mn-cs"/>
              </a:rPr>
              <a:t>these</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forward-looking</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statements</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which</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speak</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only</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as</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of</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their</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dates</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and</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they</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should</a:t>
            </a:r>
            <a:r>
              <a:rPr lang="de-DE" sz="1000" kern="1200" dirty="0">
                <a:solidFill>
                  <a:schemeClr val="tx1"/>
                </a:solidFill>
                <a:latin typeface="Arial"/>
                <a:ea typeface="MS PGothic" pitchFamily="34" charset="-128"/>
                <a:cs typeface="+mn-cs"/>
              </a:rPr>
              <a:t> not </a:t>
            </a:r>
            <a:r>
              <a:rPr lang="de-DE" sz="1000" kern="1200" dirty="0" err="1">
                <a:solidFill>
                  <a:schemeClr val="tx1"/>
                </a:solidFill>
                <a:latin typeface="Arial"/>
                <a:ea typeface="MS PGothic" pitchFamily="34" charset="-128"/>
                <a:cs typeface="+mn-cs"/>
              </a:rPr>
              <a:t>be</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relied</a:t>
            </a:r>
            <a:r>
              <a:rPr lang="de-DE" sz="1000" kern="1200" dirty="0">
                <a:solidFill>
                  <a:schemeClr val="tx1"/>
                </a:solidFill>
                <a:latin typeface="Arial"/>
                <a:ea typeface="MS PGothic" pitchFamily="34" charset="-128"/>
                <a:cs typeface="+mn-cs"/>
              </a:rPr>
              <a:t> upon in </a:t>
            </a:r>
            <a:r>
              <a:rPr lang="de-DE" sz="1000" kern="1200" dirty="0" err="1">
                <a:solidFill>
                  <a:schemeClr val="tx1"/>
                </a:solidFill>
                <a:latin typeface="Arial"/>
                <a:ea typeface="MS PGothic" pitchFamily="34" charset="-128"/>
                <a:cs typeface="+mn-cs"/>
              </a:rPr>
              <a:t>making</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purchasing</a:t>
            </a:r>
            <a:r>
              <a:rPr lang="de-DE" sz="1000" kern="1200" dirty="0">
                <a:solidFill>
                  <a:schemeClr val="tx1"/>
                </a:solidFill>
                <a:latin typeface="Arial"/>
                <a:ea typeface="MS PGothic" pitchFamily="34" charset="-128"/>
                <a:cs typeface="+mn-cs"/>
              </a:rPr>
              <a:t> </a:t>
            </a:r>
            <a:r>
              <a:rPr lang="de-DE" sz="1000" kern="1200" dirty="0" err="1">
                <a:solidFill>
                  <a:schemeClr val="tx1"/>
                </a:solidFill>
                <a:latin typeface="Arial"/>
                <a:ea typeface="MS PGothic" pitchFamily="34" charset="-128"/>
                <a:cs typeface="+mn-cs"/>
              </a:rPr>
              <a:t>decisions</a:t>
            </a:r>
            <a:r>
              <a:rPr lang="de-DE" sz="1000" kern="1200" dirty="0">
                <a:solidFill>
                  <a:schemeClr val="tx1"/>
                </a:solidFill>
                <a:latin typeface="Arial"/>
                <a:ea typeface="MS PGothic" pitchFamily="34" charset="-128"/>
                <a:cs typeface="+mn-cs"/>
              </a:rPr>
              <a:t>.</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pyright german">
    <p:bg bwMode="gray">
      <p:bgRef idx="1001">
        <a:schemeClr val="bg1"/>
      </p:bgRef>
    </p:bg>
    <p:spTree>
      <p:nvGrpSpPr>
        <p:cNvPr id="1" name=""/>
        <p:cNvGrpSpPr/>
        <p:nvPr/>
      </p:nvGrpSpPr>
      <p:grpSpPr>
        <a:xfrm>
          <a:off x="0" y="0"/>
          <a:ext cx="0" cy="0"/>
          <a:chOff x="0" y="0"/>
          <a:chExt cx="0" cy="0"/>
        </a:xfrm>
      </p:grpSpPr>
      <p:sp>
        <p:nvSpPr>
          <p:cNvPr id="11" name="TextBox 10"/>
          <p:cNvSpPr txBox="1"/>
          <p:nvPr userDrawn="1"/>
        </p:nvSpPr>
        <p:spPr bwMode="gray">
          <a:xfrm>
            <a:off x="324000" y="324000"/>
            <a:ext cx="8496150" cy="756000"/>
          </a:xfrm>
          <a:prstGeom prst="rect">
            <a:avLst/>
          </a:prstGeom>
        </p:spPr>
        <p:txBody>
          <a:bodyPr vert="horz" lIns="0" tIns="0" rIns="0" bIns="0" rtlCol="0" anchor="ctr" anchorCtr="0">
            <a:noAutofit/>
          </a:bodyPr>
          <a:lstStyle/>
          <a:p>
            <a:pPr marL="0" marR="0" indent="0" algn="l" defTabSz="914400" rtl="0" eaLnBrk="1" fontAlgn="auto" latinLnBrk="0" hangingPunct="1">
              <a:lnSpc>
                <a:spcPct val="100000"/>
              </a:lnSpc>
              <a:spcBef>
                <a:spcPct val="0"/>
              </a:spcBef>
              <a:spcAft>
                <a:spcPts val="0"/>
              </a:spcAft>
              <a:buClrTx/>
              <a:buSzTx/>
              <a:buFontTx/>
              <a:buNone/>
              <a:tabLst/>
              <a:defRPr/>
            </a:pPr>
            <a:r>
              <a:rPr lang="de-DE" sz="2400" b="1" kern="1200" noProof="0" dirty="0">
                <a:solidFill>
                  <a:schemeClr val="accent2"/>
                </a:solidFill>
                <a:latin typeface="+mj-lt"/>
                <a:ea typeface="+mj-ea"/>
                <a:cs typeface="+mj-cs"/>
              </a:rPr>
              <a:t>© 2015 SAP SE oder ein SAP-Konzernunternehmen. </a:t>
            </a:r>
            <a:br>
              <a:rPr lang="de-DE" sz="2400" b="1" kern="1200" noProof="0" dirty="0">
                <a:solidFill>
                  <a:schemeClr val="accent2"/>
                </a:solidFill>
                <a:latin typeface="+mj-lt"/>
                <a:ea typeface="+mj-ea"/>
                <a:cs typeface="+mj-cs"/>
              </a:rPr>
            </a:br>
            <a:r>
              <a:rPr lang="de-DE" sz="2400" b="1" kern="1200" noProof="0" dirty="0">
                <a:solidFill>
                  <a:schemeClr val="accent2"/>
                </a:solidFill>
                <a:latin typeface="+mj-lt"/>
                <a:ea typeface="+mj-ea"/>
                <a:cs typeface="+mj-cs"/>
              </a:rPr>
              <a:t>Alle Rechte vorbehalten.</a:t>
            </a:r>
          </a:p>
        </p:txBody>
      </p:sp>
      <p:sp>
        <p:nvSpPr>
          <p:cNvPr id="6" name="TextBox 5"/>
          <p:cNvSpPr txBox="1"/>
          <p:nvPr userDrawn="1"/>
        </p:nvSpPr>
        <p:spPr bwMode="gray">
          <a:xfrm>
            <a:off x="324000" y="1692000"/>
            <a:ext cx="8496150" cy="4001095"/>
          </a:xfrm>
          <a:prstGeom prst="rect">
            <a:avLst/>
          </a:prstGeom>
          <a:noFill/>
        </p:spPr>
        <p:txBody>
          <a:bodyPr wrap="square" lIns="0" tIns="0" rIns="0" bIns="0" rtlCol="0">
            <a:spAutoFit/>
          </a:bodyPr>
          <a:lstStyle/>
          <a:p>
            <a:r>
              <a:rPr lang="de-DE" sz="1000" kern="1200" noProof="0" dirty="0">
                <a:solidFill>
                  <a:schemeClr val="tx1"/>
                </a:solidFill>
                <a:effectLst/>
                <a:latin typeface="Arial"/>
                <a:ea typeface="+mn-ea"/>
                <a:cs typeface="+mn-cs"/>
              </a:rPr>
              <a:t>Weitergabe und Vervielfältigung dieser Publikation oder von Teilen daraus sind, zu welchem Zweck und in welcher Form auch immer, ohne die ausdrückliche schriftliche Genehmigung durch </a:t>
            </a:r>
            <a:r>
              <a:rPr lang="de-DE" sz="1000" kern="1200" dirty="0">
                <a:solidFill>
                  <a:schemeClr val="tx1"/>
                </a:solidFill>
                <a:latin typeface="Arial"/>
                <a:ea typeface="MS PGothic" pitchFamily="34" charset="-128"/>
                <a:cs typeface="+mn-cs"/>
              </a:rPr>
              <a:t>SAP SE </a:t>
            </a:r>
            <a:r>
              <a:rPr lang="de-DE" sz="1000" kern="1200" noProof="0" dirty="0">
                <a:solidFill>
                  <a:schemeClr val="tx1"/>
                </a:solidFill>
                <a:effectLst/>
                <a:latin typeface="Arial"/>
                <a:ea typeface="+mn-ea"/>
                <a:cs typeface="+mn-cs"/>
              </a:rPr>
              <a:t>oder ein SAP-Konzernunternehmen nicht gestattet.</a:t>
            </a:r>
          </a:p>
          <a:p>
            <a:pPr>
              <a:spcBef>
                <a:spcPts val="1200"/>
              </a:spcBef>
            </a:pPr>
            <a:r>
              <a:rPr lang="de-DE" sz="1000" kern="1200" noProof="0" dirty="0">
                <a:solidFill>
                  <a:schemeClr val="tx1"/>
                </a:solidFill>
                <a:effectLst/>
                <a:latin typeface="Arial"/>
                <a:ea typeface="+mn-ea"/>
                <a:cs typeface="+mn-cs"/>
              </a:rPr>
              <a:t>SAP und andere in diesem Dokument erwähnte Produkte und Dienstleistungen von SAP sowie die dazugehörigen Logos sind Marken oder eingetragene Marken der </a:t>
            </a:r>
            <a:r>
              <a:rPr lang="de-DE" sz="1000" kern="1200" dirty="0">
                <a:solidFill>
                  <a:schemeClr val="tx1"/>
                </a:solidFill>
                <a:latin typeface="Arial"/>
                <a:ea typeface="MS PGothic" pitchFamily="34" charset="-128"/>
                <a:cs typeface="+mn-cs"/>
              </a:rPr>
              <a:t>SAP SE </a:t>
            </a:r>
            <a:r>
              <a:rPr lang="de-DE" sz="1000" kern="1200" noProof="0" dirty="0">
                <a:solidFill>
                  <a:schemeClr val="tx1"/>
                </a:solidFill>
                <a:effectLst/>
                <a:latin typeface="Arial"/>
                <a:ea typeface="+mn-ea"/>
                <a:cs typeface="+mn-cs"/>
              </a:rPr>
              <a:t>(oder von einem SAP-Konzernunternehmen) in Deutschland und verschiedenen anderen Ländern weltweit. </a:t>
            </a:r>
            <a:br>
              <a:rPr lang="de-DE" sz="1000" kern="1200" noProof="0" dirty="0">
                <a:solidFill>
                  <a:schemeClr val="tx1"/>
                </a:solidFill>
                <a:effectLst/>
                <a:latin typeface="Arial"/>
                <a:ea typeface="+mn-ea"/>
                <a:cs typeface="+mn-cs"/>
              </a:rPr>
            </a:br>
            <a:r>
              <a:rPr lang="de-DE" sz="1000" kern="1200" noProof="0" dirty="0">
                <a:solidFill>
                  <a:schemeClr val="tx1"/>
                </a:solidFill>
                <a:effectLst/>
                <a:latin typeface="Arial"/>
                <a:ea typeface="+mn-ea"/>
                <a:cs typeface="+mn-cs"/>
              </a:rPr>
              <a:t>Weitere Hinweise und Informationen zum Markenrecht finden Sie unter </a:t>
            </a:r>
            <a:r>
              <a:rPr lang="de-DE" sz="1000" kern="1200" noProof="0" dirty="0">
                <a:solidFill>
                  <a:schemeClr val="tx1"/>
                </a:solidFill>
                <a:effectLst/>
                <a:latin typeface="Arial"/>
                <a:ea typeface="+mn-ea"/>
                <a:cs typeface="+mn-cs"/>
                <a:hlinkClick r:id="rId2"/>
              </a:rPr>
              <a:t>http://global.sap.com/corporate-de/legal/copyright/index.epx</a:t>
            </a:r>
            <a:r>
              <a:rPr lang="de-DE" sz="1000" kern="1200" noProof="0" dirty="0">
                <a:solidFill>
                  <a:schemeClr val="tx1"/>
                </a:solidFill>
                <a:effectLst/>
                <a:latin typeface="Arial"/>
                <a:ea typeface="+mn-ea"/>
                <a:cs typeface="+mn-cs"/>
              </a:rPr>
              <a:t>.</a:t>
            </a:r>
          </a:p>
          <a:p>
            <a:pPr>
              <a:spcBef>
                <a:spcPts val="1200"/>
              </a:spcBef>
            </a:pPr>
            <a:r>
              <a:rPr lang="de-DE" sz="1000" kern="1200" noProof="0" dirty="0">
                <a:solidFill>
                  <a:schemeClr val="tx1"/>
                </a:solidFill>
                <a:effectLst/>
                <a:latin typeface="Arial"/>
                <a:ea typeface="+mn-ea"/>
                <a:cs typeface="+mn-cs"/>
              </a:rPr>
              <a:t>Die von </a:t>
            </a:r>
            <a:r>
              <a:rPr lang="de-DE" sz="1000" kern="1200" dirty="0">
                <a:solidFill>
                  <a:schemeClr val="tx1"/>
                </a:solidFill>
                <a:latin typeface="Arial"/>
                <a:ea typeface="MS PGothic" pitchFamily="34" charset="-128"/>
                <a:cs typeface="+mn-cs"/>
              </a:rPr>
              <a:t>SAP SE </a:t>
            </a:r>
            <a:r>
              <a:rPr lang="de-DE" sz="1000" kern="1200" noProof="0" dirty="0">
                <a:solidFill>
                  <a:schemeClr val="tx1"/>
                </a:solidFill>
                <a:effectLst/>
                <a:latin typeface="Arial"/>
                <a:ea typeface="+mn-ea"/>
                <a:cs typeface="+mn-cs"/>
              </a:rPr>
              <a:t>oder deren Vertriebsfirmen angebotenen Softwareprodukte können Softwarekomponenten auch anderer Softwarehersteller enthalten.</a:t>
            </a:r>
          </a:p>
          <a:p>
            <a:pPr>
              <a:spcBef>
                <a:spcPts val="1200"/>
              </a:spcBef>
            </a:pPr>
            <a:r>
              <a:rPr lang="de-DE" sz="1000" kern="1200" noProof="0" dirty="0">
                <a:solidFill>
                  <a:schemeClr val="tx1"/>
                </a:solidFill>
                <a:effectLst/>
                <a:latin typeface="Arial"/>
                <a:ea typeface="+mn-ea"/>
                <a:cs typeface="+mn-cs"/>
              </a:rPr>
              <a:t>Produkte können länderspezifische Unterschiede aufweisen.</a:t>
            </a:r>
          </a:p>
          <a:p>
            <a:pPr>
              <a:spcBef>
                <a:spcPts val="1200"/>
              </a:spcBef>
            </a:pPr>
            <a:r>
              <a:rPr lang="de-DE" sz="1000" kern="1200" noProof="0" dirty="0">
                <a:solidFill>
                  <a:schemeClr val="tx1"/>
                </a:solidFill>
                <a:effectLst/>
                <a:latin typeface="Arial"/>
                <a:ea typeface="+mn-ea"/>
                <a:cs typeface="+mn-cs"/>
              </a:rPr>
              <a:t>Die vorliegenden Unterlagen werden von der </a:t>
            </a:r>
            <a:r>
              <a:rPr lang="de-DE" sz="1000" kern="1200" dirty="0">
                <a:solidFill>
                  <a:schemeClr val="tx1"/>
                </a:solidFill>
                <a:latin typeface="Arial"/>
                <a:ea typeface="MS PGothic" pitchFamily="34" charset="-128"/>
                <a:cs typeface="+mn-cs"/>
              </a:rPr>
              <a:t>SAP SE </a:t>
            </a:r>
            <a:r>
              <a:rPr lang="de-DE" sz="1000" kern="1200" noProof="0" dirty="0">
                <a:solidFill>
                  <a:schemeClr val="tx1"/>
                </a:solidFill>
                <a:effectLst/>
                <a:latin typeface="Arial"/>
                <a:ea typeface="+mn-ea"/>
                <a:cs typeface="+mn-cs"/>
              </a:rPr>
              <a:t>oder einem SAP-Konzernunternehmen bereitgestellt und dienen ausschließlich zu Informations-zwecken. Die </a:t>
            </a:r>
            <a:r>
              <a:rPr lang="de-DE" sz="1000" kern="1200" dirty="0">
                <a:solidFill>
                  <a:schemeClr val="tx1"/>
                </a:solidFill>
                <a:latin typeface="Arial"/>
                <a:ea typeface="MS PGothic" pitchFamily="34" charset="-128"/>
                <a:cs typeface="+mn-cs"/>
              </a:rPr>
              <a:t>SAP SE </a:t>
            </a:r>
            <a:r>
              <a:rPr lang="de-DE" sz="1000" kern="1200" noProof="0" dirty="0">
                <a:solidFill>
                  <a:schemeClr val="tx1"/>
                </a:solidFill>
                <a:effectLst/>
                <a:latin typeface="Arial"/>
                <a:ea typeface="+mn-ea"/>
                <a:cs typeface="+mn-cs"/>
              </a:rPr>
              <a:t>oder ihre Konzernunternehmen übernehmen keinerlei Haftung oder Gewährleistung für Fehler oder Unvollständigkeiten in </a:t>
            </a:r>
            <a:br>
              <a:rPr lang="de-DE" sz="1000" kern="1200" noProof="0" dirty="0">
                <a:solidFill>
                  <a:schemeClr val="tx1"/>
                </a:solidFill>
                <a:effectLst/>
                <a:latin typeface="Arial"/>
                <a:ea typeface="+mn-ea"/>
                <a:cs typeface="+mn-cs"/>
              </a:rPr>
            </a:br>
            <a:r>
              <a:rPr lang="de-DE" sz="1000" kern="1200" noProof="0" dirty="0">
                <a:solidFill>
                  <a:schemeClr val="tx1"/>
                </a:solidFill>
                <a:effectLst/>
                <a:latin typeface="Arial"/>
                <a:ea typeface="+mn-ea"/>
                <a:cs typeface="+mn-cs"/>
              </a:rPr>
              <a:t>dieser Publikation. Die </a:t>
            </a:r>
            <a:r>
              <a:rPr lang="de-DE" sz="1000" kern="1200" dirty="0">
                <a:solidFill>
                  <a:schemeClr val="tx1"/>
                </a:solidFill>
                <a:latin typeface="Arial"/>
                <a:ea typeface="MS PGothic" pitchFamily="34" charset="-128"/>
                <a:cs typeface="+mn-cs"/>
              </a:rPr>
              <a:t>SAP SE </a:t>
            </a:r>
            <a:r>
              <a:rPr lang="de-DE" sz="1000" kern="1200" noProof="0" dirty="0">
                <a:solidFill>
                  <a:schemeClr val="tx1"/>
                </a:solidFill>
                <a:effectLst/>
                <a:latin typeface="Arial"/>
                <a:ea typeface="+mn-ea"/>
                <a:cs typeface="+mn-cs"/>
              </a:rPr>
              <a:t>oder ein SAP-Konzernunternehmen steht lediglich für Produkte und Dienstleistungen nach der Maßgabe ein, die in der Vereinbarung über die jeweiligen Produkte und Dienstleistungen ausdrücklich geregelt ist. Keine der hierin enthaltenen Informationen ist als zusätzliche Garantie zu interpretieren. 	 </a:t>
            </a:r>
          </a:p>
          <a:p>
            <a:pPr>
              <a:spcBef>
                <a:spcPts val="1200"/>
              </a:spcBef>
            </a:pPr>
            <a:r>
              <a:rPr lang="de-DE" sz="1000" kern="1200" noProof="0" dirty="0">
                <a:solidFill>
                  <a:schemeClr val="tx1"/>
                </a:solidFill>
                <a:effectLst/>
                <a:latin typeface="Arial"/>
                <a:ea typeface="+mn-ea"/>
                <a:cs typeface="+mn-cs"/>
              </a:rPr>
              <a:t>Insbesondere sind die </a:t>
            </a:r>
            <a:r>
              <a:rPr lang="de-DE" sz="1000" kern="1200" dirty="0">
                <a:solidFill>
                  <a:schemeClr val="tx1"/>
                </a:solidFill>
                <a:latin typeface="Arial"/>
                <a:ea typeface="MS PGothic" pitchFamily="34" charset="-128"/>
                <a:cs typeface="+mn-cs"/>
              </a:rPr>
              <a:t>SAP SE </a:t>
            </a:r>
            <a:r>
              <a:rPr lang="de-DE" sz="1000" kern="1200" noProof="0" dirty="0">
                <a:solidFill>
                  <a:schemeClr val="tx1"/>
                </a:solidFill>
                <a:effectLst/>
                <a:latin typeface="Arial"/>
                <a:ea typeface="+mn-ea"/>
                <a:cs typeface="+mn-cs"/>
              </a:rPr>
              <a:t>oder ihre Konzernunternehmen in keiner Weise verpflichtet, in dieser Publikation oder einer zugehörigen Präsentation dargestellte Geschäftsabläufe zu verfolgen oder hierin wiedergegebene Funktionen zu entwickeln oder zu veröffentlichen. Diese Publikation oder </a:t>
            </a:r>
            <a:br>
              <a:rPr lang="de-DE" sz="1000" kern="1200" noProof="0" dirty="0">
                <a:solidFill>
                  <a:schemeClr val="tx1"/>
                </a:solidFill>
                <a:effectLst/>
                <a:latin typeface="Arial"/>
                <a:ea typeface="+mn-ea"/>
                <a:cs typeface="+mn-cs"/>
              </a:rPr>
            </a:br>
            <a:r>
              <a:rPr lang="de-DE" sz="1000" kern="1200" noProof="0" dirty="0">
                <a:solidFill>
                  <a:schemeClr val="tx1"/>
                </a:solidFill>
                <a:effectLst/>
                <a:latin typeface="Arial"/>
                <a:ea typeface="+mn-ea"/>
                <a:cs typeface="+mn-cs"/>
              </a:rPr>
              <a:t>eine zugehörige Präsentation, die Strategie und etwaige künftige Entwicklungen, Produkte und/oder Plattformen der </a:t>
            </a:r>
            <a:r>
              <a:rPr lang="de-DE" sz="1000" kern="1200" dirty="0">
                <a:solidFill>
                  <a:schemeClr val="tx1"/>
                </a:solidFill>
                <a:latin typeface="Arial"/>
                <a:ea typeface="MS PGothic" pitchFamily="34" charset="-128"/>
                <a:cs typeface="+mn-cs"/>
              </a:rPr>
              <a:t>SAP SE </a:t>
            </a:r>
            <a:r>
              <a:rPr lang="de-DE" sz="1000" kern="1200" noProof="0" dirty="0">
                <a:solidFill>
                  <a:schemeClr val="tx1"/>
                </a:solidFill>
                <a:effectLst/>
                <a:latin typeface="Arial"/>
                <a:ea typeface="+mn-ea"/>
                <a:cs typeface="+mn-cs"/>
              </a:rPr>
              <a:t>oder ihrer Konzern-</a:t>
            </a:r>
            <a:br>
              <a:rPr lang="de-DE" sz="1000" kern="1200" noProof="0" dirty="0">
                <a:solidFill>
                  <a:schemeClr val="tx1"/>
                </a:solidFill>
                <a:effectLst/>
                <a:latin typeface="Arial"/>
                <a:ea typeface="+mn-ea"/>
                <a:cs typeface="+mn-cs"/>
              </a:rPr>
            </a:br>
            <a:r>
              <a:rPr lang="de-DE" sz="1000" kern="1200" noProof="0" dirty="0">
                <a:solidFill>
                  <a:schemeClr val="tx1"/>
                </a:solidFill>
                <a:effectLst/>
                <a:latin typeface="Arial"/>
                <a:ea typeface="+mn-ea"/>
                <a:cs typeface="+mn-cs"/>
              </a:rPr>
              <a:t>unternehmen können von der </a:t>
            </a:r>
            <a:r>
              <a:rPr lang="de-DE" sz="1000" kern="1200" dirty="0">
                <a:solidFill>
                  <a:schemeClr val="tx1"/>
                </a:solidFill>
                <a:latin typeface="Arial"/>
                <a:ea typeface="MS PGothic" pitchFamily="34" charset="-128"/>
                <a:cs typeface="+mn-cs"/>
              </a:rPr>
              <a:t>SAP SE </a:t>
            </a:r>
            <a:r>
              <a:rPr lang="de-DE" sz="1000" kern="1200" noProof="0" dirty="0">
                <a:solidFill>
                  <a:schemeClr val="tx1"/>
                </a:solidFill>
                <a:effectLst/>
                <a:latin typeface="Arial"/>
                <a:ea typeface="+mn-ea"/>
                <a:cs typeface="+mn-cs"/>
              </a:rPr>
              <a:t>oder ihren Konzernunternehmen jederzeit und ohne Angabe von Gründen unangekündigt geändert werden. </a:t>
            </a:r>
            <a:br>
              <a:rPr lang="de-DE" sz="1000" kern="1200" noProof="0" dirty="0">
                <a:solidFill>
                  <a:schemeClr val="tx1"/>
                </a:solidFill>
                <a:effectLst/>
                <a:latin typeface="Arial"/>
                <a:ea typeface="+mn-ea"/>
                <a:cs typeface="+mn-cs"/>
              </a:rPr>
            </a:br>
            <a:r>
              <a:rPr lang="de-DE" sz="1000" kern="1200" noProof="0" dirty="0">
                <a:solidFill>
                  <a:schemeClr val="tx1"/>
                </a:solidFill>
                <a:effectLst/>
                <a:latin typeface="Arial"/>
                <a:ea typeface="+mn-ea"/>
                <a:cs typeface="+mn-cs"/>
              </a:rPr>
              <a:t>Die in dieser Publikation enthaltenen Informationen stellen keine Zusage, kein Versprechen und keine rechtliche Verpflichtung zur Lieferung von Material, Code oder Funktionen dar. Sämtliche vorausschauenden Aussagen unterliegen unterschiedlichen Risiken und Unsicherheiten, durch die </a:t>
            </a:r>
            <a:br>
              <a:rPr lang="de-DE" sz="1000" kern="1200" noProof="0" dirty="0">
                <a:solidFill>
                  <a:schemeClr val="tx1"/>
                </a:solidFill>
                <a:effectLst/>
                <a:latin typeface="Arial"/>
                <a:ea typeface="+mn-ea"/>
                <a:cs typeface="+mn-cs"/>
              </a:rPr>
            </a:br>
            <a:r>
              <a:rPr lang="de-DE" sz="1000" kern="1200" noProof="0" dirty="0">
                <a:solidFill>
                  <a:schemeClr val="tx1"/>
                </a:solidFill>
                <a:effectLst/>
                <a:latin typeface="Arial"/>
                <a:ea typeface="+mn-ea"/>
                <a:cs typeface="+mn-cs"/>
              </a:rPr>
              <a:t>die tatsächlichen Ergebnisse von den Erwartungen abweichen können. Die vorausschauenden Aussagen geben die Sicht zu dem Zeitpunkt wieder, </a:t>
            </a:r>
            <a:br>
              <a:rPr lang="de-DE" sz="1000" kern="1200" noProof="0" dirty="0">
                <a:solidFill>
                  <a:schemeClr val="tx1"/>
                </a:solidFill>
                <a:effectLst/>
                <a:latin typeface="Arial"/>
                <a:ea typeface="+mn-ea"/>
                <a:cs typeface="+mn-cs"/>
              </a:rPr>
            </a:br>
            <a:r>
              <a:rPr lang="de-DE" sz="1000" kern="1200" noProof="0" dirty="0">
                <a:solidFill>
                  <a:schemeClr val="tx1"/>
                </a:solidFill>
                <a:effectLst/>
                <a:latin typeface="Arial"/>
                <a:ea typeface="+mn-ea"/>
                <a:cs typeface="+mn-cs"/>
              </a:rPr>
              <a:t>zu dem sie getätigt wurden. Dem Leser wird empfohlen, diesen Aussagen kein übertriebenes Vertrauen zu schenken und sich bei Kaufentscheidungen nicht auf sie zu stützen.</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three columns 1">
  <p:cSld name="Title and three columns 1">
    <p:spTree>
      <p:nvGrpSpPr>
        <p:cNvPr id="1" name="Shape 146"/>
        <p:cNvGrpSpPr/>
        <p:nvPr/>
      </p:nvGrpSpPr>
      <p:grpSpPr>
        <a:xfrm>
          <a:off x="0" y="0"/>
          <a:ext cx="0" cy="0"/>
          <a:chOff x="0" y="0"/>
          <a:chExt cx="0" cy="0"/>
        </a:xfrm>
      </p:grpSpPr>
      <p:sp>
        <p:nvSpPr>
          <p:cNvPr id="147" name="Google Shape;147;p15"/>
          <p:cNvSpPr txBox="1">
            <a:spLocks noGrp="1"/>
          </p:cNvSpPr>
          <p:nvPr>
            <p:ph type="title"/>
          </p:nvPr>
        </p:nvSpPr>
        <p:spPr>
          <a:xfrm>
            <a:off x="540000" y="720967"/>
            <a:ext cx="8100000" cy="964800"/>
          </a:xfrm>
          <a:prstGeom prst="rect">
            <a:avLst/>
          </a:prstGeom>
        </p:spPr>
        <p:txBody>
          <a:bodyPr spcFirstLastPara="1" wrap="square" lIns="91425" tIns="91425" rIns="91425" bIns="91425" anchor="t" anchorCtr="0">
            <a:noAutofit/>
          </a:bodyPr>
          <a:lstStyle>
            <a:lvl1pPr lvl="0" rtl="0">
              <a:spcBef>
                <a:spcPts val="0"/>
              </a:spcBef>
              <a:spcAft>
                <a:spcPts val="0"/>
              </a:spcAft>
              <a:buSzPts val="3700"/>
              <a:buNone/>
              <a:defRPr/>
            </a:lvl1pPr>
            <a:lvl2pPr lvl="1" rtl="0">
              <a:spcBef>
                <a:spcPts val="0"/>
              </a:spcBef>
              <a:spcAft>
                <a:spcPts val="0"/>
              </a:spcAft>
              <a:buSzPts val="4000"/>
              <a:buNone/>
              <a:defRPr/>
            </a:lvl2pPr>
            <a:lvl3pPr lvl="2" rtl="0">
              <a:spcBef>
                <a:spcPts val="0"/>
              </a:spcBef>
              <a:spcAft>
                <a:spcPts val="0"/>
              </a:spcAft>
              <a:buSzPts val="4000"/>
              <a:buNone/>
              <a:defRPr/>
            </a:lvl3pPr>
            <a:lvl4pPr lvl="3" rtl="0">
              <a:spcBef>
                <a:spcPts val="0"/>
              </a:spcBef>
              <a:spcAft>
                <a:spcPts val="0"/>
              </a:spcAft>
              <a:buSzPts val="4000"/>
              <a:buNone/>
              <a:defRPr/>
            </a:lvl4pPr>
            <a:lvl5pPr lvl="4" rtl="0">
              <a:spcBef>
                <a:spcPts val="0"/>
              </a:spcBef>
              <a:spcAft>
                <a:spcPts val="0"/>
              </a:spcAft>
              <a:buSzPts val="4000"/>
              <a:buNone/>
              <a:defRPr/>
            </a:lvl5pPr>
            <a:lvl6pPr lvl="5" rtl="0">
              <a:spcBef>
                <a:spcPts val="0"/>
              </a:spcBef>
              <a:spcAft>
                <a:spcPts val="0"/>
              </a:spcAft>
              <a:buSzPts val="4000"/>
              <a:buNone/>
              <a:defRPr/>
            </a:lvl6pPr>
            <a:lvl7pPr lvl="6" rtl="0">
              <a:spcBef>
                <a:spcPts val="0"/>
              </a:spcBef>
              <a:spcAft>
                <a:spcPts val="0"/>
              </a:spcAft>
              <a:buSzPts val="4000"/>
              <a:buNone/>
              <a:defRPr/>
            </a:lvl7pPr>
            <a:lvl8pPr lvl="7" rtl="0">
              <a:spcBef>
                <a:spcPts val="0"/>
              </a:spcBef>
              <a:spcAft>
                <a:spcPts val="0"/>
              </a:spcAft>
              <a:buSzPts val="4000"/>
              <a:buNone/>
              <a:defRPr/>
            </a:lvl8pPr>
            <a:lvl9pPr lvl="8" rtl="0">
              <a:spcBef>
                <a:spcPts val="0"/>
              </a:spcBef>
              <a:spcAft>
                <a:spcPts val="0"/>
              </a:spcAft>
              <a:buSzPts val="4000"/>
              <a:buNone/>
              <a:defRPr/>
            </a:lvl9pPr>
          </a:lstStyle>
          <a:p>
            <a:endParaRPr/>
          </a:p>
        </p:txBody>
      </p:sp>
      <p:sp>
        <p:nvSpPr>
          <p:cNvPr id="148" name="Google Shape;148;p15"/>
          <p:cNvSpPr txBox="1">
            <a:spLocks noGrp="1"/>
          </p:cNvSpPr>
          <p:nvPr>
            <p:ph type="subTitle" idx="1"/>
          </p:nvPr>
        </p:nvSpPr>
        <p:spPr>
          <a:xfrm>
            <a:off x="658200" y="4327000"/>
            <a:ext cx="2455200" cy="480000"/>
          </a:xfrm>
          <a:prstGeom prst="rect">
            <a:avLst/>
          </a:prstGeom>
          <a:solidFill>
            <a:schemeClr val="accent4"/>
          </a:solidFill>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600">
                <a:solidFill>
                  <a:schemeClr val="lt1"/>
                </a:solidFill>
                <a:latin typeface="Viga"/>
                <a:ea typeface="Viga"/>
                <a:cs typeface="Viga"/>
                <a:sym typeface="Viga"/>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149" name="Google Shape;149;p15"/>
          <p:cNvSpPr txBox="1">
            <a:spLocks noGrp="1"/>
          </p:cNvSpPr>
          <p:nvPr>
            <p:ph type="body" idx="2"/>
          </p:nvPr>
        </p:nvSpPr>
        <p:spPr>
          <a:xfrm>
            <a:off x="658200" y="4906400"/>
            <a:ext cx="2455200" cy="964800"/>
          </a:xfrm>
          <a:prstGeom prst="rect">
            <a:avLst/>
          </a:prstGeom>
        </p:spPr>
        <p:txBody>
          <a:bodyPr spcFirstLastPara="1" wrap="square" lIns="91425" tIns="91425" rIns="91425" bIns="91425" anchor="t" anchorCtr="0">
            <a:noAutofit/>
          </a:bodyPr>
          <a:lstStyle>
            <a:lvl1pPr marL="457200" lvl="0" indent="-317500" algn="ctr" rtl="0">
              <a:spcBef>
                <a:spcPts val="0"/>
              </a:spcBef>
              <a:spcAft>
                <a:spcPts val="0"/>
              </a:spcAft>
              <a:buSzPts val="1400"/>
              <a:buChar char="●"/>
              <a:defRPr sz="1600">
                <a:solidFill>
                  <a:schemeClr val="accent1"/>
                </a:solidFill>
              </a:defRPr>
            </a:lvl1pPr>
            <a:lvl2pPr marL="914400" lvl="1" indent="-317500" rtl="0">
              <a:spcBef>
                <a:spcPts val="1600"/>
              </a:spcBef>
              <a:spcAft>
                <a:spcPts val="0"/>
              </a:spcAft>
              <a:buSzPts val="1400"/>
              <a:buChar char="○"/>
              <a:defRPr/>
            </a:lvl2pPr>
            <a:lvl3pPr marL="1371600" lvl="2" indent="-317500" rtl="0">
              <a:spcBef>
                <a:spcPts val="1600"/>
              </a:spcBef>
              <a:spcAft>
                <a:spcPts val="0"/>
              </a:spcAft>
              <a:buSzPts val="1400"/>
              <a:buChar char="■"/>
              <a:defRPr/>
            </a:lvl3pPr>
            <a:lvl4pPr marL="1828800" lvl="3" indent="-317500" rtl="0">
              <a:spcBef>
                <a:spcPts val="1600"/>
              </a:spcBef>
              <a:spcAft>
                <a:spcPts val="0"/>
              </a:spcAft>
              <a:buSzPts val="1400"/>
              <a:buChar char="●"/>
              <a:defRPr/>
            </a:lvl4pPr>
            <a:lvl5pPr marL="2286000" lvl="4" indent="-317500" rtl="0">
              <a:spcBef>
                <a:spcPts val="1600"/>
              </a:spcBef>
              <a:spcAft>
                <a:spcPts val="0"/>
              </a:spcAft>
              <a:buSzPts val="1400"/>
              <a:buChar char="○"/>
              <a:defRPr/>
            </a:lvl5pPr>
            <a:lvl6pPr marL="2743200" lvl="5" indent="-317500" rtl="0">
              <a:spcBef>
                <a:spcPts val="1600"/>
              </a:spcBef>
              <a:spcAft>
                <a:spcPts val="0"/>
              </a:spcAft>
              <a:buSzPts val="1400"/>
              <a:buChar char="■"/>
              <a:defRPr/>
            </a:lvl6pPr>
            <a:lvl7pPr marL="3200400" lvl="6" indent="-317500" rtl="0">
              <a:spcBef>
                <a:spcPts val="1600"/>
              </a:spcBef>
              <a:spcAft>
                <a:spcPts val="0"/>
              </a:spcAft>
              <a:buSzPts val="1400"/>
              <a:buChar char="●"/>
              <a:defRPr/>
            </a:lvl7pPr>
            <a:lvl8pPr marL="3657600" lvl="7" indent="-317500" rtl="0">
              <a:spcBef>
                <a:spcPts val="1600"/>
              </a:spcBef>
              <a:spcAft>
                <a:spcPts val="0"/>
              </a:spcAft>
              <a:buSzPts val="1400"/>
              <a:buChar char="○"/>
              <a:defRPr/>
            </a:lvl8pPr>
            <a:lvl9pPr marL="4114800" lvl="8" indent="-317500" rtl="0">
              <a:spcBef>
                <a:spcPts val="1600"/>
              </a:spcBef>
              <a:spcAft>
                <a:spcPts val="1600"/>
              </a:spcAft>
              <a:buSzPts val="1400"/>
              <a:buChar char="■"/>
              <a:defRPr/>
            </a:lvl9pPr>
          </a:lstStyle>
          <a:p>
            <a:endParaRPr/>
          </a:p>
        </p:txBody>
      </p:sp>
      <p:sp>
        <p:nvSpPr>
          <p:cNvPr id="150" name="Google Shape;150;p15"/>
          <p:cNvSpPr txBox="1">
            <a:spLocks noGrp="1"/>
          </p:cNvSpPr>
          <p:nvPr>
            <p:ph type="subTitle" idx="3"/>
          </p:nvPr>
        </p:nvSpPr>
        <p:spPr>
          <a:xfrm>
            <a:off x="3344400" y="4327000"/>
            <a:ext cx="2455200" cy="480000"/>
          </a:xfrm>
          <a:prstGeom prst="rect">
            <a:avLst/>
          </a:prstGeom>
          <a:solidFill>
            <a:schemeClr val="accent1"/>
          </a:solidFill>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600">
                <a:solidFill>
                  <a:schemeClr val="lt1"/>
                </a:solidFill>
                <a:latin typeface="Viga"/>
                <a:ea typeface="Viga"/>
                <a:cs typeface="Viga"/>
                <a:sym typeface="Viga"/>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151" name="Google Shape;151;p15"/>
          <p:cNvSpPr txBox="1">
            <a:spLocks noGrp="1"/>
          </p:cNvSpPr>
          <p:nvPr>
            <p:ph type="body" idx="4"/>
          </p:nvPr>
        </p:nvSpPr>
        <p:spPr>
          <a:xfrm>
            <a:off x="3344400" y="4906400"/>
            <a:ext cx="2455200" cy="964800"/>
          </a:xfrm>
          <a:prstGeom prst="rect">
            <a:avLst/>
          </a:prstGeom>
        </p:spPr>
        <p:txBody>
          <a:bodyPr spcFirstLastPara="1" wrap="square" lIns="91425" tIns="91425" rIns="91425" bIns="91425" anchor="t" anchorCtr="0">
            <a:noAutofit/>
          </a:bodyPr>
          <a:lstStyle>
            <a:lvl1pPr marL="457200" lvl="0" indent="-317500" algn="ctr" rtl="0">
              <a:spcBef>
                <a:spcPts val="0"/>
              </a:spcBef>
              <a:spcAft>
                <a:spcPts val="0"/>
              </a:spcAft>
              <a:buSzPts val="1400"/>
              <a:buChar char="●"/>
              <a:defRPr sz="1600">
                <a:solidFill>
                  <a:schemeClr val="accent1"/>
                </a:solidFill>
              </a:defRPr>
            </a:lvl1pPr>
            <a:lvl2pPr marL="914400" lvl="1" indent="-317500" rtl="0">
              <a:spcBef>
                <a:spcPts val="1600"/>
              </a:spcBef>
              <a:spcAft>
                <a:spcPts val="0"/>
              </a:spcAft>
              <a:buSzPts val="1400"/>
              <a:buChar char="○"/>
              <a:defRPr/>
            </a:lvl2pPr>
            <a:lvl3pPr marL="1371600" lvl="2" indent="-317500" rtl="0">
              <a:spcBef>
                <a:spcPts val="1600"/>
              </a:spcBef>
              <a:spcAft>
                <a:spcPts val="0"/>
              </a:spcAft>
              <a:buSzPts val="1400"/>
              <a:buChar char="■"/>
              <a:defRPr/>
            </a:lvl3pPr>
            <a:lvl4pPr marL="1828800" lvl="3" indent="-317500" rtl="0">
              <a:spcBef>
                <a:spcPts val="1600"/>
              </a:spcBef>
              <a:spcAft>
                <a:spcPts val="0"/>
              </a:spcAft>
              <a:buSzPts val="1400"/>
              <a:buChar char="●"/>
              <a:defRPr/>
            </a:lvl4pPr>
            <a:lvl5pPr marL="2286000" lvl="4" indent="-317500" rtl="0">
              <a:spcBef>
                <a:spcPts val="1600"/>
              </a:spcBef>
              <a:spcAft>
                <a:spcPts val="0"/>
              </a:spcAft>
              <a:buSzPts val="1400"/>
              <a:buChar char="○"/>
              <a:defRPr/>
            </a:lvl5pPr>
            <a:lvl6pPr marL="2743200" lvl="5" indent="-317500" rtl="0">
              <a:spcBef>
                <a:spcPts val="1600"/>
              </a:spcBef>
              <a:spcAft>
                <a:spcPts val="0"/>
              </a:spcAft>
              <a:buSzPts val="1400"/>
              <a:buChar char="■"/>
              <a:defRPr/>
            </a:lvl6pPr>
            <a:lvl7pPr marL="3200400" lvl="6" indent="-317500" rtl="0">
              <a:spcBef>
                <a:spcPts val="1600"/>
              </a:spcBef>
              <a:spcAft>
                <a:spcPts val="0"/>
              </a:spcAft>
              <a:buSzPts val="1400"/>
              <a:buChar char="●"/>
              <a:defRPr/>
            </a:lvl7pPr>
            <a:lvl8pPr marL="3657600" lvl="7" indent="-317500" rtl="0">
              <a:spcBef>
                <a:spcPts val="1600"/>
              </a:spcBef>
              <a:spcAft>
                <a:spcPts val="0"/>
              </a:spcAft>
              <a:buSzPts val="1400"/>
              <a:buChar char="○"/>
              <a:defRPr/>
            </a:lvl8pPr>
            <a:lvl9pPr marL="4114800" lvl="8" indent="-317500" rtl="0">
              <a:spcBef>
                <a:spcPts val="1600"/>
              </a:spcBef>
              <a:spcAft>
                <a:spcPts val="1600"/>
              </a:spcAft>
              <a:buSzPts val="1400"/>
              <a:buChar char="■"/>
              <a:defRPr/>
            </a:lvl9pPr>
          </a:lstStyle>
          <a:p>
            <a:endParaRPr/>
          </a:p>
        </p:txBody>
      </p:sp>
      <p:sp>
        <p:nvSpPr>
          <p:cNvPr id="152" name="Google Shape;152;p15"/>
          <p:cNvSpPr txBox="1">
            <a:spLocks noGrp="1"/>
          </p:cNvSpPr>
          <p:nvPr>
            <p:ph type="subTitle" idx="5"/>
          </p:nvPr>
        </p:nvSpPr>
        <p:spPr>
          <a:xfrm>
            <a:off x="6030600" y="4327000"/>
            <a:ext cx="2455200" cy="480000"/>
          </a:xfrm>
          <a:prstGeom prst="rect">
            <a:avLst/>
          </a:prstGeom>
          <a:solidFill>
            <a:schemeClr val="accent4"/>
          </a:solidFill>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600">
                <a:solidFill>
                  <a:schemeClr val="lt1"/>
                </a:solidFill>
                <a:latin typeface="Viga"/>
                <a:ea typeface="Viga"/>
                <a:cs typeface="Viga"/>
                <a:sym typeface="Viga"/>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153" name="Google Shape;153;p15"/>
          <p:cNvSpPr txBox="1">
            <a:spLocks noGrp="1"/>
          </p:cNvSpPr>
          <p:nvPr>
            <p:ph type="body" idx="6"/>
          </p:nvPr>
        </p:nvSpPr>
        <p:spPr>
          <a:xfrm>
            <a:off x="6030600" y="4906400"/>
            <a:ext cx="2455200" cy="964800"/>
          </a:xfrm>
          <a:prstGeom prst="rect">
            <a:avLst/>
          </a:prstGeom>
        </p:spPr>
        <p:txBody>
          <a:bodyPr spcFirstLastPara="1" wrap="square" lIns="91425" tIns="91425" rIns="91425" bIns="91425" anchor="t" anchorCtr="0">
            <a:noAutofit/>
          </a:bodyPr>
          <a:lstStyle>
            <a:lvl1pPr marL="457200" lvl="0" indent="-317500" algn="ctr" rtl="0">
              <a:spcBef>
                <a:spcPts val="0"/>
              </a:spcBef>
              <a:spcAft>
                <a:spcPts val="0"/>
              </a:spcAft>
              <a:buSzPts val="1400"/>
              <a:buChar char="●"/>
              <a:defRPr sz="1600">
                <a:solidFill>
                  <a:schemeClr val="accent1"/>
                </a:solidFill>
              </a:defRPr>
            </a:lvl1pPr>
            <a:lvl2pPr marL="914400" lvl="1" indent="-317500" rtl="0">
              <a:spcBef>
                <a:spcPts val="1600"/>
              </a:spcBef>
              <a:spcAft>
                <a:spcPts val="0"/>
              </a:spcAft>
              <a:buSzPts val="1400"/>
              <a:buChar char="○"/>
              <a:defRPr/>
            </a:lvl2pPr>
            <a:lvl3pPr marL="1371600" lvl="2" indent="-317500" rtl="0">
              <a:spcBef>
                <a:spcPts val="1600"/>
              </a:spcBef>
              <a:spcAft>
                <a:spcPts val="0"/>
              </a:spcAft>
              <a:buSzPts val="1400"/>
              <a:buChar char="■"/>
              <a:defRPr/>
            </a:lvl3pPr>
            <a:lvl4pPr marL="1828800" lvl="3" indent="-317500" rtl="0">
              <a:spcBef>
                <a:spcPts val="1600"/>
              </a:spcBef>
              <a:spcAft>
                <a:spcPts val="0"/>
              </a:spcAft>
              <a:buSzPts val="1400"/>
              <a:buChar char="●"/>
              <a:defRPr/>
            </a:lvl4pPr>
            <a:lvl5pPr marL="2286000" lvl="4" indent="-317500" rtl="0">
              <a:spcBef>
                <a:spcPts val="1600"/>
              </a:spcBef>
              <a:spcAft>
                <a:spcPts val="0"/>
              </a:spcAft>
              <a:buSzPts val="1400"/>
              <a:buChar char="○"/>
              <a:defRPr/>
            </a:lvl5pPr>
            <a:lvl6pPr marL="2743200" lvl="5" indent="-317500" rtl="0">
              <a:spcBef>
                <a:spcPts val="1600"/>
              </a:spcBef>
              <a:spcAft>
                <a:spcPts val="0"/>
              </a:spcAft>
              <a:buSzPts val="1400"/>
              <a:buChar char="■"/>
              <a:defRPr/>
            </a:lvl6pPr>
            <a:lvl7pPr marL="3200400" lvl="6" indent="-317500" rtl="0">
              <a:spcBef>
                <a:spcPts val="1600"/>
              </a:spcBef>
              <a:spcAft>
                <a:spcPts val="0"/>
              </a:spcAft>
              <a:buSzPts val="1400"/>
              <a:buChar char="●"/>
              <a:defRPr/>
            </a:lvl7pPr>
            <a:lvl8pPr marL="3657600" lvl="7" indent="-317500" rtl="0">
              <a:spcBef>
                <a:spcPts val="1600"/>
              </a:spcBef>
              <a:spcAft>
                <a:spcPts val="0"/>
              </a:spcAft>
              <a:buSzPts val="1400"/>
              <a:buChar char="○"/>
              <a:defRPr/>
            </a:lvl8pPr>
            <a:lvl9pPr marL="4114800" lvl="8" indent="-317500" rtl="0">
              <a:spcBef>
                <a:spcPts val="1600"/>
              </a:spcBef>
              <a:spcAft>
                <a:spcPts val="1600"/>
              </a:spcAft>
              <a:buSzPts val="1400"/>
              <a:buChar char="■"/>
              <a:defRPr/>
            </a:lvl9pPr>
          </a:lstStyle>
          <a:p>
            <a:endParaRPr/>
          </a:p>
        </p:txBody>
      </p:sp>
    </p:spTree>
    <p:extLst>
      <p:ext uri="{BB962C8B-B14F-4D97-AF65-F5344CB8AC3E}">
        <p14:creationId xmlns:p14="http://schemas.microsoft.com/office/powerpoint/2010/main" val="42753871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bwMode="gray">
          <a:xfrm>
            <a:off x="324000" y="324000"/>
            <a:ext cx="8496000" cy="756000"/>
          </a:xfrm>
          <a:prstGeom prst="rect">
            <a:avLst/>
          </a:prstGeom>
        </p:spPr>
        <p:txBody>
          <a:bodyPr vert="horz" lIns="0" tIns="0" rIns="0" bIns="0" rtlCol="0" anchor="ctr" anchorCtr="0">
            <a:noAutofit/>
          </a:bodyPr>
          <a:lstStyle/>
          <a:p>
            <a:r>
              <a:rPr lang="en-US" noProof="0" dirty="0"/>
              <a:t>Insert page title</a:t>
            </a:r>
          </a:p>
        </p:txBody>
      </p:sp>
      <p:sp>
        <p:nvSpPr>
          <p:cNvPr id="3" name="Text Placeholder 2"/>
          <p:cNvSpPr>
            <a:spLocks noGrp="1"/>
          </p:cNvSpPr>
          <p:nvPr>
            <p:ph type="body" idx="1"/>
          </p:nvPr>
        </p:nvSpPr>
        <p:spPr bwMode="gray">
          <a:xfrm>
            <a:off x="324000" y="1690687"/>
            <a:ext cx="8496000" cy="4391025"/>
          </a:xfrm>
          <a:prstGeom prst="rect">
            <a:avLst/>
          </a:prstGeom>
        </p:spPr>
        <p:txBody>
          <a:bodyPr vert="horz" lIns="0" tIns="0" rIns="0" bIns="0" rtlCol="0">
            <a:noAutofit/>
          </a:bodyPr>
          <a:lstStyle/>
          <a:p>
            <a:pPr lvl="0"/>
            <a:r>
              <a:rPr lang="en-US" noProof="0" dirty="0"/>
              <a:t>First level</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33" name="Rectangle 32"/>
          <p:cNvSpPr/>
          <p:nvPr/>
        </p:nvSpPr>
        <p:spPr bwMode="gray">
          <a:xfrm>
            <a:off x="324000" y="0"/>
            <a:ext cx="8496000" cy="162000"/>
          </a:xfrm>
          <a:prstGeom prst="rect">
            <a:avLst/>
          </a:prstGeom>
          <a:solidFill>
            <a:schemeClr val="accent1"/>
          </a:solidFill>
          <a:ln w="9525"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600" b="0" i="0" u="none" strike="noStrike" kern="0" cap="none" spc="0" normalizeH="0" baseline="0" noProof="0" dirty="0" err="1">
              <a:ln>
                <a:noFill/>
              </a:ln>
              <a:effectLst/>
              <a:uLnTx/>
              <a:uFillTx/>
              <a:ea typeface="Arial Unicode MS" pitchFamily="34" charset="-128"/>
              <a:cs typeface="Arial Unicode MS" pitchFamily="34" charset="-128"/>
            </a:endParaRPr>
          </a:p>
        </p:txBody>
      </p:sp>
      <p:cxnSp>
        <p:nvCxnSpPr>
          <p:cNvPr id="8" name="Straight Connector 7"/>
          <p:cNvCxnSpPr/>
          <p:nvPr/>
        </p:nvCxnSpPr>
        <p:spPr>
          <a:xfrm>
            <a:off x="324000" y="1231200"/>
            <a:ext cx="8496300" cy="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sp>
        <p:nvSpPr>
          <p:cNvPr id="95" name="Rectangle 94"/>
          <p:cNvSpPr/>
          <p:nvPr/>
        </p:nvSpPr>
        <p:spPr bwMode="white">
          <a:xfrm>
            <a:off x="324000" y="6535738"/>
            <a:ext cx="8496000" cy="324000"/>
          </a:xfrm>
          <a:prstGeom prst="rect">
            <a:avLst/>
          </a:prstGeom>
          <a:solidFill>
            <a:schemeClr val="tx1"/>
          </a:solidFill>
          <a:ln w="9525"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6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34" name="TextBox 33"/>
          <p:cNvSpPr txBox="1"/>
          <p:nvPr/>
        </p:nvSpPr>
        <p:spPr bwMode="black">
          <a:xfrm>
            <a:off x="8625588" y="6636183"/>
            <a:ext cx="197737" cy="123111"/>
          </a:xfrm>
          <a:prstGeom prst="rect">
            <a:avLst/>
          </a:prstGeom>
          <a:noFill/>
        </p:spPr>
        <p:txBody>
          <a:bodyPr wrap="none" lIns="0" tIns="0" rIns="72000" bIns="0" rtlCol="0">
            <a:spAutoFit/>
          </a:bodyPr>
          <a:lstStyle/>
          <a:p>
            <a:pPr marL="93663" indent="-93663" algn="r">
              <a:buClr>
                <a:schemeClr val="accent2"/>
              </a:buClr>
              <a:buFont typeface="Arial" pitchFamily="34" charset="0"/>
              <a:buNone/>
            </a:pPr>
            <a:fld id="{0BDC132A-5C91-4078-9777-31DA19A62E0A}" type="slidenum">
              <a:rPr lang="en-US" sz="800" baseline="0" noProof="0" smtClean="0">
                <a:solidFill>
                  <a:schemeClr val="bg1"/>
                </a:solidFill>
              </a:rPr>
              <a:pPr marL="93663" indent="-93663" algn="r">
                <a:buClr>
                  <a:schemeClr val="accent2"/>
                </a:buClr>
                <a:buFont typeface="Arial" pitchFamily="34" charset="0"/>
                <a:buNone/>
              </a:pPr>
              <a:t>‹Nr.›</a:t>
            </a:fld>
            <a:endParaRPr lang="en-US" sz="800" noProof="0" dirty="0">
              <a:solidFill>
                <a:schemeClr val="bg1"/>
              </a:solidFill>
            </a:endParaRPr>
          </a:p>
        </p:txBody>
      </p:sp>
    </p:spTree>
  </p:cSld>
  <p:clrMap bg1="lt1" tx1="dk1" bg2="lt2" tx2="dk2" accent1="accent1" accent2="accent2" accent3="accent3" accent4="accent4" accent5="accent5" accent6="accent6" hlink="hlink" folHlink="folHlink"/>
  <p:sldLayoutIdLst>
    <p:sldLayoutId id="2147483706" r:id="rId1"/>
    <p:sldLayoutId id="2147483707" r:id="rId2"/>
    <p:sldLayoutId id="2147483709" r:id="rId3"/>
    <p:sldLayoutId id="2147483708" r:id="rId4"/>
    <p:sldLayoutId id="2147483704" r:id="rId5"/>
    <p:sldLayoutId id="2147483689" r:id="rId6"/>
    <p:sldLayoutId id="2147483702" r:id="rId7"/>
    <p:sldLayoutId id="2147483684" r:id="rId8"/>
    <p:sldLayoutId id="2147483665" r:id="rId9"/>
    <p:sldLayoutId id="2147483683" r:id="rId10"/>
    <p:sldLayoutId id="2147483687" r:id="rId11"/>
    <p:sldLayoutId id="2147483710" r:id="rId12"/>
    <p:sldLayoutId id="2147483686" r:id="rId13"/>
    <p:sldLayoutId id="2147483669" r:id="rId14"/>
    <p:sldLayoutId id="2147483691" r:id="rId15"/>
    <p:sldLayoutId id="2147483688" r:id="rId16"/>
    <p:sldLayoutId id="2147483703" r:id="rId17"/>
    <p:sldLayoutId id="2147483685" r:id="rId18"/>
    <p:sldLayoutId id="2147483692" r:id="rId19"/>
    <p:sldLayoutId id="2147483674" r:id="rId20"/>
    <p:sldLayoutId id="2147483705" r:id="rId21"/>
    <p:sldLayoutId id="2147483712" r:id="rId22"/>
  </p:sldLayoutIdLst>
  <p:hf hdr="0" ftr="0" dt="0"/>
  <p:txStyles>
    <p:titleStyle>
      <a:lvl1pPr algn="l" defTabSz="914400" rtl="0" eaLnBrk="1" latinLnBrk="0" hangingPunct="1">
        <a:spcBef>
          <a:spcPct val="0"/>
        </a:spcBef>
        <a:buNone/>
        <a:defRPr sz="2400" b="1" kern="1200">
          <a:solidFill>
            <a:schemeClr val="accent2"/>
          </a:solidFill>
          <a:latin typeface="+mj-lt"/>
          <a:ea typeface="+mj-ea"/>
          <a:cs typeface="+mj-cs"/>
        </a:defRPr>
      </a:lvl1pPr>
    </p:titleStyle>
    <p:bodyStyle>
      <a:lvl1pPr marL="0" indent="0" algn="l" defTabSz="914400" rtl="0" eaLnBrk="1" latinLnBrk="0" hangingPunct="1">
        <a:spcBef>
          <a:spcPts val="1620"/>
        </a:spcBef>
        <a:buClr>
          <a:schemeClr val="accent1"/>
        </a:buClr>
        <a:buSzPct val="80000"/>
        <a:buFontTx/>
        <a:buNone/>
        <a:defRPr sz="1800" b="1" kern="1200">
          <a:solidFill>
            <a:schemeClr val="tx1"/>
          </a:solidFill>
          <a:latin typeface="+mn-lt"/>
          <a:ea typeface="+mn-ea"/>
          <a:cs typeface="+mn-cs"/>
        </a:defRPr>
      </a:lvl1pPr>
      <a:lvl2pPr marL="0" indent="0" algn="l" defTabSz="914400" rtl="0" eaLnBrk="1" latinLnBrk="0" hangingPunct="1">
        <a:spcBef>
          <a:spcPts val="600"/>
        </a:spcBef>
        <a:buClr>
          <a:schemeClr val="accent1"/>
        </a:buClr>
        <a:buSzPct val="80000"/>
        <a:buFont typeface="Wingdings" pitchFamily="2" charset="2"/>
        <a:buNone/>
        <a:defRPr sz="1800" kern="1200">
          <a:solidFill>
            <a:schemeClr val="tx1"/>
          </a:solidFill>
          <a:latin typeface="+mn-lt"/>
          <a:ea typeface="+mn-ea"/>
          <a:cs typeface="+mn-cs"/>
        </a:defRPr>
      </a:lvl2pPr>
      <a:lvl3pPr marL="180000" indent="-180000" algn="l" defTabSz="914400" rtl="0" eaLnBrk="1" latinLnBrk="0" hangingPunct="1">
        <a:spcBef>
          <a:spcPts val="400"/>
        </a:spcBef>
        <a:buClr>
          <a:schemeClr val="accent1"/>
        </a:buClr>
        <a:buSzPct val="100000"/>
        <a:buFont typeface="Wingdings" pitchFamily="2" charset="2"/>
        <a:buChar char=""/>
        <a:defRPr sz="1600" kern="1200">
          <a:solidFill>
            <a:schemeClr val="tx1"/>
          </a:solidFill>
          <a:latin typeface="+mn-lt"/>
          <a:ea typeface="+mn-ea"/>
          <a:cs typeface="+mn-cs"/>
        </a:defRPr>
      </a:lvl3pPr>
      <a:lvl4pPr marL="360000" indent="-180000" algn="l" defTabSz="914400" rtl="0" eaLnBrk="1" latinLnBrk="0" hangingPunct="1">
        <a:spcBef>
          <a:spcPts val="400"/>
        </a:spcBef>
        <a:buClr>
          <a:schemeClr val="accent2"/>
        </a:buClr>
        <a:buSzPct val="100000"/>
        <a:buFont typeface="Arial" pitchFamily="34" charset="0"/>
        <a:buChar char="–"/>
        <a:defRPr sz="1400" kern="1200">
          <a:solidFill>
            <a:schemeClr val="tx1"/>
          </a:solidFill>
          <a:latin typeface="+mn-lt"/>
          <a:ea typeface="+mn-ea"/>
          <a:cs typeface="+mn-cs"/>
        </a:defRPr>
      </a:lvl4pPr>
      <a:lvl5pPr marL="541338" indent="-180000" algn="l" defTabSz="914400" rtl="0" eaLnBrk="1" latinLnBrk="0" hangingPunct="1">
        <a:spcBef>
          <a:spcPts val="250"/>
        </a:spcBef>
        <a:buClr>
          <a:schemeClr val="accent2"/>
        </a:buClr>
        <a:buSzPct val="100000"/>
        <a:buFont typeface="Courier New" pitchFamily="49" charset="0"/>
        <a:buChar char="o"/>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6.jpe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8.xml"/><Relationship Id="rId5" Type="http://schemas.openxmlformats.org/officeDocument/2006/relationships/image" Target="../media/image7.jpeg"/><Relationship Id="rId4" Type="http://schemas.openxmlformats.org/officeDocument/2006/relationships/image" Target="../media/image6.jpe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5.xml"/><Relationship Id="rId1" Type="http://schemas.openxmlformats.org/officeDocument/2006/relationships/slideLayout" Target="../slideLayouts/slideLayout22.xml"/></Relationships>
</file>

<file path=ppt/slides/_rels/slide19.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6.xml"/><Relationship Id="rId1" Type="http://schemas.openxmlformats.org/officeDocument/2006/relationships/slideLayout" Target="../slideLayouts/slideLayout22.xml"/><Relationship Id="rId4" Type="http://schemas.openxmlformats.org/officeDocument/2006/relationships/image" Target="../media/image14.jpeg"/></Relationships>
</file>

<file path=ppt/slides/_rels/slide20.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7.xml"/><Relationship Id="rId1" Type="http://schemas.openxmlformats.org/officeDocument/2006/relationships/slideLayout" Target="../slideLayouts/slideLayout22.xml"/></Relationships>
</file>

<file path=ppt/slides/_rels/slide21.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8.xml"/><Relationship Id="rId1" Type="http://schemas.openxmlformats.org/officeDocument/2006/relationships/slideLayout" Target="../slideLayouts/slideLayout22.xml"/></Relationships>
</file>

<file path=ppt/slides/_rels/slide22.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9.xml"/><Relationship Id="rId1" Type="http://schemas.openxmlformats.org/officeDocument/2006/relationships/slideLayout" Target="../slideLayouts/slideLayout22.xml"/></Relationships>
</file>

<file path=ppt/slides/_rels/slide23.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20.xml"/><Relationship Id="rId1" Type="http://schemas.openxmlformats.org/officeDocument/2006/relationships/slideLayout" Target="../slideLayouts/slideLayout22.xml"/><Relationship Id="rId4" Type="http://schemas.openxmlformats.org/officeDocument/2006/relationships/image" Target="../media/image16.jpeg"/></Relationships>
</file>

<file path=ppt/slides/_rels/slide24.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21.xml"/><Relationship Id="rId1" Type="http://schemas.openxmlformats.org/officeDocument/2006/relationships/slideLayout" Target="../slideLayouts/slideLayout22.xml"/></Relationships>
</file>

<file path=ppt/slides/_rels/slide25.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22.xml"/><Relationship Id="rId1" Type="http://schemas.openxmlformats.org/officeDocument/2006/relationships/slideLayout" Target="../slideLayouts/slideLayout22.xml"/><Relationship Id="rId5" Type="http://schemas.openxmlformats.org/officeDocument/2006/relationships/image" Target="../media/image19.jpeg"/><Relationship Id="rId4" Type="http://schemas.openxmlformats.org/officeDocument/2006/relationships/image" Target="../media/image18.jpeg"/></Relationships>
</file>

<file path=ppt/slides/_rels/slide2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0.jpeg"/><Relationship Id="rId1" Type="http://schemas.openxmlformats.org/officeDocument/2006/relationships/slideLayout" Target="../slideLayouts/slideLayout18.xml"/></Relationships>
</file>

<file path=ppt/slides/_rels/slide2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3.xml"/><Relationship Id="rId1" Type="http://schemas.openxmlformats.org/officeDocument/2006/relationships/slideLayout" Target="../slideLayouts/slideLayout22.xml"/></Relationships>
</file>

<file path=ppt/slides/_rels/slide2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4.xml"/><Relationship Id="rId1" Type="http://schemas.openxmlformats.org/officeDocument/2006/relationships/slideLayout" Target="../slideLayouts/slideLayout22.xml"/></Relationships>
</file>

<file path=ppt/slides/_rels/slide2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5.xml"/><Relationship Id="rId1" Type="http://schemas.openxmlformats.org/officeDocument/2006/relationships/slideLayout" Target="../slideLayouts/slideLayout22.xml"/></Relationships>
</file>

<file path=ppt/slides/_rels/slide3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6.xml"/><Relationship Id="rId1" Type="http://schemas.openxmlformats.org/officeDocument/2006/relationships/slideLayout" Target="../slideLayouts/slideLayout22.xml"/></Relationships>
</file>

<file path=ppt/slides/_rels/slide3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7.xml"/><Relationship Id="rId1" Type="http://schemas.openxmlformats.org/officeDocument/2006/relationships/slideLayout" Target="../slideLayouts/slideLayout22.xml"/></Relationships>
</file>

<file path=ppt/slides/_rels/slide32.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11.jpeg"/><Relationship Id="rId1" Type="http://schemas.openxmlformats.org/officeDocument/2006/relationships/slideLayout" Target="../slideLayouts/slideLayout18.xml"/><Relationship Id="rId5" Type="http://schemas.openxmlformats.org/officeDocument/2006/relationships/image" Target="../media/image24.jpeg"/><Relationship Id="rId4" Type="http://schemas.openxmlformats.org/officeDocument/2006/relationships/image" Target="../media/image23.jpeg"/></Relationships>
</file>

<file path=ppt/slides/_rels/slide33.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11.jpeg"/><Relationship Id="rId1" Type="http://schemas.openxmlformats.org/officeDocument/2006/relationships/slideLayout" Target="../slideLayouts/slideLayout18.xml"/><Relationship Id="rId5" Type="http://schemas.openxmlformats.org/officeDocument/2006/relationships/image" Target="../media/image24.jpeg"/><Relationship Id="rId4" Type="http://schemas.openxmlformats.org/officeDocument/2006/relationships/image" Target="../media/image23.jpe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9.xml"/><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3" Type="http://schemas.openxmlformats.org/officeDocument/2006/relationships/image" Target="../media/image26.jpeg"/><Relationship Id="rId7" Type="http://schemas.openxmlformats.org/officeDocument/2006/relationships/image" Target="../media/image30.jpeg"/><Relationship Id="rId2" Type="http://schemas.openxmlformats.org/officeDocument/2006/relationships/notesSlide" Target="../notesSlides/notesSlide31.xml"/><Relationship Id="rId1" Type="http://schemas.openxmlformats.org/officeDocument/2006/relationships/slideLayout" Target="../slideLayouts/slideLayout8.xml"/><Relationship Id="rId6" Type="http://schemas.openxmlformats.org/officeDocument/2006/relationships/image" Target="../media/image29.jpeg"/><Relationship Id="rId5" Type="http://schemas.openxmlformats.org/officeDocument/2006/relationships/image" Target="../media/image28.png"/><Relationship Id="rId4" Type="http://schemas.openxmlformats.org/officeDocument/2006/relationships/image" Target="../media/image27.jpeg"/></Relationships>
</file>

<file path=ppt/slides/_rels/slide38.xml.rels><?xml version="1.0" encoding="UTF-8" standalone="yes"?>
<Relationships xmlns="http://schemas.openxmlformats.org/package/2006/relationships"><Relationship Id="rId3" Type="http://schemas.openxmlformats.org/officeDocument/2006/relationships/image" Target="../media/image26.jpeg"/><Relationship Id="rId7" Type="http://schemas.openxmlformats.org/officeDocument/2006/relationships/image" Target="../media/image30.jpeg"/><Relationship Id="rId2" Type="http://schemas.openxmlformats.org/officeDocument/2006/relationships/notesSlide" Target="../notesSlides/notesSlide32.xml"/><Relationship Id="rId1" Type="http://schemas.openxmlformats.org/officeDocument/2006/relationships/slideLayout" Target="../slideLayouts/slideLayout8.xml"/><Relationship Id="rId6" Type="http://schemas.openxmlformats.org/officeDocument/2006/relationships/image" Target="../media/image29.jpeg"/><Relationship Id="rId5" Type="http://schemas.openxmlformats.org/officeDocument/2006/relationships/image" Target="../media/image28.png"/><Relationship Id="rId4" Type="http://schemas.openxmlformats.org/officeDocument/2006/relationships/image" Target="../media/image27.jpeg"/></Relationships>
</file>

<file path=ppt/slides/_rels/slide39.xml.rels><?xml version="1.0" encoding="UTF-8" standalone="yes"?>
<Relationships xmlns="http://schemas.openxmlformats.org/package/2006/relationships"><Relationship Id="rId3" Type="http://schemas.openxmlformats.org/officeDocument/2006/relationships/hyperlink" Target="https://www.viima.com/blog/innovation-management" TargetMode="External"/><Relationship Id="rId2" Type="http://schemas.openxmlformats.org/officeDocument/2006/relationships/notesSlide" Target="../notesSlides/notesSlide33.xml"/><Relationship Id="rId1" Type="http://schemas.openxmlformats.org/officeDocument/2006/relationships/slideLayout" Target="../slideLayouts/slideLayout8.xml"/><Relationship Id="rId4" Type="http://schemas.openxmlformats.org/officeDocument/2006/relationships/hyperlink" Target="http://www.gv.com/sprint" TargetMode="External"/></Relationships>
</file>

<file path=ppt/slides/_rels/slide40.xml.rels><?xml version="1.0" encoding="UTF-8" standalone="yes"?>
<Relationships xmlns="http://schemas.openxmlformats.org/package/2006/relationships"><Relationship Id="rId3" Type="http://schemas.openxmlformats.org/officeDocument/2006/relationships/hyperlink" Target="https://www.viima.com/blog/innovation-management" TargetMode="External"/><Relationship Id="rId2" Type="http://schemas.openxmlformats.org/officeDocument/2006/relationships/notesSlide" Target="../notesSlides/notesSlide34.xml"/><Relationship Id="rId1" Type="http://schemas.openxmlformats.org/officeDocument/2006/relationships/slideLayout" Target="../slideLayouts/slideLayout8.xml"/><Relationship Id="rId4" Type="http://schemas.openxmlformats.org/officeDocument/2006/relationships/hyperlink" Target="http://www.gv.com/sprint" TargetMode="Externa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8.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8.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8.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BE0A0FDD-E41A-4023-AD40-176B9B56B7C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000" y="34614"/>
            <a:ext cx="9162000" cy="6878681"/>
          </a:xfrm>
          <a:prstGeom prst="rect">
            <a:avLst/>
          </a:prstGeom>
        </p:spPr>
      </p:pic>
      <p:sp>
        <p:nvSpPr>
          <p:cNvPr id="5" name="Rectangle 4"/>
          <p:cNvSpPr/>
          <p:nvPr/>
        </p:nvSpPr>
        <p:spPr bwMode="gray">
          <a:xfrm>
            <a:off x="324000" y="-1"/>
            <a:ext cx="8496000" cy="2143126"/>
          </a:xfrm>
          <a:prstGeom prst="rect">
            <a:avLst/>
          </a:prstGeom>
          <a:solidFill>
            <a:schemeClr val="bg1">
              <a:alpha val="75000"/>
            </a:schemeClr>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de-DE"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7" name="Rectangle 6"/>
          <p:cNvSpPr/>
          <p:nvPr/>
        </p:nvSpPr>
        <p:spPr bwMode="gray">
          <a:xfrm>
            <a:off x="324000" y="0"/>
            <a:ext cx="8496000" cy="162000"/>
          </a:xfrm>
          <a:prstGeom prst="rect">
            <a:avLst/>
          </a:prstGeom>
          <a:solidFill>
            <a:schemeClr val="accent1"/>
          </a:solidFill>
          <a:ln w="9525"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de-DE" sz="16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2" name="Title 1"/>
          <p:cNvSpPr>
            <a:spLocks noGrp="1"/>
          </p:cNvSpPr>
          <p:nvPr>
            <p:ph type="title"/>
          </p:nvPr>
        </p:nvSpPr>
        <p:spPr/>
        <p:txBody>
          <a:bodyPr anchor="ctr"/>
          <a:lstStyle/>
          <a:p>
            <a:r>
              <a:rPr lang="de-DE" sz="3200" dirty="0"/>
              <a:t>SQ II: Digital Thinking &amp; </a:t>
            </a:r>
            <a:r>
              <a:rPr lang="de-DE" sz="3200" dirty="0">
                <a:highlight>
                  <a:srgbClr val="FFFF00"/>
                </a:highlight>
              </a:rPr>
              <a:t>Management</a:t>
            </a:r>
            <a:br>
              <a:rPr lang="de-DE" sz="3200" dirty="0"/>
            </a:br>
            <a:r>
              <a:rPr lang="de-DE" sz="3200" dirty="0"/>
              <a:t>MA-WWI24SEA</a:t>
            </a:r>
          </a:p>
        </p:txBody>
      </p:sp>
      <p:sp>
        <p:nvSpPr>
          <p:cNvPr id="3" name="Subtitle 2"/>
          <p:cNvSpPr>
            <a:spLocks noGrp="1"/>
          </p:cNvSpPr>
          <p:nvPr>
            <p:ph type="subTitle" idx="1"/>
          </p:nvPr>
        </p:nvSpPr>
        <p:spPr>
          <a:xfrm>
            <a:off x="414000" y="1499870"/>
            <a:ext cx="6840000" cy="492443"/>
          </a:xfrm>
        </p:spPr>
        <p:txBody>
          <a:bodyPr/>
          <a:lstStyle/>
          <a:p>
            <a:r>
              <a:rPr lang="de-DE" dirty="0"/>
              <a:t>Dr. Heinz Häfner</a:t>
            </a:r>
          </a:p>
          <a:p>
            <a:r>
              <a:rPr lang="de-DE" dirty="0"/>
              <a:t>17.02.2026</a:t>
            </a:r>
          </a:p>
        </p:txBody>
      </p:sp>
      <p:sp>
        <p:nvSpPr>
          <p:cNvPr id="8" name="ConfidentialFlag"/>
          <p:cNvSpPr txBox="1"/>
          <p:nvPr/>
        </p:nvSpPr>
        <p:spPr>
          <a:xfrm>
            <a:off x="6875890" y="1776751"/>
            <a:ext cx="1799971" cy="246221"/>
          </a:xfrm>
          <a:prstGeom prst="rect">
            <a:avLst/>
          </a:prstGeom>
          <a:noFill/>
        </p:spPr>
        <p:txBody>
          <a:bodyPr vert="horz" wrap="square" lIns="0" tIns="0" rIns="0" bIns="0" rtlCol="0" anchor="b">
            <a:spAutoFit/>
          </a:bodyPr>
          <a:lstStyle/>
          <a:p>
            <a:pPr algn="r" fontAlgn="base">
              <a:spcBef>
                <a:spcPts val="600"/>
              </a:spcBef>
              <a:spcAft>
                <a:spcPct val="0"/>
              </a:spcAft>
              <a:buClr>
                <a:srgbClr val="F0AB00"/>
              </a:buClr>
              <a:buSzPct val="80000"/>
            </a:pPr>
            <a:r>
              <a:rPr lang="de-DE" sz="1600" kern="0" dirty="0">
                <a:solidFill>
                  <a:srgbClr val="000000"/>
                </a:solidFill>
                <a:ea typeface="Arial Unicode MS" pitchFamily="34" charset="-128"/>
                <a:cs typeface="Arial Unicode MS" pitchFamily="34" charset="-128"/>
              </a:rPr>
              <a:t>DHBW Mannheim</a:t>
            </a:r>
          </a:p>
        </p:txBody>
      </p:sp>
    </p:spTree>
    <p:extLst>
      <p:ext uri="{BB962C8B-B14F-4D97-AF65-F5344CB8AC3E}">
        <p14:creationId xmlns:p14="http://schemas.microsoft.com/office/powerpoint/2010/main" val="21136600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de-DE" dirty="0"/>
              <a:t>SQ II: Digital </a:t>
            </a:r>
            <a:r>
              <a:rPr lang="de-DE" dirty="0" err="1"/>
              <a:t>Thinking</a:t>
            </a:r>
            <a:r>
              <a:rPr lang="de-DE" dirty="0"/>
              <a:t> &amp; Management</a:t>
            </a:r>
          </a:p>
        </p:txBody>
      </p:sp>
      <p:sp>
        <p:nvSpPr>
          <p:cNvPr id="5" name="TextBox 4"/>
          <p:cNvSpPr txBox="1"/>
          <p:nvPr/>
        </p:nvSpPr>
        <p:spPr>
          <a:xfrm>
            <a:off x="1077921" y="2596882"/>
            <a:ext cx="3628833" cy="1615827"/>
          </a:xfrm>
          <a:prstGeom prst="rect">
            <a:avLst/>
          </a:prstGeom>
          <a:noFill/>
        </p:spPr>
        <p:txBody>
          <a:bodyPr wrap="square" lIns="0" tIns="0" rIns="0" bIns="0" rtlCol="0">
            <a:spAutoFit/>
          </a:bodyPr>
          <a:lstStyle/>
          <a:p>
            <a:pPr fontAlgn="base">
              <a:spcBef>
                <a:spcPts val="600"/>
              </a:spcBef>
              <a:spcAft>
                <a:spcPct val="0"/>
              </a:spcAft>
              <a:buClr>
                <a:srgbClr val="F0AB00"/>
              </a:buClr>
              <a:buSzPct val="80000"/>
            </a:pPr>
            <a:r>
              <a:rPr lang="de-DE" sz="2400" b="1" kern="0" dirty="0">
                <a:ea typeface="Arial Unicode MS" pitchFamily="34" charset="-128"/>
                <a:cs typeface="Arial Unicode MS" pitchFamily="34" charset="-128"/>
              </a:rPr>
              <a:t>Kurssprecher: </a:t>
            </a:r>
            <a:endParaRPr lang="de-DE" kern="0" dirty="0">
              <a:ea typeface="Arial Unicode MS" pitchFamily="34" charset="-128"/>
              <a:cs typeface="Arial Unicode MS" pitchFamily="34" charset="-128"/>
            </a:endParaRPr>
          </a:p>
          <a:p>
            <a:pPr marL="742950" lvl="1" indent="-285750" fontAlgn="base">
              <a:spcBef>
                <a:spcPts val="600"/>
              </a:spcBef>
              <a:spcAft>
                <a:spcPct val="0"/>
              </a:spcAft>
              <a:buClr>
                <a:srgbClr val="F0AB00"/>
              </a:buClr>
              <a:buSzPct val="80000"/>
              <a:buFont typeface="Arial" panose="020B0604020202020204" pitchFamily="34" charset="0"/>
              <a:buChar char="•"/>
            </a:pPr>
            <a:r>
              <a:rPr lang="de-DE" sz="2400" b="1" kern="0" dirty="0">
                <a:ea typeface="Arial Unicode MS" pitchFamily="34" charset="-128"/>
              </a:rPr>
              <a:t>Katrin Seeberg</a:t>
            </a:r>
          </a:p>
          <a:p>
            <a:pPr marL="742950" lvl="1" indent="-285750" fontAlgn="base">
              <a:spcBef>
                <a:spcPts val="600"/>
              </a:spcBef>
              <a:spcAft>
                <a:spcPct val="0"/>
              </a:spcAft>
              <a:buClr>
                <a:srgbClr val="F0AB00"/>
              </a:buClr>
              <a:buSzPct val="80000"/>
              <a:buFont typeface="Arial" panose="020B0604020202020204" pitchFamily="34" charset="0"/>
              <a:buChar char="•"/>
            </a:pPr>
            <a:r>
              <a:rPr lang="de-DE" sz="2400" b="1" kern="0" dirty="0" err="1">
                <a:ea typeface="Arial Unicode MS" pitchFamily="34" charset="-128"/>
              </a:rPr>
              <a:t>Erel</a:t>
            </a:r>
            <a:r>
              <a:rPr lang="de-DE" sz="2400" b="1" kern="0" dirty="0">
                <a:ea typeface="Arial Unicode MS" pitchFamily="34" charset="-128"/>
              </a:rPr>
              <a:t> </a:t>
            </a:r>
            <a:r>
              <a:rPr lang="de-DE" sz="2400" b="1" kern="0" dirty="0" err="1">
                <a:ea typeface="Arial Unicode MS" pitchFamily="34" charset="-128"/>
              </a:rPr>
              <a:t>Acmi</a:t>
            </a:r>
            <a:endParaRPr lang="de-DE" sz="2400" b="1" kern="0" dirty="0">
              <a:ea typeface="Arial Unicode MS" pitchFamily="34" charset="-128"/>
            </a:endParaRPr>
          </a:p>
          <a:p>
            <a:pPr fontAlgn="base">
              <a:spcBef>
                <a:spcPts val="600"/>
              </a:spcBef>
              <a:spcAft>
                <a:spcPct val="0"/>
              </a:spcAft>
              <a:buClr>
                <a:srgbClr val="F0AB00"/>
              </a:buClr>
              <a:buSzPct val="80000"/>
            </a:pPr>
            <a:endParaRPr lang="de-DE" kern="0" dirty="0">
              <a:ea typeface="Arial Unicode MS" pitchFamily="34" charset="-128"/>
              <a:cs typeface="Arial Unicode MS" pitchFamily="34" charset="-128"/>
            </a:endParaRPr>
          </a:p>
        </p:txBody>
      </p:sp>
      <p:sp>
        <p:nvSpPr>
          <p:cNvPr id="2" name="Textfeld 1">
            <a:extLst>
              <a:ext uri="{FF2B5EF4-FFF2-40B4-BE49-F238E27FC236}">
                <a16:creationId xmlns:a16="http://schemas.microsoft.com/office/drawing/2014/main" id="{E7782448-FC92-4308-B330-3B33C5025426}"/>
              </a:ext>
            </a:extLst>
          </p:cNvPr>
          <p:cNvSpPr txBox="1"/>
          <p:nvPr/>
        </p:nvSpPr>
        <p:spPr>
          <a:xfrm>
            <a:off x="3546543" y="1431610"/>
            <a:ext cx="5273457" cy="576293"/>
          </a:xfrm>
          <a:prstGeom prst="rect">
            <a:avLst/>
          </a:prstGeom>
          <a:solidFill>
            <a:srgbClr val="FFFF00"/>
          </a:solidFill>
        </p:spPr>
        <p:txBody>
          <a:bodyPr wrap="square" lIns="72000" tIns="72000" rIns="72000" bIns="72000" rtlCol="0">
            <a:spAutoFit/>
          </a:bodyPr>
          <a:lstStyle/>
          <a:p>
            <a:pPr algn="ctr" fontAlgn="base">
              <a:spcBef>
                <a:spcPts val="600"/>
              </a:spcBef>
              <a:spcAft>
                <a:spcPct val="0"/>
              </a:spcAft>
              <a:buClr>
                <a:srgbClr val="F0AB00"/>
              </a:buClr>
              <a:buSzPct val="80000"/>
            </a:pPr>
            <a:r>
              <a:rPr lang="de-DE" sz="2800" b="1" kern="0" dirty="0">
                <a:ea typeface="Arial Unicode MS" pitchFamily="34" charset="-128"/>
                <a:cs typeface="Arial Unicode MS" pitchFamily="34" charset="-128"/>
              </a:rPr>
              <a:t>Heinz.H.Haefner@t-online.de</a:t>
            </a:r>
          </a:p>
        </p:txBody>
      </p:sp>
    </p:spTree>
    <p:extLst>
      <p:ext uri="{BB962C8B-B14F-4D97-AF65-F5344CB8AC3E}">
        <p14:creationId xmlns:p14="http://schemas.microsoft.com/office/powerpoint/2010/main" val="29391688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de-DE" dirty="0"/>
              <a:t>SQ II: Digital </a:t>
            </a:r>
            <a:r>
              <a:rPr lang="de-DE" dirty="0" err="1"/>
              <a:t>Thinking</a:t>
            </a:r>
            <a:r>
              <a:rPr lang="de-DE" dirty="0"/>
              <a:t> &amp; Management</a:t>
            </a:r>
          </a:p>
        </p:txBody>
      </p:sp>
      <p:sp>
        <p:nvSpPr>
          <p:cNvPr id="5" name="TextBox 4"/>
          <p:cNvSpPr txBox="1"/>
          <p:nvPr/>
        </p:nvSpPr>
        <p:spPr>
          <a:xfrm>
            <a:off x="324000" y="1428452"/>
            <a:ext cx="8496000" cy="3816429"/>
          </a:xfrm>
          <a:prstGeom prst="rect">
            <a:avLst/>
          </a:prstGeom>
          <a:noFill/>
        </p:spPr>
        <p:txBody>
          <a:bodyPr wrap="square" lIns="0" tIns="0" rIns="0" bIns="0" rtlCol="0">
            <a:spAutoFit/>
          </a:bodyPr>
          <a:lstStyle/>
          <a:p>
            <a:pPr fontAlgn="base">
              <a:spcBef>
                <a:spcPts val="600"/>
              </a:spcBef>
              <a:spcAft>
                <a:spcPct val="0"/>
              </a:spcAft>
              <a:buClr>
                <a:srgbClr val="F0AB00"/>
              </a:buClr>
              <a:buSzPct val="80000"/>
            </a:pPr>
            <a:endParaRPr lang="de-DE" b="1" kern="0" dirty="0">
              <a:ea typeface="Arial Unicode MS" pitchFamily="34" charset="-128"/>
              <a:cs typeface="Arial Unicode MS" pitchFamily="34" charset="-128"/>
            </a:endParaRPr>
          </a:p>
          <a:p>
            <a:pPr fontAlgn="base">
              <a:spcBef>
                <a:spcPts val="600"/>
              </a:spcBef>
              <a:spcAft>
                <a:spcPct val="0"/>
              </a:spcAft>
              <a:buClr>
                <a:srgbClr val="F0AB00"/>
              </a:buClr>
              <a:buSzPct val="80000"/>
            </a:pPr>
            <a:r>
              <a:rPr lang="de-DE" b="1" kern="0" dirty="0">
                <a:ea typeface="Arial Unicode MS" pitchFamily="34" charset="-128"/>
                <a:cs typeface="Arial Unicode MS" pitchFamily="34" charset="-128"/>
              </a:rPr>
              <a:t>Heute: </a:t>
            </a:r>
          </a:p>
          <a:p>
            <a:pPr marL="285750" indent="-285750" fontAlgn="base">
              <a:spcBef>
                <a:spcPts val="600"/>
              </a:spcBef>
              <a:spcAft>
                <a:spcPct val="0"/>
              </a:spcAft>
              <a:buClr>
                <a:srgbClr val="F0AB00"/>
              </a:buClr>
              <a:buSzPct val="80000"/>
              <a:buFont typeface="Arial" panose="020B0604020202020204" pitchFamily="34" charset="0"/>
              <a:buChar char="•"/>
            </a:pPr>
            <a:r>
              <a:rPr lang="de-DE" kern="0" dirty="0" err="1">
                <a:ea typeface="Arial Unicode MS" pitchFamily="34" charset="-128"/>
                <a:cs typeface="Arial Unicode MS" pitchFamily="34" charset="-128"/>
              </a:rPr>
              <a:t>Introduction</a:t>
            </a:r>
            <a:r>
              <a:rPr lang="de-DE" kern="0" dirty="0">
                <a:ea typeface="Arial Unicode MS" pitchFamily="34" charset="-128"/>
                <a:cs typeface="Arial Unicode MS" pitchFamily="34" charset="-128"/>
              </a:rPr>
              <a:t> &amp; Test</a:t>
            </a:r>
          </a:p>
          <a:p>
            <a:pPr marL="285750" indent="-285750" fontAlgn="base">
              <a:spcBef>
                <a:spcPts val="600"/>
              </a:spcBef>
              <a:spcAft>
                <a:spcPct val="0"/>
              </a:spcAft>
              <a:buClr>
                <a:srgbClr val="F0AB00"/>
              </a:buClr>
              <a:buSzPct val="80000"/>
              <a:buFont typeface="Arial" panose="020B0604020202020204" pitchFamily="34" charset="0"/>
              <a:buChar char="•"/>
            </a:pPr>
            <a:r>
              <a:rPr lang="de-DE" kern="0" dirty="0">
                <a:ea typeface="Arial Unicode MS" pitchFamily="34" charset="-128"/>
                <a:cs typeface="Arial Unicode MS" pitchFamily="34" charset="-128"/>
              </a:rPr>
              <a:t>Mögliche Themen (Themenkatalog)</a:t>
            </a:r>
          </a:p>
          <a:p>
            <a:pPr marL="285750" indent="-285750" fontAlgn="base">
              <a:spcBef>
                <a:spcPts val="600"/>
              </a:spcBef>
              <a:spcAft>
                <a:spcPct val="0"/>
              </a:spcAft>
              <a:buClr>
                <a:srgbClr val="F0AB00"/>
              </a:buClr>
              <a:buSzPct val="80000"/>
              <a:buFont typeface="Arial" panose="020B0604020202020204" pitchFamily="34" charset="0"/>
              <a:buChar char="•"/>
            </a:pPr>
            <a:r>
              <a:rPr lang="de-DE" kern="0" dirty="0">
                <a:ea typeface="Arial Unicode MS" pitchFamily="34" charset="-128"/>
                <a:cs typeface="Arial Unicode MS" pitchFamily="34" charset="-128"/>
              </a:rPr>
              <a:t>Struktur Vorlesung und Leistungsnachweis</a:t>
            </a:r>
          </a:p>
          <a:p>
            <a:pPr marL="285750" indent="-285750" fontAlgn="base">
              <a:spcBef>
                <a:spcPts val="600"/>
              </a:spcBef>
              <a:spcAft>
                <a:spcPct val="0"/>
              </a:spcAft>
              <a:buClr>
                <a:srgbClr val="F0AB00"/>
              </a:buClr>
              <a:buSzPct val="80000"/>
              <a:buFont typeface="Arial" panose="020B0604020202020204" pitchFamily="34" charset="0"/>
              <a:buChar char="•"/>
            </a:pPr>
            <a:r>
              <a:rPr lang="de-DE" strike="sngStrike" kern="0" dirty="0">
                <a:ea typeface="Arial Unicode MS" pitchFamily="34" charset="-128"/>
                <a:cs typeface="Arial Unicode MS" pitchFamily="34" charset="-128"/>
              </a:rPr>
              <a:t>Gruppen</a:t>
            </a:r>
          </a:p>
          <a:p>
            <a:pPr fontAlgn="base">
              <a:spcBef>
                <a:spcPts val="600"/>
              </a:spcBef>
              <a:spcAft>
                <a:spcPct val="0"/>
              </a:spcAft>
              <a:buClr>
                <a:srgbClr val="F0AB00"/>
              </a:buClr>
              <a:buSzPct val="80000"/>
            </a:pPr>
            <a:endParaRPr lang="de-DE" b="1" kern="0" dirty="0">
              <a:ea typeface="Arial Unicode MS" pitchFamily="34" charset="-128"/>
              <a:cs typeface="Arial Unicode MS" pitchFamily="34" charset="-128"/>
            </a:endParaRPr>
          </a:p>
          <a:p>
            <a:pPr fontAlgn="base">
              <a:spcBef>
                <a:spcPts val="600"/>
              </a:spcBef>
              <a:spcAft>
                <a:spcPct val="0"/>
              </a:spcAft>
              <a:buClr>
                <a:srgbClr val="F0AB00"/>
              </a:buClr>
              <a:buSzPct val="80000"/>
            </a:pPr>
            <a:r>
              <a:rPr lang="de-DE" b="1" kern="0" dirty="0">
                <a:ea typeface="Arial Unicode MS" pitchFamily="34" charset="-128"/>
                <a:cs typeface="Arial Unicode MS" pitchFamily="34" charset="-128"/>
              </a:rPr>
              <a:t>Nächste Vorlesung:</a:t>
            </a:r>
          </a:p>
          <a:p>
            <a:pPr marL="285750" indent="-285750" fontAlgn="base">
              <a:spcBef>
                <a:spcPts val="600"/>
              </a:spcBef>
              <a:spcAft>
                <a:spcPct val="0"/>
              </a:spcAft>
              <a:buClr>
                <a:srgbClr val="F0AB00"/>
              </a:buClr>
              <a:buSzPct val="80000"/>
              <a:buFont typeface="Arial" panose="020B0604020202020204" pitchFamily="34" charset="0"/>
              <a:buChar char="•"/>
            </a:pPr>
            <a:r>
              <a:rPr lang="de-DE" kern="0" dirty="0">
                <a:ea typeface="Arial Unicode MS" pitchFamily="34" charset="-128"/>
                <a:cs typeface="Arial Unicode MS" pitchFamily="34" charset="-128"/>
              </a:rPr>
              <a:t>Gruppen &amp; Themenauswahl</a:t>
            </a:r>
          </a:p>
          <a:p>
            <a:pPr marL="285750" indent="-285750" fontAlgn="base">
              <a:spcBef>
                <a:spcPts val="600"/>
              </a:spcBef>
              <a:spcAft>
                <a:spcPct val="0"/>
              </a:spcAft>
              <a:buClr>
                <a:srgbClr val="F0AB00"/>
              </a:buClr>
              <a:buSzPct val="80000"/>
              <a:buFont typeface="Arial" panose="020B0604020202020204" pitchFamily="34" charset="0"/>
              <a:buChar char="•"/>
            </a:pPr>
            <a:r>
              <a:rPr lang="de-DE" kern="0" dirty="0">
                <a:ea typeface="Arial Unicode MS" pitchFamily="34" charset="-128"/>
                <a:cs typeface="Arial Unicode MS" pitchFamily="34" charset="-128"/>
              </a:rPr>
              <a:t>T1: Überzeugende Kommunikation</a:t>
            </a:r>
          </a:p>
          <a:p>
            <a:pPr marL="285750" indent="-285750" fontAlgn="base">
              <a:spcBef>
                <a:spcPts val="600"/>
              </a:spcBef>
              <a:spcAft>
                <a:spcPct val="0"/>
              </a:spcAft>
              <a:buClr>
                <a:srgbClr val="F0AB00"/>
              </a:buClr>
              <a:buSzPct val="80000"/>
              <a:buFont typeface="Arial" panose="020B0604020202020204" pitchFamily="34" charset="0"/>
              <a:buChar char="•"/>
            </a:pPr>
            <a:r>
              <a:rPr lang="de-DE" kern="0" dirty="0">
                <a:ea typeface="Arial Unicode MS" pitchFamily="34" charset="-128"/>
                <a:cs typeface="Arial Unicode MS" pitchFamily="34" charset="-128"/>
              </a:rPr>
              <a:t>T2: Story </a:t>
            </a:r>
            <a:r>
              <a:rPr lang="de-DE" kern="0" dirty="0" err="1">
                <a:ea typeface="Arial Unicode MS" pitchFamily="34" charset="-128"/>
                <a:cs typeface="Arial Unicode MS" pitchFamily="34" charset="-128"/>
              </a:rPr>
              <a:t>Telling</a:t>
            </a:r>
            <a:r>
              <a:rPr lang="de-DE" kern="0" dirty="0">
                <a:ea typeface="Arial Unicode MS" pitchFamily="34" charset="-128"/>
                <a:cs typeface="Arial Unicode MS" pitchFamily="34" charset="-128"/>
              </a:rPr>
              <a:t> in Business</a:t>
            </a:r>
          </a:p>
        </p:txBody>
      </p:sp>
    </p:spTree>
    <p:extLst>
      <p:ext uri="{BB962C8B-B14F-4D97-AF65-F5344CB8AC3E}">
        <p14:creationId xmlns:p14="http://schemas.microsoft.com/office/powerpoint/2010/main" val="24914087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7" end="7"/>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8" end="8"/>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9" end="9"/>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de-DE" dirty="0"/>
              <a:t>SQ II: Digital </a:t>
            </a:r>
            <a:r>
              <a:rPr lang="de-DE" dirty="0" err="1"/>
              <a:t>Thinking</a:t>
            </a:r>
            <a:r>
              <a:rPr lang="de-DE" dirty="0"/>
              <a:t> &amp; Management</a:t>
            </a: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3999" y="1443823"/>
            <a:ext cx="2279351" cy="1709513"/>
          </a:xfrm>
          <a:prstGeom prst="rect">
            <a:avLst/>
          </a:prstGeom>
        </p:spPr>
      </p:pic>
      <p:sp>
        <p:nvSpPr>
          <p:cNvPr id="5" name="TextBox 4"/>
          <p:cNvSpPr txBox="1"/>
          <p:nvPr/>
        </p:nvSpPr>
        <p:spPr>
          <a:xfrm>
            <a:off x="3302597" y="1432830"/>
            <a:ext cx="5841403" cy="4801314"/>
          </a:xfrm>
          <a:prstGeom prst="rect">
            <a:avLst/>
          </a:prstGeom>
          <a:noFill/>
        </p:spPr>
        <p:txBody>
          <a:bodyPr wrap="square" lIns="0" tIns="0" rIns="0" bIns="0" rtlCol="0">
            <a:spAutoFit/>
          </a:bodyPr>
          <a:lstStyle/>
          <a:p>
            <a:pPr fontAlgn="base">
              <a:spcBef>
                <a:spcPts val="600"/>
              </a:spcBef>
              <a:spcAft>
                <a:spcPct val="0"/>
              </a:spcAft>
              <a:buClr>
                <a:srgbClr val="F0AB00"/>
              </a:buClr>
              <a:buSzPct val="80000"/>
            </a:pPr>
            <a:r>
              <a:rPr lang="de-DE" sz="1800" kern="0" dirty="0">
                <a:ea typeface="Arial Unicode MS" pitchFamily="34" charset="-128"/>
                <a:cs typeface="Arial Unicode MS" pitchFamily="34" charset="-128"/>
              </a:rPr>
              <a:t>Dr. Heinz Häfner (Heinz.H.Haefner@t-online.de)</a:t>
            </a:r>
          </a:p>
          <a:p>
            <a:pPr fontAlgn="base">
              <a:spcBef>
                <a:spcPts val="600"/>
              </a:spcBef>
              <a:spcAft>
                <a:spcPct val="0"/>
              </a:spcAft>
              <a:buClr>
                <a:srgbClr val="F0AB00"/>
              </a:buClr>
              <a:buSzPct val="80000"/>
            </a:pPr>
            <a:endParaRPr lang="de-DE" sz="1800" kern="0" dirty="0">
              <a:ea typeface="Arial Unicode MS" pitchFamily="34" charset="-128"/>
              <a:cs typeface="Arial Unicode MS" pitchFamily="34" charset="-128"/>
            </a:endParaRPr>
          </a:p>
          <a:p>
            <a:pPr fontAlgn="base">
              <a:spcBef>
                <a:spcPts val="600"/>
              </a:spcBef>
              <a:spcAft>
                <a:spcPct val="0"/>
              </a:spcAft>
              <a:buClr>
                <a:srgbClr val="F0AB00"/>
              </a:buClr>
              <a:buSzPct val="80000"/>
            </a:pPr>
            <a:r>
              <a:rPr lang="de-DE" kern="0" dirty="0">
                <a:ea typeface="Arial Unicode MS" pitchFamily="34" charset="-128"/>
                <a:cs typeface="Arial Unicode MS" pitchFamily="34" charset="-128"/>
              </a:rPr>
              <a:t>Aufgewachsen in Karlsruhe, verheiratet, 4 Kinder</a:t>
            </a:r>
          </a:p>
          <a:p>
            <a:pPr fontAlgn="base">
              <a:spcBef>
                <a:spcPts val="600"/>
              </a:spcBef>
              <a:spcAft>
                <a:spcPct val="0"/>
              </a:spcAft>
              <a:buClr>
                <a:srgbClr val="F0AB00"/>
              </a:buClr>
              <a:buSzPct val="80000"/>
            </a:pPr>
            <a:r>
              <a:rPr lang="de-DE" kern="0" dirty="0">
                <a:ea typeface="Arial Unicode MS" pitchFamily="34" charset="-128"/>
                <a:cs typeface="Arial Unicode MS" pitchFamily="34" charset="-128"/>
              </a:rPr>
              <a:t>Hobby: Fußball + Joggen + Radfahren</a:t>
            </a:r>
          </a:p>
          <a:p>
            <a:pPr fontAlgn="base">
              <a:spcBef>
                <a:spcPts val="600"/>
              </a:spcBef>
              <a:spcAft>
                <a:spcPct val="0"/>
              </a:spcAft>
              <a:buClr>
                <a:srgbClr val="F0AB00"/>
              </a:buClr>
              <a:buSzPct val="80000"/>
            </a:pPr>
            <a:endParaRPr lang="de-DE" kern="0" dirty="0">
              <a:ea typeface="Arial Unicode MS" pitchFamily="34" charset="-128"/>
              <a:cs typeface="Arial Unicode MS" pitchFamily="34" charset="-128"/>
            </a:endParaRPr>
          </a:p>
          <a:p>
            <a:pPr fontAlgn="base">
              <a:spcBef>
                <a:spcPts val="600"/>
              </a:spcBef>
              <a:spcAft>
                <a:spcPct val="0"/>
              </a:spcAft>
              <a:buClr>
                <a:srgbClr val="F0AB00"/>
              </a:buClr>
              <a:buSzPct val="80000"/>
            </a:pPr>
            <a:r>
              <a:rPr lang="de-DE" kern="0" dirty="0">
                <a:ea typeface="Arial Unicode MS" pitchFamily="34" charset="-128"/>
                <a:cs typeface="Arial Unicode MS" pitchFamily="34" charset="-128"/>
              </a:rPr>
              <a:t>Ausbildung: Universität Mannheim – BWL / UC Swansea</a:t>
            </a:r>
          </a:p>
          <a:p>
            <a:pPr fontAlgn="base">
              <a:spcBef>
                <a:spcPts val="600"/>
              </a:spcBef>
              <a:spcAft>
                <a:spcPct val="0"/>
              </a:spcAft>
              <a:buClr>
                <a:srgbClr val="F0AB00"/>
              </a:buClr>
              <a:buSzPct val="80000"/>
            </a:pPr>
            <a:endParaRPr lang="de-DE" kern="0" dirty="0">
              <a:ea typeface="Arial Unicode MS" pitchFamily="34" charset="-128"/>
              <a:cs typeface="Arial Unicode MS" pitchFamily="34" charset="-128"/>
            </a:endParaRPr>
          </a:p>
          <a:p>
            <a:pPr fontAlgn="base">
              <a:spcBef>
                <a:spcPts val="600"/>
              </a:spcBef>
              <a:spcAft>
                <a:spcPct val="0"/>
              </a:spcAft>
              <a:buClr>
                <a:srgbClr val="F0AB00"/>
              </a:buClr>
              <a:buSzPct val="80000"/>
            </a:pPr>
            <a:r>
              <a:rPr lang="de-DE" kern="0" dirty="0">
                <a:ea typeface="Arial Unicode MS" pitchFamily="34" charset="-128"/>
                <a:cs typeface="Arial Unicode MS" pitchFamily="34" charset="-128"/>
              </a:rPr>
              <a:t>SAP: 1991 – heute</a:t>
            </a:r>
          </a:p>
          <a:p>
            <a:pPr marL="285750" indent="-285750" fontAlgn="base">
              <a:spcBef>
                <a:spcPts val="600"/>
              </a:spcBef>
              <a:spcAft>
                <a:spcPct val="0"/>
              </a:spcAft>
              <a:buClr>
                <a:srgbClr val="F0AB00"/>
              </a:buClr>
              <a:buSzPct val="80000"/>
              <a:buFont typeface="Arial" panose="020B0604020202020204" pitchFamily="34" charset="0"/>
              <a:buChar char="•"/>
            </a:pPr>
            <a:r>
              <a:rPr lang="de-DE" sz="1800" kern="0" dirty="0">
                <a:ea typeface="Arial Unicode MS" pitchFamily="34" charset="-128"/>
                <a:cs typeface="Arial Unicode MS" pitchFamily="34" charset="-128"/>
              </a:rPr>
              <a:t>Entwicklung und Produktmanagement (PM)</a:t>
            </a:r>
          </a:p>
          <a:p>
            <a:pPr marL="285750" indent="-285750" fontAlgn="base">
              <a:spcBef>
                <a:spcPts val="600"/>
              </a:spcBef>
              <a:spcAft>
                <a:spcPct val="0"/>
              </a:spcAft>
              <a:buClr>
                <a:srgbClr val="F0AB00"/>
              </a:buClr>
              <a:buSzPct val="80000"/>
              <a:buFont typeface="Arial" panose="020B0604020202020204" pitchFamily="34" charset="0"/>
              <a:buChar char="•"/>
            </a:pPr>
            <a:r>
              <a:rPr lang="de-DE" sz="1800" kern="0" dirty="0">
                <a:ea typeface="Arial Unicode MS" pitchFamily="34" charset="-128"/>
                <a:cs typeface="Arial Unicode MS" pitchFamily="34" charset="-128"/>
              </a:rPr>
              <a:t>Regional Implementation Group – Consulting</a:t>
            </a:r>
            <a:endParaRPr lang="de-DE" kern="0" dirty="0">
              <a:ea typeface="Arial Unicode MS" pitchFamily="34" charset="-128"/>
              <a:cs typeface="Arial Unicode MS" pitchFamily="34" charset="-128"/>
            </a:endParaRPr>
          </a:p>
          <a:p>
            <a:pPr marL="285750" indent="-285750" fontAlgn="base">
              <a:spcBef>
                <a:spcPts val="600"/>
              </a:spcBef>
              <a:spcAft>
                <a:spcPct val="0"/>
              </a:spcAft>
              <a:buClr>
                <a:srgbClr val="F0AB00"/>
              </a:buClr>
              <a:buSzPct val="80000"/>
              <a:buFont typeface="Arial" panose="020B0604020202020204" pitchFamily="34" charset="0"/>
              <a:buChar char="•"/>
            </a:pPr>
            <a:r>
              <a:rPr lang="de-DE" kern="0" dirty="0">
                <a:ea typeface="Arial Unicode MS" pitchFamily="34" charset="-128"/>
                <a:cs typeface="Arial Unicode MS" pitchFamily="34" charset="-128"/>
              </a:rPr>
              <a:t>Produktmanagement: Central Services</a:t>
            </a:r>
          </a:p>
          <a:p>
            <a:pPr marL="285750" indent="-285750" fontAlgn="base">
              <a:spcBef>
                <a:spcPts val="600"/>
              </a:spcBef>
              <a:spcAft>
                <a:spcPct val="0"/>
              </a:spcAft>
              <a:buClr>
                <a:srgbClr val="F0AB00"/>
              </a:buClr>
              <a:buSzPct val="80000"/>
              <a:buFont typeface="Arial" panose="020B0604020202020204" pitchFamily="34" charset="0"/>
              <a:buChar char="•"/>
            </a:pPr>
            <a:r>
              <a:rPr lang="de-DE" kern="0" dirty="0">
                <a:ea typeface="Arial Unicode MS" pitchFamily="34" charset="-128"/>
                <a:cs typeface="Arial Unicode MS" pitchFamily="34" charset="-128"/>
              </a:rPr>
              <a:t>Trainings und Vorlesungen</a:t>
            </a:r>
          </a:p>
          <a:p>
            <a:pPr marL="742950" lvl="1" indent="-285750" fontAlgn="base">
              <a:spcBef>
                <a:spcPts val="600"/>
              </a:spcBef>
              <a:spcAft>
                <a:spcPct val="0"/>
              </a:spcAft>
              <a:buClr>
                <a:srgbClr val="F0AB00"/>
              </a:buClr>
              <a:buSzPct val="80000"/>
              <a:buFont typeface="Arial" panose="020B0604020202020204" pitchFamily="34" charset="0"/>
              <a:buChar char="•"/>
            </a:pPr>
            <a:r>
              <a:rPr lang="de-DE" kern="0" dirty="0">
                <a:ea typeface="Arial Unicode MS" pitchFamily="34" charset="-128"/>
                <a:cs typeface="Arial Unicode MS" pitchFamily="34" charset="-128"/>
              </a:rPr>
              <a:t>Customer Engagement, Kommunikation, DLM, </a:t>
            </a:r>
            <a:br>
              <a:rPr lang="de-DE" kern="0" dirty="0">
                <a:ea typeface="Arial Unicode MS" pitchFamily="34" charset="-128"/>
                <a:cs typeface="Arial Unicode MS" pitchFamily="34" charset="-128"/>
              </a:rPr>
            </a:br>
            <a:r>
              <a:rPr lang="de-DE" kern="0" dirty="0">
                <a:ea typeface="Arial Unicode MS" pitchFamily="34" charset="-128"/>
                <a:cs typeface="Arial Unicode MS" pitchFamily="34" charset="-128"/>
              </a:rPr>
              <a:t>W-</a:t>
            </a:r>
            <a:r>
              <a:rPr lang="de-DE" kern="0" dirty="0" err="1">
                <a:ea typeface="Arial Unicode MS" pitchFamily="34" charset="-128"/>
                <a:cs typeface="Arial Unicode MS" pitchFamily="34" charset="-128"/>
              </a:rPr>
              <a:t>Psych</a:t>
            </a:r>
            <a:r>
              <a:rPr lang="de-DE" kern="0" dirty="0">
                <a:ea typeface="Arial Unicode MS" pitchFamily="34" charset="-128"/>
                <a:cs typeface="Arial Unicode MS" pitchFamily="34" charset="-128"/>
              </a:rPr>
              <a:t>, U-</a:t>
            </a:r>
            <a:r>
              <a:rPr lang="de-DE" kern="0" dirty="0" err="1">
                <a:ea typeface="Arial Unicode MS" pitchFamily="34" charset="-128"/>
                <a:cs typeface="Arial Unicode MS" pitchFamily="34" charset="-128"/>
              </a:rPr>
              <a:t>Fuehrung</a:t>
            </a:r>
            <a:r>
              <a:rPr lang="de-DE" kern="0" dirty="0">
                <a:ea typeface="Arial Unicode MS" pitchFamily="34" charset="-128"/>
                <a:cs typeface="Arial Unicode MS" pitchFamily="34" charset="-128"/>
              </a:rPr>
              <a:t>, Digital </a:t>
            </a:r>
            <a:r>
              <a:rPr lang="de-DE" kern="0" dirty="0" err="1">
                <a:ea typeface="Arial Unicode MS" pitchFamily="34" charset="-128"/>
                <a:cs typeface="Arial Unicode MS" pitchFamily="34" charset="-128"/>
              </a:rPr>
              <a:t>Thinking</a:t>
            </a:r>
            <a:r>
              <a:rPr lang="de-DE" kern="0" dirty="0">
                <a:ea typeface="Arial Unicode MS" pitchFamily="34" charset="-128"/>
                <a:cs typeface="Arial Unicode MS" pitchFamily="34" charset="-128"/>
              </a:rPr>
              <a:t> </a:t>
            </a:r>
            <a:endParaRPr lang="de-DE" kern="0" dirty="0">
              <a:highlight>
                <a:srgbClr val="FFFF00"/>
              </a:highlight>
              <a:ea typeface="Arial Unicode MS" pitchFamily="34" charset="-128"/>
              <a:cs typeface="Arial Unicode MS" pitchFamily="34" charset="-128"/>
            </a:endParaRPr>
          </a:p>
        </p:txBody>
      </p:sp>
    </p:spTree>
    <p:extLst>
      <p:ext uri="{BB962C8B-B14F-4D97-AF65-F5344CB8AC3E}">
        <p14:creationId xmlns:p14="http://schemas.microsoft.com/office/powerpoint/2010/main" val="631019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de-DE" dirty="0"/>
              <a:t>SQ II: Digital </a:t>
            </a:r>
            <a:r>
              <a:rPr lang="de-DE" dirty="0" err="1"/>
              <a:t>Thinking</a:t>
            </a:r>
            <a:r>
              <a:rPr lang="de-DE" dirty="0"/>
              <a:t> &amp; Management</a:t>
            </a:r>
          </a:p>
        </p:txBody>
      </p:sp>
      <p:sp>
        <p:nvSpPr>
          <p:cNvPr id="5" name="TextBox 4"/>
          <p:cNvSpPr txBox="1"/>
          <p:nvPr/>
        </p:nvSpPr>
        <p:spPr>
          <a:xfrm>
            <a:off x="2950351" y="1644654"/>
            <a:ext cx="5919295" cy="4493538"/>
          </a:xfrm>
          <a:prstGeom prst="rect">
            <a:avLst/>
          </a:prstGeom>
          <a:noFill/>
        </p:spPr>
        <p:txBody>
          <a:bodyPr wrap="square" lIns="0" tIns="0" rIns="0" bIns="0" rtlCol="0">
            <a:spAutoFit/>
          </a:bodyPr>
          <a:lstStyle/>
          <a:p>
            <a:pPr fontAlgn="base">
              <a:spcBef>
                <a:spcPts val="600"/>
              </a:spcBef>
              <a:spcAft>
                <a:spcPct val="0"/>
              </a:spcAft>
              <a:buClr>
                <a:srgbClr val="F0AB00"/>
              </a:buClr>
              <a:buSzPct val="80000"/>
            </a:pPr>
            <a:r>
              <a:rPr lang="de-DE" kern="0" dirty="0">
                <a:ea typeface="Arial Unicode MS" pitchFamily="34" charset="-128"/>
                <a:cs typeface="Arial Unicode MS" pitchFamily="34" charset="-128"/>
              </a:rPr>
              <a:t>Mein Name ist ….</a:t>
            </a:r>
          </a:p>
          <a:p>
            <a:pPr fontAlgn="base">
              <a:spcBef>
                <a:spcPts val="600"/>
              </a:spcBef>
              <a:spcAft>
                <a:spcPct val="0"/>
              </a:spcAft>
              <a:buClr>
                <a:srgbClr val="F0AB00"/>
              </a:buClr>
              <a:buSzPct val="80000"/>
            </a:pPr>
            <a:endParaRPr lang="de-DE" sz="1800" kern="0" dirty="0">
              <a:ea typeface="Arial Unicode MS" pitchFamily="34" charset="-128"/>
              <a:cs typeface="Arial Unicode MS" pitchFamily="34" charset="-128"/>
            </a:endParaRPr>
          </a:p>
          <a:p>
            <a:pPr fontAlgn="base">
              <a:spcBef>
                <a:spcPts val="600"/>
              </a:spcBef>
              <a:spcAft>
                <a:spcPct val="0"/>
              </a:spcAft>
              <a:buClr>
                <a:srgbClr val="F0AB00"/>
              </a:buClr>
              <a:buSzPct val="80000"/>
            </a:pPr>
            <a:r>
              <a:rPr lang="de-DE" kern="0" dirty="0">
                <a:ea typeface="Arial Unicode MS" pitchFamily="34" charset="-128"/>
                <a:cs typeface="Arial Unicode MS" pitchFamily="34" charset="-128"/>
              </a:rPr>
              <a:t>Ich bin aufgewachsen in …</a:t>
            </a:r>
            <a:endParaRPr lang="de-DE" sz="1800" kern="0" dirty="0">
              <a:ea typeface="Arial Unicode MS" pitchFamily="34" charset="-128"/>
              <a:cs typeface="Arial Unicode MS" pitchFamily="34" charset="-128"/>
            </a:endParaRPr>
          </a:p>
          <a:p>
            <a:pPr fontAlgn="base">
              <a:spcBef>
                <a:spcPts val="600"/>
              </a:spcBef>
              <a:spcAft>
                <a:spcPct val="0"/>
              </a:spcAft>
              <a:buClr>
                <a:srgbClr val="F0AB00"/>
              </a:buClr>
              <a:buSzPct val="80000"/>
            </a:pPr>
            <a:endParaRPr lang="de-DE" kern="0" dirty="0">
              <a:ea typeface="Arial Unicode MS" pitchFamily="34" charset="-128"/>
              <a:cs typeface="Arial Unicode MS" pitchFamily="34" charset="-128"/>
            </a:endParaRPr>
          </a:p>
          <a:p>
            <a:pPr fontAlgn="base">
              <a:spcBef>
                <a:spcPts val="600"/>
              </a:spcBef>
              <a:spcAft>
                <a:spcPct val="0"/>
              </a:spcAft>
              <a:buClr>
                <a:srgbClr val="F0AB00"/>
              </a:buClr>
              <a:buSzPct val="80000"/>
            </a:pPr>
            <a:r>
              <a:rPr lang="de-DE" kern="0" dirty="0">
                <a:ea typeface="Arial Unicode MS" pitchFamily="34" charset="-128"/>
                <a:cs typeface="Arial Unicode MS" pitchFamily="34" charset="-128"/>
              </a:rPr>
              <a:t>Ich bin angestellt bei Firma …</a:t>
            </a:r>
          </a:p>
          <a:p>
            <a:pPr fontAlgn="base">
              <a:spcBef>
                <a:spcPts val="600"/>
              </a:spcBef>
              <a:spcAft>
                <a:spcPct val="0"/>
              </a:spcAft>
              <a:buClr>
                <a:srgbClr val="F0AB00"/>
              </a:buClr>
              <a:buSzPct val="80000"/>
            </a:pPr>
            <a:endParaRPr lang="de-DE" kern="0" dirty="0">
              <a:ea typeface="Arial Unicode MS" pitchFamily="34" charset="-128"/>
              <a:cs typeface="Arial Unicode MS" pitchFamily="34" charset="-128"/>
            </a:endParaRPr>
          </a:p>
          <a:p>
            <a:pPr fontAlgn="base">
              <a:spcBef>
                <a:spcPts val="600"/>
              </a:spcBef>
              <a:spcAft>
                <a:spcPct val="0"/>
              </a:spcAft>
              <a:buClr>
                <a:srgbClr val="F0AB00"/>
              </a:buClr>
              <a:buSzPct val="80000"/>
            </a:pPr>
            <a:r>
              <a:rPr lang="de-DE" kern="0" dirty="0">
                <a:ea typeface="Arial Unicode MS" pitchFamily="34" charset="-128"/>
                <a:cs typeface="Arial Unicode MS" pitchFamily="34" charset="-128"/>
              </a:rPr>
              <a:t>Mein Lieblings-Kinofilm …</a:t>
            </a:r>
          </a:p>
          <a:p>
            <a:pPr fontAlgn="base">
              <a:spcBef>
                <a:spcPts val="600"/>
              </a:spcBef>
              <a:spcAft>
                <a:spcPct val="0"/>
              </a:spcAft>
              <a:buClr>
                <a:srgbClr val="F0AB00"/>
              </a:buClr>
              <a:buSzPct val="80000"/>
            </a:pPr>
            <a:endParaRPr lang="de-DE" kern="0" dirty="0">
              <a:ea typeface="Arial Unicode MS" pitchFamily="34" charset="-128"/>
              <a:cs typeface="Arial Unicode MS" pitchFamily="34" charset="-128"/>
            </a:endParaRPr>
          </a:p>
          <a:p>
            <a:pPr fontAlgn="base">
              <a:spcBef>
                <a:spcPts val="600"/>
              </a:spcBef>
              <a:spcAft>
                <a:spcPct val="0"/>
              </a:spcAft>
              <a:buClr>
                <a:srgbClr val="F0AB00"/>
              </a:buClr>
              <a:buSzPct val="80000"/>
            </a:pPr>
            <a:r>
              <a:rPr lang="de-DE" kern="0" dirty="0">
                <a:ea typeface="Arial Unicode MS" pitchFamily="34" charset="-128"/>
                <a:cs typeface="Arial Unicode MS" pitchFamily="34" charset="-128"/>
              </a:rPr>
              <a:t>Mein Lieblings-Megatrend…</a:t>
            </a:r>
          </a:p>
          <a:p>
            <a:pPr fontAlgn="base">
              <a:spcBef>
                <a:spcPts val="600"/>
              </a:spcBef>
              <a:spcAft>
                <a:spcPct val="0"/>
              </a:spcAft>
              <a:buClr>
                <a:srgbClr val="F0AB00"/>
              </a:buClr>
              <a:buSzPct val="80000"/>
            </a:pPr>
            <a:r>
              <a:rPr lang="de-DE" sz="1600" kern="0" dirty="0">
                <a:ea typeface="Arial Unicode MS" pitchFamily="34" charset="-128"/>
                <a:cs typeface="Arial Unicode MS" pitchFamily="34" charset="-128"/>
              </a:rPr>
              <a:t>(Technology, Market, People/Culture, Business)</a:t>
            </a:r>
          </a:p>
          <a:p>
            <a:pPr fontAlgn="base">
              <a:spcBef>
                <a:spcPts val="600"/>
              </a:spcBef>
              <a:spcAft>
                <a:spcPct val="0"/>
              </a:spcAft>
              <a:buClr>
                <a:srgbClr val="F0AB00"/>
              </a:buClr>
              <a:buSzPct val="80000"/>
            </a:pPr>
            <a:endParaRPr lang="de-DE" sz="1800" kern="0" dirty="0">
              <a:ea typeface="Arial Unicode MS" pitchFamily="34" charset="-128"/>
              <a:cs typeface="Arial Unicode MS" pitchFamily="34" charset="-128"/>
            </a:endParaRPr>
          </a:p>
          <a:p>
            <a:pPr fontAlgn="base">
              <a:spcBef>
                <a:spcPts val="600"/>
              </a:spcBef>
              <a:spcAft>
                <a:spcPct val="0"/>
              </a:spcAft>
              <a:buClr>
                <a:srgbClr val="F0AB00"/>
              </a:buClr>
              <a:buSzPct val="80000"/>
            </a:pPr>
            <a:r>
              <a:rPr lang="de-DE" kern="0" dirty="0">
                <a:ea typeface="Arial Unicode MS" pitchFamily="34" charset="-128"/>
                <a:cs typeface="Arial Unicode MS" pitchFamily="34" charset="-128"/>
              </a:rPr>
              <a:t>Welches Tier ich wäre? Sagt mein(e) Kommilitone/in ….</a:t>
            </a:r>
          </a:p>
          <a:p>
            <a:pPr fontAlgn="base">
              <a:spcBef>
                <a:spcPts val="600"/>
              </a:spcBef>
              <a:spcAft>
                <a:spcPct val="0"/>
              </a:spcAft>
              <a:buClr>
                <a:srgbClr val="F0AB00"/>
              </a:buClr>
              <a:buSzPct val="80000"/>
            </a:pPr>
            <a:endParaRPr lang="de-DE" sz="1800" kern="0" dirty="0">
              <a:ea typeface="Arial Unicode MS" pitchFamily="34" charset="-128"/>
              <a:cs typeface="Arial Unicode MS" pitchFamily="34" charset="-128"/>
            </a:endParaRPr>
          </a:p>
        </p:txBody>
      </p:sp>
      <p:pic>
        <p:nvPicPr>
          <p:cNvPr id="6" name="Picture 5">
            <a:extLst>
              <a:ext uri="{FF2B5EF4-FFF2-40B4-BE49-F238E27FC236}">
                <a16:creationId xmlns:a16="http://schemas.microsoft.com/office/drawing/2014/main" id="{9F2ED296-A095-48AE-81D9-9AC13A63890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8281" y="1447134"/>
            <a:ext cx="2286000" cy="2000250"/>
          </a:xfrm>
          <a:prstGeom prst="rect">
            <a:avLst/>
          </a:prstGeom>
        </p:spPr>
      </p:pic>
      <p:pic>
        <p:nvPicPr>
          <p:cNvPr id="7" name="Picture 6">
            <a:extLst>
              <a:ext uri="{FF2B5EF4-FFF2-40B4-BE49-F238E27FC236}">
                <a16:creationId xmlns:a16="http://schemas.microsoft.com/office/drawing/2014/main" id="{340320FD-26E2-4188-BC72-7FCF7480D9E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74353" y="3729840"/>
            <a:ext cx="2329584" cy="2329584"/>
          </a:xfrm>
          <a:prstGeom prst="rect">
            <a:avLst/>
          </a:prstGeom>
        </p:spPr>
      </p:pic>
    </p:spTree>
    <p:extLst>
      <p:ext uri="{BB962C8B-B14F-4D97-AF65-F5344CB8AC3E}">
        <p14:creationId xmlns:p14="http://schemas.microsoft.com/office/powerpoint/2010/main" val="23867699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de-DE" dirty="0"/>
              <a:t>SQ II: Digital </a:t>
            </a:r>
            <a:r>
              <a:rPr lang="de-DE" dirty="0" err="1"/>
              <a:t>Thinking</a:t>
            </a:r>
            <a:r>
              <a:rPr lang="de-DE" dirty="0"/>
              <a:t> &amp; Management</a:t>
            </a:r>
          </a:p>
        </p:txBody>
      </p:sp>
      <p:sp>
        <p:nvSpPr>
          <p:cNvPr id="5" name="TextBox 4"/>
          <p:cNvSpPr txBox="1"/>
          <p:nvPr/>
        </p:nvSpPr>
        <p:spPr>
          <a:xfrm>
            <a:off x="2950351" y="1644654"/>
            <a:ext cx="5919295" cy="4493538"/>
          </a:xfrm>
          <a:prstGeom prst="rect">
            <a:avLst/>
          </a:prstGeom>
          <a:noFill/>
        </p:spPr>
        <p:txBody>
          <a:bodyPr wrap="square" lIns="0" tIns="0" rIns="0" bIns="0" rtlCol="0">
            <a:spAutoFit/>
          </a:bodyPr>
          <a:lstStyle/>
          <a:p>
            <a:pPr fontAlgn="base">
              <a:spcBef>
                <a:spcPts val="600"/>
              </a:spcBef>
              <a:spcAft>
                <a:spcPct val="0"/>
              </a:spcAft>
              <a:buClr>
                <a:srgbClr val="F0AB00"/>
              </a:buClr>
              <a:buSzPct val="80000"/>
            </a:pPr>
            <a:r>
              <a:rPr lang="de-DE" kern="0" dirty="0">
                <a:ea typeface="Arial Unicode MS" pitchFamily="34" charset="-128"/>
                <a:cs typeface="Arial Unicode MS" pitchFamily="34" charset="-128"/>
              </a:rPr>
              <a:t>Mein Name ist ….</a:t>
            </a:r>
          </a:p>
          <a:p>
            <a:pPr fontAlgn="base">
              <a:spcBef>
                <a:spcPts val="600"/>
              </a:spcBef>
              <a:spcAft>
                <a:spcPct val="0"/>
              </a:spcAft>
              <a:buClr>
                <a:srgbClr val="F0AB00"/>
              </a:buClr>
              <a:buSzPct val="80000"/>
            </a:pPr>
            <a:endParaRPr lang="de-DE" sz="1800" kern="0" dirty="0">
              <a:ea typeface="Arial Unicode MS" pitchFamily="34" charset="-128"/>
              <a:cs typeface="Arial Unicode MS" pitchFamily="34" charset="-128"/>
            </a:endParaRPr>
          </a:p>
          <a:p>
            <a:pPr fontAlgn="base">
              <a:spcBef>
                <a:spcPts val="600"/>
              </a:spcBef>
              <a:spcAft>
                <a:spcPct val="0"/>
              </a:spcAft>
              <a:buClr>
                <a:srgbClr val="F0AB00"/>
              </a:buClr>
              <a:buSzPct val="80000"/>
            </a:pPr>
            <a:r>
              <a:rPr lang="de-DE" kern="0" dirty="0">
                <a:ea typeface="Arial Unicode MS" pitchFamily="34" charset="-128"/>
                <a:cs typeface="Arial Unicode MS" pitchFamily="34" charset="-128"/>
              </a:rPr>
              <a:t>Ich bin aufgewachsen in …</a:t>
            </a:r>
            <a:endParaRPr lang="de-DE" sz="1800" kern="0" dirty="0">
              <a:ea typeface="Arial Unicode MS" pitchFamily="34" charset="-128"/>
              <a:cs typeface="Arial Unicode MS" pitchFamily="34" charset="-128"/>
            </a:endParaRPr>
          </a:p>
          <a:p>
            <a:pPr fontAlgn="base">
              <a:spcBef>
                <a:spcPts val="600"/>
              </a:spcBef>
              <a:spcAft>
                <a:spcPct val="0"/>
              </a:spcAft>
              <a:buClr>
                <a:srgbClr val="F0AB00"/>
              </a:buClr>
              <a:buSzPct val="80000"/>
            </a:pPr>
            <a:endParaRPr lang="de-DE" kern="0" dirty="0">
              <a:ea typeface="Arial Unicode MS" pitchFamily="34" charset="-128"/>
              <a:cs typeface="Arial Unicode MS" pitchFamily="34" charset="-128"/>
            </a:endParaRPr>
          </a:p>
          <a:p>
            <a:pPr fontAlgn="base">
              <a:spcBef>
                <a:spcPts val="600"/>
              </a:spcBef>
              <a:spcAft>
                <a:spcPct val="0"/>
              </a:spcAft>
              <a:buClr>
                <a:srgbClr val="F0AB00"/>
              </a:buClr>
              <a:buSzPct val="80000"/>
            </a:pPr>
            <a:r>
              <a:rPr lang="de-DE" kern="0" dirty="0">
                <a:ea typeface="Arial Unicode MS" pitchFamily="34" charset="-128"/>
                <a:cs typeface="Arial Unicode MS" pitchFamily="34" charset="-128"/>
              </a:rPr>
              <a:t>Ich bin angestellt bei Firma …</a:t>
            </a:r>
          </a:p>
          <a:p>
            <a:pPr fontAlgn="base">
              <a:spcBef>
                <a:spcPts val="600"/>
              </a:spcBef>
              <a:spcAft>
                <a:spcPct val="0"/>
              </a:spcAft>
              <a:buClr>
                <a:srgbClr val="F0AB00"/>
              </a:buClr>
              <a:buSzPct val="80000"/>
            </a:pPr>
            <a:endParaRPr lang="de-DE" kern="0" dirty="0">
              <a:ea typeface="Arial Unicode MS" pitchFamily="34" charset="-128"/>
              <a:cs typeface="Arial Unicode MS" pitchFamily="34" charset="-128"/>
            </a:endParaRPr>
          </a:p>
          <a:p>
            <a:pPr fontAlgn="base">
              <a:spcBef>
                <a:spcPts val="600"/>
              </a:spcBef>
              <a:spcAft>
                <a:spcPct val="0"/>
              </a:spcAft>
              <a:buClr>
                <a:srgbClr val="F0AB00"/>
              </a:buClr>
              <a:buSzPct val="80000"/>
            </a:pPr>
            <a:r>
              <a:rPr lang="de-DE" kern="0" dirty="0">
                <a:ea typeface="Arial Unicode MS" pitchFamily="34" charset="-128"/>
                <a:cs typeface="Arial Unicode MS" pitchFamily="34" charset="-128"/>
              </a:rPr>
              <a:t>Mein Lieblings-Kinofilm …</a:t>
            </a:r>
          </a:p>
          <a:p>
            <a:pPr fontAlgn="base">
              <a:spcBef>
                <a:spcPts val="600"/>
              </a:spcBef>
              <a:spcAft>
                <a:spcPct val="0"/>
              </a:spcAft>
              <a:buClr>
                <a:srgbClr val="F0AB00"/>
              </a:buClr>
              <a:buSzPct val="80000"/>
            </a:pPr>
            <a:endParaRPr lang="de-DE" kern="0" dirty="0">
              <a:ea typeface="Arial Unicode MS" pitchFamily="34" charset="-128"/>
              <a:cs typeface="Arial Unicode MS" pitchFamily="34" charset="-128"/>
            </a:endParaRPr>
          </a:p>
          <a:p>
            <a:pPr fontAlgn="base">
              <a:spcBef>
                <a:spcPts val="600"/>
              </a:spcBef>
              <a:spcAft>
                <a:spcPct val="0"/>
              </a:spcAft>
              <a:buClr>
                <a:srgbClr val="F0AB00"/>
              </a:buClr>
              <a:buSzPct val="80000"/>
            </a:pPr>
            <a:r>
              <a:rPr lang="de-DE" kern="0" dirty="0">
                <a:ea typeface="Arial Unicode MS" pitchFamily="34" charset="-128"/>
                <a:cs typeface="Arial Unicode MS" pitchFamily="34" charset="-128"/>
              </a:rPr>
              <a:t>Mein Lieblings-Megatrend…</a:t>
            </a:r>
          </a:p>
          <a:p>
            <a:pPr fontAlgn="base">
              <a:spcBef>
                <a:spcPts val="600"/>
              </a:spcBef>
              <a:spcAft>
                <a:spcPct val="0"/>
              </a:spcAft>
              <a:buClr>
                <a:srgbClr val="F0AB00"/>
              </a:buClr>
              <a:buSzPct val="80000"/>
            </a:pPr>
            <a:r>
              <a:rPr lang="de-DE" sz="1600" kern="0" dirty="0">
                <a:ea typeface="Arial Unicode MS" pitchFamily="34" charset="-128"/>
                <a:cs typeface="Arial Unicode MS" pitchFamily="34" charset="-128"/>
              </a:rPr>
              <a:t>(Technology, Market, People/Culture, Business)</a:t>
            </a:r>
          </a:p>
          <a:p>
            <a:pPr fontAlgn="base">
              <a:spcBef>
                <a:spcPts val="600"/>
              </a:spcBef>
              <a:spcAft>
                <a:spcPct val="0"/>
              </a:spcAft>
              <a:buClr>
                <a:srgbClr val="F0AB00"/>
              </a:buClr>
              <a:buSzPct val="80000"/>
            </a:pPr>
            <a:endParaRPr lang="de-DE" sz="1800" kern="0" dirty="0">
              <a:ea typeface="Arial Unicode MS" pitchFamily="34" charset="-128"/>
              <a:cs typeface="Arial Unicode MS" pitchFamily="34" charset="-128"/>
            </a:endParaRPr>
          </a:p>
          <a:p>
            <a:pPr fontAlgn="base">
              <a:spcBef>
                <a:spcPts val="600"/>
              </a:spcBef>
              <a:spcAft>
                <a:spcPct val="0"/>
              </a:spcAft>
              <a:buClr>
                <a:srgbClr val="F0AB00"/>
              </a:buClr>
              <a:buSzPct val="80000"/>
            </a:pPr>
            <a:r>
              <a:rPr lang="de-DE" kern="0" dirty="0">
                <a:ea typeface="Arial Unicode MS" pitchFamily="34" charset="-128"/>
                <a:cs typeface="Arial Unicode MS" pitchFamily="34" charset="-128"/>
              </a:rPr>
              <a:t>Welches Tier ich wäre? Sagt mein(e) Kommilitone/in ….</a:t>
            </a:r>
          </a:p>
          <a:p>
            <a:pPr fontAlgn="base">
              <a:spcBef>
                <a:spcPts val="600"/>
              </a:spcBef>
              <a:spcAft>
                <a:spcPct val="0"/>
              </a:spcAft>
              <a:buClr>
                <a:srgbClr val="F0AB00"/>
              </a:buClr>
              <a:buSzPct val="80000"/>
            </a:pPr>
            <a:endParaRPr lang="de-DE" sz="1800" kern="0" dirty="0">
              <a:ea typeface="Arial Unicode MS" pitchFamily="34" charset="-128"/>
              <a:cs typeface="Arial Unicode MS" pitchFamily="34" charset="-128"/>
            </a:endParaRPr>
          </a:p>
        </p:txBody>
      </p:sp>
      <p:pic>
        <p:nvPicPr>
          <p:cNvPr id="6" name="Picture 5">
            <a:extLst>
              <a:ext uri="{FF2B5EF4-FFF2-40B4-BE49-F238E27FC236}">
                <a16:creationId xmlns:a16="http://schemas.microsoft.com/office/drawing/2014/main" id="{9F2ED296-A095-48AE-81D9-9AC13A63890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8281" y="1447134"/>
            <a:ext cx="2286000" cy="2000250"/>
          </a:xfrm>
          <a:prstGeom prst="rect">
            <a:avLst/>
          </a:prstGeom>
        </p:spPr>
      </p:pic>
      <p:pic>
        <p:nvPicPr>
          <p:cNvPr id="7" name="Picture 6">
            <a:extLst>
              <a:ext uri="{FF2B5EF4-FFF2-40B4-BE49-F238E27FC236}">
                <a16:creationId xmlns:a16="http://schemas.microsoft.com/office/drawing/2014/main" id="{340320FD-26E2-4188-BC72-7FCF7480D9E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74353" y="3729840"/>
            <a:ext cx="2329584" cy="2329584"/>
          </a:xfrm>
          <a:prstGeom prst="rect">
            <a:avLst/>
          </a:prstGeom>
        </p:spPr>
      </p:pic>
      <p:pic>
        <p:nvPicPr>
          <p:cNvPr id="3" name="Grafik 2">
            <a:extLst>
              <a:ext uri="{FF2B5EF4-FFF2-40B4-BE49-F238E27FC236}">
                <a16:creationId xmlns:a16="http://schemas.microsoft.com/office/drawing/2014/main" id="{80A12D72-599A-4E23-AE7B-5FEB65FEC96C}"/>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l="35489" t="5359" r="12082" b="9808"/>
          <a:stretch/>
        </p:blipFill>
        <p:spPr>
          <a:xfrm>
            <a:off x="3186546" y="948370"/>
            <a:ext cx="4387273" cy="5324260"/>
          </a:xfrm>
          <a:prstGeom prst="rect">
            <a:avLst/>
          </a:prstGeom>
        </p:spPr>
      </p:pic>
    </p:spTree>
    <p:extLst>
      <p:ext uri="{BB962C8B-B14F-4D97-AF65-F5344CB8AC3E}">
        <p14:creationId xmlns:p14="http://schemas.microsoft.com/office/powerpoint/2010/main" val="4154236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hteck 1">
            <a:extLst>
              <a:ext uri="{FF2B5EF4-FFF2-40B4-BE49-F238E27FC236}">
                <a16:creationId xmlns:a16="http://schemas.microsoft.com/office/drawing/2014/main" id="{66A7EFB2-86EF-4482-9BA5-FFEC8654A57E}"/>
              </a:ext>
            </a:extLst>
          </p:cNvPr>
          <p:cNvSpPr/>
          <p:nvPr/>
        </p:nvSpPr>
        <p:spPr bwMode="gray">
          <a:xfrm>
            <a:off x="500513" y="3243714"/>
            <a:ext cx="3383617" cy="1853580"/>
          </a:xfrm>
          <a:prstGeom prst="rect">
            <a:avLst/>
          </a:prstGeom>
          <a:solidFill>
            <a:schemeClr val="accent5">
              <a:lumMod val="40000"/>
              <a:lumOff val="60000"/>
            </a:schemeClr>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de-DE"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5" name="TextBox 4"/>
          <p:cNvSpPr txBox="1"/>
          <p:nvPr/>
        </p:nvSpPr>
        <p:spPr>
          <a:xfrm>
            <a:off x="324000" y="1436150"/>
            <a:ext cx="3560130" cy="3524042"/>
          </a:xfrm>
          <a:prstGeom prst="rect">
            <a:avLst/>
          </a:prstGeom>
          <a:noFill/>
        </p:spPr>
        <p:txBody>
          <a:bodyPr wrap="square" lIns="0" tIns="0" rIns="0" bIns="0" rtlCol="0">
            <a:spAutoFit/>
          </a:bodyPr>
          <a:lstStyle/>
          <a:p>
            <a:pPr fontAlgn="base">
              <a:spcBef>
                <a:spcPts val="600"/>
              </a:spcBef>
              <a:spcAft>
                <a:spcPct val="0"/>
              </a:spcAft>
              <a:buClr>
                <a:srgbClr val="F0AB00"/>
              </a:buClr>
              <a:buSzPct val="80000"/>
            </a:pPr>
            <a:r>
              <a:rPr lang="de-DE" sz="2400" b="1" kern="0" dirty="0">
                <a:ea typeface="Arial Unicode MS" pitchFamily="34" charset="-128"/>
                <a:cs typeface="Arial Unicode MS" pitchFamily="34" charset="-128"/>
              </a:rPr>
              <a:t>Leistungsnachweis</a:t>
            </a:r>
            <a:r>
              <a:rPr lang="de-DE" b="1" kern="0" dirty="0">
                <a:ea typeface="Arial Unicode MS" pitchFamily="34" charset="-128"/>
                <a:cs typeface="Arial Unicode MS" pitchFamily="34" charset="-128"/>
              </a:rPr>
              <a:t>:</a:t>
            </a:r>
            <a:endParaRPr lang="de-DE" sz="1800" b="1" kern="0" dirty="0">
              <a:ea typeface="Arial Unicode MS" pitchFamily="34" charset="-128"/>
              <a:cs typeface="Arial Unicode MS" pitchFamily="34" charset="-128"/>
            </a:endParaRPr>
          </a:p>
          <a:p>
            <a:pPr marL="285750" indent="-285750" fontAlgn="base">
              <a:spcBef>
                <a:spcPts val="600"/>
              </a:spcBef>
              <a:spcAft>
                <a:spcPct val="0"/>
              </a:spcAft>
              <a:buClr>
                <a:srgbClr val="F0AB00"/>
              </a:buClr>
              <a:buSzPct val="80000"/>
              <a:buFont typeface="Arial" panose="020B0604020202020204" pitchFamily="34" charset="0"/>
              <a:buChar char="•"/>
            </a:pPr>
            <a:endParaRPr lang="de-DE" sz="1800" b="1" kern="0" dirty="0">
              <a:ea typeface="Arial Unicode MS" pitchFamily="34" charset="-128"/>
              <a:cs typeface="Arial Unicode MS" pitchFamily="34" charset="-128"/>
            </a:endParaRPr>
          </a:p>
          <a:p>
            <a:pPr marL="285750" indent="-285750" fontAlgn="base">
              <a:spcBef>
                <a:spcPts val="600"/>
              </a:spcBef>
              <a:spcAft>
                <a:spcPct val="0"/>
              </a:spcAft>
              <a:buClr>
                <a:srgbClr val="F0AB00"/>
              </a:buClr>
              <a:buSzPct val="80000"/>
              <a:buFont typeface="Arial" panose="020B0604020202020204" pitchFamily="34" charset="0"/>
              <a:buChar char="•"/>
            </a:pPr>
            <a:r>
              <a:rPr lang="de-DE" sz="1800" b="1" kern="0" dirty="0">
                <a:ea typeface="Arial Unicode MS" pitchFamily="34" charset="-128"/>
                <a:cs typeface="Arial Unicode MS" pitchFamily="34" charset="-128"/>
              </a:rPr>
              <a:t>Kurzreferate</a:t>
            </a:r>
            <a:r>
              <a:rPr lang="de-DE" sz="1800" kern="0" dirty="0">
                <a:ea typeface="Arial Unicode MS" pitchFamily="34" charset="-128"/>
                <a:cs typeface="Arial Unicode MS" pitchFamily="34" charset="-128"/>
              </a:rPr>
              <a:t> </a:t>
            </a:r>
            <a:r>
              <a:rPr lang="de-DE" kern="0" dirty="0">
                <a:ea typeface="Arial Unicode MS" pitchFamily="34" charset="-128"/>
                <a:cs typeface="Arial Unicode MS" pitchFamily="34" charset="-128"/>
              </a:rPr>
              <a:t>(18 min) </a:t>
            </a:r>
          </a:p>
          <a:p>
            <a:pPr marL="742950" lvl="1" indent="-285750" fontAlgn="base">
              <a:spcBef>
                <a:spcPts val="600"/>
              </a:spcBef>
              <a:spcAft>
                <a:spcPct val="0"/>
              </a:spcAft>
              <a:buClr>
                <a:srgbClr val="F0AB00"/>
              </a:buClr>
              <a:buSzPct val="80000"/>
              <a:buFont typeface="Arial" panose="020B0604020202020204" pitchFamily="34" charset="0"/>
              <a:buChar char="•"/>
            </a:pPr>
            <a:r>
              <a:rPr lang="de-DE" kern="0" dirty="0">
                <a:ea typeface="Arial Unicode MS" pitchFamily="34" charset="-128"/>
                <a:cs typeface="Arial Unicode MS" pitchFamily="34" charset="-128"/>
              </a:rPr>
              <a:t>PPT + 1 Pager</a:t>
            </a:r>
          </a:p>
          <a:p>
            <a:pPr marL="285750" indent="-285750" fontAlgn="base">
              <a:spcBef>
                <a:spcPts val="600"/>
              </a:spcBef>
              <a:spcAft>
                <a:spcPct val="0"/>
              </a:spcAft>
              <a:buClr>
                <a:srgbClr val="F0AB00"/>
              </a:buClr>
              <a:buSzPct val="80000"/>
              <a:buFont typeface="Arial" panose="020B0604020202020204" pitchFamily="34" charset="0"/>
              <a:buChar char="•"/>
            </a:pPr>
            <a:endParaRPr lang="de-DE" b="1" kern="0" dirty="0">
              <a:ea typeface="Arial Unicode MS" pitchFamily="34" charset="-128"/>
              <a:cs typeface="Arial Unicode MS" pitchFamily="34" charset="-128"/>
            </a:endParaRPr>
          </a:p>
          <a:p>
            <a:pPr marL="285750" indent="-285750" fontAlgn="base">
              <a:spcBef>
                <a:spcPts val="600"/>
              </a:spcBef>
              <a:spcAft>
                <a:spcPct val="0"/>
              </a:spcAft>
              <a:buClr>
                <a:srgbClr val="F0AB00"/>
              </a:buClr>
              <a:buSzPct val="80000"/>
              <a:buFont typeface="Arial" panose="020B0604020202020204" pitchFamily="34" charset="0"/>
              <a:buChar char="•"/>
            </a:pPr>
            <a:r>
              <a:rPr lang="de-DE" b="1" kern="0" dirty="0">
                <a:ea typeface="Arial Unicode MS" pitchFamily="34" charset="-128"/>
                <a:cs typeface="Arial Unicode MS" pitchFamily="34" charset="-128"/>
              </a:rPr>
              <a:t>Protokoll</a:t>
            </a:r>
            <a:r>
              <a:rPr lang="de-DE" kern="0" dirty="0">
                <a:ea typeface="Arial Unicode MS" pitchFamily="34" charset="-128"/>
                <a:cs typeface="Arial Unicode MS" pitchFamily="34" charset="-128"/>
              </a:rPr>
              <a:t> (1-2 Seiten): </a:t>
            </a:r>
            <a:r>
              <a:rPr lang="de-DE" kern="0" dirty="0">
                <a:highlight>
                  <a:srgbClr val="FFFF00"/>
                </a:highlight>
                <a:ea typeface="Arial Unicode MS" pitchFamily="34" charset="-128"/>
                <a:cs typeface="Arial Unicode MS" pitchFamily="34" charset="-128"/>
              </a:rPr>
              <a:t>Moodle!</a:t>
            </a:r>
          </a:p>
          <a:p>
            <a:pPr marL="742950" lvl="1" indent="-285750" fontAlgn="base">
              <a:spcBef>
                <a:spcPts val="600"/>
              </a:spcBef>
              <a:spcAft>
                <a:spcPct val="0"/>
              </a:spcAft>
              <a:buClr>
                <a:srgbClr val="F0AB00"/>
              </a:buClr>
              <a:buSzPct val="80000"/>
              <a:buFont typeface="Arial" panose="020B0604020202020204" pitchFamily="34" charset="0"/>
              <a:buChar char="•"/>
            </a:pPr>
            <a:r>
              <a:rPr lang="de-DE" sz="1400" kern="0" dirty="0">
                <a:ea typeface="Arial Unicode MS" pitchFamily="34" charset="-128"/>
                <a:cs typeface="Arial Unicode MS" pitchFamily="34" charset="-128"/>
              </a:rPr>
              <a:t>Themen der anderen Gruppen</a:t>
            </a:r>
          </a:p>
          <a:p>
            <a:pPr marL="1200150" lvl="2" indent="-285750" fontAlgn="base">
              <a:spcBef>
                <a:spcPts val="600"/>
              </a:spcBef>
              <a:spcAft>
                <a:spcPct val="0"/>
              </a:spcAft>
              <a:buClr>
                <a:srgbClr val="F0AB00"/>
              </a:buClr>
              <a:buFont typeface="Arial" panose="020B0604020202020204" pitchFamily="34" charset="0"/>
              <a:buChar char="•"/>
            </a:pPr>
            <a:r>
              <a:rPr lang="de-DE" kern="0" dirty="0">
                <a:ea typeface="Arial Unicode MS" pitchFamily="34" charset="-128"/>
                <a:cs typeface="Arial Unicode MS" pitchFamily="34" charset="-128"/>
              </a:rPr>
              <a:t>Wichtig im DT weil ….</a:t>
            </a:r>
          </a:p>
          <a:p>
            <a:pPr marL="1200150" lvl="2" indent="-285750" fontAlgn="base">
              <a:spcBef>
                <a:spcPts val="600"/>
              </a:spcBef>
              <a:spcAft>
                <a:spcPct val="0"/>
              </a:spcAft>
              <a:buClr>
                <a:srgbClr val="F0AB00"/>
              </a:buClr>
              <a:buFont typeface="Arial" panose="020B0604020202020204" pitchFamily="34" charset="0"/>
              <a:buChar char="•"/>
            </a:pPr>
            <a:r>
              <a:rPr lang="de-DE" kern="0" dirty="0">
                <a:ea typeface="Arial Unicode MS" pitchFamily="34" charset="-128"/>
                <a:cs typeface="Arial Unicode MS" pitchFamily="34" charset="-128"/>
              </a:rPr>
              <a:t>Wie im Ausbildungs-U umgesetzt (2 Punkte)</a:t>
            </a:r>
          </a:p>
          <a:p>
            <a:pPr marL="1200150" lvl="2" indent="-285750" fontAlgn="base">
              <a:spcBef>
                <a:spcPts val="600"/>
              </a:spcBef>
              <a:spcAft>
                <a:spcPct val="0"/>
              </a:spcAft>
              <a:buClr>
                <a:srgbClr val="F0AB00"/>
              </a:buClr>
              <a:buFont typeface="Arial" panose="020B0604020202020204" pitchFamily="34" charset="0"/>
              <a:buChar char="•"/>
            </a:pPr>
            <a:r>
              <a:rPr lang="de-DE" kern="0" dirty="0">
                <a:ea typeface="Arial Unicode MS" pitchFamily="34" charset="-128"/>
                <a:cs typeface="Arial Unicode MS" pitchFamily="34" charset="-128"/>
              </a:rPr>
              <a:t>Verbesserungsvorschläge (2)</a:t>
            </a:r>
          </a:p>
        </p:txBody>
      </p:sp>
      <p:sp>
        <p:nvSpPr>
          <p:cNvPr id="4" name="Title 3"/>
          <p:cNvSpPr>
            <a:spLocks noGrp="1"/>
          </p:cNvSpPr>
          <p:nvPr>
            <p:ph type="title"/>
          </p:nvPr>
        </p:nvSpPr>
        <p:spPr/>
        <p:txBody>
          <a:bodyPr/>
          <a:lstStyle/>
          <a:p>
            <a:r>
              <a:rPr lang="de-DE" dirty="0">
                <a:solidFill>
                  <a:schemeClr val="tx1"/>
                </a:solidFill>
              </a:rPr>
              <a:t>SQ II: Digital </a:t>
            </a:r>
            <a:r>
              <a:rPr lang="de-DE" dirty="0" err="1">
                <a:solidFill>
                  <a:schemeClr val="tx1"/>
                </a:solidFill>
              </a:rPr>
              <a:t>Thinking</a:t>
            </a:r>
            <a:r>
              <a:rPr lang="de-DE" dirty="0">
                <a:solidFill>
                  <a:schemeClr val="tx1"/>
                </a:solidFill>
              </a:rPr>
              <a:t> &amp; Management</a:t>
            </a:r>
            <a:br>
              <a:rPr lang="de-DE" dirty="0"/>
            </a:br>
            <a:r>
              <a:rPr lang="de-DE" dirty="0">
                <a:solidFill>
                  <a:schemeClr val="tx1"/>
                </a:solidFill>
              </a:rPr>
              <a:t>Leistungsnachweis</a:t>
            </a:r>
          </a:p>
        </p:txBody>
      </p:sp>
      <p:sp>
        <p:nvSpPr>
          <p:cNvPr id="7" name="TextBox 6"/>
          <p:cNvSpPr txBox="1"/>
          <p:nvPr/>
        </p:nvSpPr>
        <p:spPr>
          <a:xfrm>
            <a:off x="239825" y="5246450"/>
            <a:ext cx="3560130" cy="1253402"/>
          </a:xfrm>
          <a:prstGeom prst="rect">
            <a:avLst/>
          </a:prstGeom>
          <a:solidFill>
            <a:srgbClr val="FFFF00"/>
          </a:solidFill>
        </p:spPr>
        <p:txBody>
          <a:bodyPr wrap="square" lIns="72000" tIns="72000" rIns="72000" bIns="72000" rtlCol="0">
            <a:spAutoFit/>
          </a:bodyPr>
          <a:lstStyle/>
          <a:p>
            <a:pPr algn="ctr" fontAlgn="base">
              <a:spcBef>
                <a:spcPts val="600"/>
              </a:spcBef>
              <a:spcAft>
                <a:spcPct val="0"/>
              </a:spcAft>
              <a:buClr>
                <a:srgbClr val="F0AB00"/>
              </a:buClr>
              <a:buSzPct val="80000"/>
            </a:pPr>
            <a:r>
              <a:rPr lang="de-DE" sz="1600" kern="0" dirty="0">
                <a:ea typeface="Arial Unicode MS" pitchFamily="34" charset="-128"/>
                <a:cs typeface="Arial Unicode MS" pitchFamily="34" charset="-128"/>
              </a:rPr>
              <a:t>Protokoll </a:t>
            </a:r>
          </a:p>
          <a:p>
            <a:pPr algn="ctr" fontAlgn="base">
              <a:spcBef>
                <a:spcPts val="600"/>
              </a:spcBef>
              <a:spcAft>
                <a:spcPct val="0"/>
              </a:spcAft>
              <a:buClr>
                <a:srgbClr val="F0AB00"/>
              </a:buClr>
              <a:buSzPct val="80000"/>
            </a:pPr>
            <a:r>
              <a:rPr lang="de-DE" sz="2800" b="1" kern="0" dirty="0">
                <a:ea typeface="Arial Unicode MS" pitchFamily="34" charset="-128"/>
                <a:cs typeface="Arial Unicode MS" pitchFamily="34" charset="-128"/>
              </a:rPr>
              <a:t>bis 20.04.2026 </a:t>
            </a:r>
          </a:p>
          <a:p>
            <a:pPr algn="ctr" fontAlgn="base">
              <a:spcBef>
                <a:spcPts val="600"/>
              </a:spcBef>
              <a:spcAft>
                <a:spcPct val="0"/>
              </a:spcAft>
              <a:buClr>
                <a:srgbClr val="F0AB00"/>
              </a:buClr>
              <a:buSzPct val="80000"/>
            </a:pPr>
            <a:r>
              <a:rPr lang="de-DE" kern="0" dirty="0">
                <a:ea typeface="Arial Unicode MS" pitchFamily="34" charset="-128"/>
                <a:cs typeface="Arial Unicode MS" pitchFamily="34" charset="-128"/>
              </a:rPr>
              <a:t>Heinz.H.Haefner@t-online.de</a:t>
            </a:r>
            <a:endParaRPr lang="de-DE" sz="2800" kern="0" dirty="0">
              <a:ea typeface="Arial Unicode MS" pitchFamily="34" charset="-128"/>
              <a:cs typeface="Arial Unicode MS" pitchFamily="34" charset="-128"/>
            </a:endParaRPr>
          </a:p>
        </p:txBody>
      </p:sp>
      <p:graphicFrame>
        <p:nvGraphicFramePr>
          <p:cNvPr id="6" name="Table 5">
            <a:extLst>
              <a:ext uri="{FF2B5EF4-FFF2-40B4-BE49-F238E27FC236}">
                <a16:creationId xmlns:a16="http://schemas.microsoft.com/office/drawing/2014/main" id="{F0DE64B9-E3BD-4DB9-9FC3-F99322CD1B15}"/>
              </a:ext>
            </a:extLst>
          </p:cNvPr>
          <p:cNvGraphicFramePr>
            <a:graphicFrameLocks noGrp="1"/>
          </p:cNvGraphicFramePr>
          <p:nvPr>
            <p:extLst/>
          </p:nvPr>
        </p:nvGraphicFramePr>
        <p:xfrm>
          <a:off x="3934691" y="1436150"/>
          <a:ext cx="4812145" cy="4795625"/>
        </p:xfrm>
        <a:graphic>
          <a:graphicData uri="http://schemas.openxmlformats.org/drawingml/2006/table">
            <a:tbl>
              <a:tblPr firstRow="1" bandRow="1">
                <a:tableStyleId>{3C2FFA5D-87B4-456A-9821-1D502468CF0F}</a:tableStyleId>
              </a:tblPr>
              <a:tblGrid>
                <a:gridCol w="1313560">
                  <a:extLst>
                    <a:ext uri="{9D8B030D-6E8A-4147-A177-3AD203B41FA5}">
                      <a16:colId xmlns:a16="http://schemas.microsoft.com/office/drawing/2014/main" val="20000"/>
                    </a:ext>
                  </a:extLst>
                </a:gridCol>
                <a:gridCol w="3498585">
                  <a:extLst>
                    <a:ext uri="{9D8B030D-6E8A-4147-A177-3AD203B41FA5}">
                      <a16:colId xmlns:a16="http://schemas.microsoft.com/office/drawing/2014/main" val="20001"/>
                    </a:ext>
                  </a:extLst>
                </a:gridCol>
              </a:tblGrid>
              <a:tr h="370840">
                <a:tc>
                  <a:txBody>
                    <a:bodyPr/>
                    <a:lstStyle/>
                    <a:p>
                      <a:r>
                        <a:rPr lang="de-DE" sz="1600" dirty="0"/>
                        <a:t>Datum</a:t>
                      </a:r>
                    </a:p>
                  </a:txBody>
                  <a:tcPr/>
                </a:tc>
                <a:tc>
                  <a:txBody>
                    <a:bodyPr/>
                    <a:lstStyle/>
                    <a:p>
                      <a:r>
                        <a:rPr lang="de-DE" sz="1600" dirty="0"/>
                        <a:t>Themen</a:t>
                      </a:r>
                    </a:p>
                  </a:txBody>
                  <a:tcPr/>
                </a:tc>
                <a:extLst>
                  <a:ext uri="{0D108BD9-81ED-4DB2-BD59-A6C34878D82A}">
                    <a16:rowId xmlns:a16="http://schemas.microsoft.com/office/drawing/2014/main" val="10000"/>
                  </a:ext>
                </a:extLst>
              </a:tr>
              <a:tr h="370840">
                <a:tc>
                  <a:txBody>
                    <a:bodyPr/>
                    <a:lstStyle/>
                    <a:p>
                      <a:pPr algn="ctr"/>
                      <a:r>
                        <a:rPr lang="de-DE" sz="1400" dirty="0"/>
                        <a:t>17.02.26</a:t>
                      </a:r>
                    </a:p>
                    <a:p>
                      <a:pPr algn="ctr"/>
                      <a:r>
                        <a:rPr lang="de-DE" sz="1200" dirty="0"/>
                        <a:t>09.00-12.15 Uhr</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400" dirty="0"/>
                        <a:t>Vorstellung, </a:t>
                      </a:r>
                      <a:r>
                        <a:rPr lang="de-DE" sz="1400" dirty="0" err="1"/>
                        <a:t>Mega</a:t>
                      </a:r>
                      <a:r>
                        <a:rPr lang="de-DE" sz="1400" dirty="0"/>
                        <a:t> Trends – </a:t>
                      </a:r>
                      <a:r>
                        <a:rPr lang="de-DE" sz="1400" dirty="0" err="1"/>
                        <a:t>Capabilities</a:t>
                      </a:r>
                      <a:r>
                        <a:rPr lang="de-DE" sz="1400" dirty="0"/>
                        <a:t> der Zukunft</a:t>
                      </a:r>
                    </a:p>
                    <a:p>
                      <a:pPr marL="0" marR="0" indent="0" algn="l" defTabSz="914400" rtl="0" eaLnBrk="1" fontAlgn="auto" latinLnBrk="0" hangingPunct="1">
                        <a:lnSpc>
                          <a:spcPct val="100000"/>
                        </a:lnSpc>
                        <a:spcBef>
                          <a:spcPts val="0"/>
                        </a:spcBef>
                        <a:spcAft>
                          <a:spcPts val="0"/>
                        </a:spcAft>
                        <a:buClrTx/>
                        <a:buSzTx/>
                        <a:buFontTx/>
                        <a:buNone/>
                        <a:tabLst/>
                        <a:defRPr/>
                      </a:pPr>
                      <a:r>
                        <a:rPr lang="de-DE" sz="1400" dirty="0"/>
                        <a:t>Test &amp; mögliche Themen, Gruppen</a:t>
                      </a:r>
                    </a:p>
                  </a:txBody>
                  <a:tcPr/>
                </a:tc>
                <a:extLst>
                  <a:ext uri="{0D108BD9-81ED-4DB2-BD59-A6C34878D82A}">
                    <a16:rowId xmlns:a16="http://schemas.microsoft.com/office/drawing/2014/main" val="10001"/>
                  </a:ext>
                </a:extLst>
              </a:tr>
              <a:tr h="370840">
                <a:tc>
                  <a:txBody>
                    <a:bodyPr/>
                    <a:lstStyle/>
                    <a:p>
                      <a:pPr algn="ctr"/>
                      <a:r>
                        <a:rPr lang="de-DE" sz="1400" dirty="0"/>
                        <a:t>03.03.26</a:t>
                      </a:r>
                    </a:p>
                    <a:p>
                      <a:pPr algn="ctr"/>
                      <a:r>
                        <a:rPr lang="de-DE" sz="1200" dirty="0"/>
                        <a:t>09.00-12.15 Uhr</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400" dirty="0"/>
                        <a:t>(Gruppen &amp;) Themenauswahl</a:t>
                      </a:r>
                    </a:p>
                    <a:p>
                      <a:pPr marL="0" marR="0" indent="0" algn="l" defTabSz="914400" rtl="0" eaLnBrk="1" fontAlgn="auto" latinLnBrk="0" hangingPunct="1">
                        <a:lnSpc>
                          <a:spcPct val="100000"/>
                        </a:lnSpc>
                        <a:spcBef>
                          <a:spcPts val="0"/>
                        </a:spcBef>
                        <a:spcAft>
                          <a:spcPts val="0"/>
                        </a:spcAft>
                        <a:buClrTx/>
                        <a:buSzTx/>
                        <a:buFontTx/>
                        <a:buNone/>
                        <a:tabLst/>
                        <a:defRPr/>
                      </a:pPr>
                      <a:r>
                        <a:rPr lang="de-DE" sz="1400" dirty="0"/>
                        <a:t>T1:</a:t>
                      </a:r>
                      <a:r>
                        <a:rPr lang="de-DE" sz="1400" baseline="0" dirty="0"/>
                        <a:t> Kommunikation &amp; Feedback</a:t>
                      </a:r>
                    </a:p>
                    <a:p>
                      <a:pPr marL="0" marR="0" indent="0" algn="l" defTabSz="914400" rtl="0" eaLnBrk="1" fontAlgn="auto" latinLnBrk="0" hangingPunct="1">
                        <a:lnSpc>
                          <a:spcPct val="100000"/>
                        </a:lnSpc>
                        <a:spcBef>
                          <a:spcPts val="0"/>
                        </a:spcBef>
                        <a:spcAft>
                          <a:spcPts val="0"/>
                        </a:spcAft>
                        <a:buClrTx/>
                        <a:buSzTx/>
                        <a:buFontTx/>
                        <a:buNone/>
                        <a:tabLst/>
                        <a:defRPr/>
                      </a:pPr>
                      <a:r>
                        <a:rPr lang="de-DE" sz="1400" baseline="0" dirty="0"/>
                        <a:t>T2: Story </a:t>
                      </a:r>
                      <a:r>
                        <a:rPr lang="de-DE" sz="1400" baseline="0" dirty="0" err="1"/>
                        <a:t>Telling</a:t>
                      </a:r>
                      <a:r>
                        <a:rPr lang="de-DE" sz="1400" baseline="0" dirty="0"/>
                        <a:t> in Business</a:t>
                      </a:r>
                    </a:p>
                  </a:txBody>
                  <a:tcPr/>
                </a:tc>
                <a:extLst>
                  <a:ext uri="{0D108BD9-81ED-4DB2-BD59-A6C34878D82A}">
                    <a16:rowId xmlns:a16="http://schemas.microsoft.com/office/drawing/2014/main" val="10002"/>
                  </a:ext>
                </a:extLst>
              </a:tr>
              <a:tr h="370840">
                <a:tc>
                  <a:txBody>
                    <a:bodyPr/>
                    <a:lstStyle/>
                    <a:p>
                      <a:pPr algn="ctr"/>
                      <a:r>
                        <a:rPr lang="de-DE" sz="1400" dirty="0"/>
                        <a:t>10.03.26</a:t>
                      </a:r>
                    </a:p>
                    <a:p>
                      <a:pPr algn="ctr"/>
                      <a:r>
                        <a:rPr lang="de-DE" sz="1200" dirty="0"/>
                        <a:t>09.00-12.15 Uhr</a:t>
                      </a:r>
                    </a:p>
                  </a:txBody>
                  <a:tcPr/>
                </a:tc>
                <a:tc>
                  <a:txBody>
                    <a:bodyPr/>
                    <a:lstStyle/>
                    <a:p>
                      <a:r>
                        <a:rPr lang="de-DE" sz="1400" kern="1200" dirty="0">
                          <a:solidFill>
                            <a:schemeClr val="dk1"/>
                          </a:solidFill>
                          <a:latin typeface="+mn-lt"/>
                          <a:ea typeface="+mn-ea"/>
                          <a:cs typeface="+mn-cs"/>
                        </a:rPr>
                        <a:t>Themencoaching (45 min je Gruppe)</a:t>
                      </a:r>
                    </a:p>
                    <a:p>
                      <a:pPr marL="0" marR="0" lvl="0" indent="0" algn="l" defTabSz="914400" rtl="0" eaLnBrk="1" fontAlgn="auto" latinLnBrk="0" hangingPunct="1">
                        <a:lnSpc>
                          <a:spcPct val="100000"/>
                        </a:lnSpc>
                        <a:spcBef>
                          <a:spcPts val="0"/>
                        </a:spcBef>
                        <a:spcAft>
                          <a:spcPts val="0"/>
                        </a:spcAft>
                        <a:buClrTx/>
                        <a:buSzTx/>
                        <a:buFontTx/>
                        <a:buNone/>
                        <a:tabLst/>
                        <a:defRPr/>
                      </a:pPr>
                      <a:r>
                        <a:rPr lang="de-DE" sz="1200" kern="1200" dirty="0">
                          <a:solidFill>
                            <a:schemeClr val="dk1"/>
                          </a:solidFill>
                          <a:latin typeface="+mn-lt"/>
                          <a:ea typeface="+mn-ea"/>
                          <a:cs typeface="+mn-cs"/>
                        </a:rPr>
                        <a:t>09.00: A, 10.00: B, 11.00: C</a:t>
                      </a:r>
                      <a:endParaRPr lang="de-DE" sz="1200" baseline="0" dirty="0"/>
                    </a:p>
                  </a:txBody>
                  <a:tcPr/>
                </a:tc>
                <a:extLst>
                  <a:ext uri="{0D108BD9-81ED-4DB2-BD59-A6C34878D82A}">
                    <a16:rowId xmlns:a16="http://schemas.microsoft.com/office/drawing/2014/main" val="10003"/>
                  </a:ext>
                </a:extLst>
              </a:tr>
              <a:tr h="341850">
                <a:tc>
                  <a:txBody>
                    <a:bodyPr/>
                    <a:lstStyle/>
                    <a:p>
                      <a:pPr algn="ctr"/>
                      <a:r>
                        <a:rPr lang="de-DE" sz="1400" dirty="0"/>
                        <a:t>17.03.26</a:t>
                      </a:r>
                    </a:p>
                    <a:p>
                      <a:pPr algn="ctr"/>
                      <a:r>
                        <a:rPr lang="de-DE" sz="1200" dirty="0"/>
                        <a:t>13.00-16.15 Uhr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400" kern="1200" dirty="0">
                          <a:solidFill>
                            <a:schemeClr val="dk1"/>
                          </a:solidFill>
                          <a:latin typeface="+mn-lt"/>
                          <a:ea typeface="+mn-ea"/>
                          <a:cs typeface="+mn-cs"/>
                        </a:rPr>
                        <a:t>Persönliche/Soziale Kompetenz: </a:t>
                      </a:r>
                    </a:p>
                    <a:p>
                      <a:pPr marL="0" marR="0" lvl="0" indent="0" algn="l" defTabSz="914400" rtl="0" eaLnBrk="1" fontAlgn="auto" latinLnBrk="0" hangingPunct="1">
                        <a:lnSpc>
                          <a:spcPct val="100000"/>
                        </a:lnSpc>
                        <a:spcBef>
                          <a:spcPts val="0"/>
                        </a:spcBef>
                        <a:spcAft>
                          <a:spcPts val="0"/>
                        </a:spcAft>
                        <a:buClrTx/>
                        <a:buSzTx/>
                        <a:buFontTx/>
                        <a:buNone/>
                        <a:tabLst/>
                        <a:defRPr/>
                      </a:pPr>
                      <a:r>
                        <a:rPr lang="de-DE" sz="1400" dirty="0"/>
                        <a:t>T3 &amp; </a:t>
                      </a:r>
                      <a:r>
                        <a:rPr lang="de-DE" sz="1400" kern="1200" dirty="0">
                          <a:solidFill>
                            <a:schemeClr val="dk1"/>
                          </a:solidFill>
                          <a:latin typeface="+mn-lt"/>
                          <a:ea typeface="+mn-ea"/>
                          <a:cs typeface="+mn-cs"/>
                        </a:rPr>
                        <a:t>T4 &amp; T5</a:t>
                      </a:r>
                      <a:endParaRPr lang="de-DE" sz="1400" b="0" dirty="0"/>
                    </a:p>
                  </a:txBody>
                  <a:tcPr/>
                </a:tc>
                <a:extLst>
                  <a:ext uri="{0D108BD9-81ED-4DB2-BD59-A6C34878D82A}">
                    <a16:rowId xmlns:a16="http://schemas.microsoft.com/office/drawing/2014/main" val="430427903"/>
                  </a:ext>
                </a:extLst>
              </a:tr>
              <a:tr h="492865">
                <a:tc>
                  <a:txBody>
                    <a:bodyPr/>
                    <a:lstStyle/>
                    <a:p>
                      <a:pPr algn="ctr"/>
                      <a:r>
                        <a:rPr lang="de-DE" sz="1400" dirty="0"/>
                        <a:t>31.03.26</a:t>
                      </a:r>
                    </a:p>
                    <a:p>
                      <a:pPr algn="ctr"/>
                      <a:r>
                        <a:rPr lang="de-DE" sz="1200" dirty="0"/>
                        <a:t>09.00-12.15 Uhr</a:t>
                      </a:r>
                    </a:p>
                  </a:txBody>
                  <a:tcPr/>
                </a:tc>
                <a:tc>
                  <a:txBody>
                    <a:bodyPr/>
                    <a:lstStyle/>
                    <a:p>
                      <a:r>
                        <a:rPr lang="de-DE" sz="1400" dirty="0"/>
                        <a:t>Methoden: T6 &amp; </a:t>
                      </a:r>
                      <a:r>
                        <a:rPr lang="de-DE" sz="1400" kern="1200" dirty="0">
                          <a:solidFill>
                            <a:schemeClr val="dk1"/>
                          </a:solidFill>
                          <a:latin typeface="+mn-lt"/>
                          <a:ea typeface="+mn-ea"/>
                          <a:cs typeface="+mn-cs"/>
                        </a:rPr>
                        <a:t>T7 &amp; T8</a:t>
                      </a:r>
                    </a:p>
                  </a:txBody>
                  <a:tcPr/>
                </a:tc>
                <a:extLst>
                  <a:ext uri="{0D108BD9-81ED-4DB2-BD59-A6C34878D82A}">
                    <a16:rowId xmlns:a16="http://schemas.microsoft.com/office/drawing/2014/main" val="10004"/>
                  </a:ext>
                </a:extLst>
              </a:tr>
              <a:tr h="370840">
                <a:tc>
                  <a:txBody>
                    <a:bodyPr/>
                    <a:lstStyle/>
                    <a:p>
                      <a:pPr algn="ctr"/>
                      <a:r>
                        <a:rPr lang="de-DE" sz="1400" dirty="0"/>
                        <a:t>07.04.26</a:t>
                      </a:r>
                    </a:p>
                    <a:p>
                      <a:pPr algn="ctr"/>
                      <a:r>
                        <a:rPr lang="de-DE" sz="1200" dirty="0"/>
                        <a:t>09.00-12.15 Uhr</a:t>
                      </a:r>
                    </a:p>
                  </a:txBody>
                  <a:tcPr/>
                </a:tc>
                <a:tc>
                  <a:txBody>
                    <a:bodyPr/>
                    <a:lstStyle/>
                    <a:p>
                      <a:r>
                        <a:rPr lang="de-DE" sz="1400" kern="1200" dirty="0">
                          <a:solidFill>
                            <a:schemeClr val="dk1"/>
                          </a:solidFill>
                          <a:latin typeface="+mn-lt"/>
                          <a:ea typeface="+mn-ea"/>
                          <a:cs typeface="+mn-cs"/>
                        </a:rPr>
                        <a:t>Organisations-Management: </a:t>
                      </a:r>
                    </a:p>
                    <a:p>
                      <a:pPr marL="0" marR="0" lvl="0" indent="0" algn="l" defTabSz="914400" rtl="0" eaLnBrk="1" fontAlgn="auto" latinLnBrk="0" hangingPunct="1">
                        <a:lnSpc>
                          <a:spcPct val="100000"/>
                        </a:lnSpc>
                        <a:spcBef>
                          <a:spcPts val="0"/>
                        </a:spcBef>
                        <a:spcAft>
                          <a:spcPts val="0"/>
                        </a:spcAft>
                        <a:buClrTx/>
                        <a:buSzTx/>
                        <a:buFontTx/>
                        <a:buNone/>
                        <a:tabLst/>
                        <a:defRPr/>
                      </a:pPr>
                      <a:r>
                        <a:rPr lang="de-DE" sz="1400" kern="1200" dirty="0">
                          <a:solidFill>
                            <a:schemeClr val="dk1"/>
                          </a:solidFill>
                          <a:latin typeface="+mn-lt"/>
                          <a:ea typeface="+mn-ea"/>
                          <a:cs typeface="+mn-cs"/>
                        </a:rPr>
                        <a:t>T9 &amp; T10 &amp; T11</a:t>
                      </a:r>
                    </a:p>
                  </a:txBody>
                  <a:tcPr/>
                </a:tc>
                <a:extLst>
                  <a:ext uri="{0D108BD9-81ED-4DB2-BD59-A6C34878D82A}">
                    <a16:rowId xmlns:a16="http://schemas.microsoft.com/office/drawing/2014/main" val="10005"/>
                  </a:ext>
                </a:extLst>
              </a:tr>
              <a:tr h="370840">
                <a:tc>
                  <a:txBody>
                    <a:bodyPr/>
                    <a:lstStyle/>
                    <a:p>
                      <a:pPr algn="ctr"/>
                      <a:r>
                        <a:rPr lang="de-DE" sz="1400" dirty="0"/>
                        <a:t>14.04.26</a:t>
                      </a:r>
                    </a:p>
                    <a:p>
                      <a:pPr algn="ctr"/>
                      <a:r>
                        <a:rPr lang="de-DE" sz="1200" dirty="0"/>
                        <a:t>09.00-12.15 Uhr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400" b="0" kern="1200" dirty="0">
                          <a:solidFill>
                            <a:schemeClr val="dk1"/>
                          </a:solidFill>
                          <a:latin typeface="+mn-lt"/>
                          <a:ea typeface="+mn-ea"/>
                          <a:cs typeface="+mn-cs"/>
                        </a:rPr>
                        <a:t>ZEEB: DT </a:t>
                      </a:r>
                      <a:r>
                        <a:rPr lang="de-DE" sz="1400" b="0" kern="1200" dirty="0" err="1">
                          <a:solidFill>
                            <a:schemeClr val="dk1"/>
                          </a:solidFill>
                          <a:latin typeface="+mn-lt"/>
                          <a:ea typeface="+mn-ea"/>
                          <a:cs typeface="+mn-cs"/>
                        </a:rPr>
                        <a:t>workshop</a:t>
                      </a:r>
                      <a:r>
                        <a:rPr lang="de-DE" sz="1400" b="0" kern="1200" dirty="0">
                          <a:solidFill>
                            <a:schemeClr val="dk1"/>
                          </a:solidFill>
                          <a:latin typeface="+mn-lt"/>
                          <a:ea typeface="+mn-ea"/>
                          <a:cs typeface="+mn-cs"/>
                        </a:rPr>
                        <a:t> mit DT Coach Romana </a:t>
                      </a:r>
                      <a:r>
                        <a:rPr lang="de-DE" sz="1400" b="0" kern="1200" dirty="0" err="1">
                          <a:solidFill>
                            <a:schemeClr val="dk1"/>
                          </a:solidFill>
                          <a:latin typeface="+mn-lt"/>
                          <a:ea typeface="+mn-ea"/>
                          <a:cs typeface="+mn-cs"/>
                        </a:rPr>
                        <a:t>Öhmig</a:t>
                      </a:r>
                      <a:r>
                        <a:rPr lang="de-DE" sz="1400" b="0" kern="1200" dirty="0">
                          <a:solidFill>
                            <a:schemeClr val="dk1"/>
                          </a:solidFill>
                          <a:latin typeface="+mn-lt"/>
                          <a:ea typeface="+mn-ea"/>
                          <a:cs typeface="+mn-cs"/>
                        </a:rPr>
                        <a:t> (SAP)</a:t>
                      </a:r>
                    </a:p>
                    <a:p>
                      <a:pPr marL="0" marR="0" lvl="0" indent="0" algn="l" defTabSz="914400" rtl="0" eaLnBrk="1" fontAlgn="auto" latinLnBrk="0" hangingPunct="1">
                        <a:lnSpc>
                          <a:spcPct val="100000"/>
                        </a:lnSpc>
                        <a:spcBef>
                          <a:spcPts val="0"/>
                        </a:spcBef>
                        <a:spcAft>
                          <a:spcPts val="0"/>
                        </a:spcAft>
                        <a:buClrTx/>
                        <a:buSzTx/>
                        <a:buFontTx/>
                        <a:buNone/>
                        <a:tabLst/>
                        <a:defRPr/>
                      </a:pPr>
                      <a:r>
                        <a:rPr lang="de-DE" sz="1400" b="0" kern="1200" dirty="0">
                          <a:solidFill>
                            <a:schemeClr val="dk1"/>
                          </a:solidFill>
                          <a:latin typeface="+mn-lt"/>
                          <a:ea typeface="+mn-ea"/>
                          <a:cs typeface="+mn-cs"/>
                        </a:rPr>
                        <a:t>(DT=Design Thinking)</a:t>
                      </a:r>
                    </a:p>
                    <a:p>
                      <a:pPr marL="0" marR="0" lvl="0" indent="0" algn="l" defTabSz="914400" rtl="0" eaLnBrk="1" fontAlgn="auto" latinLnBrk="0" hangingPunct="1">
                        <a:lnSpc>
                          <a:spcPct val="100000"/>
                        </a:lnSpc>
                        <a:spcBef>
                          <a:spcPts val="0"/>
                        </a:spcBef>
                        <a:spcAft>
                          <a:spcPts val="0"/>
                        </a:spcAft>
                        <a:buClrTx/>
                        <a:buSzTx/>
                        <a:buFontTx/>
                        <a:buNone/>
                        <a:tabLst/>
                        <a:defRPr/>
                      </a:pPr>
                      <a:r>
                        <a:rPr lang="de-DE" sz="1400" b="0" kern="1200" dirty="0">
                          <a:solidFill>
                            <a:schemeClr val="dk1"/>
                          </a:solidFill>
                          <a:latin typeface="+mn-lt"/>
                          <a:ea typeface="+mn-ea"/>
                          <a:cs typeface="+mn-cs"/>
                        </a:rPr>
                        <a:t>Feedback zur Vorlesung</a:t>
                      </a:r>
                      <a:endParaRPr lang="de-DE" sz="1400" b="0" dirty="0"/>
                    </a:p>
                  </a:txBody>
                  <a:tcPr/>
                </a:tc>
                <a:extLst>
                  <a:ext uri="{0D108BD9-81ED-4DB2-BD59-A6C34878D82A}">
                    <a16:rowId xmlns:a16="http://schemas.microsoft.com/office/drawing/2014/main" val="10006"/>
                  </a:ext>
                </a:extLst>
              </a:tr>
            </a:tbl>
          </a:graphicData>
        </a:graphic>
      </p:graphicFrame>
      <p:sp>
        <p:nvSpPr>
          <p:cNvPr id="8" name="TextBox 8">
            <a:extLst>
              <a:ext uri="{FF2B5EF4-FFF2-40B4-BE49-F238E27FC236}">
                <a16:creationId xmlns:a16="http://schemas.microsoft.com/office/drawing/2014/main" id="{DC106EE6-BB60-4FFF-BAD3-8C385B57059A}"/>
              </a:ext>
            </a:extLst>
          </p:cNvPr>
          <p:cNvSpPr txBox="1"/>
          <p:nvPr/>
        </p:nvSpPr>
        <p:spPr>
          <a:xfrm>
            <a:off x="500514" y="1564110"/>
            <a:ext cx="8206814" cy="4539704"/>
          </a:xfrm>
          <a:prstGeom prst="rect">
            <a:avLst/>
          </a:prstGeom>
          <a:solidFill>
            <a:schemeClr val="bg1">
              <a:alpha val="98000"/>
            </a:schemeClr>
          </a:solidFill>
        </p:spPr>
        <p:txBody>
          <a:bodyPr wrap="square" lIns="0" tIns="0" rIns="0" bIns="0" rtlCol="0" anchor="t">
            <a:spAutoFit/>
          </a:bodyPr>
          <a:lstStyle/>
          <a:p>
            <a:pPr fontAlgn="base">
              <a:spcBef>
                <a:spcPts val="600"/>
              </a:spcBef>
              <a:spcAft>
                <a:spcPct val="0"/>
              </a:spcAft>
              <a:buClr>
                <a:srgbClr val="F0AB00"/>
              </a:buClr>
              <a:buSzPct val="80000"/>
            </a:pPr>
            <a:endParaRPr lang="de-DE" sz="3200" b="1" kern="0" dirty="0">
              <a:ea typeface="Arial Unicode MS" pitchFamily="34" charset="-128"/>
              <a:cs typeface="Arial Unicode MS" pitchFamily="34" charset="-128"/>
            </a:endParaRPr>
          </a:p>
          <a:p>
            <a:pPr fontAlgn="base">
              <a:spcBef>
                <a:spcPts val="600"/>
              </a:spcBef>
              <a:spcAft>
                <a:spcPct val="0"/>
              </a:spcAft>
              <a:buClr>
                <a:srgbClr val="F0AB00"/>
              </a:buClr>
              <a:buSzPct val="80000"/>
            </a:pPr>
            <a:endParaRPr lang="de-DE" sz="3200" b="1" kern="0" dirty="0">
              <a:ea typeface="Arial Unicode MS" pitchFamily="34" charset="-128"/>
              <a:cs typeface="Arial Unicode MS" pitchFamily="34" charset="-128"/>
            </a:endParaRPr>
          </a:p>
          <a:p>
            <a:pPr fontAlgn="base">
              <a:spcBef>
                <a:spcPts val="600"/>
              </a:spcBef>
              <a:spcAft>
                <a:spcPct val="0"/>
              </a:spcAft>
              <a:buClr>
                <a:srgbClr val="F0AB00"/>
              </a:buClr>
              <a:buSzPct val="80000"/>
            </a:pPr>
            <a:endParaRPr lang="de-DE" sz="3200" b="1" kern="0" dirty="0">
              <a:ea typeface="Arial Unicode MS" pitchFamily="34" charset="-128"/>
              <a:cs typeface="Arial Unicode MS" pitchFamily="34" charset="-128"/>
            </a:endParaRPr>
          </a:p>
          <a:p>
            <a:pPr algn="ctr" fontAlgn="base">
              <a:spcBef>
                <a:spcPts val="600"/>
              </a:spcBef>
              <a:spcAft>
                <a:spcPct val="0"/>
              </a:spcAft>
              <a:buClr>
                <a:srgbClr val="F0AB00"/>
              </a:buClr>
              <a:buSzPct val="80000"/>
            </a:pPr>
            <a:r>
              <a:rPr lang="de-DE" sz="3200" b="1" kern="0" dirty="0">
                <a:ea typeface="Arial Unicode MS" pitchFamily="34" charset="-128"/>
                <a:cs typeface="Arial Unicode MS" pitchFamily="34" charset="-128"/>
              </a:rPr>
              <a:t>Darauf kommen wir </a:t>
            </a:r>
          </a:p>
          <a:p>
            <a:pPr algn="ctr" fontAlgn="base">
              <a:spcBef>
                <a:spcPts val="600"/>
              </a:spcBef>
              <a:spcAft>
                <a:spcPct val="0"/>
              </a:spcAft>
              <a:buClr>
                <a:srgbClr val="F0AB00"/>
              </a:buClr>
              <a:buSzPct val="80000"/>
            </a:pPr>
            <a:r>
              <a:rPr lang="de-DE" sz="3200" b="1" kern="0" dirty="0">
                <a:ea typeface="Arial Unicode MS" pitchFamily="34" charset="-128"/>
                <a:cs typeface="Arial Unicode MS" pitchFamily="34" charset="-128"/>
              </a:rPr>
              <a:t>etwas später zurück</a:t>
            </a:r>
          </a:p>
          <a:p>
            <a:pPr fontAlgn="base">
              <a:spcBef>
                <a:spcPts val="600"/>
              </a:spcBef>
              <a:spcAft>
                <a:spcPct val="0"/>
              </a:spcAft>
              <a:buClr>
                <a:srgbClr val="F0AB00"/>
              </a:buClr>
              <a:buSzPct val="80000"/>
            </a:pPr>
            <a:endParaRPr lang="de-DE" kern="0" dirty="0">
              <a:ea typeface="Arial Unicode MS" pitchFamily="34" charset="-128"/>
              <a:cs typeface="Arial Unicode MS" pitchFamily="34" charset="-128"/>
            </a:endParaRPr>
          </a:p>
          <a:p>
            <a:pPr fontAlgn="base">
              <a:spcBef>
                <a:spcPts val="600"/>
              </a:spcBef>
              <a:spcAft>
                <a:spcPct val="0"/>
              </a:spcAft>
              <a:buClr>
                <a:srgbClr val="F0AB00"/>
              </a:buClr>
              <a:buSzPct val="80000"/>
            </a:pPr>
            <a:endParaRPr lang="de-DE" sz="1800" kern="0" dirty="0">
              <a:ea typeface="Arial Unicode MS" pitchFamily="34" charset="-128"/>
              <a:cs typeface="Arial Unicode MS" pitchFamily="34" charset="-128"/>
            </a:endParaRPr>
          </a:p>
          <a:p>
            <a:pPr fontAlgn="base">
              <a:spcBef>
                <a:spcPts val="600"/>
              </a:spcBef>
              <a:spcAft>
                <a:spcPct val="0"/>
              </a:spcAft>
              <a:buClr>
                <a:srgbClr val="F0AB00"/>
              </a:buClr>
              <a:buSzPct val="80000"/>
            </a:pPr>
            <a:endParaRPr lang="de-DE" kern="0" dirty="0">
              <a:ea typeface="Arial Unicode MS" pitchFamily="34" charset="-128"/>
              <a:cs typeface="Arial Unicode MS" pitchFamily="34" charset="-128"/>
            </a:endParaRPr>
          </a:p>
          <a:p>
            <a:pPr fontAlgn="base">
              <a:spcBef>
                <a:spcPts val="600"/>
              </a:spcBef>
              <a:spcAft>
                <a:spcPct val="0"/>
              </a:spcAft>
              <a:buClr>
                <a:srgbClr val="F0AB00"/>
              </a:buClr>
              <a:buSzPct val="80000"/>
            </a:pPr>
            <a:endParaRPr lang="de-DE" sz="1800" kern="0" dirty="0">
              <a:ea typeface="Arial Unicode MS" pitchFamily="34" charset="-128"/>
              <a:cs typeface="Arial Unicode MS" pitchFamily="34" charset="-128"/>
            </a:endParaRPr>
          </a:p>
          <a:p>
            <a:pPr fontAlgn="base">
              <a:spcBef>
                <a:spcPts val="600"/>
              </a:spcBef>
              <a:spcAft>
                <a:spcPct val="0"/>
              </a:spcAft>
              <a:buClr>
                <a:srgbClr val="F0AB00"/>
              </a:buClr>
              <a:buSzPct val="80000"/>
            </a:pPr>
            <a:endParaRPr lang="de-DE" kern="0" dirty="0">
              <a:ea typeface="Arial Unicode MS" pitchFamily="34" charset="-128"/>
              <a:cs typeface="Arial Unicode MS" pitchFamily="34" charset="-128"/>
            </a:endParaRPr>
          </a:p>
        </p:txBody>
      </p:sp>
    </p:spTree>
    <p:extLst>
      <p:ext uri="{BB962C8B-B14F-4D97-AF65-F5344CB8AC3E}">
        <p14:creationId xmlns:p14="http://schemas.microsoft.com/office/powerpoint/2010/main" val="26175858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1556FF8-E5B8-41A3-A198-D64985E3FE3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584"/>
            <a:ext cx="9144000" cy="6865167"/>
          </a:xfrm>
          <a:prstGeom prst="rect">
            <a:avLst/>
          </a:prstGeom>
        </p:spPr>
      </p:pic>
      <p:sp>
        <p:nvSpPr>
          <p:cNvPr id="4" name="Title 3"/>
          <p:cNvSpPr>
            <a:spLocks noGrp="1"/>
          </p:cNvSpPr>
          <p:nvPr>
            <p:ph type="title"/>
          </p:nvPr>
        </p:nvSpPr>
        <p:spPr/>
        <p:txBody>
          <a:bodyPr/>
          <a:lstStyle/>
          <a:p>
            <a:r>
              <a:rPr lang="de-DE" dirty="0">
                <a:solidFill>
                  <a:schemeClr val="tx1"/>
                </a:solidFill>
              </a:rPr>
              <a:t>SQ II: Digital </a:t>
            </a:r>
            <a:r>
              <a:rPr lang="de-DE" dirty="0" err="1">
                <a:solidFill>
                  <a:schemeClr val="tx1"/>
                </a:solidFill>
              </a:rPr>
              <a:t>Thinking</a:t>
            </a:r>
            <a:r>
              <a:rPr lang="de-DE" dirty="0">
                <a:solidFill>
                  <a:schemeClr val="tx1"/>
                </a:solidFill>
              </a:rPr>
              <a:t> &amp; Management</a:t>
            </a:r>
          </a:p>
        </p:txBody>
      </p:sp>
      <p:sp>
        <p:nvSpPr>
          <p:cNvPr id="6" name="TextBox 5">
            <a:extLst>
              <a:ext uri="{FF2B5EF4-FFF2-40B4-BE49-F238E27FC236}">
                <a16:creationId xmlns:a16="http://schemas.microsoft.com/office/drawing/2014/main" id="{2FA3691E-AED8-4B99-9AF5-F7E11BFD480F}"/>
              </a:ext>
            </a:extLst>
          </p:cNvPr>
          <p:cNvSpPr txBox="1"/>
          <p:nvPr/>
        </p:nvSpPr>
        <p:spPr>
          <a:xfrm>
            <a:off x="4341090" y="3713018"/>
            <a:ext cx="1874982" cy="3062377"/>
          </a:xfrm>
          <a:prstGeom prst="rect">
            <a:avLst/>
          </a:prstGeom>
          <a:noFill/>
        </p:spPr>
        <p:txBody>
          <a:bodyPr wrap="square" lIns="0" tIns="0" rIns="0" bIns="0" rtlCol="0">
            <a:spAutoFit/>
          </a:bodyPr>
          <a:lstStyle/>
          <a:p>
            <a:pPr fontAlgn="base">
              <a:spcBef>
                <a:spcPts val="600"/>
              </a:spcBef>
              <a:spcAft>
                <a:spcPct val="0"/>
              </a:spcAft>
              <a:buClr>
                <a:srgbClr val="F0AB00"/>
              </a:buClr>
              <a:buSzPct val="80000"/>
            </a:pPr>
            <a:r>
              <a:rPr lang="de-DE" sz="19900" kern="0" dirty="0">
                <a:solidFill>
                  <a:schemeClr val="bg1"/>
                </a:solidFill>
                <a:ea typeface="Arial Unicode MS" pitchFamily="34" charset="-128"/>
                <a:cs typeface="Arial Unicode MS" pitchFamily="34" charset="-128"/>
              </a:rPr>
              <a:t>?</a:t>
            </a:r>
          </a:p>
        </p:txBody>
      </p:sp>
    </p:spTree>
    <p:extLst>
      <p:ext uri="{BB962C8B-B14F-4D97-AF65-F5344CB8AC3E}">
        <p14:creationId xmlns:p14="http://schemas.microsoft.com/office/powerpoint/2010/main" val="15550224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de-DE" dirty="0">
                <a:solidFill>
                  <a:schemeClr val="tx1"/>
                </a:solidFill>
              </a:rPr>
              <a:t>SQ II: Digital </a:t>
            </a:r>
            <a:r>
              <a:rPr lang="de-DE" dirty="0" err="1">
                <a:solidFill>
                  <a:schemeClr val="tx1"/>
                </a:solidFill>
              </a:rPr>
              <a:t>Thinking</a:t>
            </a:r>
            <a:r>
              <a:rPr lang="de-DE" dirty="0">
                <a:solidFill>
                  <a:schemeClr val="tx1"/>
                </a:solidFill>
              </a:rPr>
              <a:t> &amp; Management</a:t>
            </a:r>
          </a:p>
        </p:txBody>
      </p:sp>
      <p:sp>
        <p:nvSpPr>
          <p:cNvPr id="6" name="TextBox 5">
            <a:extLst>
              <a:ext uri="{FF2B5EF4-FFF2-40B4-BE49-F238E27FC236}">
                <a16:creationId xmlns:a16="http://schemas.microsoft.com/office/drawing/2014/main" id="{2FA3691E-AED8-4B99-9AF5-F7E11BFD480F}"/>
              </a:ext>
            </a:extLst>
          </p:cNvPr>
          <p:cNvSpPr txBox="1"/>
          <p:nvPr/>
        </p:nvSpPr>
        <p:spPr>
          <a:xfrm>
            <a:off x="4341090" y="3713018"/>
            <a:ext cx="1874982" cy="3062377"/>
          </a:xfrm>
          <a:prstGeom prst="rect">
            <a:avLst/>
          </a:prstGeom>
          <a:noFill/>
        </p:spPr>
        <p:txBody>
          <a:bodyPr wrap="square" lIns="0" tIns="0" rIns="0" bIns="0" rtlCol="0">
            <a:spAutoFit/>
          </a:bodyPr>
          <a:lstStyle/>
          <a:p>
            <a:pPr fontAlgn="base">
              <a:spcBef>
                <a:spcPts val="600"/>
              </a:spcBef>
              <a:spcAft>
                <a:spcPct val="0"/>
              </a:spcAft>
              <a:buClr>
                <a:srgbClr val="F0AB00"/>
              </a:buClr>
              <a:buSzPct val="80000"/>
            </a:pPr>
            <a:r>
              <a:rPr lang="de-DE" sz="19900" kern="0" dirty="0">
                <a:solidFill>
                  <a:schemeClr val="bg1"/>
                </a:solidFill>
                <a:ea typeface="Arial Unicode MS" pitchFamily="34" charset="-128"/>
                <a:cs typeface="Arial Unicode MS" pitchFamily="34" charset="-128"/>
              </a:rPr>
              <a:t>?</a:t>
            </a:r>
          </a:p>
        </p:txBody>
      </p:sp>
      <p:sp>
        <p:nvSpPr>
          <p:cNvPr id="2" name="Oval 1">
            <a:extLst>
              <a:ext uri="{FF2B5EF4-FFF2-40B4-BE49-F238E27FC236}">
                <a16:creationId xmlns:a16="http://schemas.microsoft.com/office/drawing/2014/main" id="{7944524D-D647-4462-A2FB-6DFE34F15347}"/>
              </a:ext>
            </a:extLst>
          </p:cNvPr>
          <p:cNvSpPr/>
          <p:nvPr/>
        </p:nvSpPr>
        <p:spPr bwMode="gray">
          <a:xfrm>
            <a:off x="1802741" y="1989938"/>
            <a:ext cx="4725751" cy="2310087"/>
          </a:xfrm>
          <a:prstGeom prst="ellipse">
            <a:avLst/>
          </a:prstGeom>
          <a:solidFill>
            <a:schemeClr val="accent1"/>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4400" b="1" i="0" u="none" strike="noStrike" kern="0" cap="none" spc="0" normalizeH="0" baseline="0" noProof="0" dirty="0">
                <a:ln>
                  <a:noFill/>
                </a:ln>
                <a:effectLst/>
                <a:uLnTx/>
                <a:uFillTx/>
                <a:ea typeface="Arial Unicode MS" pitchFamily="34" charset="-128"/>
                <a:cs typeface="Arial Unicode MS" pitchFamily="34" charset="-128"/>
              </a:rPr>
              <a:t>Megatrends</a:t>
            </a:r>
          </a:p>
          <a:p>
            <a:pPr marR="0" algn="ctr" defTabSz="914400" eaLnBrk="1" fontAlgn="base" latinLnBrk="0" hangingPunct="1">
              <a:lnSpc>
                <a:spcPct val="100000"/>
              </a:lnSpc>
              <a:spcBef>
                <a:spcPct val="50000"/>
              </a:spcBef>
              <a:spcAft>
                <a:spcPct val="0"/>
              </a:spcAft>
              <a:buClr>
                <a:srgbClr val="F0AB00"/>
              </a:buClr>
              <a:buSzPct val="80000"/>
              <a:tabLst/>
            </a:pPr>
            <a:r>
              <a:rPr lang="de-DE" sz="2000" b="1" kern="0" dirty="0">
                <a:ea typeface="Arial Unicode MS" pitchFamily="34" charset="-128"/>
                <a:cs typeface="Arial Unicode MS" pitchFamily="34" charset="-128"/>
              </a:rPr>
              <a:t>(Zukunftsinstitut)</a:t>
            </a:r>
            <a:endParaRPr kumimoji="0" lang="de-DE" sz="2000" b="1" i="0" u="none" strike="noStrike" kern="0" cap="none" spc="0" normalizeH="0" baseline="0" noProof="0" dirty="0">
              <a:ln>
                <a:noFill/>
              </a:ln>
              <a:effectLst/>
              <a:uLnTx/>
              <a:uFillTx/>
              <a:ea typeface="Arial Unicode MS" pitchFamily="34" charset="-128"/>
              <a:cs typeface="Arial Unicode MS" pitchFamily="34" charset="-128"/>
            </a:endParaRPr>
          </a:p>
        </p:txBody>
      </p:sp>
    </p:spTree>
    <p:extLst>
      <p:ext uri="{BB962C8B-B14F-4D97-AF65-F5344CB8AC3E}">
        <p14:creationId xmlns:p14="http://schemas.microsoft.com/office/powerpoint/2010/main" val="18085536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24000" y="211243"/>
            <a:ext cx="8496000" cy="756000"/>
          </a:xfrm>
        </p:spPr>
        <p:txBody>
          <a:bodyPr/>
          <a:lstStyle/>
          <a:p>
            <a:r>
              <a:rPr lang="de-DE" dirty="0">
                <a:solidFill>
                  <a:schemeClr val="tx1"/>
                </a:solidFill>
              </a:rPr>
              <a:t>SQ II: Digital </a:t>
            </a:r>
            <a:r>
              <a:rPr lang="de-DE" dirty="0" err="1">
                <a:solidFill>
                  <a:schemeClr val="tx1"/>
                </a:solidFill>
              </a:rPr>
              <a:t>Thinking</a:t>
            </a:r>
            <a:r>
              <a:rPr lang="de-DE" dirty="0">
                <a:solidFill>
                  <a:schemeClr val="tx1"/>
                </a:solidFill>
              </a:rPr>
              <a:t> &amp; Management</a:t>
            </a:r>
            <a:br>
              <a:rPr lang="de-DE" dirty="0">
                <a:solidFill>
                  <a:schemeClr val="tx1"/>
                </a:solidFill>
              </a:rPr>
            </a:br>
            <a:r>
              <a:rPr lang="de-DE" dirty="0">
                <a:solidFill>
                  <a:schemeClr val="tx1"/>
                </a:solidFill>
              </a:rPr>
              <a:t>https://www.zukunftsinstitut.de/dossier/megatrends/</a:t>
            </a:r>
          </a:p>
        </p:txBody>
      </p:sp>
      <p:sp>
        <p:nvSpPr>
          <p:cNvPr id="2" name="Oval 1">
            <a:extLst>
              <a:ext uri="{FF2B5EF4-FFF2-40B4-BE49-F238E27FC236}">
                <a16:creationId xmlns:a16="http://schemas.microsoft.com/office/drawing/2014/main" id="{7944524D-D647-4462-A2FB-6DFE34F15347}"/>
              </a:ext>
            </a:extLst>
          </p:cNvPr>
          <p:cNvSpPr/>
          <p:nvPr/>
        </p:nvSpPr>
        <p:spPr bwMode="gray">
          <a:xfrm>
            <a:off x="3448169" y="3204057"/>
            <a:ext cx="2363824" cy="1512109"/>
          </a:xfrm>
          <a:prstGeom prst="ellipse">
            <a:avLst/>
          </a:prstGeom>
          <a:solidFill>
            <a:schemeClr val="accent1"/>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3200" b="1" i="0" u="none" strike="noStrike" kern="0" cap="none" spc="0" normalizeH="0" baseline="0" noProof="0" dirty="0">
                <a:ln>
                  <a:noFill/>
                </a:ln>
                <a:effectLst/>
                <a:uLnTx/>
                <a:uFillTx/>
                <a:ea typeface="Arial Unicode MS" pitchFamily="34" charset="-128"/>
                <a:cs typeface="Arial Unicode MS" pitchFamily="34" charset="-128"/>
              </a:rPr>
              <a:t>Mega-Trends</a:t>
            </a:r>
          </a:p>
        </p:txBody>
      </p:sp>
      <p:sp>
        <p:nvSpPr>
          <p:cNvPr id="8" name="Oval 7">
            <a:extLst>
              <a:ext uri="{FF2B5EF4-FFF2-40B4-BE49-F238E27FC236}">
                <a16:creationId xmlns:a16="http://schemas.microsoft.com/office/drawing/2014/main" id="{A212FA2A-E009-4BE5-962A-0B7ACAEBB5F4}"/>
              </a:ext>
            </a:extLst>
          </p:cNvPr>
          <p:cNvSpPr/>
          <p:nvPr/>
        </p:nvSpPr>
        <p:spPr bwMode="gray">
          <a:xfrm>
            <a:off x="305830" y="2191894"/>
            <a:ext cx="3985615" cy="825455"/>
          </a:xfrm>
          <a:prstGeom prst="ellipse">
            <a:avLst/>
          </a:prstGeom>
          <a:solidFill>
            <a:schemeClr val="accent4">
              <a:lumMod val="60000"/>
              <a:lumOff val="40000"/>
            </a:schemeClr>
          </a:solidFill>
          <a:ln w="6350" algn="ctr">
            <a:noFill/>
            <a:miter lim="800000"/>
            <a:headEnd/>
            <a:tailEnd/>
          </a:ln>
        </p:spPr>
        <p:txBody>
          <a:bodyPr lIns="90000" tIns="72000" rIns="90000" bIns="72000" rtlCol="0" anchor="ctr"/>
          <a:lstStyle/>
          <a:p>
            <a:pPr algn="ctr" fontAlgn="base">
              <a:spcBef>
                <a:spcPct val="50000"/>
              </a:spcBef>
              <a:spcAft>
                <a:spcPct val="0"/>
              </a:spcAft>
              <a:buClr>
                <a:srgbClr val="F0AB00"/>
              </a:buClr>
              <a:buSzPct val="80000"/>
            </a:pPr>
            <a:r>
              <a:rPr lang="de-DE" sz="2400" b="1" kern="0" dirty="0">
                <a:ea typeface="Arial Unicode MS" pitchFamily="34" charset="-128"/>
                <a:cs typeface="Arial Unicode MS" pitchFamily="34" charset="-128"/>
              </a:rPr>
              <a:t>Individualisierung</a:t>
            </a:r>
            <a:endParaRPr kumimoji="0" lang="de-DE" sz="2400" b="1"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13" name="Oval 12">
            <a:extLst>
              <a:ext uri="{FF2B5EF4-FFF2-40B4-BE49-F238E27FC236}">
                <a16:creationId xmlns:a16="http://schemas.microsoft.com/office/drawing/2014/main" id="{4B6E21D8-14B1-41D1-96AD-0A52E32C98D1}"/>
              </a:ext>
            </a:extLst>
          </p:cNvPr>
          <p:cNvSpPr/>
          <p:nvPr/>
        </p:nvSpPr>
        <p:spPr bwMode="gray">
          <a:xfrm>
            <a:off x="305830" y="3955325"/>
            <a:ext cx="3262223" cy="825455"/>
          </a:xfrm>
          <a:prstGeom prst="ellipse">
            <a:avLst/>
          </a:prstGeom>
          <a:solidFill>
            <a:schemeClr val="accent4">
              <a:lumMod val="60000"/>
              <a:lumOff val="40000"/>
            </a:schemeClr>
          </a:solidFill>
          <a:ln w="6350" algn="ctr">
            <a:noFill/>
            <a:miter lim="800000"/>
            <a:headEnd/>
            <a:tailEnd/>
          </a:ln>
        </p:spPr>
        <p:txBody>
          <a:bodyPr lIns="90000" tIns="72000" rIns="90000" bIns="72000" rtlCol="0" anchor="ctr"/>
          <a:lstStyle/>
          <a:p>
            <a:pPr algn="ctr" fontAlgn="base">
              <a:spcBef>
                <a:spcPct val="50000"/>
              </a:spcBef>
              <a:spcAft>
                <a:spcPct val="0"/>
              </a:spcAft>
              <a:buClr>
                <a:srgbClr val="F0AB00"/>
              </a:buClr>
              <a:buSzPct val="80000"/>
            </a:pPr>
            <a:r>
              <a:rPr lang="de-DE" sz="2400" b="1" kern="0" dirty="0">
                <a:ea typeface="Arial Unicode MS" pitchFamily="34" charset="-128"/>
                <a:cs typeface="Arial Unicode MS" pitchFamily="34" charset="-128"/>
              </a:rPr>
              <a:t>Gesundheit</a:t>
            </a:r>
            <a:endParaRPr kumimoji="0" lang="de-DE" sz="2400" b="1"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14" name="Oval 13">
            <a:extLst>
              <a:ext uri="{FF2B5EF4-FFF2-40B4-BE49-F238E27FC236}">
                <a16:creationId xmlns:a16="http://schemas.microsoft.com/office/drawing/2014/main" id="{11FE77E5-A61D-4E18-8414-DA827B6E9956}"/>
              </a:ext>
            </a:extLst>
          </p:cNvPr>
          <p:cNvSpPr/>
          <p:nvPr/>
        </p:nvSpPr>
        <p:spPr bwMode="gray">
          <a:xfrm>
            <a:off x="305830" y="4851386"/>
            <a:ext cx="3262223" cy="825455"/>
          </a:xfrm>
          <a:prstGeom prst="ellipse">
            <a:avLst/>
          </a:prstGeom>
          <a:solidFill>
            <a:schemeClr val="accent4">
              <a:lumMod val="60000"/>
              <a:lumOff val="40000"/>
            </a:schemeClr>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2400" b="1" i="0" u="none" strike="noStrike" kern="0" cap="none" spc="0" normalizeH="0" baseline="0" noProof="0" dirty="0">
                <a:ln>
                  <a:noFill/>
                </a:ln>
                <a:effectLst/>
                <a:uLnTx/>
                <a:uFillTx/>
                <a:ea typeface="Arial Unicode MS" pitchFamily="34" charset="-128"/>
                <a:cs typeface="Arial Unicode MS" pitchFamily="34" charset="-128"/>
              </a:rPr>
              <a:t>Nachhaltigkeit</a:t>
            </a:r>
          </a:p>
        </p:txBody>
      </p:sp>
      <p:sp>
        <p:nvSpPr>
          <p:cNvPr id="15" name="Oval 14">
            <a:extLst>
              <a:ext uri="{FF2B5EF4-FFF2-40B4-BE49-F238E27FC236}">
                <a16:creationId xmlns:a16="http://schemas.microsoft.com/office/drawing/2014/main" id="{8A7E0E36-5F1A-4C72-9A09-CE47452CEBD2}"/>
              </a:ext>
            </a:extLst>
          </p:cNvPr>
          <p:cNvSpPr/>
          <p:nvPr/>
        </p:nvSpPr>
        <p:spPr bwMode="gray">
          <a:xfrm>
            <a:off x="305830" y="3077826"/>
            <a:ext cx="3262223" cy="825455"/>
          </a:xfrm>
          <a:prstGeom prst="ellipse">
            <a:avLst/>
          </a:prstGeom>
          <a:solidFill>
            <a:schemeClr val="accent4">
              <a:lumMod val="60000"/>
              <a:lumOff val="40000"/>
            </a:schemeClr>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2400" b="1" i="0" u="none" strike="noStrike" kern="0" cap="none" spc="0" normalizeH="0" baseline="0" noProof="0" dirty="0">
                <a:ln>
                  <a:noFill/>
                </a:ln>
                <a:effectLst/>
                <a:uLnTx/>
                <a:uFillTx/>
                <a:ea typeface="Arial Unicode MS" pitchFamily="34" charset="-128"/>
                <a:cs typeface="Arial Unicode MS" pitchFamily="34" charset="-128"/>
              </a:rPr>
              <a:t>Konnektivität</a:t>
            </a:r>
          </a:p>
        </p:txBody>
      </p:sp>
      <p:sp>
        <p:nvSpPr>
          <p:cNvPr id="16" name="Oval 15">
            <a:extLst>
              <a:ext uri="{FF2B5EF4-FFF2-40B4-BE49-F238E27FC236}">
                <a16:creationId xmlns:a16="http://schemas.microsoft.com/office/drawing/2014/main" id="{1AC3AEC0-2B05-411A-8134-53AA5A1AC36F}"/>
              </a:ext>
            </a:extLst>
          </p:cNvPr>
          <p:cNvSpPr/>
          <p:nvPr/>
        </p:nvSpPr>
        <p:spPr bwMode="gray">
          <a:xfrm>
            <a:off x="305831" y="5716941"/>
            <a:ext cx="3382942" cy="825455"/>
          </a:xfrm>
          <a:prstGeom prst="ellipse">
            <a:avLst/>
          </a:prstGeom>
          <a:solidFill>
            <a:schemeClr val="accent4">
              <a:lumMod val="60000"/>
              <a:lumOff val="40000"/>
            </a:schemeClr>
          </a:solidFill>
          <a:ln w="6350" algn="ctr">
            <a:noFill/>
            <a:miter lim="800000"/>
            <a:headEnd/>
            <a:tailEnd/>
          </a:ln>
        </p:spPr>
        <p:txBody>
          <a:bodyPr lIns="90000" tIns="72000" rIns="90000" bIns="72000" rtlCol="0" anchor="ctr"/>
          <a:lstStyle/>
          <a:p>
            <a:pPr algn="ctr" fontAlgn="base">
              <a:spcBef>
                <a:spcPct val="50000"/>
              </a:spcBef>
              <a:spcAft>
                <a:spcPct val="0"/>
              </a:spcAft>
              <a:buClr>
                <a:srgbClr val="F0AB00"/>
              </a:buClr>
              <a:buSzPct val="80000"/>
            </a:pPr>
            <a:r>
              <a:rPr lang="de-DE" sz="2400" b="1" kern="0" dirty="0">
                <a:ea typeface="Arial Unicode MS" pitchFamily="34" charset="-128"/>
                <a:cs typeface="Arial Unicode MS" pitchFamily="34" charset="-128"/>
              </a:rPr>
              <a:t>Urbanisierung</a:t>
            </a:r>
          </a:p>
        </p:txBody>
      </p:sp>
      <p:sp>
        <p:nvSpPr>
          <p:cNvPr id="17" name="Oval 16">
            <a:extLst>
              <a:ext uri="{FF2B5EF4-FFF2-40B4-BE49-F238E27FC236}">
                <a16:creationId xmlns:a16="http://schemas.microsoft.com/office/drawing/2014/main" id="{E272183C-92C4-4D6E-90A0-D0AA4670BFA7}"/>
              </a:ext>
            </a:extLst>
          </p:cNvPr>
          <p:cNvSpPr/>
          <p:nvPr/>
        </p:nvSpPr>
        <p:spPr bwMode="gray">
          <a:xfrm>
            <a:off x="305830" y="1320997"/>
            <a:ext cx="3985615" cy="825455"/>
          </a:xfrm>
          <a:prstGeom prst="ellipse">
            <a:avLst/>
          </a:prstGeom>
          <a:solidFill>
            <a:schemeClr val="accent4">
              <a:lumMod val="60000"/>
              <a:lumOff val="40000"/>
            </a:schemeClr>
          </a:solidFill>
          <a:ln w="6350" algn="ctr">
            <a:noFill/>
            <a:miter lim="800000"/>
            <a:headEnd/>
            <a:tailEnd/>
          </a:ln>
        </p:spPr>
        <p:txBody>
          <a:bodyPr lIns="90000" tIns="72000" rIns="90000" bIns="72000" rtlCol="0" anchor="ctr"/>
          <a:lstStyle/>
          <a:p>
            <a:pPr algn="ctr" fontAlgn="base">
              <a:spcBef>
                <a:spcPct val="50000"/>
              </a:spcBef>
              <a:spcAft>
                <a:spcPct val="0"/>
              </a:spcAft>
              <a:buClr>
                <a:srgbClr val="F0AB00"/>
              </a:buClr>
              <a:buSzPct val="80000"/>
            </a:pPr>
            <a:r>
              <a:rPr lang="de-DE" sz="2400" b="1" kern="0" dirty="0">
                <a:ea typeface="Arial Unicode MS" pitchFamily="34" charset="-128"/>
                <a:cs typeface="Arial Unicode MS" pitchFamily="34" charset="-128"/>
              </a:rPr>
              <a:t>Selbstreguliertes Lernen</a:t>
            </a:r>
          </a:p>
        </p:txBody>
      </p:sp>
      <p:sp>
        <p:nvSpPr>
          <p:cNvPr id="19" name="Oval 18">
            <a:extLst>
              <a:ext uri="{FF2B5EF4-FFF2-40B4-BE49-F238E27FC236}">
                <a16:creationId xmlns:a16="http://schemas.microsoft.com/office/drawing/2014/main" id="{21200B89-8002-4CF1-A7F4-6F44B50DCD82}"/>
              </a:ext>
            </a:extLst>
          </p:cNvPr>
          <p:cNvSpPr/>
          <p:nvPr/>
        </p:nvSpPr>
        <p:spPr bwMode="gray">
          <a:xfrm>
            <a:off x="5692108" y="2191894"/>
            <a:ext cx="3262223" cy="825455"/>
          </a:xfrm>
          <a:prstGeom prst="ellipse">
            <a:avLst/>
          </a:prstGeom>
          <a:solidFill>
            <a:schemeClr val="accent4">
              <a:lumMod val="60000"/>
              <a:lumOff val="40000"/>
            </a:schemeClr>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2400" b="1" i="0" u="none" strike="noStrike" kern="0" cap="none" spc="0" normalizeH="0" baseline="0" noProof="0" dirty="0" err="1">
                <a:ln>
                  <a:noFill/>
                </a:ln>
                <a:effectLst/>
                <a:uLnTx/>
                <a:uFillTx/>
                <a:ea typeface="Arial Unicode MS" pitchFamily="34" charset="-128"/>
                <a:cs typeface="Arial Unicode MS" pitchFamily="34" charset="-128"/>
              </a:rPr>
              <a:t>Silver</a:t>
            </a:r>
            <a:r>
              <a:rPr kumimoji="0" lang="de-DE" sz="2400" b="1" i="0" u="none" strike="noStrike" kern="0" cap="none" spc="0" normalizeH="0" baseline="0" noProof="0" dirty="0">
                <a:ln>
                  <a:noFill/>
                </a:ln>
                <a:effectLst/>
                <a:uLnTx/>
                <a:uFillTx/>
                <a:ea typeface="Arial Unicode MS" pitchFamily="34" charset="-128"/>
                <a:cs typeface="Arial Unicode MS" pitchFamily="34" charset="-128"/>
              </a:rPr>
              <a:t> Society</a:t>
            </a:r>
          </a:p>
        </p:txBody>
      </p:sp>
      <p:sp>
        <p:nvSpPr>
          <p:cNvPr id="20" name="Oval 19">
            <a:extLst>
              <a:ext uri="{FF2B5EF4-FFF2-40B4-BE49-F238E27FC236}">
                <a16:creationId xmlns:a16="http://schemas.microsoft.com/office/drawing/2014/main" id="{D173E961-5B4A-43CB-BE38-56FB35248E17}"/>
              </a:ext>
            </a:extLst>
          </p:cNvPr>
          <p:cNvSpPr/>
          <p:nvPr/>
        </p:nvSpPr>
        <p:spPr bwMode="gray">
          <a:xfrm>
            <a:off x="5692108" y="3955325"/>
            <a:ext cx="3262223" cy="825455"/>
          </a:xfrm>
          <a:prstGeom prst="ellipse">
            <a:avLst/>
          </a:prstGeom>
          <a:solidFill>
            <a:schemeClr val="accent4">
              <a:lumMod val="60000"/>
              <a:lumOff val="40000"/>
            </a:schemeClr>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2400" b="1" i="0" u="none" strike="noStrike" kern="0" cap="none" spc="0" normalizeH="0" baseline="0" noProof="0" dirty="0">
                <a:ln>
                  <a:noFill/>
                </a:ln>
                <a:effectLst/>
                <a:uLnTx/>
                <a:uFillTx/>
                <a:ea typeface="Arial Unicode MS" pitchFamily="34" charset="-128"/>
                <a:cs typeface="Arial Unicode MS" pitchFamily="34" charset="-128"/>
              </a:rPr>
              <a:t>Mobilität</a:t>
            </a:r>
          </a:p>
        </p:txBody>
      </p:sp>
      <p:sp>
        <p:nvSpPr>
          <p:cNvPr id="21" name="Oval 20">
            <a:extLst>
              <a:ext uri="{FF2B5EF4-FFF2-40B4-BE49-F238E27FC236}">
                <a16:creationId xmlns:a16="http://schemas.microsoft.com/office/drawing/2014/main" id="{521F8E40-2945-48B5-A74F-C5C13D61CE04}"/>
              </a:ext>
            </a:extLst>
          </p:cNvPr>
          <p:cNvSpPr/>
          <p:nvPr/>
        </p:nvSpPr>
        <p:spPr bwMode="gray">
          <a:xfrm>
            <a:off x="5692108" y="4851386"/>
            <a:ext cx="3262223" cy="825455"/>
          </a:xfrm>
          <a:prstGeom prst="ellipse">
            <a:avLst/>
          </a:prstGeom>
          <a:solidFill>
            <a:schemeClr val="accent4">
              <a:lumMod val="60000"/>
              <a:lumOff val="40000"/>
            </a:schemeClr>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2400" b="1" i="0" u="none" strike="noStrike" kern="0" cap="none" spc="0" normalizeH="0" baseline="0" noProof="0" dirty="0">
                <a:ln>
                  <a:noFill/>
                </a:ln>
                <a:effectLst/>
                <a:uLnTx/>
                <a:uFillTx/>
                <a:ea typeface="Arial Unicode MS" pitchFamily="34" charset="-128"/>
                <a:cs typeface="Arial Unicode MS" pitchFamily="34" charset="-128"/>
              </a:rPr>
              <a:t>Sicherheit</a:t>
            </a:r>
          </a:p>
        </p:txBody>
      </p:sp>
      <p:sp>
        <p:nvSpPr>
          <p:cNvPr id="22" name="Oval 21">
            <a:extLst>
              <a:ext uri="{FF2B5EF4-FFF2-40B4-BE49-F238E27FC236}">
                <a16:creationId xmlns:a16="http://schemas.microsoft.com/office/drawing/2014/main" id="{661DD766-0B62-409C-962F-F539A0FBE0F8}"/>
              </a:ext>
            </a:extLst>
          </p:cNvPr>
          <p:cNvSpPr/>
          <p:nvPr/>
        </p:nvSpPr>
        <p:spPr bwMode="gray">
          <a:xfrm>
            <a:off x="5692108" y="3077826"/>
            <a:ext cx="3262223" cy="825455"/>
          </a:xfrm>
          <a:prstGeom prst="ellipse">
            <a:avLst/>
          </a:prstGeom>
          <a:solidFill>
            <a:schemeClr val="accent4">
              <a:lumMod val="60000"/>
              <a:lumOff val="40000"/>
            </a:schemeClr>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2400" b="1" i="0" u="none" strike="noStrike" kern="0" cap="none" spc="0" normalizeH="0" baseline="0" noProof="0" dirty="0">
                <a:ln>
                  <a:noFill/>
                </a:ln>
                <a:effectLst/>
                <a:uLnTx/>
                <a:uFillTx/>
                <a:ea typeface="Arial Unicode MS" pitchFamily="34" charset="-128"/>
                <a:cs typeface="Arial Unicode MS" pitchFamily="34" charset="-128"/>
              </a:rPr>
              <a:t>New Work</a:t>
            </a:r>
          </a:p>
        </p:txBody>
      </p:sp>
      <p:sp>
        <p:nvSpPr>
          <p:cNvPr id="23" name="Oval 22">
            <a:extLst>
              <a:ext uri="{FF2B5EF4-FFF2-40B4-BE49-F238E27FC236}">
                <a16:creationId xmlns:a16="http://schemas.microsoft.com/office/drawing/2014/main" id="{C61103A5-DF4B-49C7-BF03-8F6BDE403E66}"/>
              </a:ext>
            </a:extLst>
          </p:cNvPr>
          <p:cNvSpPr/>
          <p:nvPr/>
        </p:nvSpPr>
        <p:spPr bwMode="gray">
          <a:xfrm>
            <a:off x="5692108" y="5716941"/>
            <a:ext cx="3262223" cy="825455"/>
          </a:xfrm>
          <a:prstGeom prst="ellipse">
            <a:avLst/>
          </a:prstGeom>
          <a:solidFill>
            <a:schemeClr val="accent4">
              <a:lumMod val="60000"/>
              <a:lumOff val="40000"/>
            </a:schemeClr>
          </a:solidFill>
          <a:ln w="6350" algn="ctr">
            <a:noFill/>
            <a:miter lim="800000"/>
            <a:headEnd/>
            <a:tailEnd/>
          </a:ln>
        </p:spPr>
        <p:txBody>
          <a:bodyPr lIns="90000" tIns="72000" rIns="90000" bIns="72000" rtlCol="0" anchor="ctr"/>
          <a:lstStyle/>
          <a:p>
            <a:pPr algn="ctr" fontAlgn="base">
              <a:spcBef>
                <a:spcPct val="50000"/>
              </a:spcBef>
              <a:spcAft>
                <a:spcPct val="0"/>
              </a:spcAft>
              <a:buClr>
                <a:srgbClr val="F0AB00"/>
              </a:buClr>
              <a:buSzPct val="80000"/>
            </a:pPr>
            <a:r>
              <a:rPr lang="de-DE" sz="2400" b="1" kern="0" dirty="0">
                <a:ea typeface="Arial Unicode MS" pitchFamily="34" charset="-128"/>
                <a:cs typeface="Arial Unicode MS" pitchFamily="34" charset="-128"/>
              </a:rPr>
              <a:t>Gender Shift</a:t>
            </a:r>
          </a:p>
        </p:txBody>
      </p:sp>
      <p:sp>
        <p:nvSpPr>
          <p:cNvPr id="24" name="Oval 23">
            <a:extLst>
              <a:ext uri="{FF2B5EF4-FFF2-40B4-BE49-F238E27FC236}">
                <a16:creationId xmlns:a16="http://schemas.microsoft.com/office/drawing/2014/main" id="{44F84012-F345-4F20-9770-7A7A7D66EFD9}"/>
              </a:ext>
            </a:extLst>
          </p:cNvPr>
          <p:cNvSpPr/>
          <p:nvPr/>
        </p:nvSpPr>
        <p:spPr bwMode="gray">
          <a:xfrm>
            <a:off x="5575948" y="1320997"/>
            <a:ext cx="3378383" cy="825455"/>
          </a:xfrm>
          <a:prstGeom prst="ellipse">
            <a:avLst/>
          </a:prstGeom>
          <a:solidFill>
            <a:schemeClr val="accent4">
              <a:lumMod val="60000"/>
              <a:lumOff val="40000"/>
            </a:schemeClr>
          </a:solidFill>
          <a:ln w="6350" algn="ctr">
            <a:noFill/>
            <a:miter lim="800000"/>
            <a:headEnd/>
            <a:tailEnd/>
          </a:ln>
        </p:spPr>
        <p:txBody>
          <a:bodyPr lIns="90000" tIns="72000" rIns="90000" bIns="72000" rtlCol="0" anchor="ctr"/>
          <a:lstStyle/>
          <a:p>
            <a:pPr algn="ctr" fontAlgn="base">
              <a:spcBef>
                <a:spcPct val="50000"/>
              </a:spcBef>
              <a:spcAft>
                <a:spcPct val="0"/>
              </a:spcAft>
              <a:buClr>
                <a:srgbClr val="F0AB00"/>
              </a:buClr>
              <a:buSzPct val="80000"/>
            </a:pPr>
            <a:r>
              <a:rPr lang="de-DE" sz="2400" b="1" kern="0" dirty="0">
                <a:ea typeface="Arial Unicode MS" pitchFamily="34" charset="-128"/>
                <a:cs typeface="Arial Unicode MS" pitchFamily="34" charset="-128"/>
              </a:rPr>
              <a:t>Globalisierung</a:t>
            </a:r>
            <a:endParaRPr kumimoji="0" lang="de-DE" sz="2400" b="1" i="0" u="none" strike="noStrike" kern="0" cap="none" spc="0" normalizeH="0" baseline="0" noProof="0" dirty="0">
              <a:ln>
                <a:noFill/>
              </a:ln>
              <a:effectLst/>
              <a:uLnTx/>
              <a:uFillTx/>
              <a:ea typeface="Arial Unicode MS" pitchFamily="34" charset="-128"/>
              <a:cs typeface="Arial Unicode MS" pitchFamily="34" charset="-128"/>
            </a:endParaRPr>
          </a:p>
        </p:txBody>
      </p:sp>
    </p:spTree>
    <p:extLst>
      <p:ext uri="{BB962C8B-B14F-4D97-AF65-F5344CB8AC3E}">
        <p14:creationId xmlns:p14="http://schemas.microsoft.com/office/powerpoint/2010/main" val="38085331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24000" y="211243"/>
            <a:ext cx="8496000" cy="756000"/>
          </a:xfrm>
        </p:spPr>
        <p:txBody>
          <a:bodyPr/>
          <a:lstStyle/>
          <a:p>
            <a:r>
              <a:rPr lang="de-DE" dirty="0">
                <a:solidFill>
                  <a:schemeClr val="tx1"/>
                </a:solidFill>
              </a:rPr>
              <a:t>SQ II: Digital </a:t>
            </a:r>
            <a:r>
              <a:rPr lang="de-DE" dirty="0" err="1">
                <a:solidFill>
                  <a:schemeClr val="tx1"/>
                </a:solidFill>
              </a:rPr>
              <a:t>Thinking</a:t>
            </a:r>
            <a:r>
              <a:rPr lang="de-DE" dirty="0">
                <a:solidFill>
                  <a:schemeClr val="tx1"/>
                </a:solidFill>
              </a:rPr>
              <a:t> &amp; Management</a:t>
            </a:r>
            <a:br>
              <a:rPr lang="de-DE" dirty="0">
                <a:solidFill>
                  <a:schemeClr val="tx1"/>
                </a:solidFill>
              </a:rPr>
            </a:br>
            <a:r>
              <a:rPr lang="de-DE" dirty="0">
                <a:solidFill>
                  <a:schemeClr val="tx1"/>
                </a:solidFill>
              </a:rPr>
              <a:t>https://www.zukunftsinstitut.de/dossier/megatrends/</a:t>
            </a:r>
          </a:p>
        </p:txBody>
      </p:sp>
      <p:sp>
        <p:nvSpPr>
          <p:cNvPr id="2" name="Oval 1">
            <a:extLst>
              <a:ext uri="{FF2B5EF4-FFF2-40B4-BE49-F238E27FC236}">
                <a16:creationId xmlns:a16="http://schemas.microsoft.com/office/drawing/2014/main" id="{7944524D-D647-4462-A2FB-6DFE34F15347}"/>
              </a:ext>
            </a:extLst>
          </p:cNvPr>
          <p:cNvSpPr/>
          <p:nvPr/>
        </p:nvSpPr>
        <p:spPr bwMode="gray">
          <a:xfrm>
            <a:off x="3448169" y="3204057"/>
            <a:ext cx="2363824" cy="1512109"/>
          </a:xfrm>
          <a:prstGeom prst="ellipse">
            <a:avLst/>
          </a:prstGeom>
          <a:solidFill>
            <a:schemeClr val="accent1"/>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3200" b="1" i="0" u="none" strike="noStrike" kern="0" cap="none" spc="0" normalizeH="0" baseline="0" noProof="0" dirty="0">
                <a:ln>
                  <a:noFill/>
                </a:ln>
                <a:effectLst/>
                <a:uLnTx/>
                <a:uFillTx/>
                <a:ea typeface="Arial Unicode MS" pitchFamily="34" charset="-128"/>
                <a:cs typeface="Arial Unicode MS" pitchFamily="34" charset="-128"/>
              </a:rPr>
              <a:t>Mega-Trends</a:t>
            </a:r>
          </a:p>
        </p:txBody>
      </p:sp>
      <p:sp>
        <p:nvSpPr>
          <p:cNvPr id="8" name="Oval 7">
            <a:extLst>
              <a:ext uri="{FF2B5EF4-FFF2-40B4-BE49-F238E27FC236}">
                <a16:creationId xmlns:a16="http://schemas.microsoft.com/office/drawing/2014/main" id="{A212FA2A-E009-4BE5-962A-0B7ACAEBB5F4}"/>
              </a:ext>
            </a:extLst>
          </p:cNvPr>
          <p:cNvSpPr/>
          <p:nvPr/>
        </p:nvSpPr>
        <p:spPr bwMode="gray">
          <a:xfrm>
            <a:off x="305830" y="2191894"/>
            <a:ext cx="3985615" cy="825455"/>
          </a:xfrm>
          <a:prstGeom prst="ellipse">
            <a:avLst/>
          </a:prstGeom>
          <a:solidFill>
            <a:schemeClr val="accent4">
              <a:lumMod val="60000"/>
              <a:lumOff val="40000"/>
            </a:schemeClr>
          </a:solidFill>
          <a:ln w="6350" algn="ctr">
            <a:noFill/>
            <a:miter lim="800000"/>
            <a:headEnd/>
            <a:tailEnd/>
          </a:ln>
        </p:spPr>
        <p:txBody>
          <a:bodyPr lIns="90000" tIns="72000" rIns="90000" bIns="72000" rtlCol="0" anchor="ctr"/>
          <a:lstStyle/>
          <a:p>
            <a:pPr algn="ctr" fontAlgn="base">
              <a:spcBef>
                <a:spcPct val="50000"/>
              </a:spcBef>
              <a:spcAft>
                <a:spcPct val="0"/>
              </a:spcAft>
              <a:buClr>
                <a:srgbClr val="F0AB00"/>
              </a:buClr>
              <a:buSzPct val="80000"/>
            </a:pPr>
            <a:r>
              <a:rPr lang="de-DE" sz="2400" b="1" kern="0" dirty="0">
                <a:ea typeface="Arial Unicode MS" pitchFamily="34" charset="-128"/>
                <a:cs typeface="Arial Unicode MS" pitchFamily="34" charset="-128"/>
              </a:rPr>
              <a:t>Individualisierung</a:t>
            </a:r>
            <a:endParaRPr kumimoji="0" lang="de-DE" sz="2400" b="1"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13" name="Oval 12">
            <a:extLst>
              <a:ext uri="{FF2B5EF4-FFF2-40B4-BE49-F238E27FC236}">
                <a16:creationId xmlns:a16="http://schemas.microsoft.com/office/drawing/2014/main" id="{4B6E21D8-14B1-41D1-96AD-0A52E32C98D1}"/>
              </a:ext>
            </a:extLst>
          </p:cNvPr>
          <p:cNvSpPr/>
          <p:nvPr/>
        </p:nvSpPr>
        <p:spPr bwMode="gray">
          <a:xfrm>
            <a:off x="305830" y="3955325"/>
            <a:ext cx="3262223" cy="825455"/>
          </a:xfrm>
          <a:prstGeom prst="ellipse">
            <a:avLst/>
          </a:prstGeom>
          <a:solidFill>
            <a:schemeClr val="accent4">
              <a:lumMod val="60000"/>
              <a:lumOff val="40000"/>
            </a:schemeClr>
          </a:solidFill>
          <a:ln w="6350" algn="ctr">
            <a:noFill/>
            <a:miter lim="800000"/>
            <a:headEnd/>
            <a:tailEnd/>
          </a:ln>
        </p:spPr>
        <p:txBody>
          <a:bodyPr lIns="90000" tIns="72000" rIns="90000" bIns="72000" rtlCol="0" anchor="ctr"/>
          <a:lstStyle/>
          <a:p>
            <a:pPr algn="ctr" fontAlgn="base">
              <a:spcBef>
                <a:spcPct val="50000"/>
              </a:spcBef>
              <a:spcAft>
                <a:spcPct val="0"/>
              </a:spcAft>
              <a:buClr>
                <a:srgbClr val="F0AB00"/>
              </a:buClr>
              <a:buSzPct val="80000"/>
            </a:pPr>
            <a:r>
              <a:rPr lang="de-DE" sz="2400" b="1" kern="0" dirty="0">
                <a:ea typeface="Arial Unicode MS" pitchFamily="34" charset="-128"/>
                <a:cs typeface="Arial Unicode MS" pitchFamily="34" charset="-128"/>
              </a:rPr>
              <a:t>Gesundheit</a:t>
            </a:r>
            <a:endParaRPr kumimoji="0" lang="de-DE" sz="2400" b="1"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14" name="Oval 13">
            <a:extLst>
              <a:ext uri="{FF2B5EF4-FFF2-40B4-BE49-F238E27FC236}">
                <a16:creationId xmlns:a16="http://schemas.microsoft.com/office/drawing/2014/main" id="{11FE77E5-A61D-4E18-8414-DA827B6E9956}"/>
              </a:ext>
            </a:extLst>
          </p:cNvPr>
          <p:cNvSpPr/>
          <p:nvPr/>
        </p:nvSpPr>
        <p:spPr bwMode="gray">
          <a:xfrm>
            <a:off x="305830" y="4851386"/>
            <a:ext cx="3262223" cy="825455"/>
          </a:xfrm>
          <a:prstGeom prst="ellipse">
            <a:avLst/>
          </a:prstGeom>
          <a:solidFill>
            <a:schemeClr val="accent4">
              <a:lumMod val="60000"/>
              <a:lumOff val="40000"/>
            </a:schemeClr>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2400" b="1" i="0" u="none" strike="noStrike" kern="0" cap="none" spc="0" normalizeH="0" baseline="0" noProof="0" dirty="0">
                <a:ln>
                  <a:noFill/>
                </a:ln>
                <a:effectLst/>
                <a:uLnTx/>
                <a:uFillTx/>
                <a:ea typeface="Arial Unicode MS" pitchFamily="34" charset="-128"/>
                <a:cs typeface="Arial Unicode MS" pitchFamily="34" charset="-128"/>
              </a:rPr>
              <a:t>Neo-Ökologie</a:t>
            </a:r>
          </a:p>
        </p:txBody>
      </p:sp>
      <p:sp>
        <p:nvSpPr>
          <p:cNvPr id="15" name="Oval 14">
            <a:extLst>
              <a:ext uri="{FF2B5EF4-FFF2-40B4-BE49-F238E27FC236}">
                <a16:creationId xmlns:a16="http://schemas.microsoft.com/office/drawing/2014/main" id="{8A7E0E36-5F1A-4C72-9A09-CE47452CEBD2}"/>
              </a:ext>
            </a:extLst>
          </p:cNvPr>
          <p:cNvSpPr/>
          <p:nvPr/>
        </p:nvSpPr>
        <p:spPr bwMode="gray">
          <a:xfrm>
            <a:off x="305830" y="3077826"/>
            <a:ext cx="3262223" cy="825455"/>
          </a:xfrm>
          <a:prstGeom prst="ellipse">
            <a:avLst/>
          </a:prstGeom>
          <a:solidFill>
            <a:schemeClr val="accent4">
              <a:lumMod val="60000"/>
              <a:lumOff val="40000"/>
            </a:schemeClr>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2400" b="1" i="0" u="none" strike="noStrike" kern="0" cap="none" spc="0" normalizeH="0" baseline="0" noProof="0" dirty="0">
                <a:ln>
                  <a:noFill/>
                </a:ln>
                <a:effectLst/>
                <a:uLnTx/>
                <a:uFillTx/>
                <a:ea typeface="Arial Unicode MS" pitchFamily="34" charset="-128"/>
                <a:cs typeface="Arial Unicode MS" pitchFamily="34" charset="-128"/>
              </a:rPr>
              <a:t>Konnektivität</a:t>
            </a:r>
          </a:p>
        </p:txBody>
      </p:sp>
      <p:sp>
        <p:nvSpPr>
          <p:cNvPr id="16" name="Oval 15">
            <a:extLst>
              <a:ext uri="{FF2B5EF4-FFF2-40B4-BE49-F238E27FC236}">
                <a16:creationId xmlns:a16="http://schemas.microsoft.com/office/drawing/2014/main" id="{1AC3AEC0-2B05-411A-8134-53AA5A1AC36F}"/>
              </a:ext>
            </a:extLst>
          </p:cNvPr>
          <p:cNvSpPr/>
          <p:nvPr/>
        </p:nvSpPr>
        <p:spPr bwMode="gray">
          <a:xfrm>
            <a:off x="305831" y="5716941"/>
            <a:ext cx="3382942" cy="825455"/>
          </a:xfrm>
          <a:prstGeom prst="ellipse">
            <a:avLst/>
          </a:prstGeom>
          <a:solidFill>
            <a:schemeClr val="accent4">
              <a:lumMod val="60000"/>
              <a:lumOff val="40000"/>
            </a:schemeClr>
          </a:solidFill>
          <a:ln w="6350" algn="ctr">
            <a:noFill/>
            <a:miter lim="800000"/>
            <a:headEnd/>
            <a:tailEnd/>
          </a:ln>
        </p:spPr>
        <p:txBody>
          <a:bodyPr lIns="90000" tIns="72000" rIns="90000" bIns="72000" rtlCol="0" anchor="ctr"/>
          <a:lstStyle/>
          <a:p>
            <a:pPr algn="ctr" fontAlgn="base">
              <a:spcBef>
                <a:spcPct val="50000"/>
              </a:spcBef>
              <a:spcAft>
                <a:spcPct val="0"/>
              </a:spcAft>
              <a:buClr>
                <a:srgbClr val="F0AB00"/>
              </a:buClr>
              <a:buSzPct val="80000"/>
            </a:pPr>
            <a:r>
              <a:rPr lang="de-DE" sz="2400" b="1" kern="0" dirty="0">
                <a:ea typeface="Arial Unicode MS" pitchFamily="34" charset="-128"/>
                <a:cs typeface="Arial Unicode MS" pitchFamily="34" charset="-128"/>
              </a:rPr>
              <a:t>Urbanisierung</a:t>
            </a:r>
          </a:p>
        </p:txBody>
      </p:sp>
      <p:sp>
        <p:nvSpPr>
          <p:cNvPr id="17" name="Oval 16">
            <a:extLst>
              <a:ext uri="{FF2B5EF4-FFF2-40B4-BE49-F238E27FC236}">
                <a16:creationId xmlns:a16="http://schemas.microsoft.com/office/drawing/2014/main" id="{E272183C-92C4-4D6E-90A0-D0AA4670BFA7}"/>
              </a:ext>
            </a:extLst>
          </p:cNvPr>
          <p:cNvSpPr/>
          <p:nvPr/>
        </p:nvSpPr>
        <p:spPr bwMode="gray">
          <a:xfrm>
            <a:off x="305830" y="1320997"/>
            <a:ext cx="3985615" cy="825455"/>
          </a:xfrm>
          <a:prstGeom prst="ellipse">
            <a:avLst/>
          </a:prstGeom>
          <a:solidFill>
            <a:schemeClr val="accent4">
              <a:lumMod val="60000"/>
              <a:lumOff val="40000"/>
            </a:schemeClr>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2400" b="1" i="0" u="none" strike="noStrike" kern="0" cap="none" spc="0" normalizeH="0" baseline="0" noProof="0" dirty="0" err="1">
                <a:ln>
                  <a:noFill/>
                </a:ln>
                <a:effectLst/>
                <a:uLnTx/>
                <a:uFillTx/>
                <a:ea typeface="Arial Unicode MS" pitchFamily="34" charset="-128"/>
                <a:cs typeface="Arial Unicode MS" pitchFamily="34" charset="-128"/>
              </a:rPr>
              <a:t>Selbstreg</a:t>
            </a:r>
            <a:r>
              <a:rPr kumimoji="0" lang="de-DE" sz="2400" b="1" i="0" u="none" strike="noStrike" kern="0" cap="none" spc="0" normalizeH="0" baseline="0" noProof="0" dirty="0">
                <a:ln>
                  <a:noFill/>
                </a:ln>
                <a:effectLst/>
                <a:uLnTx/>
                <a:uFillTx/>
                <a:ea typeface="Arial Unicode MS" pitchFamily="34" charset="-128"/>
                <a:cs typeface="Arial Unicode MS" pitchFamily="34" charset="-128"/>
              </a:rPr>
              <a:t>. Lernen</a:t>
            </a:r>
          </a:p>
        </p:txBody>
      </p:sp>
      <p:sp>
        <p:nvSpPr>
          <p:cNvPr id="19" name="Oval 18">
            <a:extLst>
              <a:ext uri="{FF2B5EF4-FFF2-40B4-BE49-F238E27FC236}">
                <a16:creationId xmlns:a16="http://schemas.microsoft.com/office/drawing/2014/main" id="{21200B89-8002-4CF1-A7F4-6F44B50DCD82}"/>
              </a:ext>
            </a:extLst>
          </p:cNvPr>
          <p:cNvSpPr/>
          <p:nvPr/>
        </p:nvSpPr>
        <p:spPr bwMode="gray">
          <a:xfrm>
            <a:off x="5692108" y="2191894"/>
            <a:ext cx="3262223" cy="825455"/>
          </a:xfrm>
          <a:prstGeom prst="ellipse">
            <a:avLst/>
          </a:prstGeom>
          <a:solidFill>
            <a:schemeClr val="accent4">
              <a:lumMod val="60000"/>
              <a:lumOff val="40000"/>
            </a:schemeClr>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2400" b="1" i="0" u="none" strike="noStrike" kern="0" cap="none" spc="0" normalizeH="0" baseline="0" noProof="0" dirty="0" err="1">
                <a:ln>
                  <a:noFill/>
                </a:ln>
                <a:effectLst/>
                <a:uLnTx/>
                <a:uFillTx/>
                <a:ea typeface="Arial Unicode MS" pitchFamily="34" charset="-128"/>
                <a:cs typeface="Arial Unicode MS" pitchFamily="34" charset="-128"/>
              </a:rPr>
              <a:t>Silver</a:t>
            </a:r>
            <a:r>
              <a:rPr kumimoji="0" lang="de-DE" sz="2400" b="1" i="0" u="none" strike="noStrike" kern="0" cap="none" spc="0" normalizeH="0" baseline="0" noProof="0" dirty="0">
                <a:ln>
                  <a:noFill/>
                </a:ln>
                <a:effectLst/>
                <a:uLnTx/>
                <a:uFillTx/>
                <a:ea typeface="Arial Unicode MS" pitchFamily="34" charset="-128"/>
                <a:cs typeface="Arial Unicode MS" pitchFamily="34" charset="-128"/>
              </a:rPr>
              <a:t> Society</a:t>
            </a:r>
          </a:p>
        </p:txBody>
      </p:sp>
      <p:sp>
        <p:nvSpPr>
          <p:cNvPr id="20" name="Oval 19">
            <a:extLst>
              <a:ext uri="{FF2B5EF4-FFF2-40B4-BE49-F238E27FC236}">
                <a16:creationId xmlns:a16="http://schemas.microsoft.com/office/drawing/2014/main" id="{D173E961-5B4A-43CB-BE38-56FB35248E17}"/>
              </a:ext>
            </a:extLst>
          </p:cNvPr>
          <p:cNvSpPr/>
          <p:nvPr/>
        </p:nvSpPr>
        <p:spPr bwMode="gray">
          <a:xfrm>
            <a:off x="5692108" y="3955325"/>
            <a:ext cx="3262223" cy="825455"/>
          </a:xfrm>
          <a:prstGeom prst="ellipse">
            <a:avLst/>
          </a:prstGeom>
          <a:solidFill>
            <a:schemeClr val="accent4">
              <a:lumMod val="60000"/>
              <a:lumOff val="40000"/>
            </a:schemeClr>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2400" b="1" i="0" u="none" strike="noStrike" kern="0" cap="none" spc="0" normalizeH="0" baseline="0" noProof="0" dirty="0">
                <a:ln>
                  <a:noFill/>
                </a:ln>
                <a:effectLst/>
                <a:uLnTx/>
                <a:uFillTx/>
                <a:ea typeface="Arial Unicode MS" pitchFamily="34" charset="-128"/>
                <a:cs typeface="Arial Unicode MS" pitchFamily="34" charset="-128"/>
              </a:rPr>
              <a:t>Mobilität</a:t>
            </a:r>
          </a:p>
        </p:txBody>
      </p:sp>
      <p:sp>
        <p:nvSpPr>
          <p:cNvPr id="21" name="Oval 20">
            <a:extLst>
              <a:ext uri="{FF2B5EF4-FFF2-40B4-BE49-F238E27FC236}">
                <a16:creationId xmlns:a16="http://schemas.microsoft.com/office/drawing/2014/main" id="{521F8E40-2945-48B5-A74F-C5C13D61CE04}"/>
              </a:ext>
            </a:extLst>
          </p:cNvPr>
          <p:cNvSpPr/>
          <p:nvPr/>
        </p:nvSpPr>
        <p:spPr bwMode="gray">
          <a:xfrm>
            <a:off x="5692108" y="4851386"/>
            <a:ext cx="3262223" cy="825455"/>
          </a:xfrm>
          <a:prstGeom prst="ellipse">
            <a:avLst/>
          </a:prstGeom>
          <a:solidFill>
            <a:schemeClr val="accent4">
              <a:lumMod val="60000"/>
              <a:lumOff val="40000"/>
            </a:schemeClr>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2400" b="1" i="0" u="none" strike="noStrike" kern="0" cap="none" spc="0" normalizeH="0" baseline="0" noProof="0" dirty="0">
                <a:ln>
                  <a:noFill/>
                </a:ln>
                <a:effectLst/>
                <a:uLnTx/>
                <a:uFillTx/>
                <a:ea typeface="Arial Unicode MS" pitchFamily="34" charset="-128"/>
                <a:cs typeface="Arial Unicode MS" pitchFamily="34" charset="-128"/>
              </a:rPr>
              <a:t>Sicherheit</a:t>
            </a:r>
          </a:p>
        </p:txBody>
      </p:sp>
      <p:sp>
        <p:nvSpPr>
          <p:cNvPr id="22" name="Oval 21">
            <a:extLst>
              <a:ext uri="{FF2B5EF4-FFF2-40B4-BE49-F238E27FC236}">
                <a16:creationId xmlns:a16="http://schemas.microsoft.com/office/drawing/2014/main" id="{661DD766-0B62-409C-962F-F539A0FBE0F8}"/>
              </a:ext>
            </a:extLst>
          </p:cNvPr>
          <p:cNvSpPr/>
          <p:nvPr/>
        </p:nvSpPr>
        <p:spPr bwMode="gray">
          <a:xfrm>
            <a:off x="5692108" y="3077826"/>
            <a:ext cx="3262223" cy="825455"/>
          </a:xfrm>
          <a:prstGeom prst="ellipse">
            <a:avLst/>
          </a:prstGeom>
          <a:solidFill>
            <a:schemeClr val="accent4">
              <a:lumMod val="60000"/>
              <a:lumOff val="40000"/>
            </a:schemeClr>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2400" b="1" i="0" u="none" strike="noStrike" kern="0" cap="none" spc="0" normalizeH="0" baseline="0" noProof="0" dirty="0">
                <a:ln>
                  <a:noFill/>
                </a:ln>
                <a:effectLst/>
                <a:uLnTx/>
                <a:uFillTx/>
                <a:ea typeface="Arial Unicode MS" pitchFamily="34" charset="-128"/>
                <a:cs typeface="Arial Unicode MS" pitchFamily="34" charset="-128"/>
              </a:rPr>
              <a:t>New Work</a:t>
            </a:r>
          </a:p>
        </p:txBody>
      </p:sp>
      <p:sp>
        <p:nvSpPr>
          <p:cNvPr id="23" name="Oval 22">
            <a:extLst>
              <a:ext uri="{FF2B5EF4-FFF2-40B4-BE49-F238E27FC236}">
                <a16:creationId xmlns:a16="http://schemas.microsoft.com/office/drawing/2014/main" id="{C61103A5-DF4B-49C7-BF03-8F6BDE403E66}"/>
              </a:ext>
            </a:extLst>
          </p:cNvPr>
          <p:cNvSpPr/>
          <p:nvPr/>
        </p:nvSpPr>
        <p:spPr bwMode="gray">
          <a:xfrm>
            <a:off x="5692108" y="5716941"/>
            <a:ext cx="3262223" cy="825455"/>
          </a:xfrm>
          <a:prstGeom prst="ellipse">
            <a:avLst/>
          </a:prstGeom>
          <a:solidFill>
            <a:schemeClr val="accent4">
              <a:lumMod val="60000"/>
              <a:lumOff val="40000"/>
            </a:schemeClr>
          </a:solidFill>
          <a:ln w="6350" algn="ctr">
            <a:noFill/>
            <a:miter lim="800000"/>
            <a:headEnd/>
            <a:tailEnd/>
          </a:ln>
        </p:spPr>
        <p:txBody>
          <a:bodyPr lIns="90000" tIns="72000" rIns="90000" bIns="72000" rtlCol="0" anchor="ctr"/>
          <a:lstStyle/>
          <a:p>
            <a:pPr algn="ctr" fontAlgn="base">
              <a:spcBef>
                <a:spcPct val="50000"/>
              </a:spcBef>
              <a:spcAft>
                <a:spcPct val="0"/>
              </a:spcAft>
              <a:buClr>
                <a:srgbClr val="F0AB00"/>
              </a:buClr>
              <a:buSzPct val="80000"/>
            </a:pPr>
            <a:r>
              <a:rPr lang="de-DE" sz="2400" b="1" kern="0" dirty="0">
                <a:ea typeface="Arial Unicode MS" pitchFamily="34" charset="-128"/>
                <a:cs typeface="Arial Unicode MS" pitchFamily="34" charset="-128"/>
              </a:rPr>
              <a:t>Gender </a:t>
            </a:r>
            <a:r>
              <a:rPr lang="de-DE" sz="2400" b="1" kern="0" dirty="0" err="1">
                <a:ea typeface="Arial Unicode MS" pitchFamily="34" charset="-128"/>
                <a:cs typeface="Arial Unicode MS" pitchFamily="34" charset="-128"/>
              </a:rPr>
              <a:t>Shift</a:t>
            </a:r>
            <a:endParaRPr lang="de-DE" sz="2400" b="1" kern="0" dirty="0">
              <a:ea typeface="Arial Unicode MS" pitchFamily="34" charset="-128"/>
              <a:cs typeface="Arial Unicode MS" pitchFamily="34" charset="-128"/>
            </a:endParaRPr>
          </a:p>
        </p:txBody>
      </p:sp>
      <p:sp>
        <p:nvSpPr>
          <p:cNvPr id="24" name="Oval 23">
            <a:extLst>
              <a:ext uri="{FF2B5EF4-FFF2-40B4-BE49-F238E27FC236}">
                <a16:creationId xmlns:a16="http://schemas.microsoft.com/office/drawing/2014/main" id="{44F84012-F345-4F20-9770-7A7A7D66EFD9}"/>
              </a:ext>
            </a:extLst>
          </p:cNvPr>
          <p:cNvSpPr/>
          <p:nvPr/>
        </p:nvSpPr>
        <p:spPr bwMode="gray">
          <a:xfrm>
            <a:off x="5575948" y="1320997"/>
            <a:ext cx="3378383" cy="825455"/>
          </a:xfrm>
          <a:prstGeom prst="ellipse">
            <a:avLst/>
          </a:prstGeom>
          <a:solidFill>
            <a:schemeClr val="accent4">
              <a:lumMod val="60000"/>
              <a:lumOff val="40000"/>
            </a:schemeClr>
          </a:solidFill>
          <a:ln w="6350" algn="ctr">
            <a:noFill/>
            <a:miter lim="800000"/>
            <a:headEnd/>
            <a:tailEnd/>
          </a:ln>
        </p:spPr>
        <p:txBody>
          <a:bodyPr lIns="90000" tIns="72000" rIns="90000" bIns="72000" rtlCol="0" anchor="ctr"/>
          <a:lstStyle/>
          <a:p>
            <a:pPr algn="ctr" fontAlgn="base">
              <a:spcBef>
                <a:spcPct val="50000"/>
              </a:spcBef>
              <a:spcAft>
                <a:spcPct val="0"/>
              </a:spcAft>
              <a:buClr>
                <a:srgbClr val="F0AB00"/>
              </a:buClr>
              <a:buSzPct val="80000"/>
            </a:pPr>
            <a:r>
              <a:rPr lang="de-DE" sz="2400" b="1" kern="0" dirty="0">
                <a:ea typeface="Arial Unicode MS" pitchFamily="34" charset="-128"/>
                <a:cs typeface="Arial Unicode MS" pitchFamily="34" charset="-128"/>
              </a:rPr>
              <a:t>Globalisierung</a:t>
            </a:r>
            <a:endParaRPr kumimoji="0" lang="de-DE" sz="2400" b="1"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18" name="Oval 17">
            <a:extLst>
              <a:ext uri="{FF2B5EF4-FFF2-40B4-BE49-F238E27FC236}">
                <a16:creationId xmlns:a16="http://schemas.microsoft.com/office/drawing/2014/main" id="{B4D51D8A-FE7A-4404-99FC-D10023C2564B}"/>
              </a:ext>
            </a:extLst>
          </p:cNvPr>
          <p:cNvSpPr/>
          <p:nvPr/>
        </p:nvSpPr>
        <p:spPr bwMode="gray">
          <a:xfrm>
            <a:off x="324001" y="1320997"/>
            <a:ext cx="8630330" cy="5114971"/>
          </a:xfrm>
          <a:prstGeom prst="ellipse">
            <a:avLst/>
          </a:prstGeom>
          <a:solidFill>
            <a:schemeClr val="tx2">
              <a:lumMod val="40000"/>
              <a:lumOff val="60000"/>
            </a:schemeClr>
          </a:solidFill>
          <a:ln w="6350" algn="ctr">
            <a:noFill/>
            <a:miter lim="800000"/>
            <a:headEnd/>
            <a:tailEnd/>
          </a:ln>
        </p:spPr>
        <p:txBody>
          <a:bodyPr lIns="90000" tIns="72000" rIns="90000" bIns="72000" rtlCol="0" anchor="ctr"/>
          <a:lstStyle/>
          <a:p>
            <a:pPr algn="ctr" fontAlgn="base">
              <a:spcBef>
                <a:spcPct val="50000"/>
              </a:spcBef>
              <a:spcAft>
                <a:spcPct val="0"/>
              </a:spcAft>
              <a:buClr>
                <a:srgbClr val="F0AB00"/>
              </a:buClr>
              <a:buSzPct val="80000"/>
            </a:pPr>
            <a:r>
              <a:rPr lang="de-DE" sz="4000" b="1" kern="0" dirty="0">
                <a:ea typeface="Arial Unicode MS" pitchFamily="34" charset="-128"/>
                <a:cs typeface="Arial Unicode MS" pitchFamily="34" charset="-128"/>
              </a:rPr>
              <a:t>Innovative Lösungen</a:t>
            </a:r>
            <a:br>
              <a:rPr lang="de-DE" sz="4000" b="1" kern="0" dirty="0">
                <a:ea typeface="Arial Unicode MS" pitchFamily="34" charset="-128"/>
                <a:cs typeface="Arial Unicode MS" pitchFamily="34" charset="-128"/>
              </a:rPr>
            </a:br>
            <a:r>
              <a:rPr lang="de-DE" sz="2000" b="1" kern="0" dirty="0">
                <a:ea typeface="Arial Unicode MS" pitchFamily="34" charset="-128"/>
                <a:cs typeface="Arial Unicode MS" pitchFamily="34" charset="-128"/>
              </a:rPr>
              <a:t>unter Berücksichtigung der aktuellen Trends</a:t>
            </a:r>
          </a:p>
          <a:p>
            <a:pPr algn="ctr" fontAlgn="base">
              <a:spcBef>
                <a:spcPct val="50000"/>
              </a:spcBef>
              <a:spcAft>
                <a:spcPct val="0"/>
              </a:spcAft>
              <a:buClr>
                <a:srgbClr val="F0AB00"/>
              </a:buClr>
              <a:buSzPct val="80000"/>
            </a:pPr>
            <a:r>
              <a:rPr lang="de-DE" sz="2000" b="1" kern="0" dirty="0">
                <a:ea typeface="Arial Unicode MS" pitchFamily="34" charset="-128"/>
                <a:cs typeface="Arial Unicode MS" pitchFamily="34" charset="-128"/>
              </a:rPr>
              <a:t>von</a:t>
            </a:r>
          </a:p>
          <a:p>
            <a:pPr algn="ctr" fontAlgn="base">
              <a:spcBef>
                <a:spcPct val="50000"/>
              </a:spcBef>
              <a:spcAft>
                <a:spcPct val="0"/>
              </a:spcAft>
              <a:buClr>
                <a:srgbClr val="F0AB00"/>
              </a:buClr>
              <a:buSzPct val="80000"/>
            </a:pPr>
            <a:r>
              <a:rPr lang="de-DE" sz="4000" b="1" kern="0" dirty="0">
                <a:ea typeface="Arial Unicode MS" pitchFamily="34" charset="-128"/>
                <a:cs typeface="Arial Unicode MS" pitchFamily="34" charset="-128"/>
              </a:rPr>
              <a:t>High Performing Teams</a:t>
            </a:r>
          </a:p>
          <a:p>
            <a:pPr algn="ctr" fontAlgn="base">
              <a:spcBef>
                <a:spcPct val="50000"/>
              </a:spcBef>
              <a:spcAft>
                <a:spcPct val="0"/>
              </a:spcAft>
              <a:buClr>
                <a:srgbClr val="F0AB00"/>
              </a:buClr>
              <a:buSzPct val="80000"/>
            </a:pPr>
            <a:r>
              <a:rPr lang="de-DE" sz="2000" b="1" kern="0" dirty="0">
                <a:ea typeface="Arial Unicode MS" pitchFamily="34" charset="-128"/>
              </a:rPr>
              <a:t>In</a:t>
            </a:r>
          </a:p>
          <a:p>
            <a:pPr algn="ctr" fontAlgn="base">
              <a:spcBef>
                <a:spcPct val="50000"/>
              </a:spcBef>
              <a:spcAft>
                <a:spcPct val="0"/>
              </a:spcAft>
              <a:buClr>
                <a:srgbClr val="F0AB00"/>
              </a:buClr>
              <a:buSzPct val="80000"/>
            </a:pPr>
            <a:r>
              <a:rPr lang="de-DE" sz="4000" b="1" kern="0" dirty="0">
                <a:ea typeface="Arial Unicode MS" pitchFamily="34" charset="-128"/>
              </a:rPr>
              <a:t>komplexem Umfeld </a:t>
            </a:r>
          </a:p>
        </p:txBody>
      </p:sp>
    </p:spTree>
    <p:extLst>
      <p:ext uri="{BB962C8B-B14F-4D97-AF65-F5344CB8AC3E}">
        <p14:creationId xmlns:p14="http://schemas.microsoft.com/office/powerpoint/2010/main" val="920513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24000" y="211243"/>
            <a:ext cx="8496000" cy="756000"/>
          </a:xfrm>
        </p:spPr>
        <p:txBody>
          <a:bodyPr/>
          <a:lstStyle/>
          <a:p>
            <a:r>
              <a:rPr lang="de-DE" dirty="0">
                <a:solidFill>
                  <a:schemeClr val="tx1"/>
                </a:solidFill>
              </a:rPr>
              <a:t>SQ II: Digital </a:t>
            </a:r>
            <a:r>
              <a:rPr lang="de-DE" dirty="0" err="1">
                <a:solidFill>
                  <a:schemeClr val="tx1"/>
                </a:solidFill>
              </a:rPr>
              <a:t>Thinking</a:t>
            </a:r>
            <a:r>
              <a:rPr lang="de-DE" dirty="0">
                <a:solidFill>
                  <a:schemeClr val="tx1"/>
                </a:solidFill>
              </a:rPr>
              <a:t> &amp; Management</a:t>
            </a:r>
            <a:br>
              <a:rPr lang="de-DE" dirty="0">
                <a:solidFill>
                  <a:schemeClr val="tx1"/>
                </a:solidFill>
              </a:rPr>
            </a:br>
            <a:r>
              <a:rPr lang="de-DE" dirty="0">
                <a:solidFill>
                  <a:schemeClr val="tx1"/>
                </a:solidFill>
              </a:rPr>
              <a:t>https://www.zukunftsinstitut.de/dossier/megatrends/</a:t>
            </a:r>
          </a:p>
        </p:txBody>
      </p:sp>
      <p:sp>
        <p:nvSpPr>
          <p:cNvPr id="2" name="Oval 1">
            <a:extLst>
              <a:ext uri="{FF2B5EF4-FFF2-40B4-BE49-F238E27FC236}">
                <a16:creationId xmlns:a16="http://schemas.microsoft.com/office/drawing/2014/main" id="{7944524D-D647-4462-A2FB-6DFE34F15347}"/>
              </a:ext>
            </a:extLst>
          </p:cNvPr>
          <p:cNvSpPr/>
          <p:nvPr/>
        </p:nvSpPr>
        <p:spPr bwMode="gray">
          <a:xfrm>
            <a:off x="3448169" y="3204057"/>
            <a:ext cx="2363824" cy="1512109"/>
          </a:xfrm>
          <a:prstGeom prst="ellipse">
            <a:avLst/>
          </a:prstGeom>
          <a:solidFill>
            <a:schemeClr val="accent1"/>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3200" b="1" i="0" u="none" strike="noStrike" kern="0" cap="none" spc="0" normalizeH="0" baseline="0" noProof="0" dirty="0">
                <a:ln>
                  <a:noFill/>
                </a:ln>
                <a:effectLst/>
                <a:uLnTx/>
                <a:uFillTx/>
                <a:ea typeface="Arial Unicode MS" pitchFamily="34" charset="-128"/>
                <a:cs typeface="Arial Unicode MS" pitchFamily="34" charset="-128"/>
              </a:rPr>
              <a:t>Mega-Trends</a:t>
            </a:r>
          </a:p>
        </p:txBody>
      </p:sp>
      <p:sp>
        <p:nvSpPr>
          <p:cNvPr id="8" name="Oval 7">
            <a:extLst>
              <a:ext uri="{FF2B5EF4-FFF2-40B4-BE49-F238E27FC236}">
                <a16:creationId xmlns:a16="http://schemas.microsoft.com/office/drawing/2014/main" id="{A212FA2A-E009-4BE5-962A-0B7ACAEBB5F4}"/>
              </a:ext>
            </a:extLst>
          </p:cNvPr>
          <p:cNvSpPr/>
          <p:nvPr/>
        </p:nvSpPr>
        <p:spPr bwMode="gray">
          <a:xfrm>
            <a:off x="305830" y="2191894"/>
            <a:ext cx="3985615" cy="825455"/>
          </a:xfrm>
          <a:prstGeom prst="ellipse">
            <a:avLst/>
          </a:prstGeom>
          <a:solidFill>
            <a:schemeClr val="accent4">
              <a:lumMod val="60000"/>
              <a:lumOff val="40000"/>
            </a:schemeClr>
          </a:solidFill>
          <a:ln w="6350" algn="ctr">
            <a:noFill/>
            <a:miter lim="800000"/>
            <a:headEnd/>
            <a:tailEnd/>
          </a:ln>
        </p:spPr>
        <p:txBody>
          <a:bodyPr lIns="90000" tIns="72000" rIns="90000" bIns="72000" rtlCol="0" anchor="ctr"/>
          <a:lstStyle/>
          <a:p>
            <a:pPr algn="ctr" fontAlgn="base">
              <a:spcBef>
                <a:spcPct val="50000"/>
              </a:spcBef>
              <a:spcAft>
                <a:spcPct val="0"/>
              </a:spcAft>
              <a:buClr>
                <a:srgbClr val="F0AB00"/>
              </a:buClr>
              <a:buSzPct val="80000"/>
            </a:pPr>
            <a:r>
              <a:rPr lang="de-DE" sz="2400" b="1" kern="0" dirty="0">
                <a:ea typeface="Arial Unicode MS" pitchFamily="34" charset="-128"/>
                <a:cs typeface="Arial Unicode MS" pitchFamily="34" charset="-128"/>
              </a:rPr>
              <a:t>Individualisierung</a:t>
            </a:r>
            <a:endParaRPr kumimoji="0" lang="de-DE" sz="2400" b="1"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13" name="Oval 12">
            <a:extLst>
              <a:ext uri="{FF2B5EF4-FFF2-40B4-BE49-F238E27FC236}">
                <a16:creationId xmlns:a16="http://schemas.microsoft.com/office/drawing/2014/main" id="{4B6E21D8-14B1-41D1-96AD-0A52E32C98D1}"/>
              </a:ext>
            </a:extLst>
          </p:cNvPr>
          <p:cNvSpPr/>
          <p:nvPr/>
        </p:nvSpPr>
        <p:spPr bwMode="gray">
          <a:xfrm>
            <a:off x="305830" y="3955325"/>
            <a:ext cx="3262223" cy="825455"/>
          </a:xfrm>
          <a:prstGeom prst="ellipse">
            <a:avLst/>
          </a:prstGeom>
          <a:solidFill>
            <a:schemeClr val="accent4">
              <a:lumMod val="60000"/>
              <a:lumOff val="40000"/>
            </a:schemeClr>
          </a:solidFill>
          <a:ln w="6350" algn="ctr">
            <a:noFill/>
            <a:miter lim="800000"/>
            <a:headEnd/>
            <a:tailEnd/>
          </a:ln>
        </p:spPr>
        <p:txBody>
          <a:bodyPr lIns="90000" tIns="72000" rIns="90000" bIns="72000" rtlCol="0" anchor="ctr"/>
          <a:lstStyle/>
          <a:p>
            <a:pPr algn="ctr" fontAlgn="base">
              <a:spcBef>
                <a:spcPct val="50000"/>
              </a:spcBef>
              <a:spcAft>
                <a:spcPct val="0"/>
              </a:spcAft>
              <a:buClr>
                <a:srgbClr val="F0AB00"/>
              </a:buClr>
              <a:buSzPct val="80000"/>
            </a:pPr>
            <a:r>
              <a:rPr lang="de-DE" sz="2400" b="1" kern="0" dirty="0">
                <a:ea typeface="Arial Unicode MS" pitchFamily="34" charset="-128"/>
                <a:cs typeface="Arial Unicode MS" pitchFamily="34" charset="-128"/>
              </a:rPr>
              <a:t>Gesundheit</a:t>
            </a:r>
            <a:endParaRPr kumimoji="0" lang="de-DE" sz="2400" b="1"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14" name="Oval 13">
            <a:extLst>
              <a:ext uri="{FF2B5EF4-FFF2-40B4-BE49-F238E27FC236}">
                <a16:creationId xmlns:a16="http://schemas.microsoft.com/office/drawing/2014/main" id="{11FE77E5-A61D-4E18-8414-DA827B6E9956}"/>
              </a:ext>
            </a:extLst>
          </p:cNvPr>
          <p:cNvSpPr/>
          <p:nvPr/>
        </p:nvSpPr>
        <p:spPr bwMode="gray">
          <a:xfrm>
            <a:off x="305830" y="4851386"/>
            <a:ext cx="3262223" cy="825455"/>
          </a:xfrm>
          <a:prstGeom prst="ellipse">
            <a:avLst/>
          </a:prstGeom>
          <a:solidFill>
            <a:schemeClr val="accent4">
              <a:lumMod val="60000"/>
              <a:lumOff val="40000"/>
            </a:schemeClr>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2400" b="1" i="0" u="none" strike="noStrike" kern="0" cap="none" spc="0" normalizeH="0" baseline="0" noProof="0" dirty="0">
                <a:ln>
                  <a:noFill/>
                </a:ln>
                <a:effectLst/>
                <a:uLnTx/>
                <a:uFillTx/>
                <a:ea typeface="Arial Unicode MS" pitchFamily="34" charset="-128"/>
                <a:cs typeface="Arial Unicode MS" pitchFamily="34" charset="-128"/>
              </a:rPr>
              <a:t>Neo-Ökologie</a:t>
            </a:r>
          </a:p>
        </p:txBody>
      </p:sp>
      <p:sp>
        <p:nvSpPr>
          <p:cNvPr id="15" name="Oval 14">
            <a:extLst>
              <a:ext uri="{FF2B5EF4-FFF2-40B4-BE49-F238E27FC236}">
                <a16:creationId xmlns:a16="http://schemas.microsoft.com/office/drawing/2014/main" id="{8A7E0E36-5F1A-4C72-9A09-CE47452CEBD2}"/>
              </a:ext>
            </a:extLst>
          </p:cNvPr>
          <p:cNvSpPr/>
          <p:nvPr/>
        </p:nvSpPr>
        <p:spPr bwMode="gray">
          <a:xfrm>
            <a:off x="305830" y="3077826"/>
            <a:ext cx="3262223" cy="825455"/>
          </a:xfrm>
          <a:prstGeom prst="ellipse">
            <a:avLst/>
          </a:prstGeom>
          <a:solidFill>
            <a:schemeClr val="accent4">
              <a:lumMod val="60000"/>
              <a:lumOff val="40000"/>
            </a:schemeClr>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2400" b="1" i="0" u="none" strike="noStrike" kern="0" cap="none" spc="0" normalizeH="0" baseline="0" noProof="0" dirty="0">
                <a:ln>
                  <a:noFill/>
                </a:ln>
                <a:effectLst/>
                <a:uLnTx/>
                <a:uFillTx/>
                <a:ea typeface="Arial Unicode MS" pitchFamily="34" charset="-128"/>
                <a:cs typeface="Arial Unicode MS" pitchFamily="34" charset="-128"/>
              </a:rPr>
              <a:t>Konnektivität</a:t>
            </a:r>
          </a:p>
        </p:txBody>
      </p:sp>
      <p:sp>
        <p:nvSpPr>
          <p:cNvPr id="16" name="Oval 15">
            <a:extLst>
              <a:ext uri="{FF2B5EF4-FFF2-40B4-BE49-F238E27FC236}">
                <a16:creationId xmlns:a16="http://schemas.microsoft.com/office/drawing/2014/main" id="{1AC3AEC0-2B05-411A-8134-53AA5A1AC36F}"/>
              </a:ext>
            </a:extLst>
          </p:cNvPr>
          <p:cNvSpPr/>
          <p:nvPr/>
        </p:nvSpPr>
        <p:spPr bwMode="gray">
          <a:xfrm>
            <a:off x="305831" y="5716941"/>
            <a:ext cx="3382942" cy="825455"/>
          </a:xfrm>
          <a:prstGeom prst="ellipse">
            <a:avLst/>
          </a:prstGeom>
          <a:solidFill>
            <a:schemeClr val="accent4">
              <a:lumMod val="60000"/>
              <a:lumOff val="40000"/>
            </a:schemeClr>
          </a:solidFill>
          <a:ln w="6350" algn="ctr">
            <a:noFill/>
            <a:miter lim="800000"/>
            <a:headEnd/>
            <a:tailEnd/>
          </a:ln>
        </p:spPr>
        <p:txBody>
          <a:bodyPr lIns="90000" tIns="72000" rIns="90000" bIns="72000" rtlCol="0" anchor="ctr"/>
          <a:lstStyle/>
          <a:p>
            <a:pPr algn="ctr" fontAlgn="base">
              <a:spcBef>
                <a:spcPct val="50000"/>
              </a:spcBef>
              <a:spcAft>
                <a:spcPct val="0"/>
              </a:spcAft>
              <a:buClr>
                <a:srgbClr val="F0AB00"/>
              </a:buClr>
              <a:buSzPct val="80000"/>
            </a:pPr>
            <a:r>
              <a:rPr lang="de-DE" sz="2400" b="1" kern="0" dirty="0">
                <a:ea typeface="Arial Unicode MS" pitchFamily="34" charset="-128"/>
                <a:cs typeface="Arial Unicode MS" pitchFamily="34" charset="-128"/>
              </a:rPr>
              <a:t>Urbanisierung</a:t>
            </a:r>
          </a:p>
        </p:txBody>
      </p:sp>
      <p:sp>
        <p:nvSpPr>
          <p:cNvPr id="17" name="Oval 16">
            <a:extLst>
              <a:ext uri="{FF2B5EF4-FFF2-40B4-BE49-F238E27FC236}">
                <a16:creationId xmlns:a16="http://schemas.microsoft.com/office/drawing/2014/main" id="{E272183C-92C4-4D6E-90A0-D0AA4670BFA7}"/>
              </a:ext>
            </a:extLst>
          </p:cNvPr>
          <p:cNvSpPr/>
          <p:nvPr/>
        </p:nvSpPr>
        <p:spPr bwMode="gray">
          <a:xfrm>
            <a:off x="305830" y="1320997"/>
            <a:ext cx="3985615" cy="825455"/>
          </a:xfrm>
          <a:prstGeom prst="ellipse">
            <a:avLst/>
          </a:prstGeom>
          <a:solidFill>
            <a:schemeClr val="accent4">
              <a:lumMod val="60000"/>
              <a:lumOff val="40000"/>
            </a:schemeClr>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2400" b="1" i="0" u="none" strike="noStrike" kern="0" cap="none" spc="0" normalizeH="0" baseline="0" noProof="0" dirty="0" err="1">
                <a:ln>
                  <a:noFill/>
                </a:ln>
                <a:effectLst/>
                <a:uLnTx/>
                <a:uFillTx/>
                <a:ea typeface="Arial Unicode MS" pitchFamily="34" charset="-128"/>
                <a:cs typeface="Arial Unicode MS" pitchFamily="34" charset="-128"/>
              </a:rPr>
              <a:t>Selbstreg</a:t>
            </a:r>
            <a:r>
              <a:rPr kumimoji="0" lang="de-DE" sz="2400" b="1" i="0" u="none" strike="noStrike" kern="0" cap="none" spc="0" normalizeH="0" baseline="0" noProof="0" dirty="0">
                <a:ln>
                  <a:noFill/>
                </a:ln>
                <a:effectLst/>
                <a:uLnTx/>
                <a:uFillTx/>
                <a:ea typeface="Arial Unicode MS" pitchFamily="34" charset="-128"/>
                <a:cs typeface="Arial Unicode MS" pitchFamily="34" charset="-128"/>
              </a:rPr>
              <a:t>. Lernen</a:t>
            </a:r>
          </a:p>
        </p:txBody>
      </p:sp>
      <p:sp>
        <p:nvSpPr>
          <p:cNvPr id="19" name="Oval 18">
            <a:extLst>
              <a:ext uri="{FF2B5EF4-FFF2-40B4-BE49-F238E27FC236}">
                <a16:creationId xmlns:a16="http://schemas.microsoft.com/office/drawing/2014/main" id="{21200B89-8002-4CF1-A7F4-6F44B50DCD82}"/>
              </a:ext>
            </a:extLst>
          </p:cNvPr>
          <p:cNvSpPr/>
          <p:nvPr/>
        </p:nvSpPr>
        <p:spPr bwMode="gray">
          <a:xfrm>
            <a:off x="5692108" y="2191894"/>
            <a:ext cx="3262223" cy="825455"/>
          </a:xfrm>
          <a:prstGeom prst="ellipse">
            <a:avLst/>
          </a:prstGeom>
          <a:solidFill>
            <a:schemeClr val="accent4">
              <a:lumMod val="60000"/>
              <a:lumOff val="40000"/>
            </a:schemeClr>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2400" b="1" i="0" u="none" strike="noStrike" kern="0" cap="none" spc="0" normalizeH="0" baseline="0" noProof="0" dirty="0" err="1">
                <a:ln>
                  <a:noFill/>
                </a:ln>
                <a:effectLst/>
                <a:uLnTx/>
                <a:uFillTx/>
                <a:ea typeface="Arial Unicode MS" pitchFamily="34" charset="-128"/>
                <a:cs typeface="Arial Unicode MS" pitchFamily="34" charset="-128"/>
              </a:rPr>
              <a:t>Silver</a:t>
            </a:r>
            <a:r>
              <a:rPr kumimoji="0" lang="de-DE" sz="2400" b="1" i="0" u="none" strike="noStrike" kern="0" cap="none" spc="0" normalizeH="0" baseline="0" noProof="0" dirty="0">
                <a:ln>
                  <a:noFill/>
                </a:ln>
                <a:effectLst/>
                <a:uLnTx/>
                <a:uFillTx/>
                <a:ea typeface="Arial Unicode MS" pitchFamily="34" charset="-128"/>
                <a:cs typeface="Arial Unicode MS" pitchFamily="34" charset="-128"/>
              </a:rPr>
              <a:t> Society</a:t>
            </a:r>
          </a:p>
        </p:txBody>
      </p:sp>
      <p:sp>
        <p:nvSpPr>
          <p:cNvPr id="20" name="Oval 19">
            <a:extLst>
              <a:ext uri="{FF2B5EF4-FFF2-40B4-BE49-F238E27FC236}">
                <a16:creationId xmlns:a16="http://schemas.microsoft.com/office/drawing/2014/main" id="{D173E961-5B4A-43CB-BE38-56FB35248E17}"/>
              </a:ext>
            </a:extLst>
          </p:cNvPr>
          <p:cNvSpPr/>
          <p:nvPr/>
        </p:nvSpPr>
        <p:spPr bwMode="gray">
          <a:xfrm>
            <a:off x="5692108" y="3955325"/>
            <a:ext cx="3262223" cy="825455"/>
          </a:xfrm>
          <a:prstGeom prst="ellipse">
            <a:avLst/>
          </a:prstGeom>
          <a:solidFill>
            <a:schemeClr val="accent4">
              <a:lumMod val="60000"/>
              <a:lumOff val="40000"/>
            </a:schemeClr>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2400" b="1" i="0" u="none" strike="noStrike" kern="0" cap="none" spc="0" normalizeH="0" baseline="0" noProof="0" dirty="0">
                <a:ln>
                  <a:noFill/>
                </a:ln>
                <a:effectLst/>
                <a:uLnTx/>
                <a:uFillTx/>
                <a:ea typeface="Arial Unicode MS" pitchFamily="34" charset="-128"/>
                <a:cs typeface="Arial Unicode MS" pitchFamily="34" charset="-128"/>
              </a:rPr>
              <a:t>Mobilität</a:t>
            </a:r>
          </a:p>
        </p:txBody>
      </p:sp>
      <p:sp>
        <p:nvSpPr>
          <p:cNvPr id="21" name="Oval 20">
            <a:extLst>
              <a:ext uri="{FF2B5EF4-FFF2-40B4-BE49-F238E27FC236}">
                <a16:creationId xmlns:a16="http://schemas.microsoft.com/office/drawing/2014/main" id="{521F8E40-2945-48B5-A74F-C5C13D61CE04}"/>
              </a:ext>
            </a:extLst>
          </p:cNvPr>
          <p:cNvSpPr/>
          <p:nvPr/>
        </p:nvSpPr>
        <p:spPr bwMode="gray">
          <a:xfrm>
            <a:off x="5692108" y="4851386"/>
            <a:ext cx="3262223" cy="825455"/>
          </a:xfrm>
          <a:prstGeom prst="ellipse">
            <a:avLst/>
          </a:prstGeom>
          <a:solidFill>
            <a:schemeClr val="accent4">
              <a:lumMod val="60000"/>
              <a:lumOff val="40000"/>
            </a:schemeClr>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2400" b="1" i="0" u="none" strike="noStrike" kern="0" cap="none" spc="0" normalizeH="0" baseline="0" noProof="0" dirty="0">
                <a:ln>
                  <a:noFill/>
                </a:ln>
                <a:effectLst/>
                <a:uLnTx/>
                <a:uFillTx/>
                <a:ea typeface="Arial Unicode MS" pitchFamily="34" charset="-128"/>
                <a:cs typeface="Arial Unicode MS" pitchFamily="34" charset="-128"/>
              </a:rPr>
              <a:t>Sicherheit</a:t>
            </a:r>
          </a:p>
        </p:txBody>
      </p:sp>
      <p:sp>
        <p:nvSpPr>
          <p:cNvPr id="22" name="Oval 21">
            <a:extLst>
              <a:ext uri="{FF2B5EF4-FFF2-40B4-BE49-F238E27FC236}">
                <a16:creationId xmlns:a16="http://schemas.microsoft.com/office/drawing/2014/main" id="{661DD766-0B62-409C-962F-F539A0FBE0F8}"/>
              </a:ext>
            </a:extLst>
          </p:cNvPr>
          <p:cNvSpPr/>
          <p:nvPr/>
        </p:nvSpPr>
        <p:spPr bwMode="gray">
          <a:xfrm>
            <a:off x="5692108" y="3077826"/>
            <a:ext cx="3262223" cy="825455"/>
          </a:xfrm>
          <a:prstGeom prst="ellipse">
            <a:avLst/>
          </a:prstGeom>
          <a:solidFill>
            <a:schemeClr val="accent4">
              <a:lumMod val="60000"/>
              <a:lumOff val="40000"/>
            </a:schemeClr>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2400" b="1" i="0" u="none" strike="noStrike" kern="0" cap="none" spc="0" normalizeH="0" baseline="0" noProof="0" dirty="0">
                <a:ln>
                  <a:noFill/>
                </a:ln>
                <a:effectLst/>
                <a:uLnTx/>
                <a:uFillTx/>
                <a:ea typeface="Arial Unicode MS" pitchFamily="34" charset="-128"/>
                <a:cs typeface="Arial Unicode MS" pitchFamily="34" charset="-128"/>
              </a:rPr>
              <a:t>New Work</a:t>
            </a:r>
          </a:p>
        </p:txBody>
      </p:sp>
      <p:sp>
        <p:nvSpPr>
          <p:cNvPr id="23" name="Oval 22">
            <a:extLst>
              <a:ext uri="{FF2B5EF4-FFF2-40B4-BE49-F238E27FC236}">
                <a16:creationId xmlns:a16="http://schemas.microsoft.com/office/drawing/2014/main" id="{C61103A5-DF4B-49C7-BF03-8F6BDE403E66}"/>
              </a:ext>
            </a:extLst>
          </p:cNvPr>
          <p:cNvSpPr/>
          <p:nvPr/>
        </p:nvSpPr>
        <p:spPr bwMode="gray">
          <a:xfrm>
            <a:off x="5692108" y="5716941"/>
            <a:ext cx="3262223" cy="825455"/>
          </a:xfrm>
          <a:prstGeom prst="ellipse">
            <a:avLst/>
          </a:prstGeom>
          <a:solidFill>
            <a:schemeClr val="accent4">
              <a:lumMod val="60000"/>
              <a:lumOff val="40000"/>
            </a:schemeClr>
          </a:solidFill>
          <a:ln w="6350" algn="ctr">
            <a:noFill/>
            <a:miter lim="800000"/>
            <a:headEnd/>
            <a:tailEnd/>
          </a:ln>
        </p:spPr>
        <p:txBody>
          <a:bodyPr lIns="90000" tIns="72000" rIns="90000" bIns="72000" rtlCol="0" anchor="ctr"/>
          <a:lstStyle/>
          <a:p>
            <a:pPr algn="ctr" fontAlgn="base">
              <a:spcBef>
                <a:spcPct val="50000"/>
              </a:spcBef>
              <a:spcAft>
                <a:spcPct val="0"/>
              </a:spcAft>
              <a:buClr>
                <a:srgbClr val="F0AB00"/>
              </a:buClr>
              <a:buSzPct val="80000"/>
            </a:pPr>
            <a:r>
              <a:rPr lang="de-DE" sz="2400" b="1" kern="0" dirty="0">
                <a:ea typeface="Arial Unicode MS" pitchFamily="34" charset="-128"/>
                <a:cs typeface="Arial Unicode MS" pitchFamily="34" charset="-128"/>
              </a:rPr>
              <a:t>Gender </a:t>
            </a:r>
            <a:r>
              <a:rPr lang="de-DE" sz="2400" b="1" kern="0" dirty="0" err="1">
                <a:ea typeface="Arial Unicode MS" pitchFamily="34" charset="-128"/>
                <a:cs typeface="Arial Unicode MS" pitchFamily="34" charset="-128"/>
              </a:rPr>
              <a:t>Shift</a:t>
            </a:r>
            <a:endParaRPr lang="de-DE" sz="2400" b="1" kern="0" dirty="0">
              <a:ea typeface="Arial Unicode MS" pitchFamily="34" charset="-128"/>
              <a:cs typeface="Arial Unicode MS" pitchFamily="34" charset="-128"/>
            </a:endParaRPr>
          </a:p>
        </p:txBody>
      </p:sp>
      <p:sp>
        <p:nvSpPr>
          <p:cNvPr id="24" name="Oval 23">
            <a:extLst>
              <a:ext uri="{FF2B5EF4-FFF2-40B4-BE49-F238E27FC236}">
                <a16:creationId xmlns:a16="http://schemas.microsoft.com/office/drawing/2014/main" id="{44F84012-F345-4F20-9770-7A7A7D66EFD9}"/>
              </a:ext>
            </a:extLst>
          </p:cNvPr>
          <p:cNvSpPr/>
          <p:nvPr/>
        </p:nvSpPr>
        <p:spPr bwMode="gray">
          <a:xfrm>
            <a:off x="5575948" y="1320997"/>
            <a:ext cx="3378383" cy="825455"/>
          </a:xfrm>
          <a:prstGeom prst="ellipse">
            <a:avLst/>
          </a:prstGeom>
          <a:solidFill>
            <a:schemeClr val="accent4">
              <a:lumMod val="60000"/>
              <a:lumOff val="40000"/>
            </a:schemeClr>
          </a:solidFill>
          <a:ln w="6350" algn="ctr">
            <a:noFill/>
            <a:miter lim="800000"/>
            <a:headEnd/>
            <a:tailEnd/>
          </a:ln>
        </p:spPr>
        <p:txBody>
          <a:bodyPr lIns="90000" tIns="72000" rIns="90000" bIns="72000" rtlCol="0" anchor="ctr"/>
          <a:lstStyle/>
          <a:p>
            <a:pPr algn="ctr" fontAlgn="base">
              <a:spcBef>
                <a:spcPct val="50000"/>
              </a:spcBef>
              <a:spcAft>
                <a:spcPct val="0"/>
              </a:spcAft>
              <a:buClr>
                <a:srgbClr val="F0AB00"/>
              </a:buClr>
              <a:buSzPct val="80000"/>
            </a:pPr>
            <a:r>
              <a:rPr lang="de-DE" sz="2400" b="1" kern="0" dirty="0">
                <a:ea typeface="Arial Unicode MS" pitchFamily="34" charset="-128"/>
                <a:cs typeface="Arial Unicode MS" pitchFamily="34" charset="-128"/>
              </a:rPr>
              <a:t>Globalisierung</a:t>
            </a:r>
            <a:endParaRPr kumimoji="0" lang="de-DE" sz="2400" b="1"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18" name="Oval 17">
            <a:extLst>
              <a:ext uri="{FF2B5EF4-FFF2-40B4-BE49-F238E27FC236}">
                <a16:creationId xmlns:a16="http://schemas.microsoft.com/office/drawing/2014/main" id="{B4D51D8A-FE7A-4404-99FC-D10023C2564B}"/>
              </a:ext>
            </a:extLst>
          </p:cNvPr>
          <p:cNvSpPr/>
          <p:nvPr/>
        </p:nvSpPr>
        <p:spPr bwMode="gray">
          <a:xfrm>
            <a:off x="324001" y="1320997"/>
            <a:ext cx="8630330" cy="5114971"/>
          </a:xfrm>
          <a:prstGeom prst="ellipse">
            <a:avLst/>
          </a:prstGeom>
          <a:solidFill>
            <a:schemeClr val="tx2">
              <a:lumMod val="40000"/>
              <a:lumOff val="60000"/>
            </a:schemeClr>
          </a:solidFill>
          <a:ln w="6350" algn="ctr">
            <a:noFill/>
            <a:miter lim="800000"/>
            <a:headEnd/>
            <a:tailEnd/>
          </a:ln>
        </p:spPr>
        <p:txBody>
          <a:bodyPr lIns="90000" tIns="72000" rIns="90000" bIns="72000" rtlCol="0" anchor="ctr"/>
          <a:lstStyle/>
          <a:p>
            <a:pPr algn="ctr" fontAlgn="base">
              <a:spcBef>
                <a:spcPct val="50000"/>
              </a:spcBef>
              <a:spcAft>
                <a:spcPct val="0"/>
              </a:spcAft>
              <a:buClr>
                <a:srgbClr val="F0AB00"/>
              </a:buClr>
              <a:buSzPct val="80000"/>
            </a:pPr>
            <a:r>
              <a:rPr lang="de-DE" sz="4000" b="1" kern="0" dirty="0">
                <a:ea typeface="Arial Unicode MS" pitchFamily="34" charset="-128"/>
                <a:cs typeface="Arial Unicode MS" pitchFamily="34" charset="-128"/>
              </a:rPr>
              <a:t>Innovative Lösungen</a:t>
            </a:r>
            <a:br>
              <a:rPr lang="de-DE" sz="4000" b="1" kern="0" dirty="0">
                <a:ea typeface="Arial Unicode MS" pitchFamily="34" charset="-128"/>
                <a:cs typeface="Arial Unicode MS" pitchFamily="34" charset="-128"/>
              </a:rPr>
            </a:br>
            <a:r>
              <a:rPr lang="de-DE" sz="2000" b="1" kern="0" dirty="0">
                <a:ea typeface="Arial Unicode MS" pitchFamily="34" charset="-128"/>
                <a:cs typeface="Arial Unicode MS" pitchFamily="34" charset="-128"/>
              </a:rPr>
              <a:t>unter Berücksichtigung der aktuellen Trends</a:t>
            </a:r>
          </a:p>
          <a:p>
            <a:pPr algn="ctr" fontAlgn="base">
              <a:spcBef>
                <a:spcPct val="50000"/>
              </a:spcBef>
              <a:spcAft>
                <a:spcPct val="0"/>
              </a:spcAft>
              <a:buClr>
                <a:srgbClr val="F0AB00"/>
              </a:buClr>
              <a:buSzPct val="80000"/>
            </a:pPr>
            <a:r>
              <a:rPr lang="de-DE" sz="2000" b="1" kern="0" dirty="0">
                <a:ea typeface="Arial Unicode MS" pitchFamily="34" charset="-128"/>
                <a:cs typeface="Arial Unicode MS" pitchFamily="34" charset="-128"/>
              </a:rPr>
              <a:t>von</a:t>
            </a:r>
          </a:p>
          <a:p>
            <a:pPr algn="ctr" fontAlgn="base">
              <a:spcBef>
                <a:spcPct val="50000"/>
              </a:spcBef>
              <a:spcAft>
                <a:spcPct val="0"/>
              </a:spcAft>
              <a:buClr>
                <a:srgbClr val="F0AB00"/>
              </a:buClr>
              <a:buSzPct val="80000"/>
            </a:pPr>
            <a:r>
              <a:rPr lang="de-DE" sz="4000" b="1" kern="0" dirty="0">
                <a:ea typeface="Arial Unicode MS" pitchFamily="34" charset="-128"/>
                <a:cs typeface="Arial Unicode MS" pitchFamily="34" charset="-128"/>
              </a:rPr>
              <a:t>High Performing Teams</a:t>
            </a:r>
          </a:p>
          <a:p>
            <a:pPr algn="ctr" fontAlgn="base">
              <a:spcBef>
                <a:spcPct val="50000"/>
              </a:spcBef>
              <a:spcAft>
                <a:spcPct val="0"/>
              </a:spcAft>
              <a:buClr>
                <a:srgbClr val="F0AB00"/>
              </a:buClr>
              <a:buSzPct val="80000"/>
            </a:pPr>
            <a:r>
              <a:rPr lang="de-DE" sz="2000" b="1" kern="0" dirty="0">
                <a:ea typeface="Arial Unicode MS" pitchFamily="34" charset="-128"/>
              </a:rPr>
              <a:t>In</a:t>
            </a:r>
          </a:p>
          <a:p>
            <a:pPr algn="ctr" fontAlgn="base">
              <a:spcBef>
                <a:spcPct val="50000"/>
              </a:spcBef>
              <a:spcAft>
                <a:spcPct val="0"/>
              </a:spcAft>
              <a:buClr>
                <a:srgbClr val="F0AB00"/>
              </a:buClr>
              <a:buSzPct val="80000"/>
            </a:pPr>
            <a:r>
              <a:rPr lang="de-DE" sz="4000" b="1" kern="0" dirty="0">
                <a:ea typeface="Arial Unicode MS" pitchFamily="34" charset="-128"/>
              </a:rPr>
              <a:t>komplexem Umfeld </a:t>
            </a:r>
          </a:p>
        </p:txBody>
      </p:sp>
      <p:sp>
        <p:nvSpPr>
          <p:cNvPr id="3" name="Rechteck 2">
            <a:extLst>
              <a:ext uri="{FF2B5EF4-FFF2-40B4-BE49-F238E27FC236}">
                <a16:creationId xmlns:a16="http://schemas.microsoft.com/office/drawing/2014/main" id="{7B52E26C-9AC2-49E5-8501-A35E03247EE3}"/>
              </a:ext>
            </a:extLst>
          </p:cNvPr>
          <p:cNvSpPr/>
          <p:nvPr/>
        </p:nvSpPr>
        <p:spPr bwMode="gray">
          <a:xfrm rot="19657504">
            <a:off x="1492828" y="3210723"/>
            <a:ext cx="6567055" cy="1113984"/>
          </a:xfrm>
          <a:prstGeom prst="rect">
            <a:avLst/>
          </a:prstGeom>
          <a:solidFill>
            <a:srgbClr val="FFFF00"/>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4400" b="1" i="0" u="none" strike="noStrike" kern="0" cap="none" spc="0" normalizeH="0" baseline="0" noProof="0" dirty="0" err="1">
                <a:ln>
                  <a:noFill/>
                </a:ln>
                <a:effectLst/>
                <a:uLnTx/>
                <a:uFillTx/>
                <a:ea typeface="Arial Unicode MS" pitchFamily="34" charset="-128"/>
                <a:cs typeface="Arial Unicode MS" pitchFamily="34" charset="-128"/>
              </a:rPr>
              <a:t>Capabilities</a:t>
            </a:r>
            <a:r>
              <a:rPr kumimoji="0" lang="de-DE" sz="4400" b="1" i="0" u="none" strike="noStrike" kern="0" cap="none" spc="0" normalizeH="0" baseline="0" noProof="0" dirty="0">
                <a:ln>
                  <a:noFill/>
                </a:ln>
                <a:effectLst/>
                <a:uLnTx/>
                <a:uFillTx/>
                <a:ea typeface="Arial Unicode MS" pitchFamily="34" charset="-128"/>
                <a:cs typeface="Arial Unicode MS" pitchFamily="34" charset="-128"/>
              </a:rPr>
              <a:t>?</a:t>
            </a:r>
          </a:p>
        </p:txBody>
      </p:sp>
    </p:spTree>
    <p:extLst>
      <p:ext uri="{BB962C8B-B14F-4D97-AF65-F5344CB8AC3E}">
        <p14:creationId xmlns:p14="http://schemas.microsoft.com/office/powerpoint/2010/main" val="38948644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de-DE" dirty="0">
                <a:solidFill>
                  <a:schemeClr val="tx1"/>
                </a:solidFill>
              </a:rPr>
              <a:t>SQ II: Digital </a:t>
            </a:r>
            <a:r>
              <a:rPr lang="de-DE" dirty="0" err="1">
                <a:solidFill>
                  <a:schemeClr val="tx1"/>
                </a:solidFill>
              </a:rPr>
              <a:t>Thinking</a:t>
            </a:r>
            <a:r>
              <a:rPr lang="de-DE" dirty="0">
                <a:solidFill>
                  <a:schemeClr val="tx1"/>
                </a:solidFill>
              </a:rPr>
              <a:t> &amp; Management</a:t>
            </a:r>
            <a:br>
              <a:rPr lang="de-DE" dirty="0">
                <a:solidFill>
                  <a:schemeClr val="tx1"/>
                </a:solidFill>
              </a:rPr>
            </a:br>
            <a:r>
              <a:rPr lang="de-DE" dirty="0" err="1">
                <a:solidFill>
                  <a:schemeClr val="tx1"/>
                </a:solidFill>
              </a:rPr>
              <a:t>Capabilities</a:t>
            </a:r>
            <a:r>
              <a:rPr lang="de-DE" dirty="0">
                <a:solidFill>
                  <a:schemeClr val="tx1"/>
                </a:solidFill>
              </a:rPr>
              <a:t> damals</a:t>
            </a:r>
          </a:p>
        </p:txBody>
      </p:sp>
      <p:sp>
        <p:nvSpPr>
          <p:cNvPr id="6" name="TextBox 5">
            <a:extLst>
              <a:ext uri="{FF2B5EF4-FFF2-40B4-BE49-F238E27FC236}">
                <a16:creationId xmlns:a16="http://schemas.microsoft.com/office/drawing/2014/main" id="{2FA3691E-AED8-4B99-9AF5-F7E11BFD480F}"/>
              </a:ext>
            </a:extLst>
          </p:cNvPr>
          <p:cNvSpPr txBox="1"/>
          <p:nvPr/>
        </p:nvSpPr>
        <p:spPr>
          <a:xfrm>
            <a:off x="4341090" y="3713018"/>
            <a:ext cx="1874982" cy="3062377"/>
          </a:xfrm>
          <a:prstGeom prst="rect">
            <a:avLst/>
          </a:prstGeom>
          <a:noFill/>
        </p:spPr>
        <p:txBody>
          <a:bodyPr wrap="square" lIns="0" tIns="0" rIns="0" bIns="0" rtlCol="0">
            <a:spAutoFit/>
          </a:bodyPr>
          <a:lstStyle/>
          <a:p>
            <a:pPr fontAlgn="base">
              <a:spcBef>
                <a:spcPts val="600"/>
              </a:spcBef>
              <a:spcAft>
                <a:spcPct val="0"/>
              </a:spcAft>
              <a:buClr>
                <a:srgbClr val="F0AB00"/>
              </a:buClr>
              <a:buSzPct val="80000"/>
            </a:pPr>
            <a:r>
              <a:rPr lang="de-DE" sz="19900" kern="0" dirty="0">
                <a:solidFill>
                  <a:schemeClr val="bg1"/>
                </a:solidFill>
                <a:ea typeface="Arial Unicode MS" pitchFamily="34" charset="-128"/>
                <a:cs typeface="Arial Unicode MS" pitchFamily="34" charset="-128"/>
              </a:rPr>
              <a:t>?</a:t>
            </a:r>
          </a:p>
        </p:txBody>
      </p:sp>
      <p:pic>
        <p:nvPicPr>
          <p:cNvPr id="7" name="Picture 6">
            <a:extLst>
              <a:ext uri="{FF2B5EF4-FFF2-40B4-BE49-F238E27FC236}">
                <a16:creationId xmlns:a16="http://schemas.microsoft.com/office/drawing/2014/main" id="{C23E0222-7206-49FD-A7E0-D706A9AD326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87683" y="1270934"/>
            <a:ext cx="8368634" cy="5152707"/>
          </a:xfrm>
          <a:prstGeom prst="rect">
            <a:avLst/>
          </a:prstGeom>
        </p:spPr>
      </p:pic>
      <p:sp>
        <p:nvSpPr>
          <p:cNvPr id="8" name="Oval 7">
            <a:extLst>
              <a:ext uri="{FF2B5EF4-FFF2-40B4-BE49-F238E27FC236}">
                <a16:creationId xmlns:a16="http://schemas.microsoft.com/office/drawing/2014/main" id="{3CB50D3A-17F0-41B3-B8C9-A6ECFBEF5901}"/>
              </a:ext>
            </a:extLst>
          </p:cNvPr>
          <p:cNvSpPr/>
          <p:nvPr/>
        </p:nvSpPr>
        <p:spPr bwMode="gray">
          <a:xfrm>
            <a:off x="6012873" y="324000"/>
            <a:ext cx="2530763" cy="756000"/>
          </a:xfrm>
          <a:prstGeom prst="ellipse">
            <a:avLst/>
          </a:prstGeom>
          <a:solidFill>
            <a:schemeClr val="accent1"/>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de-DE" b="1" kern="0" dirty="0">
                <a:ea typeface="Arial Unicode MS" pitchFamily="34" charset="-128"/>
                <a:cs typeface="Arial Unicode MS" pitchFamily="34" charset="-128"/>
              </a:rPr>
              <a:t>Kopiert von</a:t>
            </a:r>
            <a:br>
              <a:rPr kumimoji="0" lang="de-DE" b="1" i="0" u="none" strike="noStrike" kern="0" cap="none" spc="0" normalizeH="0" baseline="0" noProof="0" dirty="0">
                <a:ln>
                  <a:noFill/>
                </a:ln>
                <a:effectLst/>
                <a:uLnTx/>
                <a:uFillTx/>
                <a:ea typeface="Arial Unicode MS" pitchFamily="34" charset="-128"/>
                <a:cs typeface="Arial Unicode MS" pitchFamily="34" charset="-128"/>
              </a:rPr>
            </a:br>
            <a:r>
              <a:rPr kumimoji="0" lang="de-DE" b="1" i="0" u="none" strike="noStrike" kern="0" cap="none" spc="0" normalizeH="0" baseline="0" noProof="0" dirty="0">
                <a:ln>
                  <a:noFill/>
                </a:ln>
                <a:effectLst/>
                <a:uLnTx/>
                <a:uFillTx/>
                <a:ea typeface="Arial Unicode MS" pitchFamily="34" charset="-128"/>
                <a:cs typeface="Arial Unicode MS" pitchFamily="34" charset="-128"/>
              </a:rPr>
              <a:t>Gunter </a:t>
            </a:r>
            <a:r>
              <a:rPr kumimoji="0" lang="de-DE" b="1" i="0" u="none" strike="noStrike" kern="0" cap="none" spc="0" normalizeH="0" baseline="0" noProof="0" dirty="0" err="1">
                <a:ln>
                  <a:noFill/>
                </a:ln>
                <a:effectLst/>
                <a:uLnTx/>
                <a:uFillTx/>
                <a:ea typeface="Arial Unicode MS" pitchFamily="34" charset="-128"/>
                <a:cs typeface="Arial Unicode MS" pitchFamily="34" charset="-128"/>
              </a:rPr>
              <a:t>Dueck</a:t>
            </a:r>
            <a:endParaRPr kumimoji="0" lang="de-DE" b="1" i="0" u="none" strike="noStrike" kern="0" cap="none" spc="0" normalizeH="0" baseline="0" noProof="0" dirty="0">
              <a:ln>
                <a:noFill/>
              </a:ln>
              <a:effectLst/>
              <a:uLnTx/>
              <a:uFillTx/>
              <a:ea typeface="Arial Unicode MS" pitchFamily="34" charset="-128"/>
              <a:cs typeface="Arial Unicode MS" pitchFamily="34" charset="-128"/>
            </a:endParaRPr>
          </a:p>
        </p:txBody>
      </p:sp>
    </p:spTree>
    <p:extLst>
      <p:ext uri="{BB962C8B-B14F-4D97-AF65-F5344CB8AC3E}">
        <p14:creationId xmlns:p14="http://schemas.microsoft.com/office/powerpoint/2010/main" val="35550670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de-DE" dirty="0">
                <a:solidFill>
                  <a:schemeClr val="tx1"/>
                </a:solidFill>
              </a:rPr>
              <a:t>SQ II: Digital </a:t>
            </a:r>
            <a:r>
              <a:rPr lang="de-DE" dirty="0" err="1">
                <a:solidFill>
                  <a:schemeClr val="tx1"/>
                </a:solidFill>
              </a:rPr>
              <a:t>Thinking</a:t>
            </a:r>
            <a:r>
              <a:rPr lang="de-DE" dirty="0">
                <a:solidFill>
                  <a:schemeClr val="tx1"/>
                </a:solidFill>
              </a:rPr>
              <a:t> &amp; Management</a:t>
            </a:r>
            <a:br>
              <a:rPr lang="de-DE" dirty="0">
                <a:solidFill>
                  <a:schemeClr val="tx1"/>
                </a:solidFill>
              </a:rPr>
            </a:br>
            <a:r>
              <a:rPr lang="de-DE" dirty="0" err="1">
                <a:solidFill>
                  <a:schemeClr val="tx1"/>
                </a:solidFill>
              </a:rPr>
              <a:t>Capabilities</a:t>
            </a:r>
            <a:r>
              <a:rPr lang="de-DE" dirty="0">
                <a:solidFill>
                  <a:schemeClr val="tx1"/>
                </a:solidFill>
              </a:rPr>
              <a:t> damals</a:t>
            </a:r>
          </a:p>
        </p:txBody>
      </p:sp>
      <p:sp>
        <p:nvSpPr>
          <p:cNvPr id="6" name="TextBox 5">
            <a:extLst>
              <a:ext uri="{FF2B5EF4-FFF2-40B4-BE49-F238E27FC236}">
                <a16:creationId xmlns:a16="http://schemas.microsoft.com/office/drawing/2014/main" id="{2FA3691E-AED8-4B99-9AF5-F7E11BFD480F}"/>
              </a:ext>
            </a:extLst>
          </p:cNvPr>
          <p:cNvSpPr txBox="1"/>
          <p:nvPr/>
        </p:nvSpPr>
        <p:spPr>
          <a:xfrm>
            <a:off x="4341090" y="3713018"/>
            <a:ext cx="1874982" cy="3062377"/>
          </a:xfrm>
          <a:prstGeom prst="rect">
            <a:avLst/>
          </a:prstGeom>
          <a:noFill/>
        </p:spPr>
        <p:txBody>
          <a:bodyPr wrap="square" lIns="0" tIns="0" rIns="0" bIns="0" rtlCol="0">
            <a:spAutoFit/>
          </a:bodyPr>
          <a:lstStyle/>
          <a:p>
            <a:pPr fontAlgn="base">
              <a:spcBef>
                <a:spcPts val="600"/>
              </a:spcBef>
              <a:spcAft>
                <a:spcPct val="0"/>
              </a:spcAft>
              <a:buClr>
                <a:srgbClr val="F0AB00"/>
              </a:buClr>
              <a:buSzPct val="80000"/>
            </a:pPr>
            <a:r>
              <a:rPr lang="de-DE" sz="19900" kern="0" dirty="0">
                <a:solidFill>
                  <a:schemeClr val="bg1"/>
                </a:solidFill>
                <a:ea typeface="Arial Unicode MS" pitchFamily="34" charset="-128"/>
                <a:cs typeface="Arial Unicode MS" pitchFamily="34" charset="-128"/>
              </a:rPr>
              <a:t>?</a:t>
            </a:r>
          </a:p>
        </p:txBody>
      </p:sp>
      <p:pic>
        <p:nvPicPr>
          <p:cNvPr id="7" name="Picture 6">
            <a:extLst>
              <a:ext uri="{FF2B5EF4-FFF2-40B4-BE49-F238E27FC236}">
                <a16:creationId xmlns:a16="http://schemas.microsoft.com/office/drawing/2014/main" id="{C23E0222-7206-49FD-A7E0-D706A9AD326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87683" y="1270934"/>
            <a:ext cx="8368634" cy="5152707"/>
          </a:xfrm>
          <a:prstGeom prst="rect">
            <a:avLst/>
          </a:prstGeom>
        </p:spPr>
      </p:pic>
      <p:sp>
        <p:nvSpPr>
          <p:cNvPr id="2" name="TextBox 1">
            <a:extLst>
              <a:ext uri="{FF2B5EF4-FFF2-40B4-BE49-F238E27FC236}">
                <a16:creationId xmlns:a16="http://schemas.microsoft.com/office/drawing/2014/main" id="{D832B1A1-38FD-48BA-A08F-83513512E37F}"/>
              </a:ext>
            </a:extLst>
          </p:cNvPr>
          <p:cNvSpPr txBox="1"/>
          <p:nvPr/>
        </p:nvSpPr>
        <p:spPr>
          <a:xfrm>
            <a:off x="2309534" y="1740835"/>
            <a:ext cx="6101383" cy="369332"/>
          </a:xfrm>
          <a:prstGeom prst="rect">
            <a:avLst/>
          </a:prstGeom>
          <a:noFill/>
        </p:spPr>
        <p:txBody>
          <a:bodyPr wrap="square" lIns="0" tIns="0" rIns="0" bIns="0" rtlCol="0">
            <a:spAutoFit/>
          </a:bodyPr>
          <a:lstStyle/>
          <a:p>
            <a:pPr fontAlgn="base">
              <a:spcBef>
                <a:spcPts val="600"/>
              </a:spcBef>
              <a:spcAft>
                <a:spcPct val="0"/>
              </a:spcAft>
              <a:buClr>
                <a:srgbClr val="F0AB00"/>
              </a:buClr>
              <a:buSzPct val="80000"/>
            </a:pPr>
            <a:r>
              <a:rPr lang="de-DE" sz="2400" b="1" kern="0" dirty="0">
                <a:solidFill>
                  <a:schemeClr val="bg1"/>
                </a:solidFill>
                <a:ea typeface="Arial Unicode MS" pitchFamily="34" charset="-128"/>
                <a:cs typeface="Arial Unicode MS" pitchFamily="34" charset="-128"/>
              </a:rPr>
              <a:t>Fleiß      Ordnung           </a:t>
            </a:r>
            <a:r>
              <a:rPr lang="de-DE" sz="2400" b="1" kern="0" dirty="0" err="1">
                <a:solidFill>
                  <a:schemeClr val="bg1"/>
                </a:solidFill>
                <a:ea typeface="Arial Unicode MS" pitchFamily="34" charset="-128"/>
                <a:cs typeface="Arial Unicode MS" pitchFamily="34" charset="-128"/>
              </a:rPr>
              <a:t>Pflichtbewußtsein</a:t>
            </a:r>
            <a:r>
              <a:rPr lang="de-DE" sz="2400" b="1" kern="0" dirty="0">
                <a:solidFill>
                  <a:schemeClr val="bg1"/>
                </a:solidFill>
                <a:ea typeface="Arial Unicode MS" pitchFamily="34" charset="-128"/>
                <a:cs typeface="Arial Unicode MS" pitchFamily="34" charset="-128"/>
              </a:rPr>
              <a:t>          </a:t>
            </a:r>
          </a:p>
        </p:txBody>
      </p:sp>
    </p:spTree>
    <p:extLst>
      <p:ext uri="{BB962C8B-B14F-4D97-AF65-F5344CB8AC3E}">
        <p14:creationId xmlns:p14="http://schemas.microsoft.com/office/powerpoint/2010/main" val="6128935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7D7297-961C-46F2-926F-CC731A7E5BA3}"/>
              </a:ext>
            </a:extLst>
          </p:cNvPr>
          <p:cNvSpPr>
            <a:spLocks noGrp="1"/>
          </p:cNvSpPr>
          <p:nvPr>
            <p:ph type="title"/>
          </p:nvPr>
        </p:nvSpPr>
        <p:spPr/>
        <p:txBody>
          <a:bodyPr/>
          <a:lstStyle/>
          <a:p>
            <a:r>
              <a:rPr lang="de-DE" dirty="0">
                <a:solidFill>
                  <a:schemeClr val="tx1"/>
                </a:solidFill>
              </a:rPr>
              <a:t>SQ II: Digital </a:t>
            </a:r>
            <a:r>
              <a:rPr lang="de-DE" dirty="0" err="1">
                <a:solidFill>
                  <a:schemeClr val="tx1"/>
                </a:solidFill>
              </a:rPr>
              <a:t>Thinking</a:t>
            </a:r>
            <a:r>
              <a:rPr lang="de-DE" dirty="0">
                <a:solidFill>
                  <a:schemeClr val="tx1"/>
                </a:solidFill>
              </a:rPr>
              <a:t> &amp; Management</a:t>
            </a:r>
            <a:endParaRPr lang="de-DE" dirty="0"/>
          </a:p>
        </p:txBody>
      </p:sp>
      <p:sp>
        <p:nvSpPr>
          <p:cNvPr id="3" name="Oval 2">
            <a:extLst>
              <a:ext uri="{FF2B5EF4-FFF2-40B4-BE49-F238E27FC236}">
                <a16:creationId xmlns:a16="http://schemas.microsoft.com/office/drawing/2014/main" id="{765B08B4-88B6-48C2-8FCD-CA0EB19DB789}"/>
              </a:ext>
            </a:extLst>
          </p:cNvPr>
          <p:cNvSpPr/>
          <p:nvPr/>
        </p:nvSpPr>
        <p:spPr bwMode="gray">
          <a:xfrm>
            <a:off x="436418" y="1984663"/>
            <a:ext cx="8073737" cy="3761509"/>
          </a:xfrm>
          <a:prstGeom prst="ellipse">
            <a:avLst/>
          </a:prstGeom>
          <a:solidFill>
            <a:schemeClr val="accent1"/>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de-DE" sz="6600" b="1" dirty="0"/>
              <a:t>Sind Sie innovativ</a:t>
            </a:r>
            <a:br>
              <a:rPr lang="de-DE" sz="6600" b="1" dirty="0"/>
            </a:br>
            <a:r>
              <a:rPr lang="de-DE" sz="6600" b="1" dirty="0"/>
              <a:t>?</a:t>
            </a:r>
            <a:endParaRPr kumimoji="0" lang="de-DE" sz="6600" b="1" i="0" u="none" strike="noStrike" kern="0" cap="none" spc="0" normalizeH="0" baseline="0" noProof="0" dirty="0">
              <a:ln>
                <a:noFill/>
              </a:ln>
              <a:effectLst/>
              <a:uLnTx/>
              <a:uFillTx/>
              <a:ea typeface="Arial Unicode MS" pitchFamily="34" charset="-128"/>
              <a:cs typeface="Arial Unicode MS" pitchFamily="34" charset="-128"/>
            </a:endParaRPr>
          </a:p>
        </p:txBody>
      </p:sp>
      <p:pic>
        <p:nvPicPr>
          <p:cNvPr id="1026" name="Picture 2" descr="Winking Smiley | Free download on ClipArtMag">
            <a:extLst>
              <a:ext uri="{FF2B5EF4-FFF2-40B4-BE49-F238E27FC236}">
                <a16:creationId xmlns:a16="http://schemas.microsoft.com/office/drawing/2014/main" id="{0BEE4A26-6B86-4AE1-8F44-6F08541896A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87655" y="3993203"/>
            <a:ext cx="1921213" cy="19212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573353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7D7297-961C-46F2-926F-CC731A7E5BA3}"/>
              </a:ext>
            </a:extLst>
          </p:cNvPr>
          <p:cNvSpPr>
            <a:spLocks noGrp="1"/>
          </p:cNvSpPr>
          <p:nvPr>
            <p:ph type="title"/>
          </p:nvPr>
        </p:nvSpPr>
        <p:spPr/>
        <p:txBody>
          <a:bodyPr/>
          <a:lstStyle/>
          <a:p>
            <a:r>
              <a:rPr lang="de-DE" dirty="0">
                <a:solidFill>
                  <a:schemeClr val="tx1"/>
                </a:solidFill>
              </a:rPr>
              <a:t>SQ II: Digital </a:t>
            </a:r>
            <a:r>
              <a:rPr lang="de-DE" dirty="0" err="1">
                <a:solidFill>
                  <a:schemeClr val="tx1"/>
                </a:solidFill>
              </a:rPr>
              <a:t>Thinking</a:t>
            </a:r>
            <a:r>
              <a:rPr lang="de-DE" dirty="0">
                <a:solidFill>
                  <a:schemeClr val="tx1"/>
                </a:solidFill>
              </a:rPr>
              <a:t> &amp; Management</a:t>
            </a:r>
            <a:endParaRPr lang="de-DE" dirty="0"/>
          </a:p>
        </p:txBody>
      </p:sp>
      <p:pic>
        <p:nvPicPr>
          <p:cNvPr id="1026" name="Picture 2" descr="LEGO® Duplo Golden Gate Bridge selber bauen - BRICKaddict Bauideen">
            <a:extLst>
              <a:ext uri="{FF2B5EF4-FFF2-40B4-BE49-F238E27FC236}">
                <a16:creationId xmlns:a16="http://schemas.microsoft.com/office/drawing/2014/main" id="{FE7C3EFD-A888-49EA-85F9-5D995A90502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26141" y="1540702"/>
            <a:ext cx="5751273" cy="43134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202498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7D7297-961C-46F2-926F-CC731A7E5BA3}"/>
              </a:ext>
            </a:extLst>
          </p:cNvPr>
          <p:cNvSpPr>
            <a:spLocks noGrp="1"/>
          </p:cNvSpPr>
          <p:nvPr>
            <p:ph type="title"/>
          </p:nvPr>
        </p:nvSpPr>
        <p:spPr/>
        <p:txBody>
          <a:bodyPr/>
          <a:lstStyle/>
          <a:p>
            <a:r>
              <a:rPr lang="de-DE" dirty="0"/>
              <a:t>Sind Sie innovativ?</a:t>
            </a:r>
          </a:p>
        </p:txBody>
      </p:sp>
      <p:pic>
        <p:nvPicPr>
          <p:cNvPr id="1026" name="Picture 2" descr="Findest du den Fehler?">
            <a:extLst>
              <a:ext uri="{FF2B5EF4-FFF2-40B4-BE49-F238E27FC236}">
                <a16:creationId xmlns:a16="http://schemas.microsoft.com/office/drawing/2014/main" id="{6F32742D-9141-48F5-8905-4E5B11DBF49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1494692"/>
            <a:ext cx="6096000" cy="4572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977923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709"/>
        <p:cNvGrpSpPr/>
        <p:nvPr/>
      </p:nvGrpSpPr>
      <p:grpSpPr>
        <a:xfrm>
          <a:off x="0" y="0"/>
          <a:ext cx="0" cy="0"/>
          <a:chOff x="0" y="0"/>
          <a:chExt cx="0" cy="0"/>
        </a:xfrm>
      </p:grpSpPr>
      <p:sp>
        <p:nvSpPr>
          <p:cNvPr id="3" name="Title 2">
            <a:extLst>
              <a:ext uri="{FF2B5EF4-FFF2-40B4-BE49-F238E27FC236}">
                <a16:creationId xmlns:a16="http://schemas.microsoft.com/office/drawing/2014/main" id="{147FE287-4975-4C36-B6AC-472C5F5B7BD9}"/>
              </a:ext>
            </a:extLst>
          </p:cNvPr>
          <p:cNvSpPr>
            <a:spLocks noGrp="1"/>
          </p:cNvSpPr>
          <p:nvPr>
            <p:ph type="title"/>
          </p:nvPr>
        </p:nvSpPr>
        <p:spPr>
          <a:xfrm>
            <a:off x="377544" y="407858"/>
            <a:ext cx="8599872" cy="945454"/>
          </a:xfrm>
        </p:spPr>
        <p:txBody>
          <a:bodyPr/>
          <a:lstStyle/>
          <a:p>
            <a:r>
              <a:rPr lang="de-DE" dirty="0"/>
              <a:t>Sind Sie innovativ?</a:t>
            </a:r>
            <a:br>
              <a:rPr lang="de-DE" dirty="0"/>
            </a:br>
            <a:r>
              <a:rPr lang="de-DE" dirty="0"/>
              <a:t>Unterschiedliche Wahrnehmung: Kippfiguren</a:t>
            </a:r>
          </a:p>
        </p:txBody>
      </p:sp>
      <p:pic>
        <p:nvPicPr>
          <p:cNvPr id="3074" name="Picture 2" descr="Kippfiguren - Lexikon der Psychologie">
            <a:extLst>
              <a:ext uri="{FF2B5EF4-FFF2-40B4-BE49-F238E27FC236}">
                <a16:creationId xmlns:a16="http://schemas.microsoft.com/office/drawing/2014/main" id="{6CDF0919-EAEB-4B48-98F4-932A4718F53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97112" y="1450295"/>
            <a:ext cx="4160495" cy="4894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023253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709"/>
        <p:cNvGrpSpPr/>
        <p:nvPr/>
      </p:nvGrpSpPr>
      <p:grpSpPr>
        <a:xfrm>
          <a:off x="0" y="0"/>
          <a:ext cx="0" cy="0"/>
          <a:chOff x="0" y="0"/>
          <a:chExt cx="0" cy="0"/>
        </a:xfrm>
      </p:grpSpPr>
      <p:pic>
        <p:nvPicPr>
          <p:cNvPr id="6" name="Picture 5">
            <a:extLst>
              <a:ext uri="{FF2B5EF4-FFF2-40B4-BE49-F238E27FC236}">
                <a16:creationId xmlns:a16="http://schemas.microsoft.com/office/drawing/2014/main" id="{8C1C1EB0-0F08-40D5-B385-54B5ABE3F25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60402" y="2943066"/>
            <a:ext cx="4506054" cy="3379540"/>
          </a:xfrm>
          <a:prstGeom prst="rect">
            <a:avLst/>
          </a:prstGeom>
        </p:spPr>
      </p:pic>
      <p:sp>
        <p:nvSpPr>
          <p:cNvPr id="3" name="Title 2">
            <a:extLst>
              <a:ext uri="{FF2B5EF4-FFF2-40B4-BE49-F238E27FC236}">
                <a16:creationId xmlns:a16="http://schemas.microsoft.com/office/drawing/2014/main" id="{147FE287-4975-4C36-B6AC-472C5F5B7BD9}"/>
              </a:ext>
            </a:extLst>
          </p:cNvPr>
          <p:cNvSpPr>
            <a:spLocks noGrp="1"/>
          </p:cNvSpPr>
          <p:nvPr>
            <p:ph type="title"/>
          </p:nvPr>
        </p:nvSpPr>
        <p:spPr>
          <a:xfrm>
            <a:off x="377544" y="407858"/>
            <a:ext cx="8599872" cy="945454"/>
          </a:xfrm>
        </p:spPr>
        <p:txBody>
          <a:bodyPr/>
          <a:lstStyle/>
          <a:p>
            <a:r>
              <a:rPr lang="de-DE" dirty="0"/>
              <a:t>Wahrnehmung: Effekt der Erwartung</a:t>
            </a:r>
          </a:p>
        </p:txBody>
      </p:sp>
      <p:pic>
        <p:nvPicPr>
          <p:cNvPr id="4" name="Picture 3">
            <a:extLst>
              <a:ext uri="{FF2B5EF4-FFF2-40B4-BE49-F238E27FC236}">
                <a16:creationId xmlns:a16="http://schemas.microsoft.com/office/drawing/2014/main" id="{8D051B0B-1150-44D7-9D08-6FA77C16884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77544" y="1353312"/>
            <a:ext cx="4194456" cy="3145842"/>
          </a:xfrm>
          <a:prstGeom prst="rect">
            <a:avLst/>
          </a:prstGeom>
        </p:spPr>
      </p:pic>
    </p:spTree>
    <p:extLst>
      <p:ext uri="{BB962C8B-B14F-4D97-AF65-F5344CB8AC3E}">
        <p14:creationId xmlns:p14="http://schemas.microsoft.com/office/powerpoint/2010/main" val="10527842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709"/>
        <p:cNvGrpSpPr/>
        <p:nvPr/>
      </p:nvGrpSpPr>
      <p:grpSpPr>
        <a:xfrm>
          <a:off x="0" y="0"/>
          <a:ext cx="0" cy="0"/>
          <a:chOff x="0" y="0"/>
          <a:chExt cx="0" cy="0"/>
        </a:xfrm>
      </p:grpSpPr>
      <p:sp>
        <p:nvSpPr>
          <p:cNvPr id="3" name="Title 2">
            <a:extLst>
              <a:ext uri="{FF2B5EF4-FFF2-40B4-BE49-F238E27FC236}">
                <a16:creationId xmlns:a16="http://schemas.microsoft.com/office/drawing/2014/main" id="{147FE287-4975-4C36-B6AC-472C5F5B7BD9}"/>
              </a:ext>
            </a:extLst>
          </p:cNvPr>
          <p:cNvSpPr>
            <a:spLocks noGrp="1"/>
          </p:cNvSpPr>
          <p:nvPr>
            <p:ph type="title"/>
          </p:nvPr>
        </p:nvSpPr>
        <p:spPr>
          <a:xfrm>
            <a:off x="377544" y="407858"/>
            <a:ext cx="8599872" cy="945454"/>
          </a:xfrm>
        </p:spPr>
        <p:txBody>
          <a:bodyPr/>
          <a:lstStyle/>
          <a:p>
            <a:r>
              <a:rPr lang="de-DE" dirty="0"/>
              <a:t>Wahrnehmung: Effekt der Erwartung</a:t>
            </a:r>
            <a:br>
              <a:rPr lang="de-DE" dirty="0"/>
            </a:br>
            <a:r>
              <a:rPr lang="de-DE" sz="1600" dirty="0"/>
              <a:t>Quelle: </a:t>
            </a:r>
            <a:r>
              <a:rPr lang="de-DE" sz="1600" dirty="0" err="1"/>
              <a:t>Athisser</a:t>
            </a:r>
            <a:r>
              <a:rPr lang="de-DE" sz="1600" dirty="0"/>
              <a:t>/Hochstein: The </a:t>
            </a:r>
            <a:r>
              <a:rPr lang="de-DE" sz="1600" dirty="0" err="1"/>
              <a:t>reverse</a:t>
            </a:r>
            <a:r>
              <a:rPr lang="de-DE" sz="1600" dirty="0"/>
              <a:t> </a:t>
            </a:r>
            <a:r>
              <a:rPr lang="de-DE" sz="1600" dirty="0" err="1"/>
              <a:t>hierarchy</a:t>
            </a:r>
            <a:r>
              <a:rPr lang="de-DE" sz="1600" dirty="0"/>
              <a:t> </a:t>
            </a:r>
            <a:r>
              <a:rPr lang="de-DE" sz="1600" dirty="0" err="1"/>
              <a:t>of</a:t>
            </a:r>
            <a:r>
              <a:rPr lang="de-DE" sz="1600" dirty="0"/>
              <a:t> </a:t>
            </a:r>
            <a:r>
              <a:rPr lang="de-DE" sz="1600" dirty="0" err="1"/>
              <a:t>visual</a:t>
            </a:r>
            <a:r>
              <a:rPr lang="de-DE" sz="1600" dirty="0"/>
              <a:t> </a:t>
            </a:r>
            <a:r>
              <a:rPr lang="de-DE" sz="1600" dirty="0" err="1"/>
              <a:t>perceptual</a:t>
            </a:r>
            <a:r>
              <a:rPr lang="de-DE" sz="1600" dirty="0"/>
              <a:t> </a:t>
            </a:r>
            <a:r>
              <a:rPr lang="de-DE" sz="1600" dirty="0" err="1"/>
              <a:t>learning</a:t>
            </a:r>
            <a:r>
              <a:rPr lang="de-DE" sz="1600" dirty="0"/>
              <a:t>. 2004.</a:t>
            </a:r>
            <a:endParaRPr lang="de-DE" dirty="0"/>
          </a:p>
        </p:txBody>
      </p:sp>
      <p:pic>
        <p:nvPicPr>
          <p:cNvPr id="10" name="Picture 9">
            <a:extLst>
              <a:ext uri="{FF2B5EF4-FFF2-40B4-BE49-F238E27FC236}">
                <a16:creationId xmlns:a16="http://schemas.microsoft.com/office/drawing/2014/main" id="{8E8557B5-A5F5-41FC-BB76-45C466E629E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6467" y="1401452"/>
            <a:ext cx="5244254" cy="4997465"/>
          </a:xfrm>
          <a:prstGeom prst="rect">
            <a:avLst/>
          </a:prstGeom>
        </p:spPr>
      </p:pic>
    </p:spTree>
    <p:extLst>
      <p:ext uri="{BB962C8B-B14F-4D97-AF65-F5344CB8AC3E}">
        <p14:creationId xmlns:p14="http://schemas.microsoft.com/office/powerpoint/2010/main" val="29404729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709"/>
        <p:cNvGrpSpPr/>
        <p:nvPr/>
      </p:nvGrpSpPr>
      <p:grpSpPr>
        <a:xfrm>
          <a:off x="0" y="0"/>
          <a:ext cx="0" cy="0"/>
          <a:chOff x="0" y="0"/>
          <a:chExt cx="0" cy="0"/>
        </a:xfrm>
      </p:grpSpPr>
      <p:sp>
        <p:nvSpPr>
          <p:cNvPr id="3" name="Title 2">
            <a:extLst>
              <a:ext uri="{FF2B5EF4-FFF2-40B4-BE49-F238E27FC236}">
                <a16:creationId xmlns:a16="http://schemas.microsoft.com/office/drawing/2014/main" id="{147FE287-4975-4C36-B6AC-472C5F5B7BD9}"/>
              </a:ext>
            </a:extLst>
          </p:cNvPr>
          <p:cNvSpPr>
            <a:spLocks noGrp="1"/>
          </p:cNvSpPr>
          <p:nvPr>
            <p:ph type="title"/>
          </p:nvPr>
        </p:nvSpPr>
        <p:spPr>
          <a:xfrm>
            <a:off x="377544" y="407858"/>
            <a:ext cx="8599872" cy="945454"/>
          </a:xfrm>
        </p:spPr>
        <p:txBody>
          <a:bodyPr/>
          <a:lstStyle/>
          <a:p>
            <a:r>
              <a:rPr lang="de-DE" dirty="0"/>
              <a:t>Wahrnehmung: Effekt der Erwartung</a:t>
            </a:r>
            <a:br>
              <a:rPr lang="de-DE" dirty="0"/>
            </a:br>
            <a:r>
              <a:rPr lang="de-DE" sz="1600" dirty="0"/>
              <a:t>Quelle: </a:t>
            </a:r>
            <a:r>
              <a:rPr lang="de-DE" sz="1600" dirty="0" err="1"/>
              <a:t>Athisser</a:t>
            </a:r>
            <a:r>
              <a:rPr lang="de-DE" sz="1600" dirty="0"/>
              <a:t>/Hochstein: The </a:t>
            </a:r>
            <a:r>
              <a:rPr lang="de-DE" sz="1600" dirty="0" err="1"/>
              <a:t>reverse</a:t>
            </a:r>
            <a:r>
              <a:rPr lang="de-DE" sz="1600" dirty="0"/>
              <a:t> </a:t>
            </a:r>
            <a:r>
              <a:rPr lang="de-DE" sz="1600" dirty="0" err="1"/>
              <a:t>hierarchy</a:t>
            </a:r>
            <a:r>
              <a:rPr lang="de-DE" sz="1600" dirty="0"/>
              <a:t> </a:t>
            </a:r>
            <a:r>
              <a:rPr lang="de-DE" sz="1600" dirty="0" err="1"/>
              <a:t>of</a:t>
            </a:r>
            <a:r>
              <a:rPr lang="de-DE" sz="1600" dirty="0"/>
              <a:t> </a:t>
            </a:r>
            <a:r>
              <a:rPr lang="de-DE" sz="1600" dirty="0" err="1"/>
              <a:t>visual</a:t>
            </a:r>
            <a:r>
              <a:rPr lang="de-DE" sz="1600" dirty="0"/>
              <a:t> </a:t>
            </a:r>
            <a:r>
              <a:rPr lang="de-DE" sz="1600" dirty="0" err="1"/>
              <a:t>perceptual</a:t>
            </a:r>
            <a:r>
              <a:rPr lang="de-DE" sz="1600" dirty="0"/>
              <a:t> </a:t>
            </a:r>
            <a:r>
              <a:rPr lang="de-DE" sz="1600" dirty="0" err="1"/>
              <a:t>learning</a:t>
            </a:r>
            <a:r>
              <a:rPr lang="de-DE" sz="1600" dirty="0"/>
              <a:t>. 2004.</a:t>
            </a:r>
            <a:endParaRPr lang="de-DE" dirty="0"/>
          </a:p>
        </p:txBody>
      </p:sp>
      <p:pic>
        <p:nvPicPr>
          <p:cNvPr id="10" name="Picture 9">
            <a:extLst>
              <a:ext uri="{FF2B5EF4-FFF2-40B4-BE49-F238E27FC236}">
                <a16:creationId xmlns:a16="http://schemas.microsoft.com/office/drawing/2014/main" id="{8E8557B5-A5F5-41FC-BB76-45C466E629E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6467" y="1401452"/>
            <a:ext cx="5244254" cy="4997465"/>
          </a:xfrm>
          <a:prstGeom prst="rect">
            <a:avLst/>
          </a:prstGeom>
        </p:spPr>
      </p:pic>
      <p:sp>
        <p:nvSpPr>
          <p:cNvPr id="2" name="TextBox 1">
            <a:extLst>
              <a:ext uri="{FF2B5EF4-FFF2-40B4-BE49-F238E27FC236}">
                <a16:creationId xmlns:a16="http://schemas.microsoft.com/office/drawing/2014/main" id="{5263AF3C-DA08-473F-9FFF-156BC879D536}"/>
              </a:ext>
            </a:extLst>
          </p:cNvPr>
          <p:cNvSpPr txBox="1"/>
          <p:nvPr/>
        </p:nvSpPr>
        <p:spPr>
          <a:xfrm>
            <a:off x="6291071" y="1737360"/>
            <a:ext cx="2336461" cy="1661993"/>
          </a:xfrm>
          <a:prstGeom prst="rect">
            <a:avLst/>
          </a:prstGeom>
          <a:noFill/>
        </p:spPr>
        <p:txBody>
          <a:bodyPr wrap="square" lIns="0" tIns="0" rIns="0" bIns="0" rtlCol="0">
            <a:spAutoFit/>
          </a:bodyPr>
          <a:lstStyle/>
          <a:p>
            <a:pPr fontAlgn="base">
              <a:spcBef>
                <a:spcPts val="600"/>
              </a:spcBef>
              <a:spcAft>
                <a:spcPct val="0"/>
              </a:spcAft>
              <a:buClr>
                <a:srgbClr val="F0AB00"/>
              </a:buClr>
              <a:buSzPct val="80000"/>
            </a:pPr>
            <a:r>
              <a:rPr lang="de-DE" sz="3600" kern="0" dirty="0">
                <a:ea typeface="Arial Unicode MS" pitchFamily="34" charset="-128"/>
                <a:cs typeface="Arial Unicode MS" pitchFamily="34" charset="-128"/>
              </a:rPr>
              <a:t>Eine bärtige Gestalt</a:t>
            </a:r>
          </a:p>
        </p:txBody>
      </p:sp>
    </p:spTree>
    <p:extLst>
      <p:ext uri="{BB962C8B-B14F-4D97-AF65-F5344CB8AC3E}">
        <p14:creationId xmlns:p14="http://schemas.microsoft.com/office/powerpoint/2010/main" val="25214974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709"/>
        <p:cNvGrpSpPr/>
        <p:nvPr/>
      </p:nvGrpSpPr>
      <p:grpSpPr>
        <a:xfrm>
          <a:off x="0" y="0"/>
          <a:ext cx="0" cy="0"/>
          <a:chOff x="0" y="0"/>
          <a:chExt cx="0" cy="0"/>
        </a:xfrm>
      </p:grpSpPr>
      <p:sp>
        <p:nvSpPr>
          <p:cNvPr id="3" name="Title 2">
            <a:extLst>
              <a:ext uri="{FF2B5EF4-FFF2-40B4-BE49-F238E27FC236}">
                <a16:creationId xmlns:a16="http://schemas.microsoft.com/office/drawing/2014/main" id="{147FE287-4975-4C36-B6AC-472C5F5B7BD9}"/>
              </a:ext>
            </a:extLst>
          </p:cNvPr>
          <p:cNvSpPr>
            <a:spLocks noGrp="1"/>
          </p:cNvSpPr>
          <p:nvPr>
            <p:ph type="title"/>
          </p:nvPr>
        </p:nvSpPr>
        <p:spPr>
          <a:xfrm>
            <a:off x="377544" y="407858"/>
            <a:ext cx="8599872" cy="945454"/>
          </a:xfrm>
        </p:spPr>
        <p:txBody>
          <a:bodyPr/>
          <a:lstStyle/>
          <a:p>
            <a:r>
              <a:rPr lang="de-DE" dirty="0"/>
              <a:t>Wahrnehmung: Effekt der Erwartung</a:t>
            </a:r>
            <a:br>
              <a:rPr lang="de-DE" dirty="0"/>
            </a:br>
            <a:r>
              <a:rPr lang="de-DE" sz="1600" dirty="0"/>
              <a:t>Quelle: </a:t>
            </a:r>
            <a:r>
              <a:rPr lang="de-DE" sz="1600" dirty="0" err="1"/>
              <a:t>Athisser</a:t>
            </a:r>
            <a:r>
              <a:rPr lang="de-DE" sz="1600" dirty="0"/>
              <a:t>/Hochstein: The </a:t>
            </a:r>
            <a:r>
              <a:rPr lang="de-DE" sz="1600" dirty="0" err="1"/>
              <a:t>reverse</a:t>
            </a:r>
            <a:r>
              <a:rPr lang="de-DE" sz="1600" dirty="0"/>
              <a:t> </a:t>
            </a:r>
            <a:r>
              <a:rPr lang="de-DE" sz="1600" dirty="0" err="1"/>
              <a:t>hierarchy</a:t>
            </a:r>
            <a:r>
              <a:rPr lang="de-DE" sz="1600" dirty="0"/>
              <a:t> </a:t>
            </a:r>
            <a:r>
              <a:rPr lang="de-DE" sz="1600" dirty="0" err="1"/>
              <a:t>of</a:t>
            </a:r>
            <a:r>
              <a:rPr lang="de-DE" sz="1600" dirty="0"/>
              <a:t> </a:t>
            </a:r>
            <a:r>
              <a:rPr lang="de-DE" sz="1600" dirty="0" err="1"/>
              <a:t>visual</a:t>
            </a:r>
            <a:r>
              <a:rPr lang="de-DE" sz="1600" dirty="0"/>
              <a:t> </a:t>
            </a:r>
            <a:r>
              <a:rPr lang="de-DE" sz="1600" dirty="0" err="1"/>
              <a:t>perceptual</a:t>
            </a:r>
            <a:r>
              <a:rPr lang="de-DE" sz="1600" dirty="0"/>
              <a:t> </a:t>
            </a:r>
            <a:r>
              <a:rPr lang="de-DE" sz="1600" dirty="0" err="1"/>
              <a:t>learning</a:t>
            </a:r>
            <a:r>
              <a:rPr lang="de-DE" sz="1600" dirty="0"/>
              <a:t>. 2004.</a:t>
            </a:r>
            <a:endParaRPr lang="de-DE" dirty="0"/>
          </a:p>
        </p:txBody>
      </p:sp>
      <p:pic>
        <p:nvPicPr>
          <p:cNvPr id="10" name="Picture 9">
            <a:extLst>
              <a:ext uri="{FF2B5EF4-FFF2-40B4-BE49-F238E27FC236}">
                <a16:creationId xmlns:a16="http://schemas.microsoft.com/office/drawing/2014/main" id="{8E8557B5-A5F5-41FC-BB76-45C466E629E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6467" y="1401452"/>
            <a:ext cx="5244254" cy="4997465"/>
          </a:xfrm>
          <a:prstGeom prst="rect">
            <a:avLst/>
          </a:prstGeom>
        </p:spPr>
      </p:pic>
      <p:sp>
        <p:nvSpPr>
          <p:cNvPr id="2" name="TextBox 1">
            <a:extLst>
              <a:ext uri="{FF2B5EF4-FFF2-40B4-BE49-F238E27FC236}">
                <a16:creationId xmlns:a16="http://schemas.microsoft.com/office/drawing/2014/main" id="{5263AF3C-DA08-473F-9FFF-156BC879D536}"/>
              </a:ext>
            </a:extLst>
          </p:cNvPr>
          <p:cNvSpPr txBox="1"/>
          <p:nvPr/>
        </p:nvSpPr>
        <p:spPr>
          <a:xfrm>
            <a:off x="6291071" y="1737360"/>
            <a:ext cx="2336461" cy="1661993"/>
          </a:xfrm>
          <a:prstGeom prst="rect">
            <a:avLst/>
          </a:prstGeom>
          <a:noFill/>
        </p:spPr>
        <p:txBody>
          <a:bodyPr wrap="square" lIns="0" tIns="0" rIns="0" bIns="0" rtlCol="0">
            <a:spAutoFit/>
          </a:bodyPr>
          <a:lstStyle/>
          <a:p>
            <a:pPr fontAlgn="base">
              <a:spcBef>
                <a:spcPts val="600"/>
              </a:spcBef>
              <a:spcAft>
                <a:spcPct val="0"/>
              </a:spcAft>
              <a:buClr>
                <a:srgbClr val="F0AB00"/>
              </a:buClr>
              <a:buSzPct val="80000"/>
            </a:pPr>
            <a:r>
              <a:rPr lang="de-DE" sz="3600" kern="0" dirty="0">
                <a:ea typeface="Arial Unicode MS" pitchFamily="34" charset="-128"/>
                <a:cs typeface="Arial Unicode MS" pitchFamily="34" charset="-128"/>
              </a:rPr>
              <a:t>Eine bärtige Gestalt</a:t>
            </a:r>
          </a:p>
        </p:txBody>
      </p:sp>
      <p:sp>
        <p:nvSpPr>
          <p:cNvPr id="4" name="Oval 3">
            <a:extLst>
              <a:ext uri="{FF2B5EF4-FFF2-40B4-BE49-F238E27FC236}">
                <a16:creationId xmlns:a16="http://schemas.microsoft.com/office/drawing/2014/main" id="{79C4D9E6-8903-4CB2-AA28-9DAF93798DC0}"/>
              </a:ext>
            </a:extLst>
          </p:cNvPr>
          <p:cNvSpPr/>
          <p:nvPr/>
        </p:nvSpPr>
        <p:spPr bwMode="gray">
          <a:xfrm>
            <a:off x="3621024" y="1603248"/>
            <a:ext cx="768096" cy="548640"/>
          </a:xfrm>
          <a:prstGeom prst="ellipse">
            <a:avLst/>
          </a:prstGeom>
          <a:noFill/>
          <a:ln w="12700" algn="ctr">
            <a:solidFill>
              <a:schemeClr val="accent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de-DE"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6" name="Oval 5">
            <a:extLst>
              <a:ext uri="{FF2B5EF4-FFF2-40B4-BE49-F238E27FC236}">
                <a16:creationId xmlns:a16="http://schemas.microsoft.com/office/drawing/2014/main" id="{05567302-56C5-4666-9FD0-8D7EB359C490}"/>
              </a:ext>
            </a:extLst>
          </p:cNvPr>
          <p:cNvSpPr/>
          <p:nvPr/>
        </p:nvSpPr>
        <p:spPr bwMode="gray">
          <a:xfrm>
            <a:off x="2706626" y="1603248"/>
            <a:ext cx="768096" cy="548640"/>
          </a:xfrm>
          <a:prstGeom prst="ellipse">
            <a:avLst/>
          </a:prstGeom>
          <a:noFill/>
          <a:ln w="12700" algn="ctr">
            <a:solidFill>
              <a:schemeClr val="accent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de-DE"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7" name="Oval 6">
            <a:extLst>
              <a:ext uri="{FF2B5EF4-FFF2-40B4-BE49-F238E27FC236}">
                <a16:creationId xmlns:a16="http://schemas.microsoft.com/office/drawing/2014/main" id="{9F73ED0C-66E5-4EBB-9329-8AD15570E280}"/>
              </a:ext>
            </a:extLst>
          </p:cNvPr>
          <p:cNvSpPr/>
          <p:nvPr/>
        </p:nvSpPr>
        <p:spPr bwMode="gray">
          <a:xfrm>
            <a:off x="3236976" y="2893180"/>
            <a:ext cx="768096" cy="332860"/>
          </a:xfrm>
          <a:prstGeom prst="ellipse">
            <a:avLst/>
          </a:prstGeom>
          <a:noFill/>
          <a:ln w="12700" algn="ctr">
            <a:solidFill>
              <a:schemeClr val="accent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de-DE" b="0" i="0" u="none" strike="noStrike" kern="0" cap="none" spc="0" normalizeH="0" baseline="0" noProof="0" dirty="0">
              <a:ln>
                <a:noFill/>
              </a:ln>
              <a:effectLst/>
              <a:uLnTx/>
              <a:uFillTx/>
              <a:ea typeface="Arial Unicode MS" pitchFamily="34" charset="-128"/>
              <a:cs typeface="Arial Unicode MS" pitchFamily="34" charset="-128"/>
            </a:endParaRPr>
          </a:p>
        </p:txBody>
      </p:sp>
    </p:spTree>
    <p:extLst>
      <p:ext uri="{BB962C8B-B14F-4D97-AF65-F5344CB8AC3E}">
        <p14:creationId xmlns:p14="http://schemas.microsoft.com/office/powerpoint/2010/main" val="26658513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709"/>
        <p:cNvGrpSpPr/>
        <p:nvPr/>
      </p:nvGrpSpPr>
      <p:grpSpPr>
        <a:xfrm>
          <a:off x="0" y="0"/>
          <a:ext cx="0" cy="0"/>
          <a:chOff x="0" y="0"/>
          <a:chExt cx="0" cy="0"/>
        </a:xfrm>
      </p:grpSpPr>
      <p:sp>
        <p:nvSpPr>
          <p:cNvPr id="3" name="Title 2">
            <a:extLst>
              <a:ext uri="{FF2B5EF4-FFF2-40B4-BE49-F238E27FC236}">
                <a16:creationId xmlns:a16="http://schemas.microsoft.com/office/drawing/2014/main" id="{147FE287-4975-4C36-B6AC-472C5F5B7BD9}"/>
              </a:ext>
            </a:extLst>
          </p:cNvPr>
          <p:cNvSpPr>
            <a:spLocks noGrp="1"/>
          </p:cNvSpPr>
          <p:nvPr>
            <p:ph type="title"/>
          </p:nvPr>
        </p:nvSpPr>
        <p:spPr>
          <a:xfrm>
            <a:off x="377544" y="407858"/>
            <a:ext cx="8599872" cy="945454"/>
          </a:xfrm>
        </p:spPr>
        <p:txBody>
          <a:bodyPr/>
          <a:lstStyle/>
          <a:p>
            <a:r>
              <a:rPr lang="de-DE" dirty="0"/>
              <a:t>Wahrnehmung: Effekt der Erwartung</a:t>
            </a:r>
            <a:br>
              <a:rPr lang="de-DE" dirty="0"/>
            </a:br>
            <a:r>
              <a:rPr lang="de-DE" sz="1600" dirty="0"/>
              <a:t>Quelle: </a:t>
            </a:r>
            <a:r>
              <a:rPr lang="de-DE" sz="1600" dirty="0" err="1"/>
              <a:t>Athisser</a:t>
            </a:r>
            <a:r>
              <a:rPr lang="de-DE" sz="1600" dirty="0"/>
              <a:t>/Hochstein: The </a:t>
            </a:r>
            <a:r>
              <a:rPr lang="de-DE" sz="1600" dirty="0" err="1"/>
              <a:t>reverse</a:t>
            </a:r>
            <a:r>
              <a:rPr lang="de-DE" sz="1600" dirty="0"/>
              <a:t> </a:t>
            </a:r>
            <a:r>
              <a:rPr lang="de-DE" sz="1600" dirty="0" err="1"/>
              <a:t>hierarchy</a:t>
            </a:r>
            <a:r>
              <a:rPr lang="de-DE" sz="1600" dirty="0"/>
              <a:t> </a:t>
            </a:r>
            <a:r>
              <a:rPr lang="de-DE" sz="1600" dirty="0" err="1"/>
              <a:t>of</a:t>
            </a:r>
            <a:r>
              <a:rPr lang="de-DE" sz="1600" dirty="0"/>
              <a:t> </a:t>
            </a:r>
            <a:r>
              <a:rPr lang="de-DE" sz="1600" dirty="0" err="1"/>
              <a:t>visual</a:t>
            </a:r>
            <a:r>
              <a:rPr lang="de-DE" sz="1600" dirty="0"/>
              <a:t> </a:t>
            </a:r>
            <a:r>
              <a:rPr lang="de-DE" sz="1600" dirty="0" err="1"/>
              <a:t>perceptual</a:t>
            </a:r>
            <a:r>
              <a:rPr lang="de-DE" sz="1600" dirty="0"/>
              <a:t> </a:t>
            </a:r>
            <a:r>
              <a:rPr lang="de-DE" sz="1600" dirty="0" err="1"/>
              <a:t>learning</a:t>
            </a:r>
            <a:r>
              <a:rPr lang="de-DE" sz="1600" dirty="0"/>
              <a:t>. 2004.</a:t>
            </a:r>
            <a:endParaRPr lang="de-DE" dirty="0"/>
          </a:p>
        </p:txBody>
      </p:sp>
      <p:pic>
        <p:nvPicPr>
          <p:cNvPr id="10" name="Picture 9">
            <a:extLst>
              <a:ext uri="{FF2B5EF4-FFF2-40B4-BE49-F238E27FC236}">
                <a16:creationId xmlns:a16="http://schemas.microsoft.com/office/drawing/2014/main" id="{8E8557B5-A5F5-41FC-BB76-45C466E629E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6467" y="1401452"/>
            <a:ext cx="5244254" cy="4997465"/>
          </a:xfrm>
          <a:prstGeom prst="rect">
            <a:avLst/>
          </a:prstGeom>
        </p:spPr>
      </p:pic>
      <p:sp>
        <p:nvSpPr>
          <p:cNvPr id="2" name="TextBox 1">
            <a:extLst>
              <a:ext uri="{FF2B5EF4-FFF2-40B4-BE49-F238E27FC236}">
                <a16:creationId xmlns:a16="http://schemas.microsoft.com/office/drawing/2014/main" id="{5263AF3C-DA08-473F-9FFF-156BC879D536}"/>
              </a:ext>
            </a:extLst>
          </p:cNvPr>
          <p:cNvSpPr txBox="1"/>
          <p:nvPr/>
        </p:nvSpPr>
        <p:spPr>
          <a:xfrm>
            <a:off x="6291071" y="1737360"/>
            <a:ext cx="2336461" cy="1661993"/>
          </a:xfrm>
          <a:prstGeom prst="rect">
            <a:avLst/>
          </a:prstGeom>
          <a:noFill/>
        </p:spPr>
        <p:txBody>
          <a:bodyPr wrap="square" lIns="0" tIns="0" rIns="0" bIns="0" rtlCol="0">
            <a:spAutoFit/>
          </a:bodyPr>
          <a:lstStyle/>
          <a:p>
            <a:pPr fontAlgn="base">
              <a:spcBef>
                <a:spcPts val="600"/>
              </a:spcBef>
              <a:spcAft>
                <a:spcPct val="0"/>
              </a:spcAft>
              <a:buClr>
                <a:srgbClr val="F0AB00"/>
              </a:buClr>
              <a:buSzPct val="80000"/>
            </a:pPr>
            <a:r>
              <a:rPr lang="de-DE" sz="3600" kern="0" dirty="0">
                <a:ea typeface="Arial Unicode MS" pitchFamily="34" charset="-128"/>
                <a:cs typeface="Arial Unicode MS" pitchFamily="34" charset="-128"/>
              </a:rPr>
              <a:t>Eine bärtige Gestalt</a:t>
            </a:r>
          </a:p>
        </p:txBody>
      </p:sp>
      <p:sp>
        <p:nvSpPr>
          <p:cNvPr id="4" name="Oval 3">
            <a:extLst>
              <a:ext uri="{FF2B5EF4-FFF2-40B4-BE49-F238E27FC236}">
                <a16:creationId xmlns:a16="http://schemas.microsoft.com/office/drawing/2014/main" id="{79C4D9E6-8903-4CB2-AA28-9DAF93798DC0}"/>
              </a:ext>
            </a:extLst>
          </p:cNvPr>
          <p:cNvSpPr/>
          <p:nvPr/>
        </p:nvSpPr>
        <p:spPr bwMode="gray">
          <a:xfrm>
            <a:off x="3621024" y="1603248"/>
            <a:ext cx="768096" cy="548640"/>
          </a:xfrm>
          <a:prstGeom prst="ellipse">
            <a:avLst/>
          </a:prstGeom>
          <a:noFill/>
          <a:ln w="12700" algn="ctr">
            <a:solidFill>
              <a:schemeClr val="accent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de-DE"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6" name="Oval 5">
            <a:extLst>
              <a:ext uri="{FF2B5EF4-FFF2-40B4-BE49-F238E27FC236}">
                <a16:creationId xmlns:a16="http://schemas.microsoft.com/office/drawing/2014/main" id="{05567302-56C5-4666-9FD0-8D7EB359C490}"/>
              </a:ext>
            </a:extLst>
          </p:cNvPr>
          <p:cNvSpPr/>
          <p:nvPr/>
        </p:nvSpPr>
        <p:spPr bwMode="gray">
          <a:xfrm>
            <a:off x="2706626" y="1603248"/>
            <a:ext cx="768096" cy="548640"/>
          </a:xfrm>
          <a:prstGeom prst="ellipse">
            <a:avLst/>
          </a:prstGeom>
          <a:noFill/>
          <a:ln w="12700" algn="ctr">
            <a:solidFill>
              <a:schemeClr val="accent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de-DE"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7" name="Oval 6">
            <a:extLst>
              <a:ext uri="{FF2B5EF4-FFF2-40B4-BE49-F238E27FC236}">
                <a16:creationId xmlns:a16="http://schemas.microsoft.com/office/drawing/2014/main" id="{9F73ED0C-66E5-4EBB-9329-8AD15570E280}"/>
              </a:ext>
            </a:extLst>
          </p:cNvPr>
          <p:cNvSpPr/>
          <p:nvPr/>
        </p:nvSpPr>
        <p:spPr bwMode="gray">
          <a:xfrm>
            <a:off x="3236976" y="2893180"/>
            <a:ext cx="768096" cy="332860"/>
          </a:xfrm>
          <a:prstGeom prst="ellipse">
            <a:avLst/>
          </a:prstGeom>
          <a:noFill/>
          <a:ln w="12700" algn="ctr">
            <a:solidFill>
              <a:schemeClr val="accent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de-DE" b="0" i="0" u="none" strike="noStrike" kern="0" cap="none" spc="0" normalizeH="0" baseline="0" noProof="0" dirty="0">
              <a:ln>
                <a:noFill/>
              </a:ln>
              <a:effectLst/>
              <a:uLnTx/>
              <a:uFillTx/>
              <a:ea typeface="Arial Unicode MS" pitchFamily="34" charset="-128"/>
              <a:cs typeface="Arial Unicode MS" pitchFamily="34" charset="-128"/>
            </a:endParaRPr>
          </a:p>
        </p:txBody>
      </p:sp>
      <p:pic>
        <p:nvPicPr>
          <p:cNvPr id="1026" name="Picture 2" descr="Inkognito: Die geheimen Eigenleben unseres Gehirns: Amazon.de: Eagleman,  David, Neubauer, Jürgen: Bücher">
            <a:extLst>
              <a:ext uri="{FF2B5EF4-FFF2-40B4-BE49-F238E27FC236}">
                <a16:creationId xmlns:a16="http://schemas.microsoft.com/office/drawing/2014/main" id="{EC9EBB6E-F4E9-4A38-BD32-3CA3F9868ED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88428" y="3399353"/>
            <a:ext cx="1988988" cy="31913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2594657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709"/>
        <p:cNvGrpSpPr/>
        <p:nvPr/>
      </p:nvGrpSpPr>
      <p:grpSpPr>
        <a:xfrm>
          <a:off x="0" y="0"/>
          <a:ext cx="0" cy="0"/>
          <a:chOff x="0" y="0"/>
          <a:chExt cx="0" cy="0"/>
        </a:xfrm>
      </p:grpSpPr>
      <p:sp>
        <p:nvSpPr>
          <p:cNvPr id="3" name="Title 2">
            <a:extLst>
              <a:ext uri="{FF2B5EF4-FFF2-40B4-BE49-F238E27FC236}">
                <a16:creationId xmlns:a16="http://schemas.microsoft.com/office/drawing/2014/main" id="{147FE287-4975-4C36-B6AC-472C5F5B7BD9}"/>
              </a:ext>
            </a:extLst>
          </p:cNvPr>
          <p:cNvSpPr>
            <a:spLocks noGrp="1"/>
          </p:cNvSpPr>
          <p:nvPr>
            <p:ph type="title"/>
          </p:nvPr>
        </p:nvSpPr>
        <p:spPr>
          <a:xfrm>
            <a:off x="377544" y="407858"/>
            <a:ext cx="8599872" cy="945454"/>
          </a:xfrm>
        </p:spPr>
        <p:txBody>
          <a:bodyPr/>
          <a:lstStyle/>
          <a:p>
            <a:r>
              <a:rPr lang="de-DE" dirty="0"/>
              <a:t>Wahrnehmung: Effekt der Erwartung</a:t>
            </a:r>
            <a:br>
              <a:rPr lang="de-DE" dirty="0"/>
            </a:br>
            <a:r>
              <a:rPr lang="de-DE" sz="1600" dirty="0"/>
              <a:t>Quelle: </a:t>
            </a:r>
            <a:r>
              <a:rPr lang="de-DE" sz="1600" dirty="0" err="1"/>
              <a:t>Athisser</a:t>
            </a:r>
            <a:r>
              <a:rPr lang="de-DE" sz="1600" dirty="0"/>
              <a:t>/Hochstein: The </a:t>
            </a:r>
            <a:r>
              <a:rPr lang="de-DE" sz="1600" dirty="0" err="1"/>
              <a:t>reverse</a:t>
            </a:r>
            <a:r>
              <a:rPr lang="de-DE" sz="1600" dirty="0"/>
              <a:t> </a:t>
            </a:r>
            <a:r>
              <a:rPr lang="de-DE" sz="1600" dirty="0" err="1"/>
              <a:t>hierarchy</a:t>
            </a:r>
            <a:r>
              <a:rPr lang="de-DE" sz="1600" dirty="0"/>
              <a:t> </a:t>
            </a:r>
            <a:r>
              <a:rPr lang="de-DE" sz="1600" dirty="0" err="1"/>
              <a:t>of</a:t>
            </a:r>
            <a:r>
              <a:rPr lang="de-DE" sz="1600" dirty="0"/>
              <a:t> </a:t>
            </a:r>
            <a:r>
              <a:rPr lang="de-DE" sz="1600" dirty="0" err="1"/>
              <a:t>visual</a:t>
            </a:r>
            <a:r>
              <a:rPr lang="de-DE" sz="1600" dirty="0"/>
              <a:t> </a:t>
            </a:r>
            <a:r>
              <a:rPr lang="de-DE" sz="1600" dirty="0" err="1"/>
              <a:t>perceptual</a:t>
            </a:r>
            <a:r>
              <a:rPr lang="de-DE" sz="1600" dirty="0"/>
              <a:t> </a:t>
            </a:r>
            <a:r>
              <a:rPr lang="de-DE" sz="1600" dirty="0" err="1"/>
              <a:t>learning</a:t>
            </a:r>
            <a:r>
              <a:rPr lang="de-DE" sz="1600" dirty="0"/>
              <a:t>. 2004.</a:t>
            </a:r>
            <a:endParaRPr lang="de-DE" dirty="0"/>
          </a:p>
        </p:txBody>
      </p:sp>
      <p:pic>
        <p:nvPicPr>
          <p:cNvPr id="10" name="Picture 9">
            <a:extLst>
              <a:ext uri="{FF2B5EF4-FFF2-40B4-BE49-F238E27FC236}">
                <a16:creationId xmlns:a16="http://schemas.microsoft.com/office/drawing/2014/main" id="{8E8557B5-A5F5-41FC-BB76-45C466E629E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6467" y="1401452"/>
            <a:ext cx="5244254" cy="4997465"/>
          </a:xfrm>
          <a:prstGeom prst="rect">
            <a:avLst/>
          </a:prstGeom>
        </p:spPr>
      </p:pic>
    </p:spTree>
    <p:extLst>
      <p:ext uri="{BB962C8B-B14F-4D97-AF65-F5344CB8AC3E}">
        <p14:creationId xmlns:p14="http://schemas.microsoft.com/office/powerpoint/2010/main" val="241877385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709"/>
        <p:cNvGrpSpPr/>
        <p:nvPr/>
      </p:nvGrpSpPr>
      <p:grpSpPr>
        <a:xfrm>
          <a:off x="0" y="0"/>
          <a:ext cx="0" cy="0"/>
          <a:chOff x="0" y="0"/>
          <a:chExt cx="0" cy="0"/>
        </a:xfrm>
      </p:grpSpPr>
      <p:sp>
        <p:nvSpPr>
          <p:cNvPr id="3" name="Title 2">
            <a:extLst>
              <a:ext uri="{FF2B5EF4-FFF2-40B4-BE49-F238E27FC236}">
                <a16:creationId xmlns:a16="http://schemas.microsoft.com/office/drawing/2014/main" id="{147FE287-4975-4C36-B6AC-472C5F5B7BD9}"/>
              </a:ext>
            </a:extLst>
          </p:cNvPr>
          <p:cNvSpPr>
            <a:spLocks noGrp="1"/>
          </p:cNvSpPr>
          <p:nvPr>
            <p:ph type="title"/>
          </p:nvPr>
        </p:nvSpPr>
        <p:spPr>
          <a:xfrm>
            <a:off x="368316" y="301980"/>
            <a:ext cx="8599872" cy="945454"/>
          </a:xfrm>
        </p:spPr>
        <p:txBody>
          <a:bodyPr/>
          <a:lstStyle/>
          <a:p>
            <a:r>
              <a:rPr lang="de-DE" dirty="0"/>
              <a:t>Wirtschaftspsychologie</a:t>
            </a:r>
            <a:br>
              <a:rPr lang="de-DE" dirty="0"/>
            </a:br>
            <a:r>
              <a:rPr lang="de-DE" dirty="0"/>
              <a:t>Schnelles Denken</a:t>
            </a:r>
          </a:p>
        </p:txBody>
      </p:sp>
      <p:sp>
        <p:nvSpPr>
          <p:cNvPr id="2" name="Textfeld 1">
            <a:extLst>
              <a:ext uri="{FF2B5EF4-FFF2-40B4-BE49-F238E27FC236}">
                <a16:creationId xmlns:a16="http://schemas.microsoft.com/office/drawing/2014/main" id="{2D4CDF46-1A41-450E-9F0E-E3034A67388B}"/>
              </a:ext>
            </a:extLst>
          </p:cNvPr>
          <p:cNvSpPr txBox="1"/>
          <p:nvPr/>
        </p:nvSpPr>
        <p:spPr>
          <a:xfrm>
            <a:off x="539013" y="2237671"/>
            <a:ext cx="6015789" cy="2747675"/>
          </a:xfrm>
          <a:prstGeom prst="rect">
            <a:avLst/>
          </a:prstGeom>
          <a:noFill/>
        </p:spPr>
        <p:txBody>
          <a:bodyPr wrap="square" lIns="0" tIns="0" rIns="0" bIns="0" rtlCol="0">
            <a:spAutoFit/>
          </a:bodyPr>
          <a:lstStyle/>
          <a:p>
            <a:pPr fontAlgn="base">
              <a:lnSpc>
                <a:spcPct val="200000"/>
              </a:lnSpc>
              <a:spcBef>
                <a:spcPts val="600"/>
              </a:spcBef>
              <a:spcAft>
                <a:spcPct val="0"/>
              </a:spcAft>
              <a:buClr>
                <a:srgbClr val="F0AB00"/>
              </a:buClr>
              <a:buSzPct val="80000"/>
            </a:pPr>
            <a:r>
              <a:rPr lang="de-DE" sz="2400" b="1" kern="0" dirty="0">
                <a:ea typeface="Arial Unicode MS" pitchFamily="34" charset="-128"/>
                <a:cs typeface="Arial Unicode MS" pitchFamily="34" charset="-128"/>
              </a:rPr>
              <a:t>Ein Schläger und ein Ball kosten 1,10 €.</a:t>
            </a:r>
          </a:p>
          <a:p>
            <a:pPr fontAlgn="base">
              <a:lnSpc>
                <a:spcPct val="200000"/>
              </a:lnSpc>
              <a:spcBef>
                <a:spcPts val="600"/>
              </a:spcBef>
              <a:spcAft>
                <a:spcPct val="0"/>
              </a:spcAft>
              <a:buClr>
                <a:srgbClr val="F0AB00"/>
              </a:buClr>
              <a:buSzPct val="80000"/>
            </a:pPr>
            <a:r>
              <a:rPr lang="de-DE" sz="2400" b="1" kern="0" dirty="0">
                <a:ea typeface="Arial Unicode MS" pitchFamily="34" charset="-128"/>
                <a:cs typeface="Arial Unicode MS" pitchFamily="34" charset="-128"/>
              </a:rPr>
              <a:t>Der Schläger kostet 1 € mehr als der Ball.</a:t>
            </a:r>
          </a:p>
          <a:p>
            <a:pPr fontAlgn="base">
              <a:lnSpc>
                <a:spcPct val="150000"/>
              </a:lnSpc>
              <a:spcBef>
                <a:spcPts val="600"/>
              </a:spcBef>
              <a:spcAft>
                <a:spcPct val="0"/>
              </a:spcAft>
              <a:buClr>
                <a:srgbClr val="F0AB00"/>
              </a:buClr>
              <a:buSzPct val="80000"/>
            </a:pPr>
            <a:endParaRPr lang="de-DE" sz="2400" b="1" kern="0" dirty="0">
              <a:ea typeface="Arial Unicode MS" pitchFamily="34" charset="-128"/>
              <a:cs typeface="Arial Unicode MS" pitchFamily="34" charset="-128"/>
            </a:endParaRPr>
          </a:p>
          <a:p>
            <a:pPr fontAlgn="base">
              <a:lnSpc>
                <a:spcPct val="150000"/>
              </a:lnSpc>
              <a:spcBef>
                <a:spcPts val="600"/>
              </a:spcBef>
              <a:spcAft>
                <a:spcPct val="0"/>
              </a:spcAft>
              <a:buClr>
                <a:srgbClr val="F0AB00"/>
              </a:buClr>
              <a:buSzPct val="80000"/>
            </a:pPr>
            <a:r>
              <a:rPr lang="de-DE" sz="2400" b="1" kern="0" dirty="0">
                <a:ea typeface="Arial Unicode MS" pitchFamily="34" charset="-128"/>
                <a:cs typeface="Arial Unicode MS" pitchFamily="34" charset="-128"/>
              </a:rPr>
              <a:t>Wieviel kostet der Ball?</a:t>
            </a:r>
          </a:p>
        </p:txBody>
      </p:sp>
      <p:pic>
        <p:nvPicPr>
          <p:cNvPr id="3076" name="Picture 4" descr="Die europäische Seite der Euro-Münzen - EU-Info.de">
            <a:extLst>
              <a:ext uri="{FF2B5EF4-FFF2-40B4-BE49-F238E27FC236}">
                <a16:creationId xmlns:a16="http://schemas.microsoft.com/office/drawing/2014/main" id="{A0D500D1-0C32-4CCE-AB97-A25B34519FCA}"/>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24279" t="2527" r="12704" b="23228"/>
          <a:stretch/>
        </p:blipFill>
        <p:spPr bwMode="auto">
          <a:xfrm>
            <a:off x="7623208" y="2330978"/>
            <a:ext cx="666891" cy="654518"/>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1 Euro Münzaufkleber- FUN Sticker Kleingeld rund ca. Ø 24 mm ...">
            <a:extLst>
              <a:ext uri="{FF2B5EF4-FFF2-40B4-BE49-F238E27FC236}">
                <a16:creationId xmlns:a16="http://schemas.microsoft.com/office/drawing/2014/main" id="{5DBEA0D8-F657-4CF5-829C-86ACC8CAD6D9}"/>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672322" y="2285905"/>
            <a:ext cx="744663" cy="744663"/>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6" descr="1 Euro Münzaufkleber- FUN Sticker Kleingeld rund ca. Ø 24 mm ...">
            <a:extLst>
              <a:ext uri="{FF2B5EF4-FFF2-40B4-BE49-F238E27FC236}">
                <a16:creationId xmlns:a16="http://schemas.microsoft.com/office/drawing/2014/main" id="{657004F0-8F5B-439B-9573-CC4554768C81}"/>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671282" y="3122081"/>
            <a:ext cx="744663" cy="744663"/>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Tennis Schläger - Bilder und Stockfotos - iStock">
            <a:extLst>
              <a:ext uri="{FF2B5EF4-FFF2-40B4-BE49-F238E27FC236}">
                <a16:creationId xmlns:a16="http://schemas.microsoft.com/office/drawing/2014/main" id="{53A972D1-9B3E-4B63-9A1F-F6C7B0B94610}"/>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621830" y="301980"/>
            <a:ext cx="1225052" cy="8167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0468318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7D7297-961C-46F2-926F-CC731A7E5BA3}"/>
              </a:ext>
            </a:extLst>
          </p:cNvPr>
          <p:cNvSpPr>
            <a:spLocks noGrp="1"/>
          </p:cNvSpPr>
          <p:nvPr>
            <p:ph type="title"/>
          </p:nvPr>
        </p:nvSpPr>
        <p:spPr/>
        <p:txBody>
          <a:bodyPr/>
          <a:lstStyle/>
          <a:p>
            <a:r>
              <a:rPr lang="de-DE" dirty="0">
                <a:solidFill>
                  <a:schemeClr val="tx1"/>
                </a:solidFill>
              </a:rPr>
              <a:t>SQ II: Digital </a:t>
            </a:r>
            <a:r>
              <a:rPr lang="de-DE" dirty="0" err="1">
                <a:solidFill>
                  <a:schemeClr val="tx1"/>
                </a:solidFill>
              </a:rPr>
              <a:t>Thinking</a:t>
            </a:r>
            <a:r>
              <a:rPr lang="de-DE" dirty="0">
                <a:solidFill>
                  <a:schemeClr val="tx1"/>
                </a:solidFill>
              </a:rPr>
              <a:t> &amp; Management</a:t>
            </a:r>
            <a:endParaRPr lang="de-DE" dirty="0"/>
          </a:p>
        </p:txBody>
      </p:sp>
      <p:sp>
        <p:nvSpPr>
          <p:cNvPr id="3" name="Oval 2">
            <a:extLst>
              <a:ext uri="{FF2B5EF4-FFF2-40B4-BE49-F238E27FC236}">
                <a16:creationId xmlns:a16="http://schemas.microsoft.com/office/drawing/2014/main" id="{765B08B4-88B6-48C2-8FCD-CA0EB19DB789}"/>
              </a:ext>
            </a:extLst>
          </p:cNvPr>
          <p:cNvSpPr/>
          <p:nvPr/>
        </p:nvSpPr>
        <p:spPr bwMode="gray">
          <a:xfrm>
            <a:off x="436418" y="1984663"/>
            <a:ext cx="8073737" cy="3761509"/>
          </a:xfrm>
          <a:prstGeom prst="ellipse">
            <a:avLst/>
          </a:prstGeom>
          <a:solidFill>
            <a:schemeClr val="accent1"/>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de-DE" sz="6600" b="1" dirty="0"/>
              <a:t>Sind Sie innovativ</a:t>
            </a:r>
            <a:br>
              <a:rPr lang="de-DE" sz="6600" b="1" dirty="0"/>
            </a:br>
            <a:r>
              <a:rPr lang="de-DE" sz="6600" b="1" dirty="0"/>
              <a:t>?</a:t>
            </a:r>
            <a:endParaRPr kumimoji="0" lang="de-DE" sz="6600" b="1" i="0" u="none" strike="noStrike" kern="0" cap="none" spc="0" normalizeH="0" baseline="0" noProof="0" dirty="0">
              <a:ln>
                <a:noFill/>
              </a:ln>
              <a:effectLst/>
              <a:uLnTx/>
              <a:uFillTx/>
              <a:ea typeface="Arial Unicode MS" pitchFamily="34" charset="-128"/>
              <a:cs typeface="Arial Unicode MS" pitchFamily="34" charset="-128"/>
            </a:endParaRPr>
          </a:p>
        </p:txBody>
      </p:sp>
      <p:pic>
        <p:nvPicPr>
          <p:cNvPr id="5" name="Grafik 4">
            <a:extLst>
              <a:ext uri="{FF2B5EF4-FFF2-40B4-BE49-F238E27FC236}">
                <a16:creationId xmlns:a16="http://schemas.microsoft.com/office/drawing/2014/main" id="{DF02B110-E4CD-44F4-916E-9D27F415E858}"/>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1313" t="12828" r="19326" b="14445"/>
          <a:stretch/>
        </p:blipFill>
        <p:spPr>
          <a:xfrm rot="5400000">
            <a:off x="2176014" y="1343040"/>
            <a:ext cx="5310909" cy="4176540"/>
          </a:xfrm>
          <a:prstGeom prst="rect">
            <a:avLst/>
          </a:prstGeom>
        </p:spPr>
      </p:pic>
      <p:pic>
        <p:nvPicPr>
          <p:cNvPr id="1026" name="Picture 2" descr="Winking Smiley | Free download on ClipArtMag">
            <a:extLst>
              <a:ext uri="{FF2B5EF4-FFF2-40B4-BE49-F238E27FC236}">
                <a16:creationId xmlns:a16="http://schemas.microsoft.com/office/drawing/2014/main" id="{0BEE4A26-6B86-4AE1-8F44-6F08541896A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33473" y="3995255"/>
            <a:ext cx="1921213" cy="19212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5039196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709"/>
        <p:cNvGrpSpPr/>
        <p:nvPr/>
      </p:nvGrpSpPr>
      <p:grpSpPr>
        <a:xfrm>
          <a:off x="0" y="0"/>
          <a:ext cx="0" cy="0"/>
          <a:chOff x="0" y="0"/>
          <a:chExt cx="0" cy="0"/>
        </a:xfrm>
      </p:grpSpPr>
      <p:sp>
        <p:nvSpPr>
          <p:cNvPr id="3" name="Title 2">
            <a:extLst>
              <a:ext uri="{FF2B5EF4-FFF2-40B4-BE49-F238E27FC236}">
                <a16:creationId xmlns:a16="http://schemas.microsoft.com/office/drawing/2014/main" id="{147FE287-4975-4C36-B6AC-472C5F5B7BD9}"/>
              </a:ext>
            </a:extLst>
          </p:cNvPr>
          <p:cNvSpPr>
            <a:spLocks noGrp="1"/>
          </p:cNvSpPr>
          <p:nvPr>
            <p:ph type="title"/>
          </p:nvPr>
        </p:nvSpPr>
        <p:spPr>
          <a:xfrm>
            <a:off x="377544" y="407858"/>
            <a:ext cx="8100000" cy="582651"/>
          </a:xfrm>
        </p:spPr>
        <p:txBody>
          <a:bodyPr/>
          <a:lstStyle/>
          <a:p>
            <a:r>
              <a:rPr lang="de-DE"/>
              <a:t>(Sehr </a:t>
            </a:r>
            <a:r>
              <a:rPr lang="de-DE" dirty="0"/>
              <a:t>vereinfachte) Funktionsweise des Gehirns</a:t>
            </a:r>
            <a:br>
              <a:rPr lang="de-DE" dirty="0"/>
            </a:br>
            <a:r>
              <a:rPr lang="de-DE" sz="1600" dirty="0"/>
              <a:t>Quelle: Stokes/</a:t>
            </a:r>
            <a:r>
              <a:rPr lang="de-DE" sz="1600" dirty="0" err="1"/>
              <a:t>Whiteside</a:t>
            </a:r>
            <a:r>
              <a:rPr lang="de-DE" sz="1600" dirty="0"/>
              <a:t>: </a:t>
            </a:r>
            <a:r>
              <a:rPr lang="de-DE" sz="1600" dirty="0" err="1"/>
              <a:t>One</a:t>
            </a:r>
            <a:r>
              <a:rPr lang="de-DE" sz="1600" dirty="0"/>
              <a:t> Brain, S. 147ff.</a:t>
            </a:r>
            <a:endParaRPr lang="de-DE" dirty="0"/>
          </a:p>
        </p:txBody>
      </p:sp>
      <p:pic>
        <p:nvPicPr>
          <p:cNvPr id="1026" name="Picture 2" descr="diencephalon | Neurologie, Psychologie, Gehirn">
            <a:extLst>
              <a:ext uri="{FF2B5EF4-FFF2-40B4-BE49-F238E27FC236}">
                <a16:creationId xmlns:a16="http://schemas.microsoft.com/office/drawing/2014/main" id="{C5C4BA6E-20C3-417B-89AB-C14BD05AD0A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00718" y="2395732"/>
            <a:ext cx="5597401" cy="3854044"/>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F480EFC6-7C60-4D30-8B62-DB0E4BD3ED84}"/>
              </a:ext>
            </a:extLst>
          </p:cNvPr>
          <p:cNvSpPr txBox="1"/>
          <p:nvPr/>
        </p:nvSpPr>
        <p:spPr>
          <a:xfrm>
            <a:off x="405795" y="1446899"/>
            <a:ext cx="6214843" cy="1061829"/>
          </a:xfrm>
          <a:prstGeom prst="rect">
            <a:avLst/>
          </a:prstGeom>
          <a:noFill/>
        </p:spPr>
        <p:txBody>
          <a:bodyPr wrap="none" lIns="0" tIns="0" rIns="0" bIns="0" rtlCol="0">
            <a:spAutoFit/>
          </a:bodyPr>
          <a:lstStyle/>
          <a:p>
            <a:pPr fontAlgn="base">
              <a:spcBef>
                <a:spcPts val="600"/>
              </a:spcBef>
              <a:spcAft>
                <a:spcPct val="0"/>
              </a:spcAft>
              <a:buClr>
                <a:srgbClr val="F0AB00"/>
              </a:buClr>
              <a:buSzPct val="80000"/>
            </a:pPr>
            <a:r>
              <a:rPr lang="de-DE" sz="3200" b="1" kern="0" dirty="0">
                <a:solidFill>
                  <a:srgbClr val="FF0000"/>
                </a:solidFill>
                <a:ea typeface="Arial Unicode MS" pitchFamily="34" charset="-128"/>
                <a:cs typeface="Arial Unicode MS" pitchFamily="34" charset="-128"/>
              </a:rPr>
              <a:t>Wahrnehmung:</a:t>
            </a:r>
          </a:p>
          <a:p>
            <a:pPr fontAlgn="base">
              <a:spcBef>
                <a:spcPts val="600"/>
              </a:spcBef>
              <a:spcAft>
                <a:spcPct val="0"/>
              </a:spcAft>
              <a:buClr>
                <a:srgbClr val="F0AB00"/>
              </a:buClr>
              <a:buSzPct val="80000"/>
            </a:pPr>
            <a:r>
              <a:rPr lang="de-DE" sz="3200" b="1" kern="0" dirty="0">
                <a:solidFill>
                  <a:srgbClr val="FF0000"/>
                </a:solidFill>
                <a:ea typeface="Arial Unicode MS" pitchFamily="34" charset="-128"/>
                <a:cs typeface="Arial Unicode MS" pitchFamily="34" charset="-128"/>
              </a:rPr>
              <a:t>Gehirn spielt eine zentrale Rolle</a:t>
            </a:r>
          </a:p>
        </p:txBody>
      </p:sp>
    </p:spTree>
    <p:extLst>
      <p:ext uri="{BB962C8B-B14F-4D97-AF65-F5344CB8AC3E}">
        <p14:creationId xmlns:p14="http://schemas.microsoft.com/office/powerpoint/2010/main" val="270982421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709"/>
        <p:cNvGrpSpPr/>
        <p:nvPr/>
      </p:nvGrpSpPr>
      <p:grpSpPr>
        <a:xfrm>
          <a:off x="0" y="0"/>
          <a:ext cx="0" cy="0"/>
          <a:chOff x="0" y="0"/>
          <a:chExt cx="0" cy="0"/>
        </a:xfrm>
      </p:grpSpPr>
      <p:sp>
        <p:nvSpPr>
          <p:cNvPr id="3" name="Title 2">
            <a:extLst>
              <a:ext uri="{FF2B5EF4-FFF2-40B4-BE49-F238E27FC236}">
                <a16:creationId xmlns:a16="http://schemas.microsoft.com/office/drawing/2014/main" id="{147FE287-4975-4C36-B6AC-472C5F5B7BD9}"/>
              </a:ext>
            </a:extLst>
          </p:cNvPr>
          <p:cNvSpPr>
            <a:spLocks noGrp="1"/>
          </p:cNvSpPr>
          <p:nvPr>
            <p:ph type="title"/>
          </p:nvPr>
        </p:nvSpPr>
        <p:spPr>
          <a:xfrm>
            <a:off x="377544" y="407858"/>
            <a:ext cx="8100000" cy="582651"/>
          </a:xfrm>
        </p:spPr>
        <p:txBody>
          <a:bodyPr/>
          <a:lstStyle/>
          <a:p>
            <a:r>
              <a:rPr lang="de-DE"/>
              <a:t>(Sehr </a:t>
            </a:r>
            <a:r>
              <a:rPr lang="de-DE" dirty="0"/>
              <a:t>vereinfachte) Funktionsweise des Gehirns</a:t>
            </a:r>
            <a:br>
              <a:rPr lang="de-DE" dirty="0"/>
            </a:br>
            <a:r>
              <a:rPr lang="de-DE" sz="1600" dirty="0"/>
              <a:t>Quelle: Stokes/</a:t>
            </a:r>
            <a:r>
              <a:rPr lang="de-DE" sz="1600" dirty="0" err="1"/>
              <a:t>Whiteside</a:t>
            </a:r>
            <a:r>
              <a:rPr lang="de-DE" sz="1600" dirty="0"/>
              <a:t>: </a:t>
            </a:r>
            <a:r>
              <a:rPr lang="de-DE" sz="1600" dirty="0" err="1"/>
              <a:t>One</a:t>
            </a:r>
            <a:r>
              <a:rPr lang="de-DE" sz="1600" dirty="0"/>
              <a:t> Brain, S. 147ff.</a:t>
            </a:r>
            <a:endParaRPr lang="de-DE" dirty="0"/>
          </a:p>
        </p:txBody>
      </p:sp>
      <p:pic>
        <p:nvPicPr>
          <p:cNvPr id="1026" name="Picture 2" descr="diencephalon | Neurologie, Psychologie, Gehirn">
            <a:extLst>
              <a:ext uri="{FF2B5EF4-FFF2-40B4-BE49-F238E27FC236}">
                <a16:creationId xmlns:a16="http://schemas.microsoft.com/office/drawing/2014/main" id="{C5C4BA6E-20C3-417B-89AB-C14BD05AD0A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28844" y="2067901"/>
            <a:ext cx="5597401" cy="3854044"/>
          </a:xfrm>
          <a:prstGeom prst="rect">
            <a:avLst/>
          </a:prstGeom>
          <a:noFill/>
          <a:extLst>
            <a:ext uri="{909E8E84-426E-40DD-AFC4-6F175D3DCCD1}">
              <a14:hiddenFill xmlns:a14="http://schemas.microsoft.com/office/drawing/2010/main">
                <a:solidFill>
                  <a:srgbClr val="FFFFFF"/>
                </a:solidFill>
              </a14:hiddenFill>
            </a:ext>
          </a:extLst>
        </p:spPr>
      </p:pic>
      <p:sp>
        <p:nvSpPr>
          <p:cNvPr id="2" name="Oval 1">
            <a:extLst>
              <a:ext uri="{FF2B5EF4-FFF2-40B4-BE49-F238E27FC236}">
                <a16:creationId xmlns:a16="http://schemas.microsoft.com/office/drawing/2014/main" id="{C3A1C5ED-05D4-47E3-97D0-375BC11A7704}"/>
              </a:ext>
            </a:extLst>
          </p:cNvPr>
          <p:cNvSpPr/>
          <p:nvPr/>
        </p:nvSpPr>
        <p:spPr bwMode="gray">
          <a:xfrm>
            <a:off x="3358628" y="3080540"/>
            <a:ext cx="1555117" cy="1417569"/>
          </a:xfrm>
          <a:prstGeom prst="ellipse">
            <a:avLst/>
          </a:prstGeom>
          <a:noFill/>
          <a:ln w="63500" algn="ctr">
            <a:solidFill>
              <a:srgbClr val="FFFF00"/>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de-DE" b="0" i="0" u="none" strike="noStrike" kern="0" cap="none" spc="0" normalizeH="0" baseline="0" noProof="0" dirty="0">
              <a:ln>
                <a:noFill/>
              </a:ln>
              <a:effectLst/>
              <a:uLnTx/>
              <a:uFillTx/>
              <a:ea typeface="Arial Unicode MS" pitchFamily="34" charset="-128"/>
              <a:cs typeface="Arial Unicode MS" pitchFamily="34" charset="-128"/>
            </a:endParaRPr>
          </a:p>
        </p:txBody>
      </p:sp>
      <p:cxnSp>
        <p:nvCxnSpPr>
          <p:cNvPr id="5" name="Straight Connector 4">
            <a:extLst>
              <a:ext uri="{FF2B5EF4-FFF2-40B4-BE49-F238E27FC236}">
                <a16:creationId xmlns:a16="http://schemas.microsoft.com/office/drawing/2014/main" id="{B8325FB7-E7D5-4E2B-8A05-3383B53EFF5D}"/>
              </a:ext>
            </a:extLst>
          </p:cNvPr>
          <p:cNvCxnSpPr>
            <a:cxnSpLocks/>
            <a:endCxn id="9" idx="1"/>
          </p:cNvCxnSpPr>
          <p:nvPr/>
        </p:nvCxnSpPr>
        <p:spPr>
          <a:xfrm>
            <a:off x="4799501" y="4182555"/>
            <a:ext cx="1651975" cy="1507052"/>
          </a:xfrm>
          <a:prstGeom prst="line">
            <a:avLst/>
          </a:prstGeom>
          <a:ln w="63500">
            <a:solidFill>
              <a:srgbClr val="FFFF00"/>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7257A66-DEA3-42A4-BB14-D4304F4634C5}"/>
              </a:ext>
            </a:extLst>
          </p:cNvPr>
          <p:cNvSpPr txBox="1"/>
          <p:nvPr/>
        </p:nvSpPr>
        <p:spPr>
          <a:xfrm>
            <a:off x="6451476" y="4701268"/>
            <a:ext cx="2553979" cy="1976677"/>
          </a:xfrm>
          <a:prstGeom prst="rect">
            <a:avLst/>
          </a:prstGeom>
          <a:noFill/>
          <a:ln w="63500">
            <a:solidFill>
              <a:srgbClr val="FFFF00"/>
            </a:solidFill>
          </a:ln>
        </p:spPr>
        <p:txBody>
          <a:bodyPr wrap="square" lIns="72000" tIns="72000" rIns="72000" bIns="72000" rtlCol="0">
            <a:spAutoFit/>
          </a:bodyPr>
          <a:lstStyle/>
          <a:p>
            <a:pPr fontAlgn="base">
              <a:spcBef>
                <a:spcPts val="600"/>
              </a:spcBef>
              <a:spcAft>
                <a:spcPct val="0"/>
              </a:spcAft>
              <a:buClr>
                <a:srgbClr val="F0AB00"/>
              </a:buClr>
              <a:buSzPct val="80000"/>
            </a:pPr>
            <a:r>
              <a:rPr lang="de-DE" sz="1600" b="1" kern="0" dirty="0">
                <a:ea typeface="Arial Unicode MS" pitchFamily="34" charset="-128"/>
                <a:cs typeface="Arial Unicode MS" pitchFamily="34" charset="-128"/>
              </a:rPr>
              <a:t>Limbisches System:</a:t>
            </a:r>
          </a:p>
          <a:p>
            <a:pPr fontAlgn="base">
              <a:spcBef>
                <a:spcPts val="600"/>
              </a:spcBef>
              <a:spcAft>
                <a:spcPct val="0"/>
              </a:spcAft>
              <a:buClr>
                <a:srgbClr val="F0AB00"/>
              </a:buClr>
              <a:buSzPct val="80000"/>
            </a:pPr>
            <a:r>
              <a:rPr lang="de-DE" sz="1600" b="1" kern="0" dirty="0">
                <a:ea typeface="Arial Unicode MS" pitchFamily="34" charset="-128"/>
                <a:cs typeface="Arial Unicode MS" pitchFamily="34" charset="-128"/>
              </a:rPr>
              <a:t>Fight </a:t>
            </a:r>
            <a:r>
              <a:rPr lang="de-DE" sz="1600" b="1" kern="0" dirty="0" err="1">
                <a:ea typeface="Arial Unicode MS" pitchFamily="34" charset="-128"/>
                <a:cs typeface="Arial Unicode MS" pitchFamily="34" charset="-128"/>
              </a:rPr>
              <a:t>or</a:t>
            </a:r>
            <a:r>
              <a:rPr lang="de-DE" sz="1600" b="1" kern="0" dirty="0">
                <a:ea typeface="Arial Unicode MS" pitchFamily="34" charset="-128"/>
                <a:cs typeface="Arial Unicode MS" pitchFamily="34" charset="-128"/>
              </a:rPr>
              <a:t> Flight</a:t>
            </a:r>
          </a:p>
          <a:p>
            <a:pPr fontAlgn="base">
              <a:spcBef>
                <a:spcPts val="600"/>
              </a:spcBef>
              <a:spcAft>
                <a:spcPct val="0"/>
              </a:spcAft>
              <a:buClr>
                <a:srgbClr val="F0AB00"/>
              </a:buClr>
              <a:buSzPct val="80000"/>
            </a:pPr>
            <a:r>
              <a:rPr lang="de-DE" sz="1600" kern="0" dirty="0">
                <a:ea typeface="Arial Unicode MS" pitchFamily="34" charset="-128"/>
                <a:cs typeface="Arial Unicode MS" pitchFamily="34" charset="-128"/>
              </a:rPr>
              <a:t>Erinnerung (Muster) &amp; Emotion, Bauchgefühl, Unbewusst</a:t>
            </a:r>
          </a:p>
          <a:p>
            <a:pPr algn="r" fontAlgn="base">
              <a:spcBef>
                <a:spcPts val="600"/>
              </a:spcBef>
              <a:spcAft>
                <a:spcPct val="0"/>
              </a:spcAft>
              <a:buClr>
                <a:srgbClr val="F0AB00"/>
              </a:buClr>
              <a:buSzPct val="80000"/>
            </a:pPr>
            <a:endParaRPr lang="de-DE" sz="2400" b="1" kern="0" dirty="0">
              <a:solidFill>
                <a:srgbClr val="FFFF00"/>
              </a:solidFill>
              <a:ea typeface="Arial Unicode MS" pitchFamily="34" charset="-128"/>
              <a:cs typeface="Arial Unicode MS" pitchFamily="34" charset="-128"/>
            </a:endParaRPr>
          </a:p>
        </p:txBody>
      </p:sp>
      <p:sp>
        <p:nvSpPr>
          <p:cNvPr id="12" name="Oval 11">
            <a:extLst>
              <a:ext uri="{FF2B5EF4-FFF2-40B4-BE49-F238E27FC236}">
                <a16:creationId xmlns:a16="http://schemas.microsoft.com/office/drawing/2014/main" id="{3A1C2E08-D24A-40A4-BECC-8A19DBA14A63}"/>
              </a:ext>
            </a:extLst>
          </p:cNvPr>
          <p:cNvSpPr/>
          <p:nvPr/>
        </p:nvSpPr>
        <p:spPr bwMode="gray">
          <a:xfrm rot="2837379">
            <a:off x="2553851" y="2252995"/>
            <a:ext cx="795665" cy="1692037"/>
          </a:xfrm>
          <a:prstGeom prst="ellipse">
            <a:avLst/>
          </a:prstGeom>
          <a:noFill/>
          <a:ln w="63500" algn="ctr">
            <a:solidFill>
              <a:srgbClr val="0070C0"/>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de-DE" b="0" i="0" u="none" strike="noStrike" kern="0" cap="none" spc="0" normalizeH="0" baseline="0" noProof="0" dirty="0">
              <a:ln>
                <a:noFill/>
              </a:ln>
              <a:effectLst/>
              <a:uLnTx/>
              <a:uFillTx/>
              <a:ea typeface="Arial Unicode MS" pitchFamily="34" charset="-128"/>
              <a:cs typeface="Arial Unicode MS" pitchFamily="34" charset="-128"/>
            </a:endParaRPr>
          </a:p>
        </p:txBody>
      </p:sp>
      <p:cxnSp>
        <p:nvCxnSpPr>
          <p:cNvPr id="13" name="Straight Connector 12">
            <a:extLst>
              <a:ext uri="{FF2B5EF4-FFF2-40B4-BE49-F238E27FC236}">
                <a16:creationId xmlns:a16="http://schemas.microsoft.com/office/drawing/2014/main" id="{827D2593-5B48-40FF-8DA7-EFF4192DF975}"/>
              </a:ext>
            </a:extLst>
          </p:cNvPr>
          <p:cNvCxnSpPr>
            <a:cxnSpLocks/>
            <a:endCxn id="12" idx="1"/>
          </p:cNvCxnSpPr>
          <p:nvPr/>
        </p:nvCxnSpPr>
        <p:spPr>
          <a:xfrm>
            <a:off x="2573661" y="1538418"/>
            <a:ext cx="626783" cy="948119"/>
          </a:xfrm>
          <a:prstGeom prst="line">
            <a:avLst/>
          </a:prstGeom>
          <a:ln w="63500">
            <a:solidFill>
              <a:srgbClr val="0070C0"/>
            </a:solidFill>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5A62C1B8-229D-4446-85E8-4140CAE4FFD4}"/>
              </a:ext>
            </a:extLst>
          </p:cNvPr>
          <p:cNvSpPr txBox="1"/>
          <p:nvPr/>
        </p:nvSpPr>
        <p:spPr>
          <a:xfrm>
            <a:off x="165968" y="1349640"/>
            <a:ext cx="2407693" cy="1161069"/>
          </a:xfrm>
          <a:prstGeom prst="rect">
            <a:avLst/>
          </a:prstGeom>
          <a:noFill/>
          <a:ln w="63500">
            <a:solidFill>
              <a:srgbClr val="0070C0"/>
            </a:solidFill>
          </a:ln>
        </p:spPr>
        <p:txBody>
          <a:bodyPr wrap="square" lIns="72000" tIns="72000" rIns="72000" bIns="72000" rtlCol="0">
            <a:spAutoFit/>
          </a:bodyPr>
          <a:lstStyle/>
          <a:p>
            <a:pPr fontAlgn="base">
              <a:spcBef>
                <a:spcPts val="600"/>
              </a:spcBef>
              <a:spcAft>
                <a:spcPct val="0"/>
              </a:spcAft>
              <a:buClr>
                <a:srgbClr val="F0AB00"/>
              </a:buClr>
              <a:buSzPct val="80000"/>
            </a:pPr>
            <a:r>
              <a:rPr lang="de-DE" sz="1600" b="1" kern="0" dirty="0">
                <a:ea typeface="Arial Unicode MS" pitchFamily="34" charset="-128"/>
                <a:cs typeface="Arial Unicode MS" pitchFamily="34" charset="-128"/>
              </a:rPr>
              <a:t>Assoziatives Denken</a:t>
            </a:r>
          </a:p>
          <a:p>
            <a:pPr fontAlgn="base">
              <a:spcBef>
                <a:spcPts val="600"/>
              </a:spcBef>
              <a:spcAft>
                <a:spcPct val="0"/>
              </a:spcAft>
              <a:buClr>
                <a:srgbClr val="F0AB00"/>
              </a:buClr>
              <a:buSzPct val="80000"/>
            </a:pPr>
            <a:r>
              <a:rPr lang="de-DE" sz="1600" kern="0" dirty="0">
                <a:ea typeface="Arial Unicode MS" pitchFamily="34" charset="-128"/>
                <a:cs typeface="Arial Unicode MS" pitchFamily="34" charset="-128"/>
              </a:rPr>
              <a:t>Kognitiv, Neues      </a:t>
            </a:r>
          </a:p>
          <a:p>
            <a:pPr fontAlgn="base">
              <a:spcBef>
                <a:spcPts val="600"/>
              </a:spcBef>
              <a:spcAft>
                <a:spcPct val="0"/>
              </a:spcAft>
              <a:buClr>
                <a:srgbClr val="F0AB00"/>
              </a:buClr>
              <a:buSzPct val="80000"/>
            </a:pPr>
            <a:endParaRPr lang="de-DE" sz="2400" b="1" kern="0" dirty="0">
              <a:solidFill>
                <a:schemeClr val="accent3"/>
              </a:solidFill>
              <a:ea typeface="Arial Unicode MS" pitchFamily="34" charset="-128"/>
              <a:cs typeface="Arial Unicode MS" pitchFamily="34" charset="-128"/>
            </a:endParaRPr>
          </a:p>
        </p:txBody>
      </p:sp>
      <p:sp>
        <p:nvSpPr>
          <p:cNvPr id="4" name="Arrow: Right 3">
            <a:extLst>
              <a:ext uri="{FF2B5EF4-FFF2-40B4-BE49-F238E27FC236}">
                <a16:creationId xmlns:a16="http://schemas.microsoft.com/office/drawing/2014/main" id="{170C1016-11BF-4A38-9A6F-55809F127582}"/>
              </a:ext>
            </a:extLst>
          </p:cNvPr>
          <p:cNvSpPr/>
          <p:nvPr/>
        </p:nvSpPr>
        <p:spPr bwMode="gray">
          <a:xfrm rot="21078250">
            <a:off x="2601293" y="3867596"/>
            <a:ext cx="1069387" cy="446833"/>
          </a:xfrm>
          <a:prstGeom prst="rightArrow">
            <a:avLst/>
          </a:prstGeom>
          <a:solidFill>
            <a:srgbClr val="FFFF00"/>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de-DE" b="0" i="0" u="none" strike="noStrike" kern="0" cap="none" spc="0" normalizeH="0" baseline="0" noProof="0" dirty="0">
              <a:ln>
                <a:noFill/>
              </a:ln>
              <a:effectLst/>
              <a:highlight>
                <a:srgbClr val="FFFF00"/>
              </a:highlight>
              <a:uLnTx/>
              <a:uFillTx/>
              <a:ea typeface="Arial Unicode MS" pitchFamily="34" charset="-128"/>
              <a:cs typeface="Arial Unicode MS" pitchFamily="34" charset="-128"/>
            </a:endParaRPr>
          </a:p>
        </p:txBody>
      </p:sp>
      <p:sp>
        <p:nvSpPr>
          <p:cNvPr id="15" name="Arrow: Right 14">
            <a:extLst>
              <a:ext uri="{FF2B5EF4-FFF2-40B4-BE49-F238E27FC236}">
                <a16:creationId xmlns:a16="http://schemas.microsoft.com/office/drawing/2014/main" id="{1C7E742E-16C3-40F8-A04D-83FD4324DD5A}"/>
              </a:ext>
            </a:extLst>
          </p:cNvPr>
          <p:cNvSpPr/>
          <p:nvPr/>
        </p:nvSpPr>
        <p:spPr bwMode="gray">
          <a:xfrm rot="16538333">
            <a:off x="3629592" y="4162098"/>
            <a:ext cx="487017" cy="446833"/>
          </a:xfrm>
          <a:prstGeom prst="rightArrow">
            <a:avLst/>
          </a:prstGeom>
          <a:solidFill>
            <a:srgbClr val="FFFF00"/>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de-DE" b="0" i="0" u="none" strike="noStrike" kern="0" cap="none" spc="0" normalizeH="0" baseline="0" noProof="0" dirty="0">
              <a:ln>
                <a:noFill/>
              </a:ln>
              <a:effectLst/>
              <a:highlight>
                <a:srgbClr val="FFFF00"/>
              </a:highlight>
              <a:uLnTx/>
              <a:uFillTx/>
              <a:ea typeface="Arial Unicode MS" pitchFamily="34" charset="-128"/>
              <a:cs typeface="Arial Unicode MS" pitchFamily="34" charset="-128"/>
            </a:endParaRPr>
          </a:p>
        </p:txBody>
      </p:sp>
      <p:sp>
        <p:nvSpPr>
          <p:cNvPr id="17" name="Arrow: Right 16">
            <a:extLst>
              <a:ext uri="{FF2B5EF4-FFF2-40B4-BE49-F238E27FC236}">
                <a16:creationId xmlns:a16="http://schemas.microsoft.com/office/drawing/2014/main" id="{982E0E58-D97F-4B47-A9B6-5381740A7568}"/>
              </a:ext>
            </a:extLst>
          </p:cNvPr>
          <p:cNvSpPr/>
          <p:nvPr/>
        </p:nvSpPr>
        <p:spPr bwMode="gray">
          <a:xfrm rot="15431100">
            <a:off x="3809806" y="4530069"/>
            <a:ext cx="1069387" cy="446833"/>
          </a:xfrm>
          <a:prstGeom prst="rightArrow">
            <a:avLst/>
          </a:prstGeom>
          <a:solidFill>
            <a:srgbClr val="FFFF00"/>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de-DE" b="0" i="0" u="none" strike="noStrike" kern="0" cap="none" spc="0" normalizeH="0" baseline="0" noProof="0" dirty="0">
              <a:ln>
                <a:noFill/>
              </a:ln>
              <a:effectLst/>
              <a:highlight>
                <a:srgbClr val="FFFF00"/>
              </a:highlight>
              <a:uLnTx/>
              <a:uFillTx/>
              <a:ea typeface="Arial Unicode MS" pitchFamily="34" charset="-128"/>
              <a:cs typeface="Arial Unicode MS" pitchFamily="34" charset="-128"/>
            </a:endParaRPr>
          </a:p>
        </p:txBody>
      </p:sp>
    </p:spTree>
    <p:extLst>
      <p:ext uri="{BB962C8B-B14F-4D97-AF65-F5344CB8AC3E}">
        <p14:creationId xmlns:p14="http://schemas.microsoft.com/office/powerpoint/2010/main" val="219233572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709"/>
        <p:cNvGrpSpPr/>
        <p:nvPr/>
      </p:nvGrpSpPr>
      <p:grpSpPr>
        <a:xfrm>
          <a:off x="0" y="0"/>
          <a:ext cx="0" cy="0"/>
          <a:chOff x="0" y="0"/>
          <a:chExt cx="0" cy="0"/>
        </a:xfrm>
      </p:grpSpPr>
      <p:sp>
        <p:nvSpPr>
          <p:cNvPr id="3" name="Title 2">
            <a:extLst>
              <a:ext uri="{FF2B5EF4-FFF2-40B4-BE49-F238E27FC236}">
                <a16:creationId xmlns:a16="http://schemas.microsoft.com/office/drawing/2014/main" id="{147FE287-4975-4C36-B6AC-472C5F5B7BD9}"/>
              </a:ext>
            </a:extLst>
          </p:cNvPr>
          <p:cNvSpPr>
            <a:spLocks noGrp="1"/>
          </p:cNvSpPr>
          <p:nvPr>
            <p:ph type="title"/>
          </p:nvPr>
        </p:nvSpPr>
        <p:spPr>
          <a:xfrm>
            <a:off x="377544" y="407858"/>
            <a:ext cx="8100000" cy="582651"/>
          </a:xfrm>
        </p:spPr>
        <p:txBody>
          <a:bodyPr/>
          <a:lstStyle/>
          <a:p>
            <a:r>
              <a:rPr lang="de-DE"/>
              <a:t>(Sehr </a:t>
            </a:r>
            <a:r>
              <a:rPr lang="de-DE" dirty="0"/>
              <a:t>vereinfachte) Funktionsweise des Gehirns</a:t>
            </a:r>
            <a:br>
              <a:rPr lang="de-DE" dirty="0"/>
            </a:br>
            <a:r>
              <a:rPr lang="de-DE" sz="1600" dirty="0"/>
              <a:t>Quelle: Stokes/</a:t>
            </a:r>
            <a:r>
              <a:rPr lang="de-DE" sz="1600" dirty="0" err="1"/>
              <a:t>Whiteside</a:t>
            </a:r>
            <a:r>
              <a:rPr lang="de-DE" sz="1600" dirty="0"/>
              <a:t>: </a:t>
            </a:r>
            <a:r>
              <a:rPr lang="de-DE" sz="1600" dirty="0" err="1"/>
              <a:t>One</a:t>
            </a:r>
            <a:r>
              <a:rPr lang="de-DE" sz="1600" dirty="0"/>
              <a:t> Brain, S. 147ff.</a:t>
            </a:r>
            <a:endParaRPr lang="de-DE" dirty="0"/>
          </a:p>
        </p:txBody>
      </p:sp>
      <p:pic>
        <p:nvPicPr>
          <p:cNvPr id="1026" name="Picture 2" descr="diencephalon | Neurologie, Psychologie, Gehirn">
            <a:extLst>
              <a:ext uri="{FF2B5EF4-FFF2-40B4-BE49-F238E27FC236}">
                <a16:creationId xmlns:a16="http://schemas.microsoft.com/office/drawing/2014/main" id="{C5C4BA6E-20C3-417B-89AB-C14BD05AD0A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28844" y="2067901"/>
            <a:ext cx="5597401" cy="3854044"/>
          </a:xfrm>
          <a:prstGeom prst="rect">
            <a:avLst/>
          </a:prstGeom>
          <a:noFill/>
          <a:extLst>
            <a:ext uri="{909E8E84-426E-40DD-AFC4-6F175D3DCCD1}">
              <a14:hiddenFill xmlns:a14="http://schemas.microsoft.com/office/drawing/2010/main">
                <a:solidFill>
                  <a:srgbClr val="FFFFFF"/>
                </a:solidFill>
              </a14:hiddenFill>
            </a:ext>
          </a:extLst>
        </p:spPr>
      </p:pic>
      <p:sp>
        <p:nvSpPr>
          <p:cNvPr id="2" name="Oval 1">
            <a:extLst>
              <a:ext uri="{FF2B5EF4-FFF2-40B4-BE49-F238E27FC236}">
                <a16:creationId xmlns:a16="http://schemas.microsoft.com/office/drawing/2014/main" id="{C3A1C5ED-05D4-47E3-97D0-375BC11A7704}"/>
              </a:ext>
            </a:extLst>
          </p:cNvPr>
          <p:cNvSpPr/>
          <p:nvPr/>
        </p:nvSpPr>
        <p:spPr bwMode="gray">
          <a:xfrm>
            <a:off x="3358628" y="3080540"/>
            <a:ext cx="1555117" cy="1417569"/>
          </a:xfrm>
          <a:prstGeom prst="ellipse">
            <a:avLst/>
          </a:prstGeom>
          <a:noFill/>
          <a:ln w="63500" algn="ctr">
            <a:solidFill>
              <a:srgbClr val="FFFF00"/>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de-DE" b="0" i="0" u="none" strike="noStrike" kern="0" cap="none" spc="0" normalizeH="0" baseline="0" noProof="0" dirty="0">
              <a:ln>
                <a:noFill/>
              </a:ln>
              <a:effectLst/>
              <a:uLnTx/>
              <a:uFillTx/>
              <a:ea typeface="Arial Unicode MS" pitchFamily="34" charset="-128"/>
              <a:cs typeface="Arial Unicode MS" pitchFamily="34" charset="-128"/>
            </a:endParaRPr>
          </a:p>
        </p:txBody>
      </p:sp>
      <p:cxnSp>
        <p:nvCxnSpPr>
          <p:cNvPr id="5" name="Straight Connector 4">
            <a:extLst>
              <a:ext uri="{FF2B5EF4-FFF2-40B4-BE49-F238E27FC236}">
                <a16:creationId xmlns:a16="http://schemas.microsoft.com/office/drawing/2014/main" id="{B8325FB7-E7D5-4E2B-8A05-3383B53EFF5D}"/>
              </a:ext>
            </a:extLst>
          </p:cNvPr>
          <p:cNvCxnSpPr>
            <a:cxnSpLocks/>
            <a:endCxn id="9" idx="1"/>
          </p:cNvCxnSpPr>
          <p:nvPr/>
        </p:nvCxnSpPr>
        <p:spPr>
          <a:xfrm>
            <a:off x="4799501" y="4182555"/>
            <a:ext cx="1651975" cy="1468580"/>
          </a:xfrm>
          <a:prstGeom prst="line">
            <a:avLst/>
          </a:prstGeom>
          <a:ln w="63500">
            <a:solidFill>
              <a:srgbClr val="FFFF00"/>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7257A66-DEA3-42A4-BB14-D4304F4634C5}"/>
              </a:ext>
            </a:extLst>
          </p:cNvPr>
          <p:cNvSpPr txBox="1"/>
          <p:nvPr/>
        </p:nvSpPr>
        <p:spPr>
          <a:xfrm>
            <a:off x="6451476" y="4701268"/>
            <a:ext cx="2553979" cy="1899733"/>
          </a:xfrm>
          <a:prstGeom prst="rect">
            <a:avLst/>
          </a:prstGeom>
          <a:noFill/>
          <a:ln w="63500">
            <a:solidFill>
              <a:srgbClr val="FFFF00"/>
            </a:solidFill>
          </a:ln>
        </p:spPr>
        <p:txBody>
          <a:bodyPr wrap="square" lIns="72000" tIns="72000" rIns="72000" bIns="72000" rtlCol="0">
            <a:spAutoFit/>
          </a:bodyPr>
          <a:lstStyle/>
          <a:p>
            <a:pPr fontAlgn="base">
              <a:spcBef>
                <a:spcPts val="600"/>
              </a:spcBef>
              <a:spcAft>
                <a:spcPct val="0"/>
              </a:spcAft>
              <a:buClr>
                <a:srgbClr val="F0AB00"/>
              </a:buClr>
              <a:buSzPct val="80000"/>
            </a:pPr>
            <a:r>
              <a:rPr lang="de-DE" sz="1600" b="1" kern="0" dirty="0">
                <a:ea typeface="Arial Unicode MS" pitchFamily="34" charset="-128"/>
                <a:cs typeface="Arial Unicode MS" pitchFamily="34" charset="-128"/>
              </a:rPr>
              <a:t>Limbisches System:</a:t>
            </a:r>
          </a:p>
          <a:p>
            <a:pPr fontAlgn="base">
              <a:spcBef>
                <a:spcPts val="600"/>
              </a:spcBef>
              <a:spcAft>
                <a:spcPct val="0"/>
              </a:spcAft>
              <a:buClr>
                <a:srgbClr val="F0AB00"/>
              </a:buClr>
              <a:buSzPct val="80000"/>
            </a:pPr>
            <a:r>
              <a:rPr lang="de-DE" sz="1600" b="1" kern="0" dirty="0">
                <a:ea typeface="Arial Unicode MS" pitchFamily="34" charset="-128"/>
                <a:cs typeface="Arial Unicode MS" pitchFamily="34" charset="-128"/>
              </a:rPr>
              <a:t>Fight </a:t>
            </a:r>
            <a:r>
              <a:rPr lang="de-DE" sz="1600" b="1" kern="0" dirty="0" err="1">
                <a:ea typeface="Arial Unicode MS" pitchFamily="34" charset="-128"/>
                <a:cs typeface="Arial Unicode MS" pitchFamily="34" charset="-128"/>
              </a:rPr>
              <a:t>or</a:t>
            </a:r>
            <a:r>
              <a:rPr lang="de-DE" sz="1600" b="1" kern="0" dirty="0">
                <a:ea typeface="Arial Unicode MS" pitchFamily="34" charset="-128"/>
                <a:cs typeface="Arial Unicode MS" pitchFamily="34" charset="-128"/>
              </a:rPr>
              <a:t> Flight</a:t>
            </a:r>
            <a:r>
              <a:rPr lang="de-DE" sz="1600" kern="0" dirty="0">
                <a:ea typeface="Arial Unicode MS" pitchFamily="34" charset="-128"/>
                <a:cs typeface="Arial Unicode MS" pitchFamily="34" charset="-128"/>
              </a:rPr>
              <a:t> Erinnerung (Muster) &amp; Emotion, Bauchgefühl, Unbewusst</a:t>
            </a:r>
          </a:p>
          <a:p>
            <a:pPr algn="r" fontAlgn="base">
              <a:spcBef>
                <a:spcPts val="600"/>
              </a:spcBef>
              <a:spcAft>
                <a:spcPct val="0"/>
              </a:spcAft>
              <a:buClr>
                <a:srgbClr val="F0AB00"/>
              </a:buClr>
              <a:buSzPct val="80000"/>
            </a:pPr>
            <a:r>
              <a:rPr lang="de-DE" sz="2400" b="1" kern="0" dirty="0">
                <a:solidFill>
                  <a:srgbClr val="FF0000"/>
                </a:solidFill>
                <a:ea typeface="Arial Unicode MS" pitchFamily="34" charset="-128"/>
                <a:cs typeface="Arial Unicode MS" pitchFamily="34" charset="-128"/>
              </a:rPr>
              <a:t>95%</a:t>
            </a:r>
          </a:p>
        </p:txBody>
      </p:sp>
      <p:sp>
        <p:nvSpPr>
          <p:cNvPr id="12" name="Oval 11">
            <a:extLst>
              <a:ext uri="{FF2B5EF4-FFF2-40B4-BE49-F238E27FC236}">
                <a16:creationId xmlns:a16="http://schemas.microsoft.com/office/drawing/2014/main" id="{3A1C2E08-D24A-40A4-BECC-8A19DBA14A63}"/>
              </a:ext>
            </a:extLst>
          </p:cNvPr>
          <p:cNvSpPr/>
          <p:nvPr/>
        </p:nvSpPr>
        <p:spPr bwMode="gray">
          <a:xfrm rot="2837379">
            <a:off x="2553851" y="2252995"/>
            <a:ext cx="795665" cy="1692037"/>
          </a:xfrm>
          <a:prstGeom prst="ellipse">
            <a:avLst/>
          </a:prstGeom>
          <a:noFill/>
          <a:ln w="63500" algn="ctr">
            <a:solidFill>
              <a:srgbClr val="0070C0"/>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de-DE" b="0" i="0" u="none" strike="noStrike" kern="0" cap="none" spc="0" normalizeH="0" baseline="0" noProof="0" dirty="0">
              <a:ln>
                <a:noFill/>
              </a:ln>
              <a:effectLst/>
              <a:uLnTx/>
              <a:uFillTx/>
              <a:ea typeface="Arial Unicode MS" pitchFamily="34" charset="-128"/>
              <a:cs typeface="Arial Unicode MS" pitchFamily="34" charset="-128"/>
            </a:endParaRPr>
          </a:p>
        </p:txBody>
      </p:sp>
      <p:cxnSp>
        <p:nvCxnSpPr>
          <p:cNvPr id="13" name="Straight Connector 12">
            <a:extLst>
              <a:ext uri="{FF2B5EF4-FFF2-40B4-BE49-F238E27FC236}">
                <a16:creationId xmlns:a16="http://schemas.microsoft.com/office/drawing/2014/main" id="{827D2593-5B48-40FF-8DA7-EFF4192DF975}"/>
              </a:ext>
            </a:extLst>
          </p:cNvPr>
          <p:cNvCxnSpPr>
            <a:cxnSpLocks/>
            <a:endCxn id="12" idx="1"/>
          </p:cNvCxnSpPr>
          <p:nvPr/>
        </p:nvCxnSpPr>
        <p:spPr>
          <a:xfrm>
            <a:off x="2573661" y="1538418"/>
            <a:ext cx="626783" cy="948119"/>
          </a:xfrm>
          <a:prstGeom prst="line">
            <a:avLst/>
          </a:prstGeom>
          <a:ln w="63500">
            <a:solidFill>
              <a:srgbClr val="0070C0"/>
            </a:solidFill>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5A62C1B8-229D-4446-85E8-4140CAE4FFD4}"/>
              </a:ext>
            </a:extLst>
          </p:cNvPr>
          <p:cNvSpPr txBox="1"/>
          <p:nvPr/>
        </p:nvSpPr>
        <p:spPr>
          <a:xfrm>
            <a:off x="165968" y="1349640"/>
            <a:ext cx="2407693" cy="837904"/>
          </a:xfrm>
          <a:prstGeom prst="rect">
            <a:avLst/>
          </a:prstGeom>
          <a:noFill/>
          <a:ln w="63500">
            <a:solidFill>
              <a:srgbClr val="0070C0"/>
            </a:solidFill>
          </a:ln>
        </p:spPr>
        <p:txBody>
          <a:bodyPr wrap="square" lIns="72000" tIns="72000" rIns="72000" bIns="72000" rtlCol="0">
            <a:spAutoFit/>
          </a:bodyPr>
          <a:lstStyle/>
          <a:p>
            <a:pPr fontAlgn="base">
              <a:spcBef>
                <a:spcPts val="600"/>
              </a:spcBef>
              <a:spcAft>
                <a:spcPct val="0"/>
              </a:spcAft>
              <a:buClr>
                <a:srgbClr val="F0AB00"/>
              </a:buClr>
              <a:buSzPct val="80000"/>
            </a:pPr>
            <a:r>
              <a:rPr lang="de-DE" sz="1600" b="1" kern="0" dirty="0">
                <a:ea typeface="Arial Unicode MS" pitchFamily="34" charset="-128"/>
                <a:cs typeface="Arial Unicode MS" pitchFamily="34" charset="-128"/>
              </a:rPr>
              <a:t>Assoziatives Denken</a:t>
            </a:r>
          </a:p>
          <a:p>
            <a:pPr fontAlgn="base">
              <a:spcBef>
                <a:spcPts val="600"/>
              </a:spcBef>
              <a:spcAft>
                <a:spcPct val="0"/>
              </a:spcAft>
              <a:buClr>
                <a:srgbClr val="F0AB00"/>
              </a:buClr>
              <a:buSzPct val="80000"/>
            </a:pPr>
            <a:r>
              <a:rPr lang="de-DE" sz="1600" kern="0" dirty="0">
                <a:ea typeface="Arial Unicode MS" pitchFamily="34" charset="-128"/>
                <a:cs typeface="Arial Unicode MS" pitchFamily="34" charset="-128"/>
              </a:rPr>
              <a:t>Kognitiv, Neues      </a:t>
            </a:r>
            <a:r>
              <a:rPr lang="de-DE" sz="2400" b="1" kern="0" dirty="0">
                <a:solidFill>
                  <a:schemeClr val="accent3"/>
                </a:solidFill>
                <a:ea typeface="Arial Unicode MS" pitchFamily="34" charset="-128"/>
                <a:cs typeface="Arial Unicode MS" pitchFamily="34" charset="-128"/>
              </a:rPr>
              <a:t>5%</a:t>
            </a:r>
          </a:p>
        </p:txBody>
      </p:sp>
      <p:sp>
        <p:nvSpPr>
          <p:cNvPr id="4" name="Arrow: Right 3">
            <a:extLst>
              <a:ext uri="{FF2B5EF4-FFF2-40B4-BE49-F238E27FC236}">
                <a16:creationId xmlns:a16="http://schemas.microsoft.com/office/drawing/2014/main" id="{170C1016-11BF-4A38-9A6F-55809F127582}"/>
              </a:ext>
            </a:extLst>
          </p:cNvPr>
          <p:cNvSpPr/>
          <p:nvPr/>
        </p:nvSpPr>
        <p:spPr bwMode="gray">
          <a:xfrm rot="21078250">
            <a:off x="2601293" y="3867596"/>
            <a:ext cx="1069387" cy="446833"/>
          </a:xfrm>
          <a:prstGeom prst="rightArrow">
            <a:avLst/>
          </a:prstGeom>
          <a:solidFill>
            <a:srgbClr val="FFFF00"/>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de-DE" b="0" i="0" u="none" strike="noStrike" kern="0" cap="none" spc="0" normalizeH="0" baseline="0" noProof="0" dirty="0">
              <a:ln>
                <a:noFill/>
              </a:ln>
              <a:effectLst/>
              <a:highlight>
                <a:srgbClr val="FFFF00"/>
              </a:highlight>
              <a:uLnTx/>
              <a:uFillTx/>
              <a:ea typeface="Arial Unicode MS" pitchFamily="34" charset="-128"/>
              <a:cs typeface="Arial Unicode MS" pitchFamily="34" charset="-128"/>
            </a:endParaRPr>
          </a:p>
        </p:txBody>
      </p:sp>
      <p:sp>
        <p:nvSpPr>
          <p:cNvPr id="15" name="Arrow: Right 14">
            <a:extLst>
              <a:ext uri="{FF2B5EF4-FFF2-40B4-BE49-F238E27FC236}">
                <a16:creationId xmlns:a16="http://schemas.microsoft.com/office/drawing/2014/main" id="{1C7E742E-16C3-40F8-A04D-83FD4324DD5A}"/>
              </a:ext>
            </a:extLst>
          </p:cNvPr>
          <p:cNvSpPr/>
          <p:nvPr/>
        </p:nvSpPr>
        <p:spPr bwMode="gray">
          <a:xfrm rot="16538333">
            <a:off x="3629592" y="4162098"/>
            <a:ext cx="487017" cy="446833"/>
          </a:xfrm>
          <a:prstGeom prst="rightArrow">
            <a:avLst/>
          </a:prstGeom>
          <a:solidFill>
            <a:srgbClr val="FFFF00"/>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de-DE" b="0" i="0" u="none" strike="noStrike" kern="0" cap="none" spc="0" normalizeH="0" baseline="0" noProof="0" dirty="0">
              <a:ln>
                <a:noFill/>
              </a:ln>
              <a:effectLst/>
              <a:highlight>
                <a:srgbClr val="FFFF00"/>
              </a:highlight>
              <a:uLnTx/>
              <a:uFillTx/>
              <a:ea typeface="Arial Unicode MS" pitchFamily="34" charset="-128"/>
              <a:cs typeface="Arial Unicode MS" pitchFamily="34" charset="-128"/>
            </a:endParaRPr>
          </a:p>
        </p:txBody>
      </p:sp>
      <p:sp>
        <p:nvSpPr>
          <p:cNvPr id="17" name="Arrow: Right 16">
            <a:extLst>
              <a:ext uri="{FF2B5EF4-FFF2-40B4-BE49-F238E27FC236}">
                <a16:creationId xmlns:a16="http://schemas.microsoft.com/office/drawing/2014/main" id="{982E0E58-D97F-4B47-A9B6-5381740A7568}"/>
              </a:ext>
            </a:extLst>
          </p:cNvPr>
          <p:cNvSpPr/>
          <p:nvPr/>
        </p:nvSpPr>
        <p:spPr bwMode="gray">
          <a:xfrm rot="15431100">
            <a:off x="3809806" y="4530069"/>
            <a:ext cx="1069387" cy="446833"/>
          </a:xfrm>
          <a:prstGeom prst="rightArrow">
            <a:avLst/>
          </a:prstGeom>
          <a:solidFill>
            <a:srgbClr val="FFFF00"/>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de-DE" b="0" i="0" u="none" strike="noStrike" kern="0" cap="none" spc="0" normalizeH="0" baseline="0" noProof="0" dirty="0">
              <a:ln>
                <a:noFill/>
              </a:ln>
              <a:effectLst/>
              <a:highlight>
                <a:srgbClr val="FFFF00"/>
              </a:highlight>
              <a:uLnTx/>
              <a:uFillTx/>
              <a:ea typeface="Arial Unicode MS" pitchFamily="34" charset="-128"/>
              <a:cs typeface="Arial Unicode MS" pitchFamily="34" charset="-128"/>
            </a:endParaRPr>
          </a:p>
        </p:txBody>
      </p:sp>
    </p:spTree>
    <p:extLst>
      <p:ext uri="{BB962C8B-B14F-4D97-AF65-F5344CB8AC3E}">
        <p14:creationId xmlns:p14="http://schemas.microsoft.com/office/powerpoint/2010/main" val="377396719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709"/>
        <p:cNvGrpSpPr/>
        <p:nvPr/>
      </p:nvGrpSpPr>
      <p:grpSpPr>
        <a:xfrm>
          <a:off x="0" y="0"/>
          <a:ext cx="0" cy="0"/>
          <a:chOff x="0" y="0"/>
          <a:chExt cx="0" cy="0"/>
        </a:xfrm>
      </p:grpSpPr>
      <p:sp>
        <p:nvSpPr>
          <p:cNvPr id="3" name="Title 2">
            <a:extLst>
              <a:ext uri="{FF2B5EF4-FFF2-40B4-BE49-F238E27FC236}">
                <a16:creationId xmlns:a16="http://schemas.microsoft.com/office/drawing/2014/main" id="{147FE287-4975-4C36-B6AC-472C5F5B7BD9}"/>
              </a:ext>
            </a:extLst>
          </p:cNvPr>
          <p:cNvSpPr>
            <a:spLocks noGrp="1"/>
          </p:cNvSpPr>
          <p:nvPr>
            <p:ph type="title"/>
          </p:nvPr>
        </p:nvSpPr>
        <p:spPr>
          <a:xfrm>
            <a:off x="377544" y="407858"/>
            <a:ext cx="8100000" cy="582651"/>
          </a:xfrm>
        </p:spPr>
        <p:txBody>
          <a:bodyPr/>
          <a:lstStyle/>
          <a:p>
            <a:r>
              <a:rPr lang="de-DE"/>
              <a:t>(Sehr </a:t>
            </a:r>
            <a:r>
              <a:rPr lang="de-DE" dirty="0"/>
              <a:t>vereinfachte) Funktionsweise des Gehirns</a:t>
            </a:r>
            <a:br>
              <a:rPr lang="de-DE" dirty="0"/>
            </a:br>
            <a:r>
              <a:rPr lang="de-DE" sz="1600" dirty="0"/>
              <a:t>Quelle: Stokes/</a:t>
            </a:r>
            <a:r>
              <a:rPr lang="de-DE" sz="1600" dirty="0" err="1"/>
              <a:t>Whiteside</a:t>
            </a:r>
            <a:r>
              <a:rPr lang="de-DE" sz="1600" dirty="0"/>
              <a:t>: </a:t>
            </a:r>
            <a:r>
              <a:rPr lang="de-DE" sz="1600" dirty="0" err="1"/>
              <a:t>One</a:t>
            </a:r>
            <a:r>
              <a:rPr lang="de-DE" sz="1600" dirty="0"/>
              <a:t> Brain, S. 147ff.</a:t>
            </a:r>
            <a:endParaRPr lang="de-DE" dirty="0"/>
          </a:p>
        </p:txBody>
      </p:sp>
      <p:pic>
        <p:nvPicPr>
          <p:cNvPr id="1026" name="Picture 2" descr="diencephalon | Neurologie, Psychologie, Gehirn">
            <a:extLst>
              <a:ext uri="{FF2B5EF4-FFF2-40B4-BE49-F238E27FC236}">
                <a16:creationId xmlns:a16="http://schemas.microsoft.com/office/drawing/2014/main" id="{C5C4BA6E-20C3-417B-89AB-C14BD05AD0A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28844" y="2067901"/>
            <a:ext cx="5597401" cy="3854044"/>
          </a:xfrm>
          <a:prstGeom prst="rect">
            <a:avLst/>
          </a:prstGeom>
          <a:noFill/>
          <a:extLst>
            <a:ext uri="{909E8E84-426E-40DD-AFC4-6F175D3DCCD1}">
              <a14:hiddenFill xmlns:a14="http://schemas.microsoft.com/office/drawing/2010/main">
                <a:solidFill>
                  <a:srgbClr val="FFFFFF"/>
                </a:solidFill>
              </a14:hiddenFill>
            </a:ext>
          </a:extLst>
        </p:spPr>
      </p:pic>
      <p:sp>
        <p:nvSpPr>
          <p:cNvPr id="2" name="Oval 1">
            <a:extLst>
              <a:ext uri="{FF2B5EF4-FFF2-40B4-BE49-F238E27FC236}">
                <a16:creationId xmlns:a16="http://schemas.microsoft.com/office/drawing/2014/main" id="{C3A1C5ED-05D4-47E3-97D0-375BC11A7704}"/>
              </a:ext>
            </a:extLst>
          </p:cNvPr>
          <p:cNvSpPr/>
          <p:nvPr/>
        </p:nvSpPr>
        <p:spPr bwMode="gray">
          <a:xfrm>
            <a:off x="3358628" y="3080540"/>
            <a:ext cx="1555117" cy="1417569"/>
          </a:xfrm>
          <a:prstGeom prst="ellipse">
            <a:avLst/>
          </a:prstGeom>
          <a:noFill/>
          <a:ln w="63500" algn="ctr">
            <a:solidFill>
              <a:srgbClr val="FFFF00"/>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de-DE" b="0" i="0" u="none" strike="noStrike" kern="0" cap="none" spc="0" normalizeH="0" baseline="0" noProof="0" dirty="0">
              <a:ln>
                <a:noFill/>
              </a:ln>
              <a:effectLst/>
              <a:uLnTx/>
              <a:uFillTx/>
              <a:ea typeface="Arial Unicode MS" pitchFamily="34" charset="-128"/>
              <a:cs typeface="Arial Unicode MS" pitchFamily="34" charset="-128"/>
            </a:endParaRPr>
          </a:p>
        </p:txBody>
      </p:sp>
      <p:cxnSp>
        <p:nvCxnSpPr>
          <p:cNvPr id="5" name="Straight Connector 4">
            <a:extLst>
              <a:ext uri="{FF2B5EF4-FFF2-40B4-BE49-F238E27FC236}">
                <a16:creationId xmlns:a16="http://schemas.microsoft.com/office/drawing/2014/main" id="{B8325FB7-E7D5-4E2B-8A05-3383B53EFF5D}"/>
              </a:ext>
            </a:extLst>
          </p:cNvPr>
          <p:cNvCxnSpPr>
            <a:cxnSpLocks/>
            <a:endCxn id="9" idx="1"/>
          </p:cNvCxnSpPr>
          <p:nvPr/>
        </p:nvCxnSpPr>
        <p:spPr>
          <a:xfrm>
            <a:off x="4799501" y="4182555"/>
            <a:ext cx="1651975" cy="1507052"/>
          </a:xfrm>
          <a:prstGeom prst="line">
            <a:avLst/>
          </a:prstGeom>
          <a:ln w="63500">
            <a:solidFill>
              <a:srgbClr val="FFFF00"/>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7257A66-DEA3-42A4-BB14-D4304F4634C5}"/>
              </a:ext>
            </a:extLst>
          </p:cNvPr>
          <p:cNvSpPr txBox="1"/>
          <p:nvPr/>
        </p:nvSpPr>
        <p:spPr>
          <a:xfrm>
            <a:off x="6451476" y="4701268"/>
            <a:ext cx="2553979" cy="1976677"/>
          </a:xfrm>
          <a:prstGeom prst="rect">
            <a:avLst/>
          </a:prstGeom>
          <a:noFill/>
          <a:ln w="63500">
            <a:solidFill>
              <a:srgbClr val="FFFF00"/>
            </a:solidFill>
          </a:ln>
        </p:spPr>
        <p:txBody>
          <a:bodyPr wrap="square" lIns="72000" tIns="72000" rIns="72000" bIns="72000" rtlCol="0">
            <a:spAutoFit/>
          </a:bodyPr>
          <a:lstStyle/>
          <a:p>
            <a:pPr fontAlgn="base">
              <a:spcBef>
                <a:spcPts val="600"/>
              </a:spcBef>
              <a:spcAft>
                <a:spcPct val="0"/>
              </a:spcAft>
              <a:buClr>
                <a:srgbClr val="F0AB00"/>
              </a:buClr>
              <a:buSzPct val="80000"/>
            </a:pPr>
            <a:r>
              <a:rPr lang="de-DE" sz="1600" b="1" kern="0" dirty="0">
                <a:ea typeface="Arial Unicode MS" pitchFamily="34" charset="-128"/>
                <a:cs typeface="Arial Unicode MS" pitchFamily="34" charset="-128"/>
              </a:rPr>
              <a:t>Limbisches System:</a:t>
            </a:r>
          </a:p>
          <a:p>
            <a:pPr fontAlgn="base">
              <a:spcBef>
                <a:spcPts val="600"/>
              </a:spcBef>
              <a:spcAft>
                <a:spcPct val="0"/>
              </a:spcAft>
              <a:buClr>
                <a:srgbClr val="F0AB00"/>
              </a:buClr>
              <a:buSzPct val="80000"/>
            </a:pPr>
            <a:r>
              <a:rPr lang="de-DE" sz="1600" b="1" kern="0" dirty="0">
                <a:ea typeface="Arial Unicode MS" pitchFamily="34" charset="-128"/>
                <a:cs typeface="Arial Unicode MS" pitchFamily="34" charset="-128"/>
              </a:rPr>
              <a:t>Fight </a:t>
            </a:r>
            <a:r>
              <a:rPr lang="de-DE" sz="1600" b="1" kern="0" dirty="0" err="1">
                <a:ea typeface="Arial Unicode MS" pitchFamily="34" charset="-128"/>
                <a:cs typeface="Arial Unicode MS" pitchFamily="34" charset="-128"/>
              </a:rPr>
              <a:t>or</a:t>
            </a:r>
            <a:r>
              <a:rPr lang="de-DE" sz="1600" b="1" kern="0" dirty="0">
                <a:ea typeface="Arial Unicode MS" pitchFamily="34" charset="-128"/>
                <a:cs typeface="Arial Unicode MS" pitchFamily="34" charset="-128"/>
              </a:rPr>
              <a:t> Flight</a:t>
            </a:r>
          </a:p>
          <a:p>
            <a:pPr fontAlgn="base">
              <a:spcBef>
                <a:spcPts val="600"/>
              </a:spcBef>
              <a:spcAft>
                <a:spcPct val="0"/>
              </a:spcAft>
              <a:buClr>
                <a:srgbClr val="F0AB00"/>
              </a:buClr>
              <a:buSzPct val="80000"/>
            </a:pPr>
            <a:r>
              <a:rPr lang="de-DE" sz="1600" kern="0" dirty="0">
                <a:ea typeface="Arial Unicode MS" pitchFamily="34" charset="-128"/>
                <a:cs typeface="Arial Unicode MS" pitchFamily="34" charset="-128"/>
              </a:rPr>
              <a:t>Erinnerung (Muster) &amp; Emotion, Bauchgefühl, Unbewusst</a:t>
            </a:r>
          </a:p>
          <a:p>
            <a:pPr algn="r" fontAlgn="base">
              <a:spcBef>
                <a:spcPts val="600"/>
              </a:spcBef>
              <a:spcAft>
                <a:spcPct val="0"/>
              </a:spcAft>
              <a:buClr>
                <a:srgbClr val="F0AB00"/>
              </a:buClr>
              <a:buSzPct val="80000"/>
            </a:pPr>
            <a:r>
              <a:rPr lang="de-DE" sz="2400" b="1" kern="0" dirty="0">
                <a:solidFill>
                  <a:srgbClr val="FF0000"/>
                </a:solidFill>
                <a:ea typeface="Arial Unicode MS" pitchFamily="34" charset="-128"/>
                <a:cs typeface="Arial Unicode MS" pitchFamily="34" charset="-128"/>
              </a:rPr>
              <a:t>95%</a:t>
            </a:r>
          </a:p>
        </p:txBody>
      </p:sp>
      <p:sp>
        <p:nvSpPr>
          <p:cNvPr id="12" name="Oval 11">
            <a:extLst>
              <a:ext uri="{FF2B5EF4-FFF2-40B4-BE49-F238E27FC236}">
                <a16:creationId xmlns:a16="http://schemas.microsoft.com/office/drawing/2014/main" id="{3A1C2E08-D24A-40A4-BECC-8A19DBA14A63}"/>
              </a:ext>
            </a:extLst>
          </p:cNvPr>
          <p:cNvSpPr/>
          <p:nvPr/>
        </p:nvSpPr>
        <p:spPr bwMode="gray">
          <a:xfrm rot="2837379">
            <a:off x="2553851" y="2252995"/>
            <a:ext cx="795665" cy="1692037"/>
          </a:xfrm>
          <a:prstGeom prst="ellipse">
            <a:avLst/>
          </a:prstGeom>
          <a:noFill/>
          <a:ln w="63500" algn="ctr">
            <a:solidFill>
              <a:srgbClr val="0070C0"/>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de-DE" b="0" i="0" u="none" strike="noStrike" kern="0" cap="none" spc="0" normalizeH="0" baseline="0" noProof="0" dirty="0">
              <a:ln>
                <a:noFill/>
              </a:ln>
              <a:effectLst/>
              <a:uLnTx/>
              <a:uFillTx/>
              <a:ea typeface="Arial Unicode MS" pitchFamily="34" charset="-128"/>
              <a:cs typeface="Arial Unicode MS" pitchFamily="34" charset="-128"/>
            </a:endParaRPr>
          </a:p>
        </p:txBody>
      </p:sp>
      <p:cxnSp>
        <p:nvCxnSpPr>
          <p:cNvPr id="13" name="Straight Connector 12">
            <a:extLst>
              <a:ext uri="{FF2B5EF4-FFF2-40B4-BE49-F238E27FC236}">
                <a16:creationId xmlns:a16="http://schemas.microsoft.com/office/drawing/2014/main" id="{827D2593-5B48-40FF-8DA7-EFF4192DF975}"/>
              </a:ext>
            </a:extLst>
          </p:cNvPr>
          <p:cNvCxnSpPr>
            <a:cxnSpLocks/>
            <a:endCxn id="12" idx="1"/>
          </p:cNvCxnSpPr>
          <p:nvPr/>
        </p:nvCxnSpPr>
        <p:spPr>
          <a:xfrm>
            <a:off x="2573661" y="1538418"/>
            <a:ext cx="626783" cy="948119"/>
          </a:xfrm>
          <a:prstGeom prst="line">
            <a:avLst/>
          </a:prstGeom>
          <a:ln w="63500">
            <a:solidFill>
              <a:srgbClr val="0070C0"/>
            </a:solidFill>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5A62C1B8-229D-4446-85E8-4140CAE4FFD4}"/>
              </a:ext>
            </a:extLst>
          </p:cNvPr>
          <p:cNvSpPr txBox="1"/>
          <p:nvPr/>
        </p:nvSpPr>
        <p:spPr>
          <a:xfrm>
            <a:off x="165968" y="1349640"/>
            <a:ext cx="2407693" cy="837904"/>
          </a:xfrm>
          <a:prstGeom prst="rect">
            <a:avLst/>
          </a:prstGeom>
          <a:noFill/>
          <a:ln w="63500">
            <a:solidFill>
              <a:srgbClr val="0070C0"/>
            </a:solidFill>
          </a:ln>
        </p:spPr>
        <p:txBody>
          <a:bodyPr wrap="square" lIns="72000" tIns="72000" rIns="72000" bIns="72000" rtlCol="0">
            <a:spAutoFit/>
          </a:bodyPr>
          <a:lstStyle/>
          <a:p>
            <a:pPr fontAlgn="base">
              <a:spcBef>
                <a:spcPts val="600"/>
              </a:spcBef>
              <a:spcAft>
                <a:spcPct val="0"/>
              </a:spcAft>
              <a:buClr>
                <a:srgbClr val="F0AB00"/>
              </a:buClr>
              <a:buSzPct val="80000"/>
            </a:pPr>
            <a:r>
              <a:rPr lang="de-DE" sz="1600" b="1" kern="0" dirty="0">
                <a:ea typeface="Arial Unicode MS" pitchFamily="34" charset="-128"/>
                <a:cs typeface="Arial Unicode MS" pitchFamily="34" charset="-128"/>
              </a:rPr>
              <a:t>Assoziatives Denken</a:t>
            </a:r>
          </a:p>
          <a:p>
            <a:pPr fontAlgn="base">
              <a:spcBef>
                <a:spcPts val="600"/>
              </a:spcBef>
              <a:spcAft>
                <a:spcPct val="0"/>
              </a:spcAft>
              <a:buClr>
                <a:srgbClr val="F0AB00"/>
              </a:buClr>
              <a:buSzPct val="80000"/>
            </a:pPr>
            <a:r>
              <a:rPr lang="de-DE" sz="1600" kern="0" dirty="0">
                <a:ea typeface="Arial Unicode MS" pitchFamily="34" charset="-128"/>
                <a:cs typeface="Arial Unicode MS" pitchFamily="34" charset="-128"/>
              </a:rPr>
              <a:t>Kognitiv, Neues      </a:t>
            </a:r>
            <a:r>
              <a:rPr lang="de-DE" sz="2400" b="1" kern="0" dirty="0">
                <a:solidFill>
                  <a:schemeClr val="accent3"/>
                </a:solidFill>
                <a:ea typeface="Arial Unicode MS" pitchFamily="34" charset="-128"/>
                <a:cs typeface="Arial Unicode MS" pitchFamily="34" charset="-128"/>
              </a:rPr>
              <a:t>5%</a:t>
            </a:r>
          </a:p>
        </p:txBody>
      </p:sp>
      <p:sp>
        <p:nvSpPr>
          <p:cNvPr id="19" name="TextBox 18">
            <a:extLst>
              <a:ext uri="{FF2B5EF4-FFF2-40B4-BE49-F238E27FC236}">
                <a16:creationId xmlns:a16="http://schemas.microsoft.com/office/drawing/2014/main" id="{44337B08-093B-44B6-B4D4-BB7DB7FFD3DF}"/>
              </a:ext>
            </a:extLst>
          </p:cNvPr>
          <p:cNvSpPr txBox="1"/>
          <p:nvPr/>
        </p:nvSpPr>
        <p:spPr>
          <a:xfrm>
            <a:off x="5080367" y="1437148"/>
            <a:ext cx="2964506" cy="391628"/>
          </a:xfrm>
          <a:prstGeom prst="rect">
            <a:avLst/>
          </a:prstGeom>
          <a:noFill/>
          <a:ln w="63500">
            <a:solidFill>
              <a:srgbClr val="FF0000"/>
            </a:solidFill>
          </a:ln>
        </p:spPr>
        <p:txBody>
          <a:bodyPr wrap="square" lIns="72000" tIns="72000" rIns="72000" bIns="72000" rtlCol="0">
            <a:spAutoFit/>
          </a:bodyPr>
          <a:lstStyle/>
          <a:p>
            <a:pPr fontAlgn="base">
              <a:spcBef>
                <a:spcPts val="600"/>
              </a:spcBef>
              <a:spcAft>
                <a:spcPct val="0"/>
              </a:spcAft>
              <a:buClr>
                <a:srgbClr val="F0AB00"/>
              </a:buClr>
              <a:buSzPct val="80000"/>
            </a:pPr>
            <a:r>
              <a:rPr lang="de-DE" sz="1600" b="1" kern="0" dirty="0">
                <a:ea typeface="Arial Unicode MS" pitchFamily="34" charset="-128"/>
                <a:cs typeface="Arial Unicode MS" pitchFamily="34" charset="-128"/>
              </a:rPr>
              <a:t>Keine Verbindung bei Stress</a:t>
            </a:r>
            <a:endParaRPr lang="de-DE" sz="1600" kern="0" dirty="0">
              <a:ea typeface="Arial Unicode MS" pitchFamily="34" charset="-128"/>
              <a:cs typeface="Arial Unicode MS" pitchFamily="34" charset="-128"/>
            </a:endParaRPr>
          </a:p>
        </p:txBody>
      </p:sp>
      <p:cxnSp>
        <p:nvCxnSpPr>
          <p:cNvPr id="20" name="Straight Connector 19">
            <a:extLst>
              <a:ext uri="{FF2B5EF4-FFF2-40B4-BE49-F238E27FC236}">
                <a16:creationId xmlns:a16="http://schemas.microsoft.com/office/drawing/2014/main" id="{A2AA7329-DA56-478E-BA8A-86971D7FCF89}"/>
              </a:ext>
            </a:extLst>
          </p:cNvPr>
          <p:cNvCxnSpPr>
            <a:cxnSpLocks/>
          </p:cNvCxnSpPr>
          <p:nvPr/>
        </p:nvCxnSpPr>
        <p:spPr>
          <a:xfrm flipV="1">
            <a:off x="3460767" y="1767220"/>
            <a:ext cx="1653137" cy="1456267"/>
          </a:xfrm>
          <a:prstGeom prst="line">
            <a:avLst/>
          </a:prstGeom>
          <a:ln w="63500">
            <a:solidFill>
              <a:srgbClr val="FF0000"/>
            </a:solidFill>
          </a:ln>
        </p:spPr>
        <p:style>
          <a:lnRef idx="1">
            <a:schemeClr val="accent1"/>
          </a:lnRef>
          <a:fillRef idx="0">
            <a:schemeClr val="accent1"/>
          </a:fillRef>
          <a:effectRef idx="0">
            <a:schemeClr val="accent1"/>
          </a:effectRef>
          <a:fontRef idx="minor">
            <a:schemeClr val="tx1"/>
          </a:fontRef>
        </p:style>
      </p:cxnSp>
      <p:sp>
        <p:nvSpPr>
          <p:cNvPr id="16" name="Oval 15">
            <a:extLst>
              <a:ext uri="{FF2B5EF4-FFF2-40B4-BE49-F238E27FC236}">
                <a16:creationId xmlns:a16="http://schemas.microsoft.com/office/drawing/2014/main" id="{FD4F1E4E-6698-4188-AA69-43ECED4EA6DD}"/>
              </a:ext>
            </a:extLst>
          </p:cNvPr>
          <p:cNvSpPr/>
          <p:nvPr/>
        </p:nvSpPr>
        <p:spPr bwMode="gray">
          <a:xfrm>
            <a:off x="3237388" y="3004826"/>
            <a:ext cx="446758" cy="424174"/>
          </a:xfrm>
          <a:prstGeom prst="ellipse">
            <a:avLst/>
          </a:prstGeom>
          <a:solidFill>
            <a:srgbClr val="FF0000"/>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b="0" i="0" u="none" strike="noStrike" kern="0" cap="none" spc="0" normalizeH="0" baseline="0" noProof="0" dirty="0">
                <a:ln>
                  <a:noFill/>
                </a:ln>
                <a:effectLst/>
                <a:uLnTx/>
                <a:uFillTx/>
                <a:ea typeface="Arial Unicode MS" pitchFamily="34" charset="-128"/>
                <a:cs typeface="Arial Unicode MS" pitchFamily="34" charset="-128"/>
              </a:rPr>
              <a:t>?</a:t>
            </a:r>
          </a:p>
        </p:txBody>
      </p:sp>
      <p:sp>
        <p:nvSpPr>
          <p:cNvPr id="4" name="Arrow: Right 3">
            <a:extLst>
              <a:ext uri="{FF2B5EF4-FFF2-40B4-BE49-F238E27FC236}">
                <a16:creationId xmlns:a16="http://schemas.microsoft.com/office/drawing/2014/main" id="{170C1016-11BF-4A38-9A6F-55809F127582}"/>
              </a:ext>
            </a:extLst>
          </p:cNvPr>
          <p:cNvSpPr/>
          <p:nvPr/>
        </p:nvSpPr>
        <p:spPr bwMode="gray">
          <a:xfrm rot="21078250">
            <a:off x="2601293" y="3867596"/>
            <a:ext cx="1069387" cy="446833"/>
          </a:xfrm>
          <a:prstGeom prst="rightArrow">
            <a:avLst/>
          </a:prstGeom>
          <a:solidFill>
            <a:srgbClr val="FFFF00"/>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de-DE" b="0" i="0" u="none" strike="noStrike" kern="0" cap="none" spc="0" normalizeH="0" baseline="0" noProof="0" dirty="0">
              <a:ln>
                <a:noFill/>
              </a:ln>
              <a:effectLst/>
              <a:highlight>
                <a:srgbClr val="FFFF00"/>
              </a:highlight>
              <a:uLnTx/>
              <a:uFillTx/>
              <a:ea typeface="Arial Unicode MS" pitchFamily="34" charset="-128"/>
              <a:cs typeface="Arial Unicode MS" pitchFamily="34" charset="-128"/>
            </a:endParaRPr>
          </a:p>
        </p:txBody>
      </p:sp>
      <p:sp>
        <p:nvSpPr>
          <p:cNvPr id="15" name="Arrow: Right 14">
            <a:extLst>
              <a:ext uri="{FF2B5EF4-FFF2-40B4-BE49-F238E27FC236}">
                <a16:creationId xmlns:a16="http://schemas.microsoft.com/office/drawing/2014/main" id="{1C7E742E-16C3-40F8-A04D-83FD4324DD5A}"/>
              </a:ext>
            </a:extLst>
          </p:cNvPr>
          <p:cNvSpPr/>
          <p:nvPr/>
        </p:nvSpPr>
        <p:spPr bwMode="gray">
          <a:xfrm rot="16538333">
            <a:off x="3629592" y="4162098"/>
            <a:ext cx="487017" cy="446833"/>
          </a:xfrm>
          <a:prstGeom prst="rightArrow">
            <a:avLst/>
          </a:prstGeom>
          <a:solidFill>
            <a:srgbClr val="FFFF00"/>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de-DE" b="0" i="0" u="none" strike="noStrike" kern="0" cap="none" spc="0" normalizeH="0" baseline="0" noProof="0" dirty="0">
              <a:ln>
                <a:noFill/>
              </a:ln>
              <a:effectLst/>
              <a:highlight>
                <a:srgbClr val="FFFF00"/>
              </a:highlight>
              <a:uLnTx/>
              <a:uFillTx/>
              <a:ea typeface="Arial Unicode MS" pitchFamily="34" charset="-128"/>
              <a:cs typeface="Arial Unicode MS" pitchFamily="34" charset="-128"/>
            </a:endParaRPr>
          </a:p>
        </p:txBody>
      </p:sp>
      <p:sp>
        <p:nvSpPr>
          <p:cNvPr id="17" name="Arrow: Right 16">
            <a:extLst>
              <a:ext uri="{FF2B5EF4-FFF2-40B4-BE49-F238E27FC236}">
                <a16:creationId xmlns:a16="http://schemas.microsoft.com/office/drawing/2014/main" id="{982E0E58-D97F-4B47-A9B6-5381740A7568}"/>
              </a:ext>
            </a:extLst>
          </p:cNvPr>
          <p:cNvSpPr/>
          <p:nvPr/>
        </p:nvSpPr>
        <p:spPr bwMode="gray">
          <a:xfrm rot="15431100">
            <a:off x="3809806" y="4530069"/>
            <a:ext cx="1069387" cy="446833"/>
          </a:xfrm>
          <a:prstGeom prst="rightArrow">
            <a:avLst/>
          </a:prstGeom>
          <a:solidFill>
            <a:srgbClr val="FFFF00"/>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de-DE" b="0" i="0" u="none" strike="noStrike" kern="0" cap="none" spc="0" normalizeH="0" baseline="0" noProof="0" dirty="0">
              <a:ln>
                <a:noFill/>
              </a:ln>
              <a:effectLst/>
              <a:highlight>
                <a:srgbClr val="FFFF00"/>
              </a:highlight>
              <a:uLnTx/>
              <a:uFillTx/>
              <a:ea typeface="Arial Unicode MS" pitchFamily="34" charset="-128"/>
              <a:cs typeface="Arial Unicode MS" pitchFamily="34" charset="-128"/>
            </a:endParaRPr>
          </a:p>
        </p:txBody>
      </p:sp>
    </p:spTree>
    <p:extLst>
      <p:ext uri="{BB962C8B-B14F-4D97-AF65-F5344CB8AC3E}">
        <p14:creationId xmlns:p14="http://schemas.microsoft.com/office/powerpoint/2010/main" val="178923912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709"/>
        <p:cNvGrpSpPr/>
        <p:nvPr/>
      </p:nvGrpSpPr>
      <p:grpSpPr>
        <a:xfrm>
          <a:off x="0" y="0"/>
          <a:ext cx="0" cy="0"/>
          <a:chOff x="0" y="0"/>
          <a:chExt cx="0" cy="0"/>
        </a:xfrm>
      </p:grpSpPr>
      <p:pic>
        <p:nvPicPr>
          <p:cNvPr id="1026" name="Picture 2" descr="diencephalon | Neurologie, Psychologie, Gehirn">
            <a:extLst>
              <a:ext uri="{FF2B5EF4-FFF2-40B4-BE49-F238E27FC236}">
                <a16:creationId xmlns:a16="http://schemas.microsoft.com/office/drawing/2014/main" id="{C5C4BA6E-20C3-417B-89AB-C14BD05AD0A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00718" y="2395732"/>
            <a:ext cx="5597401" cy="3854044"/>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F480EFC6-7C60-4D30-8B62-DB0E4BD3ED84}"/>
              </a:ext>
            </a:extLst>
          </p:cNvPr>
          <p:cNvSpPr txBox="1"/>
          <p:nvPr/>
        </p:nvSpPr>
        <p:spPr>
          <a:xfrm>
            <a:off x="2102870" y="1433044"/>
            <a:ext cx="5199675" cy="2915395"/>
          </a:xfrm>
          <a:prstGeom prst="rect">
            <a:avLst/>
          </a:prstGeom>
          <a:solidFill>
            <a:schemeClr val="bg1"/>
          </a:solidFill>
        </p:spPr>
        <p:txBody>
          <a:bodyPr wrap="none" lIns="72000" tIns="72000" rIns="72000" bIns="72000" rtlCol="0">
            <a:spAutoFit/>
          </a:bodyPr>
          <a:lstStyle/>
          <a:p>
            <a:pPr algn="ctr" fontAlgn="base">
              <a:spcBef>
                <a:spcPts val="600"/>
              </a:spcBef>
              <a:spcAft>
                <a:spcPct val="0"/>
              </a:spcAft>
              <a:buClr>
                <a:srgbClr val="F0AB00"/>
              </a:buClr>
              <a:buSzPct val="80000"/>
            </a:pPr>
            <a:r>
              <a:rPr lang="de-DE" sz="3200" b="1" kern="0" dirty="0">
                <a:solidFill>
                  <a:srgbClr val="FF0000"/>
                </a:solidFill>
                <a:ea typeface="Arial Unicode MS" pitchFamily="34" charset="-128"/>
                <a:cs typeface="Arial Unicode MS" pitchFamily="34" charset="-128"/>
              </a:rPr>
              <a:t>Wahrnehmung:</a:t>
            </a:r>
          </a:p>
          <a:p>
            <a:pPr algn="ctr" fontAlgn="base">
              <a:spcBef>
                <a:spcPts val="600"/>
              </a:spcBef>
              <a:spcAft>
                <a:spcPct val="0"/>
              </a:spcAft>
              <a:buClr>
                <a:srgbClr val="F0AB00"/>
              </a:buClr>
              <a:buSzPct val="80000"/>
            </a:pPr>
            <a:r>
              <a:rPr lang="de-DE" sz="3200" b="1" kern="0" dirty="0">
                <a:solidFill>
                  <a:srgbClr val="FF0000"/>
                </a:solidFill>
                <a:ea typeface="Arial Unicode MS" pitchFamily="34" charset="-128"/>
                <a:cs typeface="Arial Unicode MS" pitchFamily="34" charset="-128"/>
              </a:rPr>
              <a:t>Muster der Vergangenheit</a:t>
            </a:r>
          </a:p>
          <a:p>
            <a:pPr algn="ctr" fontAlgn="base">
              <a:spcBef>
                <a:spcPts val="600"/>
              </a:spcBef>
              <a:spcAft>
                <a:spcPct val="0"/>
              </a:spcAft>
              <a:buClr>
                <a:srgbClr val="F0AB00"/>
              </a:buClr>
              <a:buSzPct val="80000"/>
            </a:pPr>
            <a:r>
              <a:rPr lang="de-DE" sz="3200" b="1" kern="0" dirty="0">
                <a:solidFill>
                  <a:srgbClr val="FF0000"/>
                </a:solidFill>
                <a:ea typeface="Arial Unicode MS" pitchFamily="34" charset="-128"/>
                <a:cs typeface="Arial Unicode MS" pitchFamily="34" charset="-128"/>
              </a:rPr>
              <a:t>Automatismen</a:t>
            </a:r>
          </a:p>
          <a:p>
            <a:pPr algn="ctr" fontAlgn="base">
              <a:spcBef>
                <a:spcPts val="600"/>
              </a:spcBef>
              <a:spcAft>
                <a:spcPct val="0"/>
              </a:spcAft>
              <a:buClr>
                <a:srgbClr val="F0AB00"/>
              </a:buClr>
              <a:buSzPct val="80000"/>
            </a:pPr>
            <a:r>
              <a:rPr lang="de-DE" sz="3200" b="1" kern="0" dirty="0">
                <a:solidFill>
                  <a:srgbClr val="FF0000"/>
                </a:solidFill>
                <a:ea typeface="Arial Unicode MS" pitchFamily="34" charset="-128"/>
                <a:cs typeface="Arial Unicode MS" pitchFamily="34" charset="-128"/>
              </a:rPr>
              <a:t>Reaktion auf Emotion</a:t>
            </a:r>
          </a:p>
          <a:p>
            <a:pPr algn="ctr" fontAlgn="base">
              <a:spcBef>
                <a:spcPts val="600"/>
              </a:spcBef>
              <a:spcAft>
                <a:spcPct val="0"/>
              </a:spcAft>
              <a:buClr>
                <a:srgbClr val="F0AB00"/>
              </a:buClr>
              <a:buSzPct val="80000"/>
            </a:pPr>
            <a:r>
              <a:rPr lang="de-DE" sz="3200" b="1" kern="0" dirty="0">
                <a:solidFill>
                  <a:srgbClr val="FF0000"/>
                </a:solidFill>
                <a:ea typeface="Arial Unicode MS" pitchFamily="34" charset="-128"/>
                <a:cs typeface="Arial Unicode MS" pitchFamily="34" charset="-128"/>
              </a:rPr>
              <a:t>Unbewusstes </a:t>
            </a:r>
          </a:p>
        </p:txBody>
      </p:sp>
      <p:sp>
        <p:nvSpPr>
          <p:cNvPr id="2" name="TextBox 1">
            <a:extLst>
              <a:ext uri="{FF2B5EF4-FFF2-40B4-BE49-F238E27FC236}">
                <a16:creationId xmlns:a16="http://schemas.microsoft.com/office/drawing/2014/main" id="{26D7B493-5CBB-4DDD-9140-EE50AA58D947}"/>
              </a:ext>
            </a:extLst>
          </p:cNvPr>
          <p:cNvSpPr txBox="1"/>
          <p:nvPr/>
        </p:nvSpPr>
        <p:spPr>
          <a:xfrm>
            <a:off x="445584" y="2075133"/>
            <a:ext cx="1070806" cy="492443"/>
          </a:xfrm>
          <a:prstGeom prst="rect">
            <a:avLst/>
          </a:prstGeom>
          <a:noFill/>
        </p:spPr>
        <p:txBody>
          <a:bodyPr wrap="none" lIns="0" tIns="0" rIns="0" bIns="0" rtlCol="0">
            <a:spAutoFit/>
          </a:bodyPr>
          <a:lstStyle/>
          <a:p>
            <a:pPr fontAlgn="base">
              <a:spcBef>
                <a:spcPts val="600"/>
              </a:spcBef>
              <a:spcAft>
                <a:spcPct val="0"/>
              </a:spcAft>
              <a:buClr>
                <a:srgbClr val="F0AB00"/>
              </a:buClr>
              <a:buSzPct val="80000"/>
            </a:pPr>
            <a:r>
              <a:rPr lang="de-DE" sz="3200" b="1" kern="0" dirty="0">
                <a:solidFill>
                  <a:srgbClr val="FF0000"/>
                </a:solidFill>
                <a:ea typeface="Arial Unicode MS" pitchFamily="34" charset="-128"/>
                <a:cs typeface="Arial Unicode MS" pitchFamily="34" charset="-128"/>
              </a:rPr>
              <a:t>95%?</a:t>
            </a:r>
          </a:p>
        </p:txBody>
      </p:sp>
      <p:sp>
        <p:nvSpPr>
          <p:cNvPr id="7" name="Title 2">
            <a:extLst>
              <a:ext uri="{FF2B5EF4-FFF2-40B4-BE49-F238E27FC236}">
                <a16:creationId xmlns:a16="http://schemas.microsoft.com/office/drawing/2014/main" id="{9E286884-15B4-420D-AEB2-2CBE87186404}"/>
              </a:ext>
            </a:extLst>
          </p:cNvPr>
          <p:cNvSpPr txBox="1">
            <a:spLocks/>
          </p:cNvSpPr>
          <p:nvPr/>
        </p:nvSpPr>
        <p:spPr bwMode="gray">
          <a:xfrm>
            <a:off x="377544" y="407858"/>
            <a:ext cx="8100000" cy="582651"/>
          </a:xfrm>
          <a:prstGeom prst="rect">
            <a:avLst/>
          </a:prstGeom>
        </p:spPr>
        <p:txBody>
          <a:bodyPr spcFirstLastPara="1" vert="horz" wrap="square" lIns="91425" tIns="91425" rIns="91425" bIns="91425" rtlCol="0" anchor="t" anchorCtr="0">
            <a:noAutofit/>
          </a:bodyPr>
          <a:lstStyle>
            <a:lvl1pPr lvl="0" algn="l" defTabSz="914400" rtl="0" eaLnBrk="1" latinLnBrk="0" hangingPunct="1">
              <a:spcBef>
                <a:spcPts val="0"/>
              </a:spcBef>
              <a:spcAft>
                <a:spcPts val="0"/>
              </a:spcAft>
              <a:buSzPts val="3700"/>
              <a:buNone/>
              <a:defRPr sz="2400" b="1" kern="1200">
                <a:solidFill>
                  <a:schemeClr val="accent2"/>
                </a:solidFill>
                <a:latin typeface="+mj-lt"/>
                <a:ea typeface="+mj-ea"/>
                <a:cs typeface="+mj-cs"/>
              </a:defRPr>
            </a:lvl1pPr>
            <a:lvl2pPr lvl="1" rtl="0">
              <a:spcBef>
                <a:spcPts val="0"/>
              </a:spcBef>
              <a:spcAft>
                <a:spcPts val="0"/>
              </a:spcAft>
              <a:buSzPts val="4000"/>
              <a:buNone/>
              <a:defRPr/>
            </a:lvl2pPr>
            <a:lvl3pPr lvl="2" rtl="0">
              <a:spcBef>
                <a:spcPts val="0"/>
              </a:spcBef>
              <a:spcAft>
                <a:spcPts val="0"/>
              </a:spcAft>
              <a:buSzPts val="4000"/>
              <a:buNone/>
              <a:defRPr/>
            </a:lvl3pPr>
            <a:lvl4pPr lvl="3" rtl="0">
              <a:spcBef>
                <a:spcPts val="0"/>
              </a:spcBef>
              <a:spcAft>
                <a:spcPts val="0"/>
              </a:spcAft>
              <a:buSzPts val="4000"/>
              <a:buNone/>
              <a:defRPr/>
            </a:lvl4pPr>
            <a:lvl5pPr lvl="4" rtl="0">
              <a:spcBef>
                <a:spcPts val="0"/>
              </a:spcBef>
              <a:spcAft>
                <a:spcPts val="0"/>
              </a:spcAft>
              <a:buSzPts val="4000"/>
              <a:buNone/>
              <a:defRPr/>
            </a:lvl5pPr>
            <a:lvl6pPr lvl="5" rtl="0">
              <a:spcBef>
                <a:spcPts val="0"/>
              </a:spcBef>
              <a:spcAft>
                <a:spcPts val="0"/>
              </a:spcAft>
              <a:buSzPts val="4000"/>
              <a:buNone/>
              <a:defRPr/>
            </a:lvl6pPr>
            <a:lvl7pPr lvl="6" rtl="0">
              <a:spcBef>
                <a:spcPts val="0"/>
              </a:spcBef>
              <a:spcAft>
                <a:spcPts val="0"/>
              </a:spcAft>
              <a:buSzPts val="4000"/>
              <a:buNone/>
              <a:defRPr/>
            </a:lvl7pPr>
            <a:lvl8pPr lvl="7" rtl="0">
              <a:spcBef>
                <a:spcPts val="0"/>
              </a:spcBef>
              <a:spcAft>
                <a:spcPts val="0"/>
              </a:spcAft>
              <a:buSzPts val="4000"/>
              <a:buNone/>
              <a:defRPr/>
            </a:lvl8pPr>
            <a:lvl9pPr lvl="8" rtl="0">
              <a:spcBef>
                <a:spcPts val="0"/>
              </a:spcBef>
              <a:spcAft>
                <a:spcPts val="0"/>
              </a:spcAft>
              <a:buSzPts val="4000"/>
              <a:buNone/>
              <a:defRPr/>
            </a:lvl9pPr>
          </a:lstStyle>
          <a:p>
            <a:r>
              <a:rPr lang="de-DE"/>
              <a:t>(Sehr vereinfachte) Funktionsweise des Gehirns</a:t>
            </a:r>
            <a:br>
              <a:rPr lang="de-DE"/>
            </a:br>
            <a:r>
              <a:rPr lang="de-DE" sz="1600"/>
              <a:t>Quelle: Stokes/Whiteside: One Brain, S. 147ff.</a:t>
            </a:r>
            <a:endParaRPr lang="de-DE" dirty="0"/>
          </a:p>
        </p:txBody>
      </p:sp>
    </p:spTree>
    <p:extLst>
      <p:ext uri="{BB962C8B-B14F-4D97-AF65-F5344CB8AC3E}">
        <p14:creationId xmlns:p14="http://schemas.microsoft.com/office/powerpoint/2010/main" val="45874202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7D7297-961C-46F2-926F-CC731A7E5BA3}"/>
              </a:ext>
            </a:extLst>
          </p:cNvPr>
          <p:cNvSpPr>
            <a:spLocks noGrp="1"/>
          </p:cNvSpPr>
          <p:nvPr>
            <p:ph type="title"/>
          </p:nvPr>
        </p:nvSpPr>
        <p:spPr/>
        <p:txBody>
          <a:bodyPr/>
          <a:lstStyle/>
          <a:p>
            <a:r>
              <a:rPr lang="de-DE" dirty="0"/>
              <a:t>Wie sehen wir? Was nehmen </a:t>
            </a:r>
            <a:r>
              <a:rPr lang="de-DE"/>
              <a:t>wir wahr</a:t>
            </a:r>
            <a:r>
              <a:rPr lang="de-DE" dirty="0"/>
              <a:t>?</a:t>
            </a:r>
          </a:p>
        </p:txBody>
      </p:sp>
      <p:pic>
        <p:nvPicPr>
          <p:cNvPr id="1026" name="Picture 2" descr="Findest du den Fehler?">
            <a:extLst>
              <a:ext uri="{FF2B5EF4-FFF2-40B4-BE49-F238E27FC236}">
                <a16:creationId xmlns:a16="http://schemas.microsoft.com/office/drawing/2014/main" id="{6F32742D-9141-48F5-8905-4E5B11DBF49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24000" y="1534070"/>
            <a:ext cx="1939427" cy="145457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CE27D2EC-502F-4255-84D1-465D7782C339}"/>
              </a:ext>
            </a:extLst>
          </p:cNvPr>
          <p:cNvSpPr txBox="1"/>
          <p:nvPr/>
        </p:nvSpPr>
        <p:spPr>
          <a:xfrm>
            <a:off x="2963128" y="1945453"/>
            <a:ext cx="5856871" cy="4555093"/>
          </a:xfrm>
          <a:prstGeom prst="rect">
            <a:avLst/>
          </a:prstGeom>
          <a:noFill/>
        </p:spPr>
        <p:txBody>
          <a:bodyPr wrap="square" lIns="0" tIns="0" rIns="0" bIns="0" rtlCol="0">
            <a:spAutoFit/>
          </a:bodyPr>
          <a:lstStyle/>
          <a:p>
            <a:pPr fontAlgn="base">
              <a:spcBef>
                <a:spcPts val="600"/>
              </a:spcBef>
              <a:spcAft>
                <a:spcPct val="0"/>
              </a:spcAft>
              <a:buClr>
                <a:srgbClr val="F0AB00"/>
              </a:buClr>
              <a:buSzPct val="80000"/>
            </a:pPr>
            <a:r>
              <a:rPr lang="de-DE" sz="2400" b="1" kern="0" dirty="0">
                <a:ea typeface="Arial Unicode MS" pitchFamily="34" charset="-128"/>
                <a:cs typeface="Arial Unicode MS" pitchFamily="34" charset="-128"/>
              </a:rPr>
              <a:t>Selektive Wahrnehmung</a:t>
            </a:r>
          </a:p>
          <a:p>
            <a:pPr fontAlgn="base">
              <a:spcBef>
                <a:spcPts val="600"/>
              </a:spcBef>
              <a:spcAft>
                <a:spcPct val="0"/>
              </a:spcAft>
              <a:buClr>
                <a:srgbClr val="F0AB00"/>
              </a:buClr>
              <a:buSzPct val="80000"/>
            </a:pPr>
            <a:endParaRPr lang="de-DE" sz="2400" b="1" kern="0" dirty="0">
              <a:ea typeface="Arial Unicode MS" pitchFamily="34" charset="-128"/>
              <a:cs typeface="Arial Unicode MS" pitchFamily="34" charset="-128"/>
            </a:endParaRPr>
          </a:p>
          <a:p>
            <a:pPr fontAlgn="base">
              <a:spcBef>
                <a:spcPts val="600"/>
              </a:spcBef>
              <a:spcAft>
                <a:spcPct val="0"/>
              </a:spcAft>
              <a:buClr>
                <a:srgbClr val="F0AB00"/>
              </a:buClr>
              <a:buSzPct val="80000"/>
            </a:pPr>
            <a:endParaRPr lang="de-DE" sz="2400" b="1" kern="0" dirty="0">
              <a:ea typeface="Arial Unicode MS" pitchFamily="34" charset="-128"/>
              <a:cs typeface="Arial Unicode MS" pitchFamily="34" charset="-128"/>
            </a:endParaRPr>
          </a:p>
          <a:p>
            <a:pPr fontAlgn="base">
              <a:spcBef>
                <a:spcPts val="600"/>
              </a:spcBef>
              <a:spcAft>
                <a:spcPct val="0"/>
              </a:spcAft>
              <a:buClr>
                <a:srgbClr val="F0AB00"/>
              </a:buClr>
              <a:buSzPct val="80000"/>
            </a:pPr>
            <a:r>
              <a:rPr lang="de-DE" sz="2400" b="1" kern="0" dirty="0">
                <a:ea typeface="Arial Unicode MS" pitchFamily="34" charset="-128"/>
                <a:cs typeface="Arial Unicode MS" pitchFamily="34" charset="-128"/>
              </a:rPr>
              <a:t>Unterschiedliche Wahrnehmung</a:t>
            </a:r>
          </a:p>
          <a:p>
            <a:pPr fontAlgn="base">
              <a:spcBef>
                <a:spcPts val="600"/>
              </a:spcBef>
              <a:spcAft>
                <a:spcPct val="0"/>
              </a:spcAft>
              <a:buClr>
                <a:srgbClr val="F0AB00"/>
              </a:buClr>
              <a:buSzPct val="80000"/>
            </a:pPr>
            <a:endParaRPr lang="de-DE" sz="2400" b="1" kern="0" dirty="0">
              <a:ea typeface="Arial Unicode MS" pitchFamily="34" charset="-128"/>
              <a:cs typeface="Arial Unicode MS" pitchFamily="34" charset="-128"/>
            </a:endParaRPr>
          </a:p>
          <a:p>
            <a:pPr fontAlgn="base">
              <a:spcBef>
                <a:spcPts val="600"/>
              </a:spcBef>
              <a:spcAft>
                <a:spcPct val="0"/>
              </a:spcAft>
              <a:buClr>
                <a:srgbClr val="F0AB00"/>
              </a:buClr>
              <a:buSzPct val="80000"/>
            </a:pPr>
            <a:endParaRPr lang="de-DE" sz="2400" b="1" kern="0" dirty="0">
              <a:ea typeface="Arial Unicode MS" pitchFamily="34" charset="-128"/>
              <a:cs typeface="Arial Unicode MS" pitchFamily="34" charset="-128"/>
            </a:endParaRPr>
          </a:p>
          <a:p>
            <a:pPr fontAlgn="base">
              <a:spcBef>
                <a:spcPts val="600"/>
              </a:spcBef>
              <a:spcAft>
                <a:spcPct val="0"/>
              </a:spcAft>
              <a:buClr>
                <a:srgbClr val="F0AB00"/>
              </a:buClr>
              <a:buSzPct val="80000"/>
            </a:pPr>
            <a:endParaRPr lang="de-DE" sz="2400" b="1" kern="0" dirty="0">
              <a:ea typeface="Arial Unicode MS" pitchFamily="34" charset="-128"/>
              <a:cs typeface="Arial Unicode MS" pitchFamily="34" charset="-128"/>
            </a:endParaRPr>
          </a:p>
          <a:p>
            <a:pPr fontAlgn="base">
              <a:spcBef>
                <a:spcPts val="600"/>
              </a:spcBef>
              <a:spcAft>
                <a:spcPct val="0"/>
              </a:spcAft>
              <a:buClr>
                <a:srgbClr val="F0AB00"/>
              </a:buClr>
              <a:buSzPct val="80000"/>
            </a:pPr>
            <a:r>
              <a:rPr lang="de-DE" sz="2400" b="1" kern="0" dirty="0">
                <a:ea typeface="Arial Unicode MS" pitchFamily="34" charset="-128"/>
                <a:cs typeface="Arial Unicode MS" pitchFamily="34" charset="-128"/>
              </a:rPr>
              <a:t>Erwartete Wahrnehmung   </a:t>
            </a:r>
          </a:p>
          <a:p>
            <a:pPr fontAlgn="base">
              <a:spcBef>
                <a:spcPts val="600"/>
              </a:spcBef>
              <a:spcAft>
                <a:spcPct val="0"/>
              </a:spcAft>
              <a:buClr>
                <a:srgbClr val="F0AB00"/>
              </a:buClr>
              <a:buSzPct val="80000"/>
            </a:pPr>
            <a:endParaRPr lang="de-DE" sz="200" b="1" kern="0" dirty="0">
              <a:ea typeface="Arial Unicode MS" pitchFamily="34" charset="-128"/>
              <a:cs typeface="Arial Unicode MS" pitchFamily="34" charset="-128"/>
            </a:endParaRPr>
          </a:p>
          <a:p>
            <a:pPr fontAlgn="base">
              <a:spcBef>
                <a:spcPts val="600"/>
              </a:spcBef>
              <a:spcAft>
                <a:spcPct val="0"/>
              </a:spcAft>
              <a:buClr>
                <a:srgbClr val="F0AB00"/>
              </a:buClr>
              <a:buSzPct val="80000"/>
            </a:pPr>
            <a:r>
              <a:rPr lang="de-DE" sz="2400" b="1" kern="0" dirty="0">
                <a:ea typeface="Arial Unicode MS" pitchFamily="34" charset="-128"/>
                <a:cs typeface="Arial Unicode MS" pitchFamily="34" charset="-128"/>
              </a:rPr>
              <a:t>Gehirn erzeugt schlüssige Geschichte</a:t>
            </a:r>
          </a:p>
          <a:p>
            <a:pPr fontAlgn="base">
              <a:spcBef>
                <a:spcPts val="600"/>
              </a:spcBef>
              <a:spcAft>
                <a:spcPct val="0"/>
              </a:spcAft>
              <a:buClr>
                <a:srgbClr val="F0AB00"/>
              </a:buClr>
              <a:buSzPct val="80000"/>
            </a:pPr>
            <a:endParaRPr lang="de-DE" sz="2800" b="1" kern="0" dirty="0">
              <a:ea typeface="Arial Unicode MS" pitchFamily="34" charset="-128"/>
              <a:cs typeface="Arial Unicode MS" pitchFamily="34" charset="-128"/>
            </a:endParaRPr>
          </a:p>
        </p:txBody>
      </p:sp>
      <p:pic>
        <p:nvPicPr>
          <p:cNvPr id="5" name="Picture 2" descr="Kippfiguren - Lexikon der Psychologie">
            <a:extLst>
              <a:ext uri="{FF2B5EF4-FFF2-40B4-BE49-F238E27FC236}">
                <a16:creationId xmlns:a16="http://schemas.microsoft.com/office/drawing/2014/main" id="{4FD7D4C6-E537-48CC-AF56-8AAB6CF466F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2390" y="2943078"/>
            <a:ext cx="1287259" cy="1514423"/>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53918457-BCCB-4B2A-809C-3BCB67D8082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82390" y="4704188"/>
            <a:ext cx="1453182" cy="1384797"/>
          </a:xfrm>
          <a:prstGeom prst="rect">
            <a:avLst/>
          </a:prstGeom>
        </p:spPr>
      </p:pic>
      <p:pic>
        <p:nvPicPr>
          <p:cNvPr id="7" name="Picture 6">
            <a:extLst>
              <a:ext uri="{FF2B5EF4-FFF2-40B4-BE49-F238E27FC236}">
                <a16:creationId xmlns:a16="http://schemas.microsoft.com/office/drawing/2014/main" id="{B9419346-0A31-414D-91A6-3EB0C9AF5487}"/>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548015" y="5499762"/>
            <a:ext cx="1287259" cy="965444"/>
          </a:xfrm>
          <a:prstGeom prst="rect">
            <a:avLst/>
          </a:prstGeom>
        </p:spPr>
      </p:pic>
    </p:spTree>
    <p:extLst>
      <p:ext uri="{BB962C8B-B14F-4D97-AF65-F5344CB8AC3E}">
        <p14:creationId xmlns:p14="http://schemas.microsoft.com/office/powerpoint/2010/main" val="131211006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7D7297-961C-46F2-926F-CC731A7E5BA3}"/>
              </a:ext>
            </a:extLst>
          </p:cNvPr>
          <p:cNvSpPr>
            <a:spLocks noGrp="1"/>
          </p:cNvSpPr>
          <p:nvPr>
            <p:ph type="title"/>
          </p:nvPr>
        </p:nvSpPr>
        <p:spPr/>
        <p:txBody>
          <a:bodyPr/>
          <a:lstStyle/>
          <a:p>
            <a:r>
              <a:rPr lang="de-DE" dirty="0"/>
              <a:t>Wie sehen wir? Was nehmen wir war?</a:t>
            </a:r>
            <a:br>
              <a:rPr lang="de-DE" dirty="0"/>
            </a:br>
            <a:r>
              <a:rPr lang="de-DE" dirty="0"/>
              <a:t>Dilemma des Erfolgs von gestern!</a:t>
            </a:r>
          </a:p>
        </p:txBody>
      </p:sp>
      <p:pic>
        <p:nvPicPr>
          <p:cNvPr id="1026" name="Picture 2" descr="Findest du den Fehler?">
            <a:extLst>
              <a:ext uri="{FF2B5EF4-FFF2-40B4-BE49-F238E27FC236}">
                <a16:creationId xmlns:a16="http://schemas.microsoft.com/office/drawing/2014/main" id="{6F32742D-9141-48F5-8905-4E5B11DBF49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24000" y="1534070"/>
            <a:ext cx="1939427" cy="145457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CE27D2EC-502F-4255-84D1-465D7782C339}"/>
              </a:ext>
            </a:extLst>
          </p:cNvPr>
          <p:cNvSpPr txBox="1"/>
          <p:nvPr/>
        </p:nvSpPr>
        <p:spPr>
          <a:xfrm>
            <a:off x="2963129" y="1945453"/>
            <a:ext cx="5666706" cy="3985706"/>
          </a:xfrm>
          <a:prstGeom prst="rect">
            <a:avLst/>
          </a:prstGeom>
          <a:noFill/>
        </p:spPr>
        <p:txBody>
          <a:bodyPr wrap="square" lIns="0" tIns="0" rIns="0" bIns="0" rtlCol="0">
            <a:spAutoFit/>
          </a:bodyPr>
          <a:lstStyle/>
          <a:p>
            <a:pPr fontAlgn="base">
              <a:spcBef>
                <a:spcPts val="600"/>
              </a:spcBef>
              <a:spcAft>
                <a:spcPct val="0"/>
              </a:spcAft>
              <a:buClr>
                <a:srgbClr val="F0AB00"/>
              </a:buClr>
              <a:buSzPct val="80000"/>
            </a:pPr>
            <a:r>
              <a:rPr lang="de-DE" sz="2800" b="1" kern="0" dirty="0">
                <a:ea typeface="Arial Unicode MS" pitchFamily="34" charset="-128"/>
                <a:cs typeface="Arial Unicode MS" pitchFamily="34" charset="-128"/>
              </a:rPr>
              <a:t>Selektive Wahrnehmung</a:t>
            </a:r>
          </a:p>
          <a:p>
            <a:pPr fontAlgn="base">
              <a:spcBef>
                <a:spcPts val="600"/>
              </a:spcBef>
              <a:spcAft>
                <a:spcPct val="0"/>
              </a:spcAft>
              <a:buClr>
                <a:srgbClr val="F0AB00"/>
              </a:buClr>
              <a:buSzPct val="80000"/>
            </a:pPr>
            <a:endParaRPr lang="de-DE" sz="2800" b="1" kern="0" dirty="0">
              <a:ea typeface="Arial Unicode MS" pitchFamily="34" charset="-128"/>
              <a:cs typeface="Arial Unicode MS" pitchFamily="34" charset="-128"/>
            </a:endParaRPr>
          </a:p>
          <a:p>
            <a:pPr fontAlgn="base">
              <a:spcBef>
                <a:spcPts val="600"/>
              </a:spcBef>
              <a:spcAft>
                <a:spcPct val="0"/>
              </a:spcAft>
              <a:buClr>
                <a:srgbClr val="F0AB00"/>
              </a:buClr>
              <a:buSzPct val="80000"/>
            </a:pPr>
            <a:endParaRPr lang="de-DE" sz="2800" b="1" kern="0" dirty="0">
              <a:ea typeface="Arial Unicode MS" pitchFamily="34" charset="-128"/>
              <a:cs typeface="Arial Unicode MS" pitchFamily="34" charset="-128"/>
            </a:endParaRPr>
          </a:p>
          <a:p>
            <a:pPr fontAlgn="base">
              <a:spcBef>
                <a:spcPts val="600"/>
              </a:spcBef>
              <a:spcAft>
                <a:spcPct val="0"/>
              </a:spcAft>
              <a:buClr>
                <a:srgbClr val="F0AB00"/>
              </a:buClr>
              <a:buSzPct val="80000"/>
            </a:pPr>
            <a:r>
              <a:rPr lang="de-DE" sz="2800" b="1" kern="0" dirty="0">
                <a:ea typeface="Arial Unicode MS" pitchFamily="34" charset="-128"/>
                <a:cs typeface="Arial Unicode MS" pitchFamily="34" charset="-128"/>
              </a:rPr>
              <a:t>Unterschiedliche Wahrnehmung</a:t>
            </a:r>
          </a:p>
          <a:p>
            <a:pPr fontAlgn="base">
              <a:spcBef>
                <a:spcPts val="600"/>
              </a:spcBef>
              <a:spcAft>
                <a:spcPct val="0"/>
              </a:spcAft>
              <a:buClr>
                <a:srgbClr val="F0AB00"/>
              </a:buClr>
              <a:buSzPct val="80000"/>
            </a:pPr>
            <a:endParaRPr lang="de-DE" sz="2800" b="1" kern="0" dirty="0">
              <a:ea typeface="Arial Unicode MS" pitchFamily="34" charset="-128"/>
              <a:cs typeface="Arial Unicode MS" pitchFamily="34" charset="-128"/>
            </a:endParaRPr>
          </a:p>
          <a:p>
            <a:pPr fontAlgn="base">
              <a:spcBef>
                <a:spcPts val="600"/>
              </a:spcBef>
              <a:spcAft>
                <a:spcPct val="0"/>
              </a:spcAft>
              <a:buClr>
                <a:srgbClr val="F0AB00"/>
              </a:buClr>
              <a:buSzPct val="80000"/>
            </a:pPr>
            <a:endParaRPr lang="de-DE" sz="2800" b="1" kern="0" dirty="0">
              <a:ea typeface="Arial Unicode MS" pitchFamily="34" charset="-128"/>
              <a:cs typeface="Arial Unicode MS" pitchFamily="34" charset="-128"/>
            </a:endParaRPr>
          </a:p>
          <a:p>
            <a:pPr fontAlgn="base">
              <a:spcBef>
                <a:spcPts val="600"/>
              </a:spcBef>
              <a:spcAft>
                <a:spcPct val="0"/>
              </a:spcAft>
              <a:buClr>
                <a:srgbClr val="F0AB00"/>
              </a:buClr>
              <a:buSzPct val="80000"/>
            </a:pPr>
            <a:r>
              <a:rPr lang="de-DE" sz="2800" b="1" kern="0" dirty="0">
                <a:ea typeface="Arial Unicode MS" pitchFamily="34" charset="-128"/>
                <a:cs typeface="Arial Unicode MS" pitchFamily="34" charset="-128"/>
              </a:rPr>
              <a:t>Erwartete Wahrnehmung</a:t>
            </a:r>
          </a:p>
          <a:p>
            <a:pPr fontAlgn="base">
              <a:spcBef>
                <a:spcPts val="600"/>
              </a:spcBef>
              <a:spcAft>
                <a:spcPct val="0"/>
              </a:spcAft>
              <a:buClr>
                <a:srgbClr val="F0AB00"/>
              </a:buClr>
              <a:buSzPct val="80000"/>
            </a:pPr>
            <a:endParaRPr lang="de-DE" sz="2800" b="1" kern="0" dirty="0">
              <a:ea typeface="Arial Unicode MS" pitchFamily="34" charset="-128"/>
              <a:cs typeface="Arial Unicode MS" pitchFamily="34" charset="-128"/>
            </a:endParaRPr>
          </a:p>
        </p:txBody>
      </p:sp>
      <p:pic>
        <p:nvPicPr>
          <p:cNvPr id="5" name="Picture 2" descr="Kippfiguren - Lexikon der Psychologie">
            <a:extLst>
              <a:ext uri="{FF2B5EF4-FFF2-40B4-BE49-F238E27FC236}">
                <a16:creationId xmlns:a16="http://schemas.microsoft.com/office/drawing/2014/main" id="{4FD7D4C6-E537-48CC-AF56-8AAB6CF466F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2390" y="2943078"/>
            <a:ext cx="1287259" cy="1514423"/>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53918457-BCCB-4B2A-809C-3BCB67D8082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82390" y="4704188"/>
            <a:ext cx="1453182" cy="1384797"/>
          </a:xfrm>
          <a:prstGeom prst="rect">
            <a:avLst/>
          </a:prstGeom>
        </p:spPr>
      </p:pic>
      <p:sp>
        <p:nvSpPr>
          <p:cNvPr id="4" name="Rectangle 3">
            <a:extLst>
              <a:ext uri="{FF2B5EF4-FFF2-40B4-BE49-F238E27FC236}">
                <a16:creationId xmlns:a16="http://schemas.microsoft.com/office/drawing/2014/main" id="{D9611A72-0A38-4086-A1B7-6EBA265F8A00}"/>
              </a:ext>
            </a:extLst>
          </p:cNvPr>
          <p:cNvSpPr/>
          <p:nvPr/>
        </p:nvSpPr>
        <p:spPr bwMode="gray">
          <a:xfrm>
            <a:off x="2662312" y="1863893"/>
            <a:ext cx="6157688" cy="1868955"/>
          </a:xfrm>
          <a:prstGeom prst="rect">
            <a:avLst/>
          </a:prstGeom>
          <a:solidFill>
            <a:srgbClr val="FFFF00"/>
          </a:solidFill>
          <a:ln w="6350" algn="ctr">
            <a:noFill/>
            <a:miter lim="800000"/>
            <a:headEnd/>
            <a:tailEnd/>
          </a:ln>
        </p:spPr>
        <p:txBody>
          <a:bodyPr wrap="square" lIns="90000" tIns="72000" rIns="90000" bIns="72000" rtlCol="0" anchor="ctr">
            <a:spAutoFit/>
          </a:bodyPr>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2800" b="1" i="0" u="none" strike="noStrike" kern="0" cap="none" spc="0" normalizeH="0" baseline="0" noProof="0" dirty="0">
                <a:ln>
                  <a:noFill/>
                </a:ln>
                <a:effectLst/>
                <a:uLnTx/>
                <a:uFillTx/>
                <a:ea typeface="Arial Unicode MS" pitchFamily="34" charset="-128"/>
                <a:cs typeface="Arial Unicode MS" pitchFamily="34" charset="-128"/>
              </a:rPr>
              <a:t>Und wie neue Pfade betreten?</a:t>
            </a:r>
          </a:p>
          <a:p>
            <a:pPr marR="0" algn="ctr" defTabSz="914400" eaLnBrk="1" fontAlgn="base" latinLnBrk="0" hangingPunct="1">
              <a:lnSpc>
                <a:spcPct val="100000"/>
              </a:lnSpc>
              <a:spcBef>
                <a:spcPct val="50000"/>
              </a:spcBef>
              <a:spcAft>
                <a:spcPct val="0"/>
              </a:spcAft>
              <a:buClr>
                <a:srgbClr val="F0AB00"/>
              </a:buClr>
              <a:buSzPct val="80000"/>
              <a:tabLst/>
            </a:pPr>
            <a:r>
              <a:rPr lang="de-DE" sz="2800" b="1" kern="0" dirty="0">
                <a:ea typeface="Arial Unicode MS" pitchFamily="34" charset="-128"/>
                <a:cs typeface="Arial Unicode MS" pitchFamily="34" charset="-128"/>
              </a:rPr>
              <a:t>Innovativ sein?</a:t>
            </a:r>
          </a:p>
          <a:p>
            <a:pPr marR="0" algn="ctr" defTabSz="914400" eaLnBrk="1" fontAlgn="base" latinLnBrk="0" hangingPunct="1">
              <a:lnSpc>
                <a:spcPct val="100000"/>
              </a:lnSpc>
              <a:spcBef>
                <a:spcPct val="50000"/>
              </a:spcBef>
              <a:spcAft>
                <a:spcPct val="0"/>
              </a:spcAft>
              <a:buClr>
                <a:srgbClr val="F0AB00"/>
              </a:buClr>
              <a:buSzPct val="80000"/>
              <a:tabLst/>
            </a:pPr>
            <a:r>
              <a:rPr kumimoji="0" lang="de-DE" sz="2800" b="1" i="0" u="none" strike="noStrike" kern="0" cap="none" spc="0" normalizeH="0" baseline="0" noProof="0" dirty="0">
                <a:ln>
                  <a:noFill/>
                </a:ln>
                <a:effectLst/>
                <a:uLnTx/>
                <a:uFillTx/>
                <a:ea typeface="Arial Unicode MS" pitchFamily="34" charset="-128"/>
                <a:cs typeface="Arial Unicode MS" pitchFamily="34" charset="-128"/>
              </a:rPr>
              <a:t>Digital Transformation?</a:t>
            </a:r>
          </a:p>
        </p:txBody>
      </p:sp>
      <p:sp>
        <p:nvSpPr>
          <p:cNvPr id="7" name="Oval 6">
            <a:extLst>
              <a:ext uri="{FF2B5EF4-FFF2-40B4-BE49-F238E27FC236}">
                <a16:creationId xmlns:a16="http://schemas.microsoft.com/office/drawing/2014/main" id="{4A993F17-F548-47E1-A80F-13907D51BD9C}"/>
              </a:ext>
            </a:extLst>
          </p:cNvPr>
          <p:cNvSpPr/>
          <p:nvPr/>
        </p:nvSpPr>
        <p:spPr bwMode="gray">
          <a:xfrm>
            <a:off x="3767653" y="4066789"/>
            <a:ext cx="3465228" cy="2022196"/>
          </a:xfrm>
          <a:prstGeom prst="ellipse">
            <a:avLst/>
          </a:prstGeom>
          <a:solidFill>
            <a:srgbClr val="FF0000"/>
          </a:solidFill>
          <a:ln w="6350" algn="ctr">
            <a:noFill/>
            <a:miter lim="800000"/>
            <a:headEnd/>
            <a:tailEnd/>
          </a:ln>
        </p:spPr>
        <p:txBody>
          <a:bodyPr lIns="90000" tIns="72000" rIns="90000" bIns="72000" rtlCol="0" anchor="ctr">
            <a:spAutoFit/>
          </a:bodyPr>
          <a:lstStyle/>
          <a:p>
            <a:pPr marR="0" algn="ctr" defTabSz="914400" eaLnBrk="1" fontAlgn="base" latinLnBrk="0" hangingPunct="1">
              <a:lnSpc>
                <a:spcPct val="100000"/>
              </a:lnSpc>
              <a:spcBef>
                <a:spcPct val="50000"/>
              </a:spcBef>
              <a:spcAft>
                <a:spcPct val="0"/>
              </a:spcAft>
              <a:buClr>
                <a:srgbClr val="F0AB00"/>
              </a:buClr>
              <a:buSzPct val="80000"/>
              <a:tabLst/>
            </a:pPr>
            <a:r>
              <a:rPr lang="de-DE" sz="2800" b="1" kern="0" dirty="0">
                <a:ea typeface="Arial Unicode MS" pitchFamily="34" charset="-128"/>
                <a:cs typeface="Arial Unicode MS" pitchFamily="34" charset="-128"/>
              </a:rPr>
              <a:t>Dilemma des Erfolgs von Gestern</a:t>
            </a:r>
          </a:p>
        </p:txBody>
      </p:sp>
      <p:pic>
        <p:nvPicPr>
          <p:cNvPr id="9" name="Picture 8">
            <a:extLst>
              <a:ext uri="{FF2B5EF4-FFF2-40B4-BE49-F238E27FC236}">
                <a16:creationId xmlns:a16="http://schemas.microsoft.com/office/drawing/2014/main" id="{60024B95-8CD0-4369-B36D-75C29EA72792}"/>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969649" y="5499762"/>
            <a:ext cx="1287259" cy="965444"/>
          </a:xfrm>
          <a:prstGeom prst="rect">
            <a:avLst/>
          </a:prstGeom>
        </p:spPr>
      </p:pic>
    </p:spTree>
    <p:extLst>
      <p:ext uri="{BB962C8B-B14F-4D97-AF65-F5344CB8AC3E}">
        <p14:creationId xmlns:p14="http://schemas.microsoft.com/office/powerpoint/2010/main" val="58393006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24000" y="324000"/>
            <a:ext cx="8496000" cy="677028"/>
          </a:xfrm>
        </p:spPr>
        <p:txBody>
          <a:bodyPr/>
          <a:lstStyle/>
          <a:p>
            <a:r>
              <a:rPr lang="de-DE" dirty="0">
                <a:solidFill>
                  <a:schemeClr val="tx1"/>
                </a:solidFill>
              </a:rPr>
              <a:t>SQ II: Digital Thinking &amp; Management</a:t>
            </a:r>
            <a:br>
              <a:rPr lang="de-DE" dirty="0">
                <a:solidFill>
                  <a:schemeClr val="tx1"/>
                </a:solidFill>
              </a:rPr>
            </a:br>
            <a:r>
              <a:rPr lang="de-DE" dirty="0">
                <a:solidFill>
                  <a:schemeClr val="tx1"/>
                </a:solidFill>
              </a:rPr>
              <a:t>Was braucht ein guter IT-Consultant? (Quelle: AW Scheer)</a:t>
            </a:r>
          </a:p>
        </p:txBody>
      </p:sp>
      <p:sp>
        <p:nvSpPr>
          <p:cNvPr id="8" name="Ellipse 7">
            <a:extLst>
              <a:ext uri="{FF2B5EF4-FFF2-40B4-BE49-F238E27FC236}">
                <a16:creationId xmlns:a16="http://schemas.microsoft.com/office/drawing/2014/main" id="{B20AC8F3-5976-4D12-98E5-88E939C34EC6}"/>
              </a:ext>
            </a:extLst>
          </p:cNvPr>
          <p:cNvSpPr/>
          <p:nvPr/>
        </p:nvSpPr>
        <p:spPr bwMode="gray">
          <a:xfrm>
            <a:off x="666750" y="1979468"/>
            <a:ext cx="4171950" cy="2047875"/>
          </a:xfrm>
          <a:prstGeom prst="ellipse">
            <a:avLst/>
          </a:prstGeom>
          <a:solidFill>
            <a:schemeClr val="accent1"/>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2800" b="0" i="0" u="none" strike="noStrike" kern="0" cap="none" spc="0" normalizeH="0" baseline="0" noProof="0" dirty="0">
                <a:ln>
                  <a:noFill/>
                </a:ln>
                <a:effectLst/>
                <a:uLnTx/>
                <a:uFillTx/>
                <a:ea typeface="Arial Unicode MS" pitchFamily="34" charset="-128"/>
                <a:cs typeface="Arial Unicode MS" pitchFamily="34" charset="-128"/>
              </a:rPr>
              <a:t>Fachwissen incl. Methoden</a:t>
            </a:r>
          </a:p>
        </p:txBody>
      </p:sp>
      <p:sp>
        <p:nvSpPr>
          <p:cNvPr id="14" name="Ellipse 13">
            <a:extLst>
              <a:ext uri="{FF2B5EF4-FFF2-40B4-BE49-F238E27FC236}">
                <a16:creationId xmlns:a16="http://schemas.microsoft.com/office/drawing/2014/main" id="{2FF49307-C48B-4C03-A871-AEB6E5E2C115}"/>
              </a:ext>
            </a:extLst>
          </p:cNvPr>
          <p:cNvSpPr/>
          <p:nvPr/>
        </p:nvSpPr>
        <p:spPr bwMode="gray">
          <a:xfrm>
            <a:off x="4210050" y="1979467"/>
            <a:ext cx="4171950" cy="2047875"/>
          </a:xfrm>
          <a:prstGeom prst="ellipse">
            <a:avLst/>
          </a:prstGeom>
          <a:solidFill>
            <a:schemeClr val="accent4">
              <a:lumMod val="40000"/>
              <a:lumOff val="60000"/>
            </a:schemeClr>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2800" b="0" i="0" u="none" strike="noStrike" kern="0" cap="none" spc="0" normalizeH="0" baseline="0" noProof="0" dirty="0">
                <a:ln>
                  <a:noFill/>
                </a:ln>
                <a:effectLst/>
                <a:uLnTx/>
                <a:uFillTx/>
                <a:ea typeface="Arial Unicode MS" pitchFamily="34" charset="-128"/>
                <a:cs typeface="Arial Unicode MS" pitchFamily="34" charset="-128"/>
              </a:rPr>
              <a:t>Social </a:t>
            </a:r>
            <a:r>
              <a:rPr lang="de-DE" sz="2800" kern="0" dirty="0">
                <a:ea typeface="Arial Unicode MS" pitchFamily="34" charset="-128"/>
                <a:cs typeface="Arial Unicode MS" pitchFamily="34" charset="-128"/>
              </a:rPr>
              <a:t>S</a:t>
            </a:r>
            <a:r>
              <a:rPr kumimoji="0" lang="de-DE" sz="2800" b="0" i="0" u="none" strike="noStrike" kern="0" cap="none" spc="0" normalizeH="0" baseline="0" noProof="0" dirty="0" err="1">
                <a:ln>
                  <a:noFill/>
                </a:ln>
                <a:effectLst/>
                <a:uLnTx/>
                <a:uFillTx/>
                <a:ea typeface="Arial Unicode MS" pitchFamily="34" charset="-128"/>
                <a:cs typeface="Arial Unicode MS" pitchFamily="34" charset="-128"/>
              </a:rPr>
              <a:t>kills</a:t>
            </a:r>
            <a:endParaRPr kumimoji="0" lang="de-DE" sz="28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15" name="Ellipse 14">
            <a:extLst>
              <a:ext uri="{FF2B5EF4-FFF2-40B4-BE49-F238E27FC236}">
                <a16:creationId xmlns:a16="http://schemas.microsoft.com/office/drawing/2014/main" id="{BA83433A-2E94-4944-BDA8-8BD04A234531}"/>
              </a:ext>
            </a:extLst>
          </p:cNvPr>
          <p:cNvSpPr/>
          <p:nvPr/>
        </p:nvSpPr>
        <p:spPr bwMode="gray">
          <a:xfrm>
            <a:off x="2552700" y="3472926"/>
            <a:ext cx="4171950" cy="2047875"/>
          </a:xfrm>
          <a:prstGeom prst="ellipse">
            <a:avLst/>
          </a:prstGeom>
          <a:solidFill>
            <a:schemeClr val="accent6">
              <a:lumMod val="40000"/>
              <a:lumOff val="60000"/>
            </a:schemeClr>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2800" b="0" i="0" u="none" strike="noStrike" kern="0" cap="none" spc="0" normalizeH="0" baseline="0" noProof="0" dirty="0">
                <a:ln>
                  <a:noFill/>
                </a:ln>
                <a:effectLst/>
                <a:uLnTx/>
                <a:uFillTx/>
                <a:ea typeface="Arial Unicode MS" pitchFamily="34" charset="-128"/>
                <a:cs typeface="Arial Unicode MS" pitchFamily="34" charset="-128"/>
              </a:rPr>
              <a:t>Erfahrung</a:t>
            </a:r>
          </a:p>
        </p:txBody>
      </p:sp>
    </p:spTree>
    <p:extLst>
      <p:ext uri="{BB962C8B-B14F-4D97-AF65-F5344CB8AC3E}">
        <p14:creationId xmlns:p14="http://schemas.microsoft.com/office/powerpoint/2010/main" val="113295899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24000" y="324000"/>
            <a:ext cx="8496000" cy="677028"/>
          </a:xfrm>
        </p:spPr>
        <p:txBody>
          <a:bodyPr/>
          <a:lstStyle/>
          <a:p>
            <a:r>
              <a:rPr lang="de-DE" dirty="0">
                <a:solidFill>
                  <a:schemeClr val="tx1"/>
                </a:solidFill>
              </a:rPr>
              <a:t>SQ II: Digital Thinking &amp; Management</a:t>
            </a:r>
            <a:br>
              <a:rPr lang="de-DE" dirty="0">
                <a:solidFill>
                  <a:schemeClr val="tx1"/>
                </a:solidFill>
              </a:rPr>
            </a:br>
            <a:r>
              <a:rPr lang="de-DE" dirty="0" err="1">
                <a:solidFill>
                  <a:schemeClr val="tx1"/>
                </a:solidFill>
              </a:rPr>
              <a:t>Capabilities</a:t>
            </a:r>
            <a:r>
              <a:rPr lang="de-DE" dirty="0">
                <a:solidFill>
                  <a:schemeClr val="tx1"/>
                </a:solidFill>
              </a:rPr>
              <a:t> morgen </a:t>
            </a:r>
            <a:r>
              <a:rPr lang="de-DE" sz="1000" dirty="0">
                <a:solidFill>
                  <a:schemeClr val="tx1"/>
                </a:solidFill>
              </a:rPr>
              <a:t>(https://www. neuro-pulse.de/</a:t>
            </a:r>
            <a:r>
              <a:rPr lang="de-DE" sz="1000" dirty="0" err="1">
                <a:solidFill>
                  <a:schemeClr val="tx1"/>
                </a:solidFill>
              </a:rPr>
              <a:t>blogs</a:t>
            </a:r>
            <a:r>
              <a:rPr lang="de-DE" sz="1000" dirty="0">
                <a:solidFill>
                  <a:schemeClr val="tx1"/>
                </a:solidFill>
              </a:rPr>
              <a:t>/</a:t>
            </a:r>
            <a:r>
              <a:rPr lang="de-DE" sz="1000" dirty="0" err="1">
                <a:solidFill>
                  <a:schemeClr val="tx1"/>
                </a:solidFill>
              </a:rPr>
              <a:t>trends</a:t>
            </a:r>
            <a:r>
              <a:rPr lang="de-DE" sz="1000" dirty="0">
                <a:solidFill>
                  <a:schemeClr val="tx1"/>
                </a:solidFill>
              </a:rPr>
              <a:t>/future-skills-2026-kompetenzen-arbeitsmarkt/)</a:t>
            </a:r>
            <a:endParaRPr lang="de-DE" dirty="0">
              <a:solidFill>
                <a:schemeClr val="tx1"/>
              </a:solidFill>
            </a:endParaRPr>
          </a:p>
        </p:txBody>
      </p:sp>
      <p:sp>
        <p:nvSpPr>
          <p:cNvPr id="6" name="TextBox 5">
            <a:extLst>
              <a:ext uri="{FF2B5EF4-FFF2-40B4-BE49-F238E27FC236}">
                <a16:creationId xmlns:a16="http://schemas.microsoft.com/office/drawing/2014/main" id="{2FA3691E-AED8-4B99-9AF5-F7E11BFD480F}"/>
              </a:ext>
            </a:extLst>
          </p:cNvPr>
          <p:cNvSpPr txBox="1"/>
          <p:nvPr/>
        </p:nvSpPr>
        <p:spPr>
          <a:xfrm>
            <a:off x="4341090" y="3713018"/>
            <a:ext cx="1874982" cy="3062377"/>
          </a:xfrm>
          <a:prstGeom prst="rect">
            <a:avLst/>
          </a:prstGeom>
          <a:noFill/>
        </p:spPr>
        <p:txBody>
          <a:bodyPr wrap="square" lIns="0" tIns="0" rIns="0" bIns="0" rtlCol="0">
            <a:spAutoFit/>
          </a:bodyPr>
          <a:lstStyle/>
          <a:p>
            <a:pPr fontAlgn="base">
              <a:spcBef>
                <a:spcPts val="600"/>
              </a:spcBef>
              <a:spcAft>
                <a:spcPct val="0"/>
              </a:spcAft>
              <a:buClr>
                <a:srgbClr val="F0AB00"/>
              </a:buClr>
              <a:buSzPct val="80000"/>
            </a:pPr>
            <a:r>
              <a:rPr lang="de-DE" sz="19900" kern="0" dirty="0">
                <a:solidFill>
                  <a:schemeClr val="bg1"/>
                </a:solidFill>
                <a:ea typeface="Arial Unicode MS" pitchFamily="34" charset="-128"/>
                <a:cs typeface="Arial Unicode MS" pitchFamily="34" charset="-128"/>
              </a:rPr>
              <a:t>?</a:t>
            </a:r>
          </a:p>
        </p:txBody>
      </p:sp>
      <p:pic>
        <p:nvPicPr>
          <p:cNvPr id="3" name="Grafik 2">
            <a:extLst>
              <a:ext uri="{FF2B5EF4-FFF2-40B4-BE49-F238E27FC236}">
                <a16:creationId xmlns:a16="http://schemas.microsoft.com/office/drawing/2014/main" id="{409ECEB7-F7E5-47D3-96E7-C7D674431FC6}"/>
              </a:ext>
            </a:extLst>
          </p:cNvPr>
          <p:cNvPicPr>
            <a:picLocks noChangeAspect="1"/>
          </p:cNvPicPr>
          <p:nvPr/>
        </p:nvPicPr>
        <p:blipFill>
          <a:blip r:embed="rId3"/>
          <a:stretch>
            <a:fillRect/>
          </a:stretch>
        </p:blipFill>
        <p:spPr>
          <a:xfrm>
            <a:off x="685800" y="1568653"/>
            <a:ext cx="7543800" cy="4288730"/>
          </a:xfrm>
          <a:prstGeom prst="rect">
            <a:avLst/>
          </a:prstGeom>
        </p:spPr>
      </p:pic>
      <p:sp>
        <p:nvSpPr>
          <p:cNvPr id="5" name="Rechteck 4">
            <a:extLst>
              <a:ext uri="{FF2B5EF4-FFF2-40B4-BE49-F238E27FC236}">
                <a16:creationId xmlns:a16="http://schemas.microsoft.com/office/drawing/2014/main" id="{AD68E59B-057C-4F3A-9CD7-8A5C783BFFE5}"/>
              </a:ext>
            </a:extLst>
          </p:cNvPr>
          <p:cNvSpPr/>
          <p:nvPr/>
        </p:nvSpPr>
        <p:spPr bwMode="gray">
          <a:xfrm>
            <a:off x="122859" y="2305051"/>
            <a:ext cx="8898282" cy="2984296"/>
          </a:xfrm>
          <a:prstGeom prst="rect">
            <a:avLst/>
          </a:prstGeom>
          <a:solidFill>
            <a:schemeClr val="accent1"/>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de-DE" b="0" i="0" u="none" strike="noStrike" kern="0" cap="none" spc="0" normalizeH="0" baseline="0" noProof="0" dirty="0">
              <a:ln>
                <a:noFill/>
              </a:ln>
              <a:effectLst/>
              <a:uLnTx/>
              <a:uFillTx/>
              <a:ea typeface="Arial Unicode MS" pitchFamily="34" charset="-128"/>
              <a:cs typeface="Arial Unicode MS" pitchFamily="34" charset="-128"/>
            </a:endParaRPr>
          </a:p>
        </p:txBody>
      </p:sp>
      <p:pic>
        <p:nvPicPr>
          <p:cNvPr id="9" name="Grafik 8">
            <a:extLst>
              <a:ext uri="{FF2B5EF4-FFF2-40B4-BE49-F238E27FC236}">
                <a16:creationId xmlns:a16="http://schemas.microsoft.com/office/drawing/2014/main" id="{6ED46345-6167-4654-8F42-4ACFDC3736F2}"/>
              </a:ext>
            </a:extLst>
          </p:cNvPr>
          <p:cNvPicPr>
            <a:picLocks noChangeAspect="1"/>
          </p:cNvPicPr>
          <p:nvPr/>
        </p:nvPicPr>
        <p:blipFill rotWithShape="1">
          <a:blip r:embed="rId3"/>
          <a:srcRect l="24116" t="64032" r="5050"/>
          <a:stretch/>
        </p:blipFill>
        <p:spPr>
          <a:xfrm>
            <a:off x="209550" y="2495549"/>
            <a:ext cx="8610450" cy="2581275"/>
          </a:xfrm>
          <a:prstGeom prst="rect">
            <a:avLst/>
          </a:prstGeom>
        </p:spPr>
      </p:pic>
    </p:spTree>
    <p:extLst>
      <p:ext uri="{BB962C8B-B14F-4D97-AF65-F5344CB8AC3E}">
        <p14:creationId xmlns:p14="http://schemas.microsoft.com/office/powerpoint/2010/main" val="189083447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24000" y="211243"/>
            <a:ext cx="8496000" cy="756000"/>
          </a:xfrm>
        </p:spPr>
        <p:txBody>
          <a:bodyPr/>
          <a:lstStyle/>
          <a:p>
            <a:r>
              <a:rPr lang="de-DE" dirty="0">
                <a:solidFill>
                  <a:schemeClr val="tx1"/>
                </a:solidFill>
              </a:rPr>
              <a:t>SQ II: Digital </a:t>
            </a:r>
            <a:r>
              <a:rPr lang="de-DE" dirty="0" err="1">
                <a:solidFill>
                  <a:schemeClr val="tx1"/>
                </a:solidFill>
              </a:rPr>
              <a:t>Thinking</a:t>
            </a:r>
            <a:r>
              <a:rPr lang="de-DE" dirty="0">
                <a:solidFill>
                  <a:schemeClr val="tx1"/>
                </a:solidFill>
              </a:rPr>
              <a:t> &amp; Management</a:t>
            </a:r>
            <a:br>
              <a:rPr lang="de-DE" dirty="0">
                <a:solidFill>
                  <a:schemeClr val="tx1"/>
                </a:solidFill>
              </a:rPr>
            </a:br>
            <a:r>
              <a:rPr lang="de-DE" dirty="0">
                <a:solidFill>
                  <a:schemeClr val="tx1"/>
                </a:solidFill>
              </a:rPr>
              <a:t>https://www.zukunftsinstitut.de/dossier/megatrends/</a:t>
            </a:r>
          </a:p>
        </p:txBody>
      </p:sp>
      <p:sp>
        <p:nvSpPr>
          <p:cNvPr id="2" name="Oval 1">
            <a:extLst>
              <a:ext uri="{FF2B5EF4-FFF2-40B4-BE49-F238E27FC236}">
                <a16:creationId xmlns:a16="http://schemas.microsoft.com/office/drawing/2014/main" id="{7944524D-D647-4462-A2FB-6DFE34F15347}"/>
              </a:ext>
            </a:extLst>
          </p:cNvPr>
          <p:cNvSpPr/>
          <p:nvPr/>
        </p:nvSpPr>
        <p:spPr bwMode="gray">
          <a:xfrm>
            <a:off x="3448169" y="3204057"/>
            <a:ext cx="2363824" cy="1512109"/>
          </a:xfrm>
          <a:prstGeom prst="ellipse">
            <a:avLst/>
          </a:prstGeom>
          <a:solidFill>
            <a:schemeClr val="accent1"/>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3200" b="1" i="0" u="none" strike="noStrike" kern="0" cap="none" spc="0" normalizeH="0" baseline="0" noProof="0" dirty="0">
                <a:ln>
                  <a:noFill/>
                </a:ln>
                <a:effectLst/>
                <a:uLnTx/>
                <a:uFillTx/>
                <a:ea typeface="Arial Unicode MS" pitchFamily="34" charset="-128"/>
                <a:cs typeface="Arial Unicode MS" pitchFamily="34" charset="-128"/>
              </a:rPr>
              <a:t>Mega-Trends</a:t>
            </a:r>
          </a:p>
        </p:txBody>
      </p:sp>
      <p:sp>
        <p:nvSpPr>
          <p:cNvPr id="8" name="Oval 7">
            <a:extLst>
              <a:ext uri="{FF2B5EF4-FFF2-40B4-BE49-F238E27FC236}">
                <a16:creationId xmlns:a16="http://schemas.microsoft.com/office/drawing/2014/main" id="{A212FA2A-E009-4BE5-962A-0B7ACAEBB5F4}"/>
              </a:ext>
            </a:extLst>
          </p:cNvPr>
          <p:cNvSpPr/>
          <p:nvPr/>
        </p:nvSpPr>
        <p:spPr bwMode="gray">
          <a:xfrm>
            <a:off x="305830" y="2191894"/>
            <a:ext cx="3262223" cy="825455"/>
          </a:xfrm>
          <a:prstGeom prst="ellipse">
            <a:avLst/>
          </a:prstGeom>
          <a:solidFill>
            <a:schemeClr val="accent4">
              <a:lumMod val="60000"/>
              <a:lumOff val="40000"/>
            </a:schemeClr>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2400" b="1" i="0" u="none" strike="noStrike" kern="0" cap="none" spc="0" normalizeH="0" baseline="0" noProof="0" dirty="0">
                <a:ln>
                  <a:noFill/>
                </a:ln>
                <a:effectLst/>
                <a:uLnTx/>
                <a:uFillTx/>
                <a:ea typeface="Arial Unicode MS" pitchFamily="34" charset="-128"/>
                <a:cs typeface="Arial Unicode MS" pitchFamily="34" charset="-128"/>
              </a:rPr>
              <a:t>Urbanisierung</a:t>
            </a:r>
          </a:p>
        </p:txBody>
      </p:sp>
      <p:sp>
        <p:nvSpPr>
          <p:cNvPr id="13" name="Oval 12">
            <a:extLst>
              <a:ext uri="{FF2B5EF4-FFF2-40B4-BE49-F238E27FC236}">
                <a16:creationId xmlns:a16="http://schemas.microsoft.com/office/drawing/2014/main" id="{4B6E21D8-14B1-41D1-96AD-0A52E32C98D1}"/>
              </a:ext>
            </a:extLst>
          </p:cNvPr>
          <p:cNvSpPr/>
          <p:nvPr/>
        </p:nvSpPr>
        <p:spPr bwMode="gray">
          <a:xfrm>
            <a:off x="305830" y="3955325"/>
            <a:ext cx="3262223" cy="825455"/>
          </a:xfrm>
          <a:prstGeom prst="ellipse">
            <a:avLst/>
          </a:prstGeom>
          <a:solidFill>
            <a:schemeClr val="accent4">
              <a:lumMod val="60000"/>
              <a:lumOff val="40000"/>
            </a:schemeClr>
          </a:solidFill>
          <a:ln w="6350" algn="ctr">
            <a:noFill/>
            <a:miter lim="800000"/>
            <a:headEnd/>
            <a:tailEnd/>
          </a:ln>
        </p:spPr>
        <p:txBody>
          <a:bodyPr lIns="90000" tIns="72000" rIns="90000" bIns="72000" rtlCol="0" anchor="ctr"/>
          <a:lstStyle/>
          <a:p>
            <a:pPr algn="ctr" fontAlgn="base">
              <a:spcBef>
                <a:spcPct val="50000"/>
              </a:spcBef>
              <a:spcAft>
                <a:spcPct val="0"/>
              </a:spcAft>
              <a:buClr>
                <a:srgbClr val="F0AB00"/>
              </a:buClr>
              <a:buSzPct val="80000"/>
            </a:pPr>
            <a:r>
              <a:rPr lang="de-DE" sz="2400" b="1" kern="0" dirty="0">
                <a:ea typeface="Arial Unicode MS" pitchFamily="34" charset="-128"/>
                <a:cs typeface="Arial Unicode MS" pitchFamily="34" charset="-128"/>
              </a:rPr>
              <a:t>Gesundheit</a:t>
            </a:r>
            <a:endParaRPr kumimoji="0" lang="de-DE" sz="2400" b="1"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14" name="Oval 13">
            <a:extLst>
              <a:ext uri="{FF2B5EF4-FFF2-40B4-BE49-F238E27FC236}">
                <a16:creationId xmlns:a16="http://schemas.microsoft.com/office/drawing/2014/main" id="{11FE77E5-A61D-4E18-8414-DA827B6E9956}"/>
              </a:ext>
            </a:extLst>
          </p:cNvPr>
          <p:cNvSpPr/>
          <p:nvPr/>
        </p:nvSpPr>
        <p:spPr bwMode="gray">
          <a:xfrm>
            <a:off x="305830" y="4851386"/>
            <a:ext cx="3262223" cy="825455"/>
          </a:xfrm>
          <a:prstGeom prst="ellipse">
            <a:avLst/>
          </a:prstGeom>
          <a:solidFill>
            <a:schemeClr val="accent4">
              <a:lumMod val="60000"/>
              <a:lumOff val="40000"/>
            </a:schemeClr>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2400" b="1" i="0" u="none" strike="noStrike" kern="0" cap="none" spc="0" normalizeH="0" baseline="0" noProof="0" dirty="0">
                <a:ln>
                  <a:noFill/>
                </a:ln>
                <a:effectLst/>
                <a:uLnTx/>
                <a:uFillTx/>
                <a:ea typeface="Arial Unicode MS" pitchFamily="34" charset="-128"/>
                <a:cs typeface="Arial Unicode MS" pitchFamily="34" charset="-128"/>
              </a:rPr>
              <a:t>Neo-Ökologie</a:t>
            </a:r>
          </a:p>
        </p:txBody>
      </p:sp>
      <p:sp>
        <p:nvSpPr>
          <p:cNvPr id="15" name="Oval 14">
            <a:extLst>
              <a:ext uri="{FF2B5EF4-FFF2-40B4-BE49-F238E27FC236}">
                <a16:creationId xmlns:a16="http://schemas.microsoft.com/office/drawing/2014/main" id="{8A7E0E36-5F1A-4C72-9A09-CE47452CEBD2}"/>
              </a:ext>
            </a:extLst>
          </p:cNvPr>
          <p:cNvSpPr/>
          <p:nvPr/>
        </p:nvSpPr>
        <p:spPr bwMode="gray">
          <a:xfrm>
            <a:off x="305830" y="3077826"/>
            <a:ext cx="3262223" cy="825455"/>
          </a:xfrm>
          <a:prstGeom prst="ellipse">
            <a:avLst/>
          </a:prstGeom>
          <a:solidFill>
            <a:schemeClr val="accent4">
              <a:lumMod val="60000"/>
              <a:lumOff val="40000"/>
            </a:schemeClr>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2400" b="1" i="0" u="none" strike="noStrike" kern="0" cap="none" spc="0" normalizeH="0" baseline="0" noProof="0" dirty="0">
                <a:ln>
                  <a:noFill/>
                </a:ln>
                <a:effectLst/>
                <a:uLnTx/>
                <a:uFillTx/>
                <a:ea typeface="Arial Unicode MS" pitchFamily="34" charset="-128"/>
                <a:cs typeface="Arial Unicode MS" pitchFamily="34" charset="-128"/>
              </a:rPr>
              <a:t>Konnektivität</a:t>
            </a:r>
          </a:p>
        </p:txBody>
      </p:sp>
      <p:sp>
        <p:nvSpPr>
          <p:cNvPr id="16" name="Oval 15">
            <a:extLst>
              <a:ext uri="{FF2B5EF4-FFF2-40B4-BE49-F238E27FC236}">
                <a16:creationId xmlns:a16="http://schemas.microsoft.com/office/drawing/2014/main" id="{1AC3AEC0-2B05-411A-8134-53AA5A1AC36F}"/>
              </a:ext>
            </a:extLst>
          </p:cNvPr>
          <p:cNvSpPr/>
          <p:nvPr/>
        </p:nvSpPr>
        <p:spPr bwMode="gray">
          <a:xfrm>
            <a:off x="305831" y="5716941"/>
            <a:ext cx="3937924" cy="825455"/>
          </a:xfrm>
          <a:prstGeom prst="ellipse">
            <a:avLst/>
          </a:prstGeom>
          <a:solidFill>
            <a:schemeClr val="accent4">
              <a:lumMod val="60000"/>
              <a:lumOff val="40000"/>
            </a:schemeClr>
          </a:solidFill>
          <a:ln w="6350" algn="ctr">
            <a:noFill/>
            <a:miter lim="800000"/>
            <a:headEnd/>
            <a:tailEnd/>
          </a:ln>
        </p:spPr>
        <p:txBody>
          <a:bodyPr lIns="90000" tIns="72000" rIns="90000" bIns="72000" rtlCol="0" anchor="ctr"/>
          <a:lstStyle/>
          <a:p>
            <a:pPr algn="ctr" fontAlgn="base">
              <a:spcBef>
                <a:spcPct val="50000"/>
              </a:spcBef>
              <a:spcAft>
                <a:spcPct val="0"/>
              </a:spcAft>
              <a:buClr>
                <a:srgbClr val="F0AB00"/>
              </a:buClr>
              <a:buSzPct val="80000"/>
            </a:pPr>
            <a:r>
              <a:rPr lang="de-DE" sz="2400" b="1" kern="0" dirty="0">
                <a:ea typeface="Arial Unicode MS" pitchFamily="34" charset="-128"/>
                <a:cs typeface="Arial Unicode MS" pitchFamily="34" charset="-128"/>
              </a:rPr>
              <a:t>Individualisierung</a:t>
            </a:r>
          </a:p>
        </p:txBody>
      </p:sp>
      <p:sp>
        <p:nvSpPr>
          <p:cNvPr id="17" name="Oval 16">
            <a:extLst>
              <a:ext uri="{FF2B5EF4-FFF2-40B4-BE49-F238E27FC236}">
                <a16:creationId xmlns:a16="http://schemas.microsoft.com/office/drawing/2014/main" id="{E272183C-92C4-4D6E-90A0-D0AA4670BFA7}"/>
              </a:ext>
            </a:extLst>
          </p:cNvPr>
          <p:cNvSpPr/>
          <p:nvPr/>
        </p:nvSpPr>
        <p:spPr bwMode="gray">
          <a:xfrm>
            <a:off x="305830" y="1320997"/>
            <a:ext cx="3262223" cy="825455"/>
          </a:xfrm>
          <a:prstGeom prst="ellipse">
            <a:avLst/>
          </a:prstGeom>
          <a:solidFill>
            <a:schemeClr val="accent4">
              <a:lumMod val="60000"/>
              <a:lumOff val="40000"/>
            </a:schemeClr>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2400" b="1" i="0" u="none" strike="noStrike" kern="0" cap="none" spc="0" normalizeH="0" baseline="0" noProof="0" dirty="0">
                <a:ln>
                  <a:noFill/>
                </a:ln>
                <a:effectLst/>
                <a:uLnTx/>
                <a:uFillTx/>
                <a:ea typeface="Arial Unicode MS" pitchFamily="34" charset="-128"/>
                <a:cs typeface="Arial Unicode MS" pitchFamily="34" charset="-128"/>
              </a:rPr>
              <a:t>Wissenskultur</a:t>
            </a:r>
          </a:p>
        </p:txBody>
      </p:sp>
      <p:sp>
        <p:nvSpPr>
          <p:cNvPr id="19" name="Oval 18">
            <a:extLst>
              <a:ext uri="{FF2B5EF4-FFF2-40B4-BE49-F238E27FC236}">
                <a16:creationId xmlns:a16="http://schemas.microsoft.com/office/drawing/2014/main" id="{21200B89-8002-4CF1-A7F4-6F44B50DCD82}"/>
              </a:ext>
            </a:extLst>
          </p:cNvPr>
          <p:cNvSpPr/>
          <p:nvPr/>
        </p:nvSpPr>
        <p:spPr bwMode="gray">
          <a:xfrm>
            <a:off x="5692108" y="2191894"/>
            <a:ext cx="3262223" cy="825455"/>
          </a:xfrm>
          <a:prstGeom prst="ellipse">
            <a:avLst/>
          </a:prstGeom>
          <a:solidFill>
            <a:schemeClr val="accent4">
              <a:lumMod val="60000"/>
              <a:lumOff val="40000"/>
            </a:schemeClr>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2400" b="1" i="0" u="none" strike="noStrike" kern="0" cap="none" spc="0" normalizeH="0" baseline="0" noProof="0" dirty="0" err="1">
                <a:ln>
                  <a:noFill/>
                </a:ln>
                <a:effectLst/>
                <a:uLnTx/>
                <a:uFillTx/>
                <a:ea typeface="Arial Unicode MS" pitchFamily="34" charset="-128"/>
                <a:cs typeface="Arial Unicode MS" pitchFamily="34" charset="-128"/>
              </a:rPr>
              <a:t>Silver</a:t>
            </a:r>
            <a:r>
              <a:rPr kumimoji="0" lang="de-DE" sz="2400" b="1" i="0" u="none" strike="noStrike" kern="0" cap="none" spc="0" normalizeH="0" baseline="0" noProof="0" dirty="0">
                <a:ln>
                  <a:noFill/>
                </a:ln>
                <a:effectLst/>
                <a:uLnTx/>
                <a:uFillTx/>
                <a:ea typeface="Arial Unicode MS" pitchFamily="34" charset="-128"/>
                <a:cs typeface="Arial Unicode MS" pitchFamily="34" charset="-128"/>
              </a:rPr>
              <a:t> Society</a:t>
            </a:r>
          </a:p>
        </p:txBody>
      </p:sp>
      <p:sp>
        <p:nvSpPr>
          <p:cNvPr id="20" name="Oval 19">
            <a:extLst>
              <a:ext uri="{FF2B5EF4-FFF2-40B4-BE49-F238E27FC236}">
                <a16:creationId xmlns:a16="http://schemas.microsoft.com/office/drawing/2014/main" id="{D173E961-5B4A-43CB-BE38-56FB35248E17}"/>
              </a:ext>
            </a:extLst>
          </p:cNvPr>
          <p:cNvSpPr/>
          <p:nvPr/>
        </p:nvSpPr>
        <p:spPr bwMode="gray">
          <a:xfrm>
            <a:off x="5692108" y="3955325"/>
            <a:ext cx="3262223" cy="825455"/>
          </a:xfrm>
          <a:prstGeom prst="ellipse">
            <a:avLst/>
          </a:prstGeom>
          <a:solidFill>
            <a:schemeClr val="accent4">
              <a:lumMod val="60000"/>
              <a:lumOff val="40000"/>
            </a:schemeClr>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2400" b="1" i="0" u="none" strike="noStrike" kern="0" cap="none" spc="0" normalizeH="0" baseline="0" noProof="0" dirty="0">
                <a:ln>
                  <a:noFill/>
                </a:ln>
                <a:effectLst/>
                <a:uLnTx/>
                <a:uFillTx/>
                <a:ea typeface="Arial Unicode MS" pitchFamily="34" charset="-128"/>
                <a:cs typeface="Arial Unicode MS" pitchFamily="34" charset="-128"/>
              </a:rPr>
              <a:t>Mobilität</a:t>
            </a:r>
          </a:p>
        </p:txBody>
      </p:sp>
      <p:sp>
        <p:nvSpPr>
          <p:cNvPr id="21" name="Oval 20">
            <a:extLst>
              <a:ext uri="{FF2B5EF4-FFF2-40B4-BE49-F238E27FC236}">
                <a16:creationId xmlns:a16="http://schemas.microsoft.com/office/drawing/2014/main" id="{521F8E40-2945-48B5-A74F-C5C13D61CE04}"/>
              </a:ext>
            </a:extLst>
          </p:cNvPr>
          <p:cNvSpPr/>
          <p:nvPr/>
        </p:nvSpPr>
        <p:spPr bwMode="gray">
          <a:xfrm>
            <a:off x="5692108" y="4851386"/>
            <a:ext cx="3262223" cy="825455"/>
          </a:xfrm>
          <a:prstGeom prst="ellipse">
            <a:avLst/>
          </a:prstGeom>
          <a:solidFill>
            <a:schemeClr val="accent4">
              <a:lumMod val="60000"/>
              <a:lumOff val="40000"/>
            </a:schemeClr>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2400" b="1" i="0" u="none" strike="noStrike" kern="0" cap="none" spc="0" normalizeH="0" baseline="0" noProof="0" dirty="0">
                <a:ln>
                  <a:noFill/>
                </a:ln>
                <a:effectLst/>
                <a:uLnTx/>
                <a:uFillTx/>
                <a:ea typeface="Arial Unicode MS" pitchFamily="34" charset="-128"/>
                <a:cs typeface="Arial Unicode MS" pitchFamily="34" charset="-128"/>
              </a:rPr>
              <a:t>Sicherheit</a:t>
            </a:r>
          </a:p>
        </p:txBody>
      </p:sp>
      <p:sp>
        <p:nvSpPr>
          <p:cNvPr id="22" name="Oval 21">
            <a:extLst>
              <a:ext uri="{FF2B5EF4-FFF2-40B4-BE49-F238E27FC236}">
                <a16:creationId xmlns:a16="http://schemas.microsoft.com/office/drawing/2014/main" id="{661DD766-0B62-409C-962F-F539A0FBE0F8}"/>
              </a:ext>
            </a:extLst>
          </p:cNvPr>
          <p:cNvSpPr/>
          <p:nvPr/>
        </p:nvSpPr>
        <p:spPr bwMode="gray">
          <a:xfrm>
            <a:off x="5692108" y="3077826"/>
            <a:ext cx="3262223" cy="825455"/>
          </a:xfrm>
          <a:prstGeom prst="ellipse">
            <a:avLst/>
          </a:prstGeom>
          <a:solidFill>
            <a:schemeClr val="accent4">
              <a:lumMod val="60000"/>
              <a:lumOff val="40000"/>
            </a:schemeClr>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2400" b="1" i="0" u="none" strike="noStrike" kern="0" cap="none" spc="0" normalizeH="0" baseline="0" noProof="0" dirty="0">
                <a:ln>
                  <a:noFill/>
                </a:ln>
                <a:effectLst/>
                <a:uLnTx/>
                <a:uFillTx/>
                <a:ea typeface="Arial Unicode MS" pitchFamily="34" charset="-128"/>
                <a:cs typeface="Arial Unicode MS" pitchFamily="34" charset="-128"/>
              </a:rPr>
              <a:t>New Work</a:t>
            </a:r>
          </a:p>
        </p:txBody>
      </p:sp>
      <p:sp>
        <p:nvSpPr>
          <p:cNvPr id="23" name="Oval 22">
            <a:extLst>
              <a:ext uri="{FF2B5EF4-FFF2-40B4-BE49-F238E27FC236}">
                <a16:creationId xmlns:a16="http://schemas.microsoft.com/office/drawing/2014/main" id="{C61103A5-DF4B-49C7-BF03-8F6BDE403E66}"/>
              </a:ext>
            </a:extLst>
          </p:cNvPr>
          <p:cNvSpPr/>
          <p:nvPr/>
        </p:nvSpPr>
        <p:spPr bwMode="gray">
          <a:xfrm>
            <a:off x="5692108" y="5716941"/>
            <a:ext cx="3262223" cy="825455"/>
          </a:xfrm>
          <a:prstGeom prst="ellipse">
            <a:avLst/>
          </a:prstGeom>
          <a:solidFill>
            <a:schemeClr val="accent4">
              <a:lumMod val="60000"/>
              <a:lumOff val="40000"/>
            </a:schemeClr>
          </a:solidFill>
          <a:ln w="6350" algn="ctr">
            <a:noFill/>
            <a:miter lim="800000"/>
            <a:headEnd/>
            <a:tailEnd/>
          </a:ln>
        </p:spPr>
        <p:txBody>
          <a:bodyPr lIns="90000" tIns="72000" rIns="90000" bIns="72000" rtlCol="0" anchor="ctr"/>
          <a:lstStyle/>
          <a:p>
            <a:pPr algn="ctr" fontAlgn="base">
              <a:spcBef>
                <a:spcPct val="50000"/>
              </a:spcBef>
              <a:spcAft>
                <a:spcPct val="0"/>
              </a:spcAft>
              <a:buClr>
                <a:srgbClr val="F0AB00"/>
              </a:buClr>
              <a:buSzPct val="80000"/>
            </a:pPr>
            <a:r>
              <a:rPr lang="de-DE" sz="2400" b="1" kern="0" dirty="0">
                <a:ea typeface="Arial Unicode MS" pitchFamily="34" charset="-128"/>
                <a:cs typeface="Arial Unicode MS" pitchFamily="34" charset="-128"/>
              </a:rPr>
              <a:t>Gender </a:t>
            </a:r>
            <a:r>
              <a:rPr lang="de-DE" sz="2400" b="1" kern="0" dirty="0" err="1">
                <a:ea typeface="Arial Unicode MS" pitchFamily="34" charset="-128"/>
                <a:cs typeface="Arial Unicode MS" pitchFamily="34" charset="-128"/>
              </a:rPr>
              <a:t>Shift</a:t>
            </a:r>
            <a:endParaRPr lang="de-DE" sz="2400" b="1" kern="0" dirty="0">
              <a:ea typeface="Arial Unicode MS" pitchFamily="34" charset="-128"/>
              <a:cs typeface="Arial Unicode MS" pitchFamily="34" charset="-128"/>
            </a:endParaRPr>
          </a:p>
        </p:txBody>
      </p:sp>
      <p:sp>
        <p:nvSpPr>
          <p:cNvPr id="24" name="Oval 23">
            <a:extLst>
              <a:ext uri="{FF2B5EF4-FFF2-40B4-BE49-F238E27FC236}">
                <a16:creationId xmlns:a16="http://schemas.microsoft.com/office/drawing/2014/main" id="{44F84012-F345-4F20-9770-7A7A7D66EFD9}"/>
              </a:ext>
            </a:extLst>
          </p:cNvPr>
          <p:cNvSpPr/>
          <p:nvPr/>
        </p:nvSpPr>
        <p:spPr bwMode="gray">
          <a:xfrm>
            <a:off x="5575948" y="1320997"/>
            <a:ext cx="3378383" cy="825455"/>
          </a:xfrm>
          <a:prstGeom prst="ellipse">
            <a:avLst/>
          </a:prstGeom>
          <a:solidFill>
            <a:schemeClr val="accent4">
              <a:lumMod val="60000"/>
              <a:lumOff val="40000"/>
            </a:schemeClr>
          </a:solidFill>
          <a:ln w="6350" algn="ctr">
            <a:noFill/>
            <a:miter lim="800000"/>
            <a:headEnd/>
            <a:tailEnd/>
          </a:ln>
        </p:spPr>
        <p:txBody>
          <a:bodyPr lIns="90000" tIns="72000" rIns="90000" bIns="72000" rtlCol="0" anchor="ctr"/>
          <a:lstStyle/>
          <a:p>
            <a:pPr algn="ctr" fontAlgn="base">
              <a:spcBef>
                <a:spcPct val="50000"/>
              </a:spcBef>
              <a:spcAft>
                <a:spcPct val="0"/>
              </a:spcAft>
              <a:buClr>
                <a:srgbClr val="F0AB00"/>
              </a:buClr>
              <a:buSzPct val="80000"/>
            </a:pPr>
            <a:r>
              <a:rPr lang="de-DE" sz="2400" b="1" kern="0" dirty="0">
                <a:ea typeface="Arial Unicode MS" pitchFamily="34" charset="-128"/>
                <a:cs typeface="Arial Unicode MS" pitchFamily="34" charset="-128"/>
              </a:rPr>
              <a:t>Globalisierung</a:t>
            </a:r>
            <a:endParaRPr kumimoji="0" lang="de-DE" sz="2400" b="1"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18" name="Oval 17">
            <a:extLst>
              <a:ext uri="{FF2B5EF4-FFF2-40B4-BE49-F238E27FC236}">
                <a16:creationId xmlns:a16="http://schemas.microsoft.com/office/drawing/2014/main" id="{4F596750-BD88-425B-AEEB-452003FA9609}"/>
              </a:ext>
            </a:extLst>
          </p:cNvPr>
          <p:cNvSpPr/>
          <p:nvPr/>
        </p:nvSpPr>
        <p:spPr bwMode="gray">
          <a:xfrm>
            <a:off x="1730489" y="1320997"/>
            <a:ext cx="5983296" cy="5114971"/>
          </a:xfrm>
          <a:prstGeom prst="ellipse">
            <a:avLst/>
          </a:prstGeom>
          <a:solidFill>
            <a:schemeClr val="tx2">
              <a:lumMod val="40000"/>
              <a:lumOff val="60000"/>
            </a:schemeClr>
          </a:solidFill>
          <a:ln w="6350" algn="ctr">
            <a:noFill/>
            <a:miter lim="800000"/>
            <a:headEnd/>
            <a:tailEnd/>
          </a:ln>
        </p:spPr>
        <p:txBody>
          <a:bodyPr lIns="90000" tIns="72000" rIns="90000" bIns="72000" rtlCol="0" anchor="ctr"/>
          <a:lstStyle/>
          <a:p>
            <a:pPr algn="ctr" fontAlgn="base">
              <a:spcBef>
                <a:spcPct val="50000"/>
              </a:spcBef>
              <a:spcAft>
                <a:spcPct val="0"/>
              </a:spcAft>
              <a:buClr>
                <a:srgbClr val="F0AB00"/>
              </a:buClr>
              <a:buSzPct val="80000"/>
            </a:pPr>
            <a:r>
              <a:rPr lang="de-DE" sz="4000" b="1" kern="0" dirty="0">
                <a:solidFill>
                  <a:schemeClr val="accent1"/>
                </a:solidFill>
                <a:ea typeface="Arial Unicode MS" pitchFamily="34" charset="-128"/>
                <a:cs typeface="Arial Unicode MS" pitchFamily="34" charset="-128"/>
              </a:rPr>
              <a:t>Digital </a:t>
            </a:r>
            <a:r>
              <a:rPr lang="de-DE" sz="4000" b="1" kern="0" dirty="0" err="1">
                <a:solidFill>
                  <a:schemeClr val="accent1"/>
                </a:solidFill>
                <a:ea typeface="Arial Unicode MS" pitchFamily="34" charset="-128"/>
                <a:cs typeface="Arial Unicode MS" pitchFamily="34" charset="-128"/>
              </a:rPr>
              <a:t>Capabilities</a:t>
            </a:r>
            <a:endParaRPr lang="de-DE" sz="4000" b="1" kern="0" dirty="0">
              <a:solidFill>
                <a:schemeClr val="accent1"/>
              </a:solidFill>
              <a:ea typeface="Arial Unicode MS" pitchFamily="34" charset="-128"/>
              <a:cs typeface="Arial Unicode MS" pitchFamily="34" charset="-128"/>
            </a:endParaRPr>
          </a:p>
          <a:p>
            <a:pPr algn="ctr" fontAlgn="base">
              <a:spcBef>
                <a:spcPct val="50000"/>
              </a:spcBef>
              <a:spcAft>
                <a:spcPct val="0"/>
              </a:spcAft>
              <a:buClr>
                <a:srgbClr val="F0AB00"/>
              </a:buClr>
              <a:buSzPct val="80000"/>
            </a:pPr>
            <a:r>
              <a:rPr lang="de-DE" sz="2400" b="1" kern="0" dirty="0">
                <a:ea typeface="Arial Unicode MS" pitchFamily="34" charset="-128"/>
                <a:cs typeface="Arial Unicode MS" pitchFamily="34" charset="-128"/>
              </a:rPr>
              <a:t>für</a:t>
            </a:r>
          </a:p>
          <a:p>
            <a:pPr algn="ctr" fontAlgn="base">
              <a:spcBef>
                <a:spcPct val="50000"/>
              </a:spcBef>
              <a:spcAft>
                <a:spcPct val="0"/>
              </a:spcAft>
              <a:buClr>
                <a:srgbClr val="F0AB00"/>
              </a:buClr>
              <a:buSzPct val="80000"/>
            </a:pPr>
            <a:r>
              <a:rPr lang="de-DE" sz="2800" b="1" kern="0" dirty="0">
                <a:ea typeface="Arial Unicode MS" pitchFamily="34" charset="-128"/>
                <a:cs typeface="Arial Unicode MS" pitchFamily="34" charset="-128"/>
              </a:rPr>
              <a:t>Wirtschaftsinformatiker </a:t>
            </a:r>
          </a:p>
          <a:p>
            <a:pPr algn="ctr" fontAlgn="base">
              <a:spcBef>
                <a:spcPct val="50000"/>
              </a:spcBef>
              <a:spcAft>
                <a:spcPct val="0"/>
              </a:spcAft>
              <a:buClr>
                <a:srgbClr val="F0AB00"/>
              </a:buClr>
              <a:buSzPct val="80000"/>
            </a:pPr>
            <a:r>
              <a:rPr lang="de-DE" sz="4800" b="1" kern="0" dirty="0">
                <a:ea typeface="Arial Unicode MS" pitchFamily="34" charset="-128"/>
                <a:cs typeface="Arial Unicode MS" pitchFamily="34" charset="-128"/>
              </a:rPr>
              <a:t>?</a:t>
            </a:r>
          </a:p>
        </p:txBody>
      </p:sp>
    </p:spTree>
    <p:extLst>
      <p:ext uri="{BB962C8B-B14F-4D97-AF65-F5344CB8AC3E}">
        <p14:creationId xmlns:p14="http://schemas.microsoft.com/office/powerpoint/2010/main" val="159700473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de-DE" dirty="0">
                <a:solidFill>
                  <a:schemeClr val="tx1"/>
                </a:solidFill>
              </a:rPr>
              <a:t>SQ II: Digital </a:t>
            </a:r>
            <a:r>
              <a:rPr lang="de-DE" dirty="0" err="1">
                <a:solidFill>
                  <a:schemeClr val="tx1"/>
                </a:solidFill>
              </a:rPr>
              <a:t>Thinking</a:t>
            </a:r>
            <a:r>
              <a:rPr lang="de-DE" dirty="0">
                <a:solidFill>
                  <a:schemeClr val="tx1"/>
                </a:solidFill>
              </a:rPr>
              <a:t> &amp; Management</a:t>
            </a:r>
            <a:br>
              <a:rPr lang="de-DE" dirty="0">
                <a:solidFill>
                  <a:schemeClr val="tx1"/>
                </a:solidFill>
              </a:rPr>
            </a:br>
            <a:r>
              <a:rPr lang="de-DE" dirty="0" err="1">
                <a:solidFill>
                  <a:schemeClr val="tx1"/>
                </a:solidFill>
              </a:rPr>
              <a:t>Capabilities</a:t>
            </a:r>
            <a:r>
              <a:rPr lang="de-DE" dirty="0">
                <a:solidFill>
                  <a:schemeClr val="tx1"/>
                </a:solidFill>
              </a:rPr>
              <a:t> morgen: Vorschlag VL-Themen</a:t>
            </a:r>
            <a:endParaRPr lang="de-DE" dirty="0"/>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2545" y="3596724"/>
            <a:ext cx="1560576" cy="524256"/>
          </a:xfrm>
          <a:prstGeom prst="rect">
            <a:avLst/>
          </a:prstGeom>
        </p:spPr>
      </p:pic>
      <p:pic>
        <p:nvPicPr>
          <p:cNvPr id="6" name="Picture 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62679" y="2511628"/>
            <a:ext cx="1260308" cy="834288"/>
          </a:xfrm>
          <a:prstGeom prst="rect">
            <a:avLst/>
          </a:prstGeom>
        </p:spPr>
      </p:pic>
      <p:pic>
        <p:nvPicPr>
          <p:cNvPr id="15" name="Picture 1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00451" y="1525124"/>
            <a:ext cx="1384765" cy="830318"/>
          </a:xfrm>
          <a:prstGeom prst="rect">
            <a:avLst/>
          </a:prstGeom>
        </p:spPr>
      </p:pic>
      <p:pic>
        <p:nvPicPr>
          <p:cNvPr id="2050" name="Picture 2" descr="Bildergebnis für agile manifesto">
            <a:extLst>
              <a:ext uri="{FF2B5EF4-FFF2-40B4-BE49-F238E27FC236}">
                <a16:creationId xmlns:a16="http://schemas.microsoft.com/office/drawing/2014/main" id="{B0B5C506-C8A4-49C3-B14E-5260CBCF6A89}"/>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20267" y="4395644"/>
            <a:ext cx="1385623" cy="805634"/>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Bildergebnis für emotional intelligence">
            <a:extLst>
              <a:ext uri="{FF2B5EF4-FFF2-40B4-BE49-F238E27FC236}">
                <a16:creationId xmlns:a16="http://schemas.microsoft.com/office/drawing/2014/main" id="{2D4D7780-A006-4611-853A-AA83752D0C25}"/>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824053" y="5630779"/>
            <a:ext cx="1261163" cy="71663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2" name="Table 1">
            <a:extLst>
              <a:ext uri="{FF2B5EF4-FFF2-40B4-BE49-F238E27FC236}">
                <a16:creationId xmlns:a16="http://schemas.microsoft.com/office/drawing/2014/main" id="{50E22733-0F4C-4548-BDC3-7D49C26F70C4}"/>
              </a:ext>
            </a:extLst>
          </p:cNvPr>
          <p:cNvGraphicFramePr>
            <a:graphicFrameLocks noGrp="1"/>
          </p:cNvGraphicFramePr>
          <p:nvPr>
            <p:extLst>
              <p:ext uri="{D42A27DB-BD31-4B8C-83A1-F6EECF244321}">
                <p14:modId xmlns:p14="http://schemas.microsoft.com/office/powerpoint/2010/main" val="2700746686"/>
              </p:ext>
            </p:extLst>
          </p:nvPr>
        </p:nvGraphicFramePr>
        <p:xfrm>
          <a:off x="2406579" y="1429179"/>
          <a:ext cx="6615948" cy="4419600"/>
        </p:xfrm>
        <a:graphic>
          <a:graphicData uri="http://schemas.openxmlformats.org/drawingml/2006/table">
            <a:tbl>
              <a:tblPr firstRow="1" bandRow="1">
                <a:tableStyleId>{BC89EF96-8CEA-46FF-86C4-4CE0E7609802}</a:tableStyleId>
              </a:tblPr>
              <a:tblGrid>
                <a:gridCol w="1696707">
                  <a:extLst>
                    <a:ext uri="{9D8B030D-6E8A-4147-A177-3AD203B41FA5}">
                      <a16:colId xmlns:a16="http://schemas.microsoft.com/office/drawing/2014/main" val="19747259"/>
                    </a:ext>
                  </a:extLst>
                </a:gridCol>
                <a:gridCol w="4919241">
                  <a:extLst>
                    <a:ext uri="{9D8B030D-6E8A-4147-A177-3AD203B41FA5}">
                      <a16:colId xmlns:a16="http://schemas.microsoft.com/office/drawing/2014/main" val="2195378045"/>
                    </a:ext>
                  </a:extLst>
                </a:gridCol>
              </a:tblGrid>
              <a:tr h="370840">
                <a:tc>
                  <a:txBody>
                    <a:bodyPr/>
                    <a:lstStyle/>
                    <a:p>
                      <a:endParaRPr lang="de-DE" sz="1400" b="1" dirty="0"/>
                    </a:p>
                    <a:p>
                      <a:r>
                        <a:rPr lang="de-DE" sz="1400" b="1" dirty="0"/>
                        <a:t>Kommunikation</a:t>
                      </a:r>
                    </a:p>
                    <a:p>
                      <a:endParaRPr lang="de-DE" sz="1400" b="1" dirty="0"/>
                    </a:p>
                  </a:txBody>
                  <a:tcPr/>
                </a:tc>
                <a:tc>
                  <a:txBody>
                    <a:bodyPr/>
                    <a:lstStyle/>
                    <a:p>
                      <a:endParaRPr lang="de-DE" sz="1400" b="1" dirty="0"/>
                    </a:p>
                  </a:txBody>
                  <a:tcPr/>
                </a:tc>
                <a:extLst>
                  <a:ext uri="{0D108BD9-81ED-4DB2-BD59-A6C34878D82A}">
                    <a16:rowId xmlns:a16="http://schemas.microsoft.com/office/drawing/2014/main" val="3842286030"/>
                  </a:ext>
                </a:extLst>
              </a:tr>
              <a:tr h="370840">
                <a:tc>
                  <a:txBody>
                    <a:bodyPr/>
                    <a:lstStyle/>
                    <a:p>
                      <a:endParaRPr lang="de-DE" sz="1400" b="1" dirty="0"/>
                    </a:p>
                    <a:p>
                      <a:pPr marL="0" marR="0" lvl="0" indent="0" algn="l" defTabSz="914400" rtl="0" eaLnBrk="1" fontAlgn="auto" latinLnBrk="0" hangingPunct="1">
                        <a:lnSpc>
                          <a:spcPct val="100000"/>
                        </a:lnSpc>
                        <a:spcBef>
                          <a:spcPts val="0"/>
                        </a:spcBef>
                        <a:spcAft>
                          <a:spcPts val="0"/>
                        </a:spcAft>
                        <a:buClrTx/>
                        <a:buSzTx/>
                        <a:buFontTx/>
                        <a:buNone/>
                        <a:tabLst/>
                        <a:defRPr/>
                      </a:pPr>
                      <a:r>
                        <a:rPr lang="de-DE" sz="1400" b="1" dirty="0"/>
                        <a:t>Persönliche und soziale  Kompetenz</a:t>
                      </a:r>
                    </a:p>
                    <a:p>
                      <a:endParaRPr lang="de-DE" sz="1400" b="1" dirty="0"/>
                    </a:p>
                    <a:p>
                      <a:endParaRPr lang="de-DE" sz="1400" b="1" dirty="0"/>
                    </a:p>
                  </a:txBody>
                  <a:tcPr/>
                </a:tc>
                <a:tc>
                  <a:txBody>
                    <a:bodyPr/>
                    <a:lstStyle/>
                    <a:p>
                      <a:endParaRPr lang="de-DE" sz="1400" b="1" dirty="0"/>
                    </a:p>
                  </a:txBody>
                  <a:tcPr/>
                </a:tc>
                <a:extLst>
                  <a:ext uri="{0D108BD9-81ED-4DB2-BD59-A6C34878D82A}">
                    <a16:rowId xmlns:a16="http://schemas.microsoft.com/office/drawing/2014/main" val="3245231"/>
                  </a:ext>
                </a:extLst>
              </a:tr>
              <a:tr h="370840">
                <a:tc>
                  <a:txBody>
                    <a:bodyPr/>
                    <a:lstStyle/>
                    <a:p>
                      <a:endParaRPr lang="de-DE" sz="1400" b="1" dirty="0"/>
                    </a:p>
                    <a:p>
                      <a:r>
                        <a:rPr lang="de-DE" sz="1400" b="1" dirty="0"/>
                        <a:t>Prozesse und Methoden</a:t>
                      </a:r>
                    </a:p>
                    <a:p>
                      <a:endParaRPr lang="de-DE" sz="1400" b="1" dirty="0"/>
                    </a:p>
                    <a:p>
                      <a:endParaRPr lang="de-DE" sz="1400" b="1" dirty="0"/>
                    </a:p>
                  </a:txBody>
                  <a:tcPr/>
                </a:tc>
                <a:tc>
                  <a:txBody>
                    <a:bodyPr/>
                    <a:lstStyle/>
                    <a:p>
                      <a:endParaRPr lang="de-DE" sz="1400" b="1" dirty="0"/>
                    </a:p>
                  </a:txBody>
                  <a:tcPr/>
                </a:tc>
                <a:extLst>
                  <a:ext uri="{0D108BD9-81ED-4DB2-BD59-A6C34878D82A}">
                    <a16:rowId xmlns:a16="http://schemas.microsoft.com/office/drawing/2014/main" val="2835579308"/>
                  </a:ext>
                </a:extLst>
              </a:tr>
              <a:tr h="370840">
                <a:tc>
                  <a:txBody>
                    <a:bodyPr/>
                    <a:lstStyle/>
                    <a:p>
                      <a:endParaRPr lang="de-DE" sz="1400" b="1" dirty="0"/>
                    </a:p>
                    <a:p>
                      <a:pPr marL="0" marR="0" lvl="0" indent="0" algn="l" defTabSz="914400" rtl="0" eaLnBrk="1" fontAlgn="auto" latinLnBrk="0" hangingPunct="1">
                        <a:lnSpc>
                          <a:spcPct val="100000"/>
                        </a:lnSpc>
                        <a:spcBef>
                          <a:spcPts val="0"/>
                        </a:spcBef>
                        <a:spcAft>
                          <a:spcPts val="0"/>
                        </a:spcAft>
                        <a:buClrTx/>
                        <a:buSzTx/>
                        <a:buFontTx/>
                        <a:buNone/>
                        <a:tabLst/>
                        <a:defRPr/>
                      </a:pPr>
                      <a:r>
                        <a:rPr lang="de-DE" sz="1400" b="1" dirty="0"/>
                        <a:t>Management</a:t>
                      </a:r>
                    </a:p>
                    <a:p>
                      <a:endParaRPr lang="de-DE" sz="1400" b="1" dirty="0"/>
                    </a:p>
                    <a:p>
                      <a:endParaRPr lang="de-DE" sz="1400" b="1" dirty="0"/>
                    </a:p>
                    <a:p>
                      <a:endParaRPr lang="de-DE" sz="1400" b="1" dirty="0"/>
                    </a:p>
                  </a:txBody>
                  <a:tcPr/>
                </a:tc>
                <a:tc>
                  <a:txBody>
                    <a:bodyPr/>
                    <a:lstStyle/>
                    <a:p>
                      <a:endParaRPr lang="de-DE" sz="1400" b="1" dirty="0"/>
                    </a:p>
                  </a:txBody>
                  <a:tcPr/>
                </a:tc>
                <a:extLst>
                  <a:ext uri="{0D108BD9-81ED-4DB2-BD59-A6C34878D82A}">
                    <a16:rowId xmlns:a16="http://schemas.microsoft.com/office/drawing/2014/main" val="380096814"/>
                  </a:ext>
                </a:extLst>
              </a:tr>
            </a:tbl>
          </a:graphicData>
        </a:graphic>
      </p:graphicFrame>
    </p:spTree>
    <p:extLst>
      <p:ext uri="{BB962C8B-B14F-4D97-AF65-F5344CB8AC3E}">
        <p14:creationId xmlns:p14="http://schemas.microsoft.com/office/powerpoint/2010/main" val="112052535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de-DE" dirty="0">
                <a:solidFill>
                  <a:schemeClr val="tx1"/>
                </a:solidFill>
              </a:rPr>
              <a:t>SQ II: Digital </a:t>
            </a:r>
            <a:r>
              <a:rPr lang="de-DE" dirty="0" err="1">
                <a:solidFill>
                  <a:schemeClr val="tx1"/>
                </a:solidFill>
              </a:rPr>
              <a:t>Thinking</a:t>
            </a:r>
            <a:r>
              <a:rPr lang="de-DE" dirty="0">
                <a:solidFill>
                  <a:schemeClr val="tx1"/>
                </a:solidFill>
              </a:rPr>
              <a:t> &amp; Management</a:t>
            </a:r>
            <a:br>
              <a:rPr lang="de-DE" dirty="0">
                <a:solidFill>
                  <a:schemeClr val="tx1"/>
                </a:solidFill>
              </a:rPr>
            </a:br>
            <a:r>
              <a:rPr lang="de-DE" dirty="0" err="1">
                <a:solidFill>
                  <a:schemeClr val="tx1"/>
                </a:solidFill>
              </a:rPr>
              <a:t>Capabilities</a:t>
            </a:r>
            <a:r>
              <a:rPr lang="de-DE" dirty="0">
                <a:solidFill>
                  <a:schemeClr val="tx1"/>
                </a:solidFill>
              </a:rPr>
              <a:t> morgen: VL-Themen</a:t>
            </a:r>
            <a:endParaRPr lang="de-DE" dirty="0"/>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2545" y="3596724"/>
            <a:ext cx="1560576" cy="524256"/>
          </a:xfrm>
          <a:prstGeom prst="rect">
            <a:avLst/>
          </a:prstGeom>
        </p:spPr>
      </p:pic>
      <p:pic>
        <p:nvPicPr>
          <p:cNvPr id="6" name="Picture 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62679" y="2511628"/>
            <a:ext cx="1260308" cy="834288"/>
          </a:xfrm>
          <a:prstGeom prst="rect">
            <a:avLst/>
          </a:prstGeom>
        </p:spPr>
      </p:pic>
      <p:pic>
        <p:nvPicPr>
          <p:cNvPr id="15" name="Picture 1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00451" y="1525124"/>
            <a:ext cx="1384765" cy="830318"/>
          </a:xfrm>
          <a:prstGeom prst="rect">
            <a:avLst/>
          </a:prstGeom>
        </p:spPr>
      </p:pic>
      <p:pic>
        <p:nvPicPr>
          <p:cNvPr id="2050" name="Picture 2" descr="Bildergebnis für agile manifesto">
            <a:extLst>
              <a:ext uri="{FF2B5EF4-FFF2-40B4-BE49-F238E27FC236}">
                <a16:creationId xmlns:a16="http://schemas.microsoft.com/office/drawing/2014/main" id="{B0B5C506-C8A4-49C3-B14E-5260CBCF6A89}"/>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20267" y="4395644"/>
            <a:ext cx="1385623" cy="805634"/>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Bildergebnis für emotional intelligence">
            <a:extLst>
              <a:ext uri="{FF2B5EF4-FFF2-40B4-BE49-F238E27FC236}">
                <a16:creationId xmlns:a16="http://schemas.microsoft.com/office/drawing/2014/main" id="{2D4D7780-A006-4611-853A-AA83752D0C25}"/>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797271" y="5411838"/>
            <a:ext cx="1261163" cy="71663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2" name="Table 1">
            <a:extLst>
              <a:ext uri="{FF2B5EF4-FFF2-40B4-BE49-F238E27FC236}">
                <a16:creationId xmlns:a16="http://schemas.microsoft.com/office/drawing/2014/main" id="{50E22733-0F4C-4548-BDC3-7D49C26F70C4}"/>
              </a:ext>
            </a:extLst>
          </p:cNvPr>
          <p:cNvGraphicFramePr>
            <a:graphicFrameLocks noGrp="1"/>
          </p:cNvGraphicFramePr>
          <p:nvPr>
            <p:extLst>
              <p:ext uri="{D42A27DB-BD31-4B8C-83A1-F6EECF244321}">
                <p14:modId xmlns:p14="http://schemas.microsoft.com/office/powerpoint/2010/main" val="3574391008"/>
              </p:ext>
            </p:extLst>
          </p:nvPr>
        </p:nvGraphicFramePr>
        <p:xfrm>
          <a:off x="2173121" y="546016"/>
          <a:ext cx="6741340" cy="6070600"/>
        </p:xfrm>
        <a:graphic>
          <a:graphicData uri="http://schemas.openxmlformats.org/drawingml/2006/table">
            <a:tbl>
              <a:tblPr firstRow="1" bandRow="1">
                <a:tableStyleId>{BC89EF96-8CEA-46FF-86C4-4CE0E7609802}</a:tableStyleId>
              </a:tblPr>
              <a:tblGrid>
                <a:gridCol w="1728865">
                  <a:extLst>
                    <a:ext uri="{9D8B030D-6E8A-4147-A177-3AD203B41FA5}">
                      <a16:colId xmlns:a16="http://schemas.microsoft.com/office/drawing/2014/main" val="19747259"/>
                    </a:ext>
                  </a:extLst>
                </a:gridCol>
                <a:gridCol w="5012475">
                  <a:extLst>
                    <a:ext uri="{9D8B030D-6E8A-4147-A177-3AD203B41FA5}">
                      <a16:colId xmlns:a16="http://schemas.microsoft.com/office/drawing/2014/main" val="2195378045"/>
                    </a:ext>
                  </a:extLst>
                </a:gridCol>
              </a:tblGrid>
              <a:tr h="370840">
                <a:tc>
                  <a:txBody>
                    <a:bodyPr/>
                    <a:lstStyle/>
                    <a:p>
                      <a:r>
                        <a:rPr lang="de-DE" sz="1400" b="1" dirty="0"/>
                        <a:t>Kommunikation</a:t>
                      </a:r>
                    </a:p>
                    <a:p>
                      <a:r>
                        <a:rPr lang="de-DE" sz="1400" b="1" dirty="0"/>
                        <a:t>(Dozent)</a:t>
                      </a:r>
                    </a:p>
                  </a:txBody>
                  <a:tcPr>
                    <a:solidFill>
                      <a:schemeClr val="bg1"/>
                    </a:solidFill>
                  </a:tcPr>
                </a:tc>
                <a:tc>
                  <a:txBody>
                    <a:bodyPr/>
                    <a:lstStyle/>
                    <a:p>
                      <a:r>
                        <a:rPr lang="de-DE" sz="1400" b="1" dirty="0"/>
                        <a:t>01 Kommunikation</a:t>
                      </a:r>
                    </a:p>
                    <a:p>
                      <a:r>
                        <a:rPr lang="de-DE" sz="1400" b="1" dirty="0"/>
                        <a:t>02 Story </a:t>
                      </a:r>
                      <a:r>
                        <a:rPr lang="de-DE" sz="1400" b="1" dirty="0" err="1"/>
                        <a:t>Telling</a:t>
                      </a:r>
                      <a:endParaRPr lang="de-DE" sz="1400" b="1" dirty="0"/>
                    </a:p>
                  </a:txBody>
                  <a:tcPr>
                    <a:solidFill>
                      <a:schemeClr val="bg1"/>
                    </a:solidFill>
                  </a:tcPr>
                </a:tc>
                <a:extLst>
                  <a:ext uri="{0D108BD9-81ED-4DB2-BD59-A6C34878D82A}">
                    <a16:rowId xmlns:a16="http://schemas.microsoft.com/office/drawing/2014/main" val="3842286030"/>
                  </a:ext>
                </a:extLst>
              </a:tr>
              <a:tr h="370840">
                <a:tc>
                  <a:txBody>
                    <a:bodyPr/>
                    <a:lstStyle/>
                    <a:p>
                      <a:endParaRPr lang="de-DE" sz="1400" b="1" dirty="0"/>
                    </a:p>
                    <a:p>
                      <a:r>
                        <a:rPr lang="de-DE" sz="1400" b="1" dirty="0"/>
                        <a:t>Persönliche und soziale Kompetenz</a:t>
                      </a:r>
                    </a:p>
                    <a:p>
                      <a:pPr marL="0" marR="0" lvl="0" indent="0" algn="l" defTabSz="914400" rtl="0" eaLnBrk="1" fontAlgn="auto" latinLnBrk="0" hangingPunct="1">
                        <a:lnSpc>
                          <a:spcPct val="100000"/>
                        </a:lnSpc>
                        <a:spcBef>
                          <a:spcPts val="0"/>
                        </a:spcBef>
                        <a:spcAft>
                          <a:spcPts val="0"/>
                        </a:spcAft>
                        <a:buClrTx/>
                        <a:buSzTx/>
                        <a:buFontTx/>
                        <a:buNone/>
                        <a:tabLst/>
                        <a:defRPr/>
                      </a:pPr>
                      <a:r>
                        <a:rPr lang="de-DE" sz="1400" b="1" dirty="0"/>
                        <a:t>(</a:t>
                      </a:r>
                      <a:r>
                        <a:rPr lang="de-DE" sz="1400" b="1" dirty="0" err="1"/>
                        <a:t>max</a:t>
                      </a:r>
                      <a:r>
                        <a:rPr lang="de-DE" sz="1400" b="1" dirty="0"/>
                        <a:t> 3)</a:t>
                      </a:r>
                    </a:p>
                  </a:txBody>
                  <a:tcPr>
                    <a:solidFill>
                      <a:schemeClr val="bg1">
                        <a:alpha val="20000"/>
                      </a:schemeClr>
                    </a:solidFill>
                  </a:tcPr>
                </a:tc>
                <a:tc>
                  <a:txBody>
                    <a:bodyPr/>
                    <a:lstStyle/>
                    <a:p>
                      <a:r>
                        <a:rPr lang="de-DE" sz="1400" b="1" dirty="0"/>
                        <a:t>10 Emotionale Intelligenz</a:t>
                      </a:r>
                    </a:p>
                    <a:p>
                      <a:r>
                        <a:rPr lang="de-DE" sz="1400" b="1" dirty="0"/>
                        <a:t>11 Stress </a:t>
                      </a:r>
                      <a:r>
                        <a:rPr lang="de-DE" sz="1400" b="1" dirty="0" err="1"/>
                        <a:t>Mgmt</a:t>
                      </a:r>
                      <a:r>
                        <a:rPr lang="de-DE" sz="1400" b="1" dirty="0"/>
                        <a:t> – Stress </a:t>
                      </a:r>
                      <a:r>
                        <a:rPr lang="de-DE" sz="1400" b="1" dirty="0" err="1"/>
                        <a:t>Resilience</a:t>
                      </a:r>
                      <a:endParaRPr lang="de-DE" sz="1400" b="1" dirty="0"/>
                    </a:p>
                    <a:p>
                      <a:r>
                        <a:rPr lang="de-DE" sz="1400" b="1" dirty="0"/>
                        <a:t>12 Time </a:t>
                      </a:r>
                      <a:r>
                        <a:rPr lang="de-DE" sz="1400" b="1" dirty="0" err="1"/>
                        <a:t>Mgmt</a:t>
                      </a:r>
                      <a:endParaRPr lang="de-DE" sz="1400" b="1" dirty="0"/>
                    </a:p>
                    <a:p>
                      <a:r>
                        <a:rPr lang="de-DE" sz="1400" b="1" dirty="0"/>
                        <a:t>13 </a:t>
                      </a:r>
                      <a:r>
                        <a:rPr lang="de-DE" sz="1400" b="1" dirty="0" err="1"/>
                        <a:t>Pessimists</a:t>
                      </a:r>
                      <a:r>
                        <a:rPr lang="de-DE" sz="1400" b="1" dirty="0"/>
                        <a:t> </a:t>
                      </a:r>
                      <a:r>
                        <a:rPr lang="de-DE" sz="1400" b="1" dirty="0" err="1"/>
                        <a:t>sound</a:t>
                      </a:r>
                      <a:r>
                        <a:rPr lang="de-DE" sz="1400" b="1" dirty="0"/>
                        <a:t> smart, </a:t>
                      </a:r>
                      <a:r>
                        <a:rPr lang="de-DE" sz="1400" b="1" dirty="0" err="1"/>
                        <a:t>optimists</a:t>
                      </a:r>
                      <a:r>
                        <a:rPr lang="de-DE" sz="1400" b="1" dirty="0"/>
                        <a:t> </a:t>
                      </a:r>
                      <a:r>
                        <a:rPr lang="de-DE" sz="1400" b="1" dirty="0" err="1"/>
                        <a:t>make</a:t>
                      </a:r>
                      <a:r>
                        <a:rPr lang="de-DE" sz="1400" b="1" dirty="0"/>
                        <a:t> </a:t>
                      </a:r>
                      <a:r>
                        <a:rPr lang="de-DE" sz="1400" b="1" dirty="0" err="1"/>
                        <a:t>money</a:t>
                      </a:r>
                      <a:r>
                        <a:rPr lang="de-DE" sz="1400" b="1" dirty="0"/>
                        <a:t> </a:t>
                      </a:r>
                    </a:p>
                    <a:p>
                      <a:r>
                        <a:rPr lang="de-DE" sz="1400" b="1" dirty="0"/>
                        <a:t>14 </a:t>
                      </a:r>
                      <a:r>
                        <a:rPr lang="de-DE" sz="1400" b="1" dirty="0" err="1"/>
                        <a:t>Decision</a:t>
                      </a:r>
                      <a:r>
                        <a:rPr lang="de-DE" sz="1400" b="1" dirty="0"/>
                        <a:t> Bias – Logische Entscheidungen?</a:t>
                      </a:r>
                    </a:p>
                    <a:p>
                      <a:pPr marL="0" marR="0" lvl="0" indent="0" algn="l" defTabSz="914400" rtl="0" eaLnBrk="1" fontAlgn="auto" latinLnBrk="0" hangingPunct="1">
                        <a:lnSpc>
                          <a:spcPct val="100000"/>
                        </a:lnSpc>
                        <a:spcBef>
                          <a:spcPts val="0"/>
                        </a:spcBef>
                        <a:spcAft>
                          <a:spcPts val="0"/>
                        </a:spcAft>
                        <a:buClrTx/>
                        <a:buSzTx/>
                        <a:buFontTx/>
                        <a:buNone/>
                        <a:tabLst/>
                        <a:defRPr/>
                      </a:pPr>
                      <a:r>
                        <a:rPr lang="de-DE" sz="1400" b="1" dirty="0"/>
                        <a:t>15 Fehlerkultur, Fuck-Up-Nights</a:t>
                      </a:r>
                    </a:p>
                    <a:p>
                      <a:pPr marL="0" marR="0" lvl="0" indent="0" algn="l" defTabSz="914400" rtl="0" eaLnBrk="1" fontAlgn="auto" latinLnBrk="0" hangingPunct="1">
                        <a:lnSpc>
                          <a:spcPct val="100000"/>
                        </a:lnSpc>
                        <a:spcBef>
                          <a:spcPts val="0"/>
                        </a:spcBef>
                        <a:spcAft>
                          <a:spcPts val="0"/>
                        </a:spcAft>
                        <a:buClrTx/>
                        <a:buSzTx/>
                        <a:buFontTx/>
                        <a:buNone/>
                        <a:tabLst/>
                        <a:defRPr/>
                      </a:pPr>
                      <a:r>
                        <a:rPr lang="de-DE" sz="1400" b="1" dirty="0"/>
                        <a:t>16 </a:t>
                      </a:r>
                      <a:r>
                        <a:rPr lang="de-DE" sz="1400" b="1" strike="noStrike" dirty="0" err="1"/>
                        <a:t>Intercultural</a:t>
                      </a:r>
                      <a:r>
                        <a:rPr lang="de-DE" sz="1400" b="1" strike="noStrike" dirty="0"/>
                        <a:t> </a:t>
                      </a:r>
                      <a:r>
                        <a:rPr lang="de-DE" sz="1400" b="1" strike="noStrike" dirty="0" err="1"/>
                        <a:t>Aspects</a:t>
                      </a:r>
                      <a:endParaRPr lang="de-DE" sz="1400" b="1" strike="noStrike" dirty="0"/>
                    </a:p>
                    <a:p>
                      <a:pPr marL="0" marR="0" lvl="0" indent="0" algn="l" defTabSz="914400" rtl="0" eaLnBrk="1" fontAlgn="auto" latinLnBrk="0" hangingPunct="1">
                        <a:lnSpc>
                          <a:spcPct val="100000"/>
                        </a:lnSpc>
                        <a:spcBef>
                          <a:spcPts val="0"/>
                        </a:spcBef>
                        <a:spcAft>
                          <a:spcPts val="0"/>
                        </a:spcAft>
                        <a:buClrTx/>
                        <a:buSzTx/>
                        <a:buFontTx/>
                        <a:buNone/>
                        <a:tabLst/>
                        <a:defRPr/>
                      </a:pPr>
                      <a:r>
                        <a:rPr lang="de-DE" sz="1400" b="1" dirty="0"/>
                        <a:t>17 Schattenseiten der Digitalisierung</a:t>
                      </a:r>
                    </a:p>
                    <a:p>
                      <a:pPr marL="0" marR="0" lvl="0" indent="0" algn="l" defTabSz="914400" rtl="0" eaLnBrk="1" fontAlgn="auto" latinLnBrk="0" hangingPunct="1">
                        <a:lnSpc>
                          <a:spcPct val="100000"/>
                        </a:lnSpc>
                        <a:spcBef>
                          <a:spcPts val="0"/>
                        </a:spcBef>
                        <a:spcAft>
                          <a:spcPts val="0"/>
                        </a:spcAft>
                        <a:buClrTx/>
                        <a:buSzTx/>
                        <a:buFontTx/>
                        <a:buNone/>
                        <a:tabLst/>
                        <a:defRPr/>
                      </a:pPr>
                      <a:r>
                        <a:rPr lang="de-DE" sz="1400" b="1" dirty="0"/>
                        <a:t>18 High Performance </a:t>
                      </a:r>
                      <a:r>
                        <a:rPr lang="de-DE" sz="1400" b="1" dirty="0" err="1"/>
                        <a:t>creative</a:t>
                      </a:r>
                      <a:r>
                        <a:rPr lang="de-DE" sz="1400" b="1" dirty="0"/>
                        <a:t> Teams bauen</a:t>
                      </a:r>
                    </a:p>
                    <a:p>
                      <a:pPr marL="0" marR="0" lvl="0" indent="0" algn="l" defTabSz="914400" rtl="0" eaLnBrk="1" fontAlgn="auto" latinLnBrk="0" hangingPunct="1">
                        <a:lnSpc>
                          <a:spcPct val="100000"/>
                        </a:lnSpc>
                        <a:spcBef>
                          <a:spcPts val="0"/>
                        </a:spcBef>
                        <a:spcAft>
                          <a:spcPts val="0"/>
                        </a:spcAft>
                        <a:buClrTx/>
                        <a:buSzTx/>
                        <a:buFontTx/>
                        <a:buNone/>
                        <a:tabLst/>
                        <a:defRPr/>
                      </a:pPr>
                      <a:r>
                        <a:rPr lang="de-DE" sz="1400" b="1" dirty="0"/>
                        <a:t>19 Kreative Techniken</a:t>
                      </a:r>
                    </a:p>
                  </a:txBody>
                  <a:tcPr>
                    <a:solidFill>
                      <a:schemeClr val="bg1">
                        <a:alpha val="20000"/>
                      </a:schemeClr>
                    </a:solidFill>
                  </a:tcPr>
                </a:tc>
                <a:extLst>
                  <a:ext uri="{0D108BD9-81ED-4DB2-BD59-A6C34878D82A}">
                    <a16:rowId xmlns:a16="http://schemas.microsoft.com/office/drawing/2014/main" val="2216094945"/>
                  </a:ext>
                </a:extLst>
              </a:tr>
              <a:tr h="370840">
                <a:tc>
                  <a:txBody>
                    <a:bodyPr/>
                    <a:lstStyle/>
                    <a:p>
                      <a:endParaRPr lang="de-DE" sz="1400" b="1" dirty="0"/>
                    </a:p>
                    <a:p>
                      <a:r>
                        <a:rPr lang="de-DE" sz="1400" b="1" dirty="0"/>
                        <a:t>Prozesse und Methoden</a:t>
                      </a:r>
                    </a:p>
                    <a:p>
                      <a:pPr marL="0" marR="0" lvl="0" indent="0" algn="l" defTabSz="914400" rtl="0" eaLnBrk="1" fontAlgn="auto" latinLnBrk="0" hangingPunct="1">
                        <a:lnSpc>
                          <a:spcPct val="100000"/>
                        </a:lnSpc>
                        <a:spcBef>
                          <a:spcPts val="0"/>
                        </a:spcBef>
                        <a:spcAft>
                          <a:spcPts val="0"/>
                        </a:spcAft>
                        <a:buClrTx/>
                        <a:buSzTx/>
                        <a:buFontTx/>
                        <a:buNone/>
                        <a:tabLst/>
                        <a:defRPr/>
                      </a:pPr>
                      <a:r>
                        <a:rPr lang="de-DE" sz="1400" b="1" dirty="0"/>
                        <a:t>(</a:t>
                      </a:r>
                      <a:r>
                        <a:rPr lang="de-DE" sz="1400" b="1" dirty="0" err="1"/>
                        <a:t>max</a:t>
                      </a:r>
                      <a:r>
                        <a:rPr lang="de-DE" sz="1400" b="1" dirty="0"/>
                        <a:t> 3)</a:t>
                      </a:r>
                    </a:p>
                    <a:p>
                      <a:endParaRPr lang="de-DE" sz="1400" b="1" dirty="0"/>
                    </a:p>
                  </a:txBody>
                  <a:tcPr>
                    <a:solidFill>
                      <a:schemeClr val="bg1"/>
                    </a:solidFill>
                  </a:tcPr>
                </a:tc>
                <a:tc>
                  <a:txBody>
                    <a:bodyPr/>
                    <a:lstStyle/>
                    <a:p>
                      <a:r>
                        <a:rPr lang="de-DE" sz="1400" b="1" dirty="0"/>
                        <a:t>20 Agile </a:t>
                      </a:r>
                      <a:r>
                        <a:rPr lang="de-DE" sz="1400" b="1" dirty="0" err="1"/>
                        <a:t>Manifesto</a:t>
                      </a:r>
                      <a:r>
                        <a:rPr lang="de-DE" sz="1400" b="1" dirty="0"/>
                        <a:t> &amp; </a:t>
                      </a:r>
                      <a:r>
                        <a:rPr lang="de-DE" sz="1400" b="1" dirty="0" err="1"/>
                        <a:t>Principles</a:t>
                      </a:r>
                      <a:r>
                        <a:rPr lang="de-DE" sz="1400" b="1" dirty="0"/>
                        <a:t> im Unternehmen</a:t>
                      </a:r>
                    </a:p>
                    <a:p>
                      <a:r>
                        <a:rPr lang="de-DE" sz="1400" b="1" dirty="0"/>
                        <a:t>21 New Work / Leadership </a:t>
                      </a:r>
                    </a:p>
                    <a:p>
                      <a:r>
                        <a:rPr lang="de-DE" sz="1400" b="1" dirty="0"/>
                        <a:t>22 </a:t>
                      </a:r>
                      <a:r>
                        <a:rPr lang="de-DE" sz="1400" b="1" dirty="0" err="1"/>
                        <a:t>Employee</a:t>
                      </a:r>
                      <a:r>
                        <a:rPr lang="de-DE" sz="1400" b="1" dirty="0"/>
                        <a:t> Engagement</a:t>
                      </a:r>
                    </a:p>
                    <a:p>
                      <a:r>
                        <a:rPr lang="de-DE" sz="1400" b="1" dirty="0"/>
                        <a:t>23 Deep Work (Cal Newport)</a:t>
                      </a:r>
                    </a:p>
                    <a:p>
                      <a:r>
                        <a:rPr lang="de-DE" sz="1400" b="1" dirty="0"/>
                        <a:t>24 Design </a:t>
                      </a:r>
                      <a:r>
                        <a:rPr lang="de-DE" sz="1400" b="1" dirty="0" err="1"/>
                        <a:t>Thinking</a:t>
                      </a:r>
                      <a:r>
                        <a:rPr lang="de-DE" sz="1400" b="1" dirty="0"/>
                        <a:t> – Methode</a:t>
                      </a:r>
                    </a:p>
                    <a:p>
                      <a:r>
                        <a:rPr lang="de-DE" sz="1400" b="1" dirty="0"/>
                        <a:t>25 Business Model Canvas / Patterns</a:t>
                      </a:r>
                    </a:p>
                    <a:p>
                      <a:r>
                        <a:rPr lang="de-DE" sz="1400" b="1" dirty="0"/>
                        <a:t>26 Blue Ocean </a:t>
                      </a:r>
                      <a:r>
                        <a:rPr lang="de-DE" sz="1400" b="1" dirty="0" err="1"/>
                        <a:t>Strategy</a:t>
                      </a:r>
                      <a:endParaRPr lang="de-DE" sz="1400" b="1" dirty="0"/>
                    </a:p>
                    <a:p>
                      <a:r>
                        <a:rPr lang="de-DE" sz="1400" b="1" dirty="0"/>
                        <a:t>27 Google Venture Sprint</a:t>
                      </a:r>
                    </a:p>
                  </a:txBody>
                  <a:tcPr>
                    <a:solidFill>
                      <a:schemeClr val="bg1"/>
                    </a:solidFill>
                  </a:tcPr>
                </a:tc>
                <a:extLst>
                  <a:ext uri="{0D108BD9-81ED-4DB2-BD59-A6C34878D82A}">
                    <a16:rowId xmlns:a16="http://schemas.microsoft.com/office/drawing/2014/main" val="2835579308"/>
                  </a:ext>
                </a:extLst>
              </a:tr>
              <a:tr h="370840">
                <a:tc>
                  <a:txBody>
                    <a:bodyPr/>
                    <a:lstStyle/>
                    <a:p>
                      <a:endParaRPr lang="de-DE" sz="1400" b="1" dirty="0"/>
                    </a:p>
                    <a:p>
                      <a:r>
                        <a:rPr lang="de-DE" sz="1400" b="1" dirty="0"/>
                        <a:t>Management</a:t>
                      </a:r>
                    </a:p>
                    <a:p>
                      <a:r>
                        <a:rPr lang="de-DE" sz="1400" b="1" dirty="0"/>
                        <a:t>(</a:t>
                      </a:r>
                      <a:r>
                        <a:rPr lang="de-DE" sz="1400" b="1" dirty="0" err="1"/>
                        <a:t>max</a:t>
                      </a:r>
                      <a:r>
                        <a:rPr lang="de-DE" sz="1400" b="1" dirty="0"/>
                        <a:t> 3)</a:t>
                      </a:r>
                    </a:p>
                  </a:txBody>
                  <a:tcPr>
                    <a:solidFill>
                      <a:schemeClr val="bg1">
                        <a:alpha val="20000"/>
                      </a:schemeClr>
                    </a:solidFill>
                  </a:tcPr>
                </a:tc>
                <a:tc>
                  <a:txBody>
                    <a:bodyPr/>
                    <a:lstStyle/>
                    <a:p>
                      <a:r>
                        <a:rPr lang="de-DE" sz="1400" b="1" dirty="0"/>
                        <a:t>30 Was macht ein innovatives Unternehmen aus?</a:t>
                      </a:r>
                    </a:p>
                    <a:p>
                      <a:r>
                        <a:rPr lang="de-DE" sz="1400" b="1" dirty="0"/>
                        <a:t>31 Innovators Dilemma – Christensen</a:t>
                      </a:r>
                    </a:p>
                    <a:p>
                      <a:r>
                        <a:rPr lang="de-DE" sz="1400" b="1" dirty="0"/>
                        <a:t>32 Organizational Lifecycle – Augen auf bei der AG-Wahl</a:t>
                      </a:r>
                    </a:p>
                    <a:p>
                      <a:r>
                        <a:rPr lang="de-DE" sz="1400" b="1" dirty="0"/>
                        <a:t>33 Digitale Projekte – wie umsetzen?</a:t>
                      </a:r>
                    </a:p>
                    <a:p>
                      <a:r>
                        <a:rPr lang="de-DE" sz="1400" b="1" dirty="0"/>
                        <a:t>34 Crossing </a:t>
                      </a:r>
                      <a:r>
                        <a:rPr lang="de-DE" sz="1400" b="1" dirty="0" err="1"/>
                        <a:t>the</a:t>
                      </a:r>
                      <a:r>
                        <a:rPr lang="de-DE" sz="1400" b="1" dirty="0"/>
                        <a:t> </a:t>
                      </a:r>
                      <a:r>
                        <a:rPr lang="de-DE" sz="1400" b="1" dirty="0" err="1"/>
                        <a:t>Chasm</a:t>
                      </a:r>
                      <a:r>
                        <a:rPr lang="de-DE" sz="1400" b="1" dirty="0"/>
                        <a:t> – Geoffrey Moore</a:t>
                      </a:r>
                    </a:p>
                  </a:txBody>
                  <a:tcPr>
                    <a:solidFill>
                      <a:schemeClr val="bg1">
                        <a:alpha val="20000"/>
                      </a:schemeClr>
                    </a:solidFill>
                  </a:tcPr>
                </a:tc>
                <a:extLst>
                  <a:ext uri="{0D108BD9-81ED-4DB2-BD59-A6C34878D82A}">
                    <a16:rowId xmlns:a16="http://schemas.microsoft.com/office/drawing/2014/main" val="3280322216"/>
                  </a:ext>
                </a:extLst>
              </a:tr>
              <a:tr h="370840">
                <a:tc>
                  <a:txBody>
                    <a:bodyPr/>
                    <a:lstStyle/>
                    <a:p>
                      <a:r>
                        <a:rPr lang="de-DE" sz="1400" b="1" dirty="0"/>
                        <a:t>Weitere Themen?</a:t>
                      </a:r>
                    </a:p>
                  </a:txBody>
                  <a:tcP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400" b="1" dirty="0"/>
                        <a:t>40 …..</a:t>
                      </a:r>
                    </a:p>
                  </a:txBody>
                  <a:tcPr>
                    <a:solidFill>
                      <a:schemeClr val="bg1"/>
                    </a:solidFill>
                  </a:tcPr>
                </a:tc>
                <a:extLst>
                  <a:ext uri="{0D108BD9-81ED-4DB2-BD59-A6C34878D82A}">
                    <a16:rowId xmlns:a16="http://schemas.microsoft.com/office/drawing/2014/main" val="2246569425"/>
                  </a:ext>
                </a:extLst>
              </a:tr>
            </a:tbl>
          </a:graphicData>
        </a:graphic>
      </p:graphicFrame>
    </p:spTree>
    <p:extLst>
      <p:ext uri="{BB962C8B-B14F-4D97-AF65-F5344CB8AC3E}">
        <p14:creationId xmlns:p14="http://schemas.microsoft.com/office/powerpoint/2010/main" val="337449292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de-DE" dirty="0">
                <a:solidFill>
                  <a:schemeClr val="tx1"/>
                </a:solidFill>
              </a:rPr>
              <a:t>SQ II: Digital </a:t>
            </a:r>
            <a:r>
              <a:rPr lang="de-DE" dirty="0" err="1">
                <a:solidFill>
                  <a:schemeClr val="tx1"/>
                </a:solidFill>
              </a:rPr>
              <a:t>Thinking</a:t>
            </a:r>
            <a:r>
              <a:rPr lang="de-DE" dirty="0">
                <a:solidFill>
                  <a:schemeClr val="tx1"/>
                </a:solidFill>
              </a:rPr>
              <a:t> &amp; Management</a:t>
            </a:r>
            <a:br>
              <a:rPr lang="de-DE" dirty="0">
                <a:solidFill>
                  <a:schemeClr val="tx1"/>
                </a:solidFill>
              </a:rPr>
            </a:br>
            <a:r>
              <a:rPr lang="de-DE" dirty="0">
                <a:solidFill>
                  <a:schemeClr val="tx1"/>
                </a:solidFill>
              </a:rPr>
              <a:t>Studentische</a:t>
            </a:r>
            <a:r>
              <a:rPr lang="de-DE" dirty="0"/>
              <a:t> </a:t>
            </a:r>
            <a:r>
              <a:rPr lang="de-DE" dirty="0">
                <a:solidFill>
                  <a:schemeClr val="tx1"/>
                </a:solidFill>
              </a:rPr>
              <a:t>Arbeitspakete</a:t>
            </a:r>
            <a:br>
              <a:rPr lang="de-DE" dirty="0">
                <a:solidFill>
                  <a:schemeClr val="tx1"/>
                </a:solidFill>
              </a:rPr>
            </a:br>
            <a:r>
              <a:rPr lang="de-DE" sz="1600" dirty="0">
                <a:solidFill>
                  <a:schemeClr val="tx1"/>
                </a:solidFill>
              </a:rPr>
              <a:t>(Guide </a:t>
            </a:r>
            <a:r>
              <a:rPr lang="de-DE" sz="1600" dirty="0" err="1">
                <a:solidFill>
                  <a:schemeClr val="tx1"/>
                </a:solidFill>
              </a:rPr>
              <a:t>to</a:t>
            </a:r>
            <a:r>
              <a:rPr lang="de-DE" sz="1600" dirty="0">
                <a:solidFill>
                  <a:schemeClr val="tx1"/>
                </a:solidFill>
              </a:rPr>
              <a:t> Innovation </a:t>
            </a:r>
            <a:r>
              <a:rPr lang="de-DE" sz="1600" dirty="0" err="1">
                <a:solidFill>
                  <a:schemeClr val="tx1"/>
                </a:solidFill>
              </a:rPr>
              <a:t>Mgmt</a:t>
            </a:r>
            <a:r>
              <a:rPr lang="de-DE" sz="1600" dirty="0">
                <a:solidFill>
                  <a:schemeClr val="tx1"/>
                </a:solidFill>
              </a:rPr>
              <a:t>: </a:t>
            </a:r>
            <a:r>
              <a:rPr lang="de-DE" sz="1600" dirty="0">
                <a:hlinkClick r:id="rId3"/>
              </a:rPr>
              <a:t>https://www.viima.com/blog/innovation-management</a:t>
            </a:r>
            <a:r>
              <a:rPr lang="de-DE" sz="1600" dirty="0"/>
              <a:t>)</a:t>
            </a:r>
            <a:endParaRPr lang="de-DE" dirty="0"/>
          </a:p>
        </p:txBody>
      </p:sp>
      <p:graphicFrame>
        <p:nvGraphicFramePr>
          <p:cNvPr id="2" name="Table 1">
            <a:extLst>
              <a:ext uri="{FF2B5EF4-FFF2-40B4-BE49-F238E27FC236}">
                <a16:creationId xmlns:a16="http://schemas.microsoft.com/office/drawing/2014/main" id="{50E22733-0F4C-4548-BDC3-7D49C26F70C4}"/>
              </a:ext>
            </a:extLst>
          </p:cNvPr>
          <p:cNvGraphicFramePr>
            <a:graphicFrameLocks noGrp="1"/>
          </p:cNvGraphicFramePr>
          <p:nvPr>
            <p:extLst>
              <p:ext uri="{D42A27DB-BD31-4B8C-83A1-F6EECF244321}">
                <p14:modId xmlns:p14="http://schemas.microsoft.com/office/powerpoint/2010/main" val="4168571214"/>
              </p:ext>
            </p:extLst>
          </p:nvPr>
        </p:nvGraphicFramePr>
        <p:xfrm>
          <a:off x="75903" y="834240"/>
          <a:ext cx="8992194" cy="5699760"/>
        </p:xfrm>
        <a:graphic>
          <a:graphicData uri="http://schemas.openxmlformats.org/drawingml/2006/table">
            <a:tbl>
              <a:tblPr firstRow="1" bandRow="1">
                <a:tableStyleId>{BC89EF96-8CEA-46FF-86C4-4CE0E7609802}</a:tableStyleId>
              </a:tblPr>
              <a:tblGrid>
                <a:gridCol w="1907901">
                  <a:extLst>
                    <a:ext uri="{9D8B030D-6E8A-4147-A177-3AD203B41FA5}">
                      <a16:colId xmlns:a16="http://schemas.microsoft.com/office/drawing/2014/main" val="19747259"/>
                    </a:ext>
                  </a:extLst>
                </a:gridCol>
                <a:gridCol w="7084293">
                  <a:extLst>
                    <a:ext uri="{9D8B030D-6E8A-4147-A177-3AD203B41FA5}">
                      <a16:colId xmlns:a16="http://schemas.microsoft.com/office/drawing/2014/main" val="2195378045"/>
                    </a:ext>
                  </a:extLst>
                </a:gridCol>
              </a:tblGrid>
              <a:tr h="370840">
                <a:tc>
                  <a:txBody>
                    <a:bodyPr/>
                    <a:lstStyle/>
                    <a:p>
                      <a:endParaRPr lang="de-DE" sz="1400" b="1" dirty="0"/>
                    </a:p>
                    <a:p>
                      <a:r>
                        <a:rPr lang="de-DE" sz="1400" b="1" dirty="0"/>
                        <a:t>Persönliche und soziale Kompetenz</a:t>
                      </a:r>
                    </a:p>
                    <a:p>
                      <a:pPr marL="0" marR="0" lvl="0" indent="0" algn="l" defTabSz="914400" rtl="0" eaLnBrk="1" fontAlgn="auto" latinLnBrk="0" hangingPunct="1">
                        <a:lnSpc>
                          <a:spcPct val="100000"/>
                        </a:lnSpc>
                        <a:spcBef>
                          <a:spcPts val="0"/>
                        </a:spcBef>
                        <a:spcAft>
                          <a:spcPts val="0"/>
                        </a:spcAft>
                        <a:buClrTx/>
                        <a:buSzTx/>
                        <a:buFontTx/>
                        <a:buNone/>
                        <a:tabLst/>
                        <a:defRPr/>
                      </a:pPr>
                      <a:r>
                        <a:rPr lang="de-DE" sz="1400" b="1" dirty="0"/>
                        <a:t>(</a:t>
                      </a:r>
                      <a:r>
                        <a:rPr lang="de-DE" sz="1400" b="1" dirty="0" err="1"/>
                        <a:t>max</a:t>
                      </a:r>
                      <a:r>
                        <a:rPr lang="de-DE" sz="1400" b="1" dirty="0"/>
                        <a:t> 3)</a:t>
                      </a:r>
                    </a:p>
                  </a:txBody>
                  <a:tcPr>
                    <a:solidFill>
                      <a:schemeClr val="bg1"/>
                    </a:solidFill>
                  </a:tcPr>
                </a:tc>
                <a:tc>
                  <a:txBody>
                    <a:bodyPr/>
                    <a:lstStyle/>
                    <a:p>
                      <a:r>
                        <a:rPr lang="de-DE" sz="1400" b="1" dirty="0"/>
                        <a:t>10 Emotionale Intelligenz (</a:t>
                      </a:r>
                      <a:r>
                        <a:rPr lang="de-DE" sz="1400" b="1" dirty="0" err="1"/>
                        <a:t>zB</a:t>
                      </a:r>
                      <a:r>
                        <a:rPr lang="de-DE" sz="1400" b="1" dirty="0"/>
                        <a:t> </a:t>
                      </a:r>
                      <a:r>
                        <a:rPr lang="de-DE" sz="1400" b="1" dirty="0" err="1"/>
                        <a:t>Bradberry</a:t>
                      </a:r>
                      <a:r>
                        <a:rPr lang="de-DE" sz="1400" b="1" dirty="0"/>
                        <a:t>/</a:t>
                      </a:r>
                      <a:r>
                        <a:rPr lang="de-DE" sz="1400" b="1" dirty="0" err="1"/>
                        <a:t>Greaves</a:t>
                      </a:r>
                      <a:r>
                        <a:rPr lang="de-DE" sz="1400" b="1" dirty="0"/>
                        <a:t>: Emotional </a:t>
                      </a:r>
                      <a:r>
                        <a:rPr lang="de-DE" sz="1400" b="1" dirty="0" err="1"/>
                        <a:t>Intelligence</a:t>
                      </a:r>
                      <a:r>
                        <a:rPr lang="de-DE" sz="1400" b="1" dirty="0"/>
                        <a:t> 2.0)</a:t>
                      </a:r>
                    </a:p>
                    <a:p>
                      <a:r>
                        <a:rPr lang="de-DE" sz="1400" b="1" dirty="0"/>
                        <a:t>11 Stress </a:t>
                      </a:r>
                      <a:r>
                        <a:rPr lang="de-DE" sz="1400" b="1" dirty="0" err="1"/>
                        <a:t>Mgmt</a:t>
                      </a:r>
                      <a:r>
                        <a:rPr lang="de-DE" sz="1400" b="1" dirty="0"/>
                        <a:t> – Stress </a:t>
                      </a:r>
                      <a:r>
                        <a:rPr lang="de-DE" sz="1400" b="1" dirty="0" err="1"/>
                        <a:t>Resilience</a:t>
                      </a:r>
                      <a:r>
                        <a:rPr lang="de-DE" sz="1400" b="1" dirty="0"/>
                        <a:t> (Kaluza: Gelassenheit … im Stress)</a:t>
                      </a:r>
                    </a:p>
                    <a:p>
                      <a:r>
                        <a:rPr lang="de-DE" sz="1400" b="1" dirty="0"/>
                        <a:t>12 Time </a:t>
                      </a:r>
                      <a:r>
                        <a:rPr lang="de-DE" sz="1400" b="1" dirty="0" err="1"/>
                        <a:t>Mgmt</a:t>
                      </a:r>
                      <a:r>
                        <a:rPr lang="de-DE" sz="1400" b="1" dirty="0"/>
                        <a:t> (Uchtmann: Endlich mehr Zeit!)</a:t>
                      </a:r>
                    </a:p>
                    <a:p>
                      <a:r>
                        <a:rPr lang="de-DE" sz="1400" b="1" dirty="0"/>
                        <a:t>13 </a:t>
                      </a:r>
                      <a:r>
                        <a:rPr lang="de-DE" sz="1400" b="1" dirty="0" err="1"/>
                        <a:t>Pessimists</a:t>
                      </a:r>
                      <a:r>
                        <a:rPr lang="de-DE" sz="1400" b="1" dirty="0"/>
                        <a:t> </a:t>
                      </a:r>
                      <a:r>
                        <a:rPr lang="de-DE" sz="1400" b="1" dirty="0" err="1"/>
                        <a:t>sound</a:t>
                      </a:r>
                      <a:r>
                        <a:rPr lang="de-DE" sz="1400" b="1" dirty="0"/>
                        <a:t> smart, </a:t>
                      </a:r>
                      <a:r>
                        <a:rPr lang="de-DE" sz="1400" b="1" dirty="0" err="1"/>
                        <a:t>optimists</a:t>
                      </a:r>
                      <a:r>
                        <a:rPr lang="de-DE" sz="1400" b="1" dirty="0"/>
                        <a:t> </a:t>
                      </a:r>
                      <a:r>
                        <a:rPr lang="de-DE" sz="1400" b="1" dirty="0" err="1"/>
                        <a:t>make</a:t>
                      </a:r>
                      <a:r>
                        <a:rPr lang="de-DE" sz="1400" b="1" dirty="0"/>
                        <a:t> </a:t>
                      </a:r>
                      <a:r>
                        <a:rPr lang="de-DE" sz="1400" b="1" dirty="0" err="1"/>
                        <a:t>money</a:t>
                      </a:r>
                      <a:r>
                        <a:rPr lang="de-DE" sz="1400" b="1" dirty="0"/>
                        <a:t> (Growth </a:t>
                      </a:r>
                      <a:r>
                        <a:rPr lang="de-DE" sz="1400" b="1" dirty="0" err="1"/>
                        <a:t>Mindset</a:t>
                      </a:r>
                      <a:r>
                        <a:rPr lang="de-DE" sz="1400" b="1"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de-DE" sz="1400" b="1" dirty="0"/>
                        <a:t>14 </a:t>
                      </a:r>
                      <a:r>
                        <a:rPr lang="de-DE" sz="1400" b="1" dirty="0" err="1"/>
                        <a:t>Decision</a:t>
                      </a:r>
                      <a:r>
                        <a:rPr lang="de-DE" sz="1400" b="1" dirty="0"/>
                        <a:t> Bias – Logische Entscheidungen? (Kahnemann/Tversky)</a:t>
                      </a:r>
                    </a:p>
                    <a:p>
                      <a:pPr marL="0" marR="0" lvl="0" indent="0" algn="l" defTabSz="914400" rtl="0" eaLnBrk="1" fontAlgn="auto" latinLnBrk="0" hangingPunct="1">
                        <a:lnSpc>
                          <a:spcPct val="100000"/>
                        </a:lnSpc>
                        <a:spcBef>
                          <a:spcPts val="0"/>
                        </a:spcBef>
                        <a:spcAft>
                          <a:spcPts val="0"/>
                        </a:spcAft>
                        <a:buClrTx/>
                        <a:buSzTx/>
                        <a:buFontTx/>
                        <a:buNone/>
                        <a:tabLst/>
                        <a:defRPr/>
                      </a:pPr>
                      <a:r>
                        <a:rPr lang="de-DE" sz="1400" b="1" dirty="0"/>
                        <a:t>15 Fehlerkultur, Fuck-Up-Nights (</a:t>
                      </a:r>
                      <a:r>
                        <a:rPr lang="de-DE" sz="1400" b="1" dirty="0" err="1"/>
                        <a:t>www</a:t>
                      </a:r>
                      <a:r>
                        <a:rPr lang="de-DE" sz="1400" b="1"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de-DE" sz="1400" b="1" dirty="0"/>
                        <a:t>16 </a:t>
                      </a:r>
                      <a:r>
                        <a:rPr lang="de-DE" sz="1400" b="1" strike="noStrike" dirty="0" err="1"/>
                        <a:t>Intercultural</a:t>
                      </a:r>
                      <a:r>
                        <a:rPr lang="de-DE" sz="1400" b="1" strike="noStrike" dirty="0"/>
                        <a:t> </a:t>
                      </a:r>
                      <a:r>
                        <a:rPr lang="de-DE" sz="1400" b="1" strike="noStrike" dirty="0" err="1"/>
                        <a:t>Aspects</a:t>
                      </a:r>
                      <a:r>
                        <a:rPr lang="de-DE" sz="1400" b="1" strike="noStrike" dirty="0"/>
                        <a:t> (</a:t>
                      </a:r>
                      <a:r>
                        <a:rPr lang="de-DE" sz="1400" b="1" strike="noStrike" dirty="0" err="1"/>
                        <a:t>www</a:t>
                      </a:r>
                      <a:r>
                        <a:rPr lang="de-DE" sz="1400" b="1" strike="noStrike"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de-DE" sz="1400" b="1" dirty="0"/>
                        <a:t>17 Schattenseiten der Digitalisierung (</a:t>
                      </a:r>
                      <a:r>
                        <a:rPr lang="de-DE" sz="1400" b="1" dirty="0" err="1"/>
                        <a:t>www</a:t>
                      </a:r>
                      <a:r>
                        <a:rPr lang="de-DE" sz="1400" b="1"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de-DE" sz="1400" b="1" dirty="0"/>
                        <a:t>18 Teambuilding (Tucker: Phasenmodell, </a:t>
                      </a:r>
                      <a:r>
                        <a:rPr lang="de-DE" sz="1400" b="1" dirty="0" err="1"/>
                        <a:t>Lencioni</a:t>
                      </a:r>
                      <a:r>
                        <a:rPr lang="de-DE" sz="1400" b="1" dirty="0"/>
                        <a:t>: 5 </a:t>
                      </a:r>
                      <a:r>
                        <a:rPr lang="de-DE" sz="1400" b="1" dirty="0" err="1"/>
                        <a:t>dysfunctions</a:t>
                      </a:r>
                      <a:r>
                        <a:rPr lang="de-DE" sz="1400" b="1" dirty="0"/>
                        <a:t> </a:t>
                      </a:r>
                      <a:r>
                        <a:rPr lang="de-DE" sz="1400" b="1" dirty="0" err="1"/>
                        <a:t>of</a:t>
                      </a:r>
                      <a:r>
                        <a:rPr lang="de-DE" sz="1400" b="1" dirty="0"/>
                        <a:t> a </a:t>
                      </a:r>
                      <a:r>
                        <a:rPr lang="de-DE" sz="1400" b="1" dirty="0" err="1"/>
                        <a:t>team</a:t>
                      </a:r>
                      <a:r>
                        <a:rPr lang="de-DE" sz="1400" b="1"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de-DE" sz="1400" b="1" dirty="0"/>
                        <a:t>19 Kreative Techniken (</a:t>
                      </a:r>
                      <a:r>
                        <a:rPr lang="de-DE" sz="1400" b="1" dirty="0" err="1"/>
                        <a:t>www</a:t>
                      </a:r>
                      <a:r>
                        <a:rPr lang="de-DE" sz="1400" b="1" dirty="0"/>
                        <a:t>)</a:t>
                      </a:r>
                    </a:p>
                  </a:txBody>
                  <a:tcPr>
                    <a:solidFill>
                      <a:schemeClr val="bg1"/>
                    </a:solidFill>
                  </a:tcPr>
                </a:tc>
                <a:extLst>
                  <a:ext uri="{0D108BD9-81ED-4DB2-BD59-A6C34878D82A}">
                    <a16:rowId xmlns:a16="http://schemas.microsoft.com/office/drawing/2014/main" val="1250319755"/>
                  </a:ext>
                </a:extLst>
              </a:tr>
              <a:tr h="370840">
                <a:tc>
                  <a:txBody>
                    <a:bodyPr/>
                    <a:lstStyle/>
                    <a:p>
                      <a:endParaRPr lang="de-DE" sz="1400" b="1" dirty="0"/>
                    </a:p>
                    <a:p>
                      <a:r>
                        <a:rPr lang="de-DE" sz="1400" b="1" dirty="0"/>
                        <a:t>Prozesse und Methoden</a:t>
                      </a:r>
                    </a:p>
                    <a:p>
                      <a:pPr marL="0" marR="0" lvl="0" indent="0" algn="l" defTabSz="914400" rtl="0" eaLnBrk="1" fontAlgn="auto" latinLnBrk="0" hangingPunct="1">
                        <a:lnSpc>
                          <a:spcPct val="100000"/>
                        </a:lnSpc>
                        <a:spcBef>
                          <a:spcPts val="0"/>
                        </a:spcBef>
                        <a:spcAft>
                          <a:spcPts val="0"/>
                        </a:spcAft>
                        <a:buClrTx/>
                        <a:buSzTx/>
                        <a:buFontTx/>
                        <a:buNone/>
                        <a:tabLst/>
                        <a:defRPr/>
                      </a:pPr>
                      <a:r>
                        <a:rPr lang="de-DE" sz="1400" b="1" dirty="0"/>
                        <a:t>(</a:t>
                      </a:r>
                      <a:r>
                        <a:rPr lang="de-DE" sz="1400" b="1" dirty="0" err="1"/>
                        <a:t>max</a:t>
                      </a:r>
                      <a:r>
                        <a:rPr lang="de-DE" sz="1400" b="1" dirty="0"/>
                        <a:t> 3)</a:t>
                      </a:r>
                    </a:p>
                    <a:p>
                      <a:endParaRPr lang="de-DE" sz="1400" b="1" dirty="0"/>
                    </a:p>
                  </a:txBody>
                  <a:tcPr>
                    <a:solidFill>
                      <a:schemeClr val="bg1">
                        <a:alpha val="20000"/>
                      </a:schemeClr>
                    </a:solidFill>
                  </a:tcPr>
                </a:tc>
                <a:tc>
                  <a:txBody>
                    <a:bodyPr/>
                    <a:lstStyle/>
                    <a:p>
                      <a:r>
                        <a:rPr lang="de-DE" sz="1400" b="1" dirty="0"/>
                        <a:t>20 Agile </a:t>
                      </a:r>
                      <a:r>
                        <a:rPr lang="de-DE" sz="1400" b="1" dirty="0" err="1"/>
                        <a:t>Manifesto</a:t>
                      </a:r>
                      <a:r>
                        <a:rPr lang="de-DE" sz="1400" b="1" dirty="0"/>
                        <a:t> &amp; </a:t>
                      </a:r>
                      <a:r>
                        <a:rPr lang="de-DE" sz="1400" b="1" dirty="0" err="1"/>
                        <a:t>Principles</a:t>
                      </a:r>
                      <a:r>
                        <a:rPr lang="de-DE" sz="1400" b="1" dirty="0"/>
                        <a:t> im Unternehmen (</a:t>
                      </a:r>
                      <a:r>
                        <a:rPr lang="de-DE" sz="1400" b="1" dirty="0" err="1"/>
                        <a:t>www</a:t>
                      </a:r>
                      <a:r>
                        <a:rPr lang="de-DE" sz="1400" b="1" dirty="0"/>
                        <a:t>)</a:t>
                      </a:r>
                    </a:p>
                    <a:p>
                      <a:r>
                        <a:rPr lang="de-DE" sz="1400" b="1" dirty="0"/>
                        <a:t>21 New Work / Leadership (</a:t>
                      </a:r>
                      <a:r>
                        <a:rPr lang="de-DE" sz="1400" b="1" dirty="0" err="1"/>
                        <a:t>www</a:t>
                      </a:r>
                      <a:r>
                        <a:rPr lang="de-DE" sz="1400" b="1" dirty="0"/>
                        <a:t>)</a:t>
                      </a:r>
                    </a:p>
                    <a:p>
                      <a:r>
                        <a:rPr lang="de-DE" sz="1400" b="1" dirty="0"/>
                        <a:t>22 </a:t>
                      </a:r>
                      <a:r>
                        <a:rPr lang="de-DE" sz="1400" b="1" dirty="0" err="1"/>
                        <a:t>Employee</a:t>
                      </a:r>
                      <a:r>
                        <a:rPr lang="de-DE" sz="1400" b="1" dirty="0"/>
                        <a:t> Engagement (</a:t>
                      </a:r>
                      <a:r>
                        <a:rPr lang="de-DE" sz="1400" b="1" dirty="0" err="1"/>
                        <a:t>Lencioni</a:t>
                      </a:r>
                      <a:r>
                        <a:rPr lang="de-DE" sz="1400" b="1" dirty="0"/>
                        <a:t>: 3 </a:t>
                      </a:r>
                      <a:r>
                        <a:rPr lang="de-DE" sz="1400" b="1" dirty="0" err="1"/>
                        <a:t>signs</a:t>
                      </a:r>
                      <a:r>
                        <a:rPr lang="de-DE" sz="1400" b="1" dirty="0"/>
                        <a:t> </a:t>
                      </a:r>
                      <a:r>
                        <a:rPr lang="de-DE" sz="1400" b="1" dirty="0" err="1"/>
                        <a:t>of</a:t>
                      </a:r>
                      <a:r>
                        <a:rPr lang="de-DE" sz="1400" b="1" dirty="0"/>
                        <a:t> a miserable </a:t>
                      </a:r>
                      <a:r>
                        <a:rPr lang="de-DE" sz="1400" b="1" dirty="0" err="1"/>
                        <a:t>job</a:t>
                      </a:r>
                      <a:r>
                        <a:rPr lang="de-DE" sz="1400" b="1" dirty="0"/>
                        <a:t>)</a:t>
                      </a:r>
                    </a:p>
                    <a:p>
                      <a:r>
                        <a:rPr lang="de-DE" sz="1400" b="1" dirty="0"/>
                        <a:t>23 Deep Work (Cal Newport)</a:t>
                      </a:r>
                    </a:p>
                    <a:p>
                      <a:r>
                        <a:rPr lang="de-DE" sz="1400" b="1" dirty="0"/>
                        <a:t>24 Design </a:t>
                      </a:r>
                      <a:r>
                        <a:rPr lang="de-DE" sz="1400" b="1" dirty="0" err="1"/>
                        <a:t>Thinking</a:t>
                      </a:r>
                      <a:r>
                        <a:rPr lang="de-DE" sz="1400" b="1" dirty="0"/>
                        <a:t> (</a:t>
                      </a:r>
                      <a:r>
                        <a:rPr lang="de-DE" sz="1400" b="1" dirty="0" err="1"/>
                        <a:t>www</a:t>
                      </a:r>
                      <a:r>
                        <a:rPr lang="de-DE" sz="1400" b="1" dirty="0"/>
                        <a:t> / </a:t>
                      </a:r>
                      <a:r>
                        <a:rPr lang="de-DE" sz="1400" b="1" dirty="0" err="1"/>
                        <a:t>Lewrick</a:t>
                      </a:r>
                      <a:r>
                        <a:rPr lang="de-DE" sz="1400" b="1" dirty="0"/>
                        <a:t>, Link, </a:t>
                      </a:r>
                      <a:r>
                        <a:rPr lang="de-DE" sz="1400" b="1" dirty="0" err="1"/>
                        <a:t>Leifer</a:t>
                      </a:r>
                      <a:r>
                        <a:rPr lang="de-DE" sz="1400" b="1" dirty="0"/>
                        <a:t>: Das DT </a:t>
                      </a:r>
                      <a:r>
                        <a:rPr lang="de-DE" sz="1400" b="1" dirty="0" err="1"/>
                        <a:t>Playbook</a:t>
                      </a:r>
                      <a:r>
                        <a:rPr lang="de-DE" sz="1400" b="1" dirty="0"/>
                        <a:t>)</a:t>
                      </a:r>
                    </a:p>
                    <a:p>
                      <a:r>
                        <a:rPr lang="de-DE" sz="1400" b="1" dirty="0"/>
                        <a:t>25 Business Model Canvas / Patterns (www.mosaiic.de/business-model-patterns) </a:t>
                      </a:r>
                    </a:p>
                    <a:p>
                      <a:r>
                        <a:rPr lang="de-DE" sz="1400" b="1" dirty="0"/>
                        <a:t>26 Blue Ocean </a:t>
                      </a:r>
                      <a:r>
                        <a:rPr lang="de-DE" sz="1400" b="1" dirty="0" err="1"/>
                        <a:t>Strategy</a:t>
                      </a:r>
                      <a:r>
                        <a:rPr lang="de-DE" sz="1400" b="1" dirty="0"/>
                        <a:t> (W. Chan Kim et al.)</a:t>
                      </a:r>
                    </a:p>
                    <a:p>
                      <a:r>
                        <a:rPr lang="de-DE" sz="1400" b="1" dirty="0"/>
                        <a:t>27 Google Venture Sprint (</a:t>
                      </a:r>
                      <a:r>
                        <a:rPr lang="de-DE" sz="1400" b="1" dirty="0">
                          <a:hlinkClick r:id="rId4"/>
                        </a:rPr>
                        <a:t>www.gv.com/sprint</a:t>
                      </a:r>
                      <a:r>
                        <a:rPr lang="de-DE" sz="1400" b="1" dirty="0"/>
                        <a:t>) – Jake Knapp: Sprint</a:t>
                      </a:r>
                    </a:p>
                  </a:txBody>
                  <a:tcPr>
                    <a:solidFill>
                      <a:schemeClr val="bg1">
                        <a:alpha val="20000"/>
                      </a:schemeClr>
                    </a:solidFill>
                  </a:tcPr>
                </a:tc>
                <a:extLst>
                  <a:ext uri="{0D108BD9-81ED-4DB2-BD59-A6C34878D82A}">
                    <a16:rowId xmlns:a16="http://schemas.microsoft.com/office/drawing/2014/main" val="2835579308"/>
                  </a:ext>
                </a:extLst>
              </a:tr>
              <a:tr h="370840">
                <a:tc>
                  <a:txBody>
                    <a:bodyPr/>
                    <a:lstStyle/>
                    <a:p>
                      <a:endParaRPr lang="de-DE" sz="1400" b="1" dirty="0"/>
                    </a:p>
                    <a:p>
                      <a:r>
                        <a:rPr lang="de-DE" sz="1400" b="1" dirty="0"/>
                        <a:t>Organisations-Management</a:t>
                      </a:r>
                    </a:p>
                    <a:p>
                      <a:r>
                        <a:rPr lang="de-DE" sz="1400" b="1" dirty="0"/>
                        <a:t>(</a:t>
                      </a:r>
                      <a:r>
                        <a:rPr lang="de-DE" sz="1400" b="1" dirty="0" err="1"/>
                        <a:t>max</a:t>
                      </a:r>
                      <a:r>
                        <a:rPr lang="de-DE" sz="1400" b="1" dirty="0"/>
                        <a:t> 3)</a:t>
                      </a:r>
                    </a:p>
                  </a:txBody>
                  <a:tcP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400" b="1" dirty="0"/>
                        <a:t>30 Innovatives Unternehmen? (</a:t>
                      </a:r>
                      <a:r>
                        <a:rPr lang="de-DE" sz="1400" kern="1200" dirty="0">
                          <a:solidFill>
                            <a:schemeClr val="dk1"/>
                          </a:solidFill>
                          <a:latin typeface="+mn-lt"/>
                          <a:ea typeface="+mn-ea"/>
                          <a:cs typeface="+mn-cs"/>
                        </a:rPr>
                        <a:t>Key </a:t>
                      </a:r>
                      <a:r>
                        <a:rPr lang="de-DE" sz="1400" kern="1200" dirty="0" err="1">
                          <a:solidFill>
                            <a:schemeClr val="dk1"/>
                          </a:solidFill>
                          <a:latin typeface="+mn-lt"/>
                          <a:ea typeface="+mn-ea"/>
                          <a:cs typeface="+mn-cs"/>
                        </a:rPr>
                        <a:t>aspects</a:t>
                      </a:r>
                      <a:r>
                        <a:rPr lang="de-DE" sz="1400" kern="1200" dirty="0">
                          <a:solidFill>
                            <a:schemeClr val="dk1"/>
                          </a:solidFill>
                          <a:latin typeface="+mn-lt"/>
                          <a:ea typeface="+mn-ea"/>
                          <a:cs typeface="+mn-cs"/>
                        </a:rPr>
                        <a:t>, </a:t>
                      </a:r>
                      <a:r>
                        <a:rPr lang="de-DE" sz="1400" kern="1200" dirty="0" err="1">
                          <a:solidFill>
                            <a:schemeClr val="dk1"/>
                          </a:solidFill>
                          <a:latin typeface="+mn-lt"/>
                          <a:ea typeface="+mn-ea"/>
                          <a:cs typeface="+mn-cs"/>
                        </a:rPr>
                        <a:t>challenges</a:t>
                      </a:r>
                      <a:r>
                        <a:rPr lang="de-DE" sz="1400" kern="1200" dirty="0">
                          <a:solidFill>
                            <a:schemeClr val="dk1"/>
                          </a:solidFill>
                          <a:latin typeface="+mn-lt"/>
                          <a:ea typeface="+mn-ea"/>
                          <a:cs typeface="+mn-cs"/>
                        </a:rPr>
                        <a:t>, </a:t>
                      </a:r>
                      <a:r>
                        <a:rPr lang="de-DE" sz="1400" kern="1200" dirty="0" err="1">
                          <a:solidFill>
                            <a:schemeClr val="dk1"/>
                          </a:solidFill>
                          <a:latin typeface="+mn-lt"/>
                          <a:ea typeface="+mn-ea"/>
                          <a:cs typeface="+mn-cs"/>
                        </a:rPr>
                        <a:t>success</a:t>
                      </a:r>
                      <a:r>
                        <a:rPr lang="de-DE" sz="1400" kern="1200" dirty="0">
                          <a:solidFill>
                            <a:schemeClr val="dk1"/>
                          </a:solidFill>
                          <a:latin typeface="+mn-lt"/>
                          <a:ea typeface="+mn-ea"/>
                          <a:cs typeface="+mn-cs"/>
                        </a:rPr>
                        <a:t> </a:t>
                      </a:r>
                      <a:r>
                        <a:rPr lang="de-DE" sz="1400" kern="1200" dirty="0" err="1">
                          <a:solidFill>
                            <a:schemeClr val="dk1"/>
                          </a:solidFill>
                          <a:latin typeface="+mn-lt"/>
                          <a:ea typeface="+mn-ea"/>
                          <a:cs typeface="+mn-cs"/>
                        </a:rPr>
                        <a:t>factors</a:t>
                      </a:r>
                      <a:r>
                        <a:rPr lang="de-DE" sz="1400" kern="1200" dirty="0">
                          <a:solidFill>
                            <a:schemeClr val="dk1"/>
                          </a:solidFill>
                          <a:latin typeface="+mn-lt"/>
                          <a:ea typeface="+mn-ea"/>
                          <a:cs typeface="+mn-cs"/>
                        </a:rPr>
                        <a:t>)</a:t>
                      </a:r>
                      <a:endParaRPr lang="de-DE" sz="1400" b="1" dirty="0"/>
                    </a:p>
                    <a:p>
                      <a:r>
                        <a:rPr lang="de-DE" sz="1400" b="1" dirty="0"/>
                        <a:t>31 </a:t>
                      </a:r>
                      <a:r>
                        <a:rPr lang="de-DE" sz="1400" b="1" dirty="0" err="1"/>
                        <a:t>Innovator‘s</a:t>
                      </a:r>
                      <a:r>
                        <a:rPr lang="de-DE" sz="1400" b="1" dirty="0"/>
                        <a:t> Dilemma (Clayton Christensen)</a:t>
                      </a:r>
                    </a:p>
                    <a:p>
                      <a:r>
                        <a:rPr lang="de-DE" sz="1400" b="1" dirty="0"/>
                        <a:t>32 Organizational Lifecycle – Augen auf bei der AG-Wahl (William Bridges)</a:t>
                      </a:r>
                    </a:p>
                    <a:p>
                      <a:r>
                        <a:rPr lang="de-DE" sz="1400" b="1" dirty="0"/>
                        <a:t>33 Digitale Projekte – wie umsetzen? (John Kotter, William Bridges, …)</a:t>
                      </a:r>
                    </a:p>
                    <a:p>
                      <a:r>
                        <a:rPr lang="de-DE" sz="1400" b="1" dirty="0"/>
                        <a:t>34 Crossing </a:t>
                      </a:r>
                      <a:r>
                        <a:rPr lang="de-DE" sz="1400" b="1" dirty="0" err="1"/>
                        <a:t>the</a:t>
                      </a:r>
                      <a:r>
                        <a:rPr lang="de-DE" sz="1400" b="1" dirty="0"/>
                        <a:t> </a:t>
                      </a:r>
                      <a:r>
                        <a:rPr lang="de-DE" sz="1400" b="1" dirty="0" err="1"/>
                        <a:t>Chasm</a:t>
                      </a:r>
                      <a:r>
                        <a:rPr lang="de-DE" sz="1400" b="1" dirty="0"/>
                        <a:t> (Geoffrey Moore)</a:t>
                      </a:r>
                    </a:p>
                  </a:txBody>
                  <a:tcPr>
                    <a:solidFill>
                      <a:schemeClr val="bg1"/>
                    </a:solidFill>
                  </a:tcPr>
                </a:tc>
                <a:extLst>
                  <a:ext uri="{0D108BD9-81ED-4DB2-BD59-A6C34878D82A}">
                    <a16:rowId xmlns:a16="http://schemas.microsoft.com/office/drawing/2014/main" val="380096814"/>
                  </a:ext>
                </a:extLst>
              </a:tr>
              <a:tr h="370840">
                <a:tc>
                  <a:txBody>
                    <a:bodyPr/>
                    <a:lstStyle/>
                    <a:p>
                      <a:r>
                        <a:rPr lang="de-DE" sz="1400" b="1" dirty="0"/>
                        <a:t>Weitere Themen</a:t>
                      </a:r>
                    </a:p>
                    <a:p>
                      <a:endParaRPr lang="de-DE" sz="1400" b="1" dirty="0"/>
                    </a:p>
                  </a:txBody>
                  <a:tcPr>
                    <a:solidFill>
                      <a:schemeClr val="bg1">
                        <a:alpha val="2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400" b="1" dirty="0"/>
                        <a:t>40  …..</a:t>
                      </a:r>
                    </a:p>
                  </a:txBody>
                  <a:tcPr>
                    <a:solidFill>
                      <a:schemeClr val="bg1">
                        <a:alpha val="20000"/>
                      </a:schemeClr>
                    </a:solidFill>
                  </a:tcPr>
                </a:tc>
                <a:extLst>
                  <a:ext uri="{0D108BD9-81ED-4DB2-BD59-A6C34878D82A}">
                    <a16:rowId xmlns:a16="http://schemas.microsoft.com/office/drawing/2014/main" val="1771233366"/>
                  </a:ext>
                </a:extLst>
              </a:tr>
            </a:tbl>
          </a:graphicData>
        </a:graphic>
      </p:graphicFrame>
    </p:spTree>
    <p:extLst>
      <p:ext uri="{BB962C8B-B14F-4D97-AF65-F5344CB8AC3E}">
        <p14:creationId xmlns:p14="http://schemas.microsoft.com/office/powerpoint/2010/main" val="146097787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de-DE" dirty="0">
                <a:solidFill>
                  <a:schemeClr val="tx1"/>
                </a:solidFill>
              </a:rPr>
              <a:t>SQ II: Digital </a:t>
            </a:r>
            <a:r>
              <a:rPr lang="de-DE" dirty="0" err="1">
                <a:solidFill>
                  <a:schemeClr val="tx1"/>
                </a:solidFill>
              </a:rPr>
              <a:t>Thinking</a:t>
            </a:r>
            <a:r>
              <a:rPr lang="de-DE" dirty="0">
                <a:solidFill>
                  <a:schemeClr val="tx1"/>
                </a:solidFill>
              </a:rPr>
              <a:t> &amp; Management</a:t>
            </a:r>
            <a:br>
              <a:rPr lang="de-DE" dirty="0">
                <a:solidFill>
                  <a:schemeClr val="tx1"/>
                </a:solidFill>
              </a:rPr>
            </a:br>
            <a:r>
              <a:rPr lang="de-DE" dirty="0">
                <a:solidFill>
                  <a:schemeClr val="tx1"/>
                </a:solidFill>
              </a:rPr>
              <a:t>Studentische</a:t>
            </a:r>
            <a:r>
              <a:rPr lang="de-DE" dirty="0"/>
              <a:t> </a:t>
            </a:r>
            <a:r>
              <a:rPr lang="de-DE" dirty="0">
                <a:solidFill>
                  <a:schemeClr val="tx1"/>
                </a:solidFill>
              </a:rPr>
              <a:t>Arbeitspakete</a:t>
            </a:r>
            <a:br>
              <a:rPr lang="de-DE" dirty="0">
                <a:solidFill>
                  <a:schemeClr val="tx1"/>
                </a:solidFill>
              </a:rPr>
            </a:br>
            <a:r>
              <a:rPr lang="de-DE" sz="1600" dirty="0">
                <a:solidFill>
                  <a:schemeClr val="tx1"/>
                </a:solidFill>
              </a:rPr>
              <a:t>(Guide </a:t>
            </a:r>
            <a:r>
              <a:rPr lang="de-DE" sz="1600" dirty="0" err="1">
                <a:solidFill>
                  <a:schemeClr val="tx1"/>
                </a:solidFill>
              </a:rPr>
              <a:t>to</a:t>
            </a:r>
            <a:r>
              <a:rPr lang="de-DE" sz="1600" dirty="0">
                <a:solidFill>
                  <a:schemeClr val="tx1"/>
                </a:solidFill>
              </a:rPr>
              <a:t> Innovation </a:t>
            </a:r>
            <a:r>
              <a:rPr lang="de-DE" sz="1600" dirty="0" err="1">
                <a:solidFill>
                  <a:schemeClr val="tx1"/>
                </a:solidFill>
              </a:rPr>
              <a:t>Mgmt</a:t>
            </a:r>
            <a:r>
              <a:rPr lang="de-DE" sz="1600" dirty="0">
                <a:solidFill>
                  <a:schemeClr val="tx1"/>
                </a:solidFill>
              </a:rPr>
              <a:t>: </a:t>
            </a:r>
            <a:r>
              <a:rPr lang="de-DE" sz="1600" dirty="0">
                <a:hlinkClick r:id="rId3"/>
              </a:rPr>
              <a:t>https://www.viima.com/blog/innovation-management</a:t>
            </a:r>
            <a:r>
              <a:rPr lang="de-DE" sz="1600" dirty="0"/>
              <a:t>)</a:t>
            </a:r>
            <a:endParaRPr lang="de-DE" dirty="0"/>
          </a:p>
        </p:txBody>
      </p:sp>
      <p:graphicFrame>
        <p:nvGraphicFramePr>
          <p:cNvPr id="2" name="Table 1">
            <a:extLst>
              <a:ext uri="{FF2B5EF4-FFF2-40B4-BE49-F238E27FC236}">
                <a16:creationId xmlns:a16="http://schemas.microsoft.com/office/drawing/2014/main" id="{50E22733-0F4C-4548-BDC3-7D49C26F70C4}"/>
              </a:ext>
            </a:extLst>
          </p:cNvPr>
          <p:cNvGraphicFramePr>
            <a:graphicFrameLocks noGrp="1"/>
          </p:cNvGraphicFramePr>
          <p:nvPr>
            <p:extLst>
              <p:ext uri="{D42A27DB-BD31-4B8C-83A1-F6EECF244321}">
                <p14:modId xmlns:p14="http://schemas.microsoft.com/office/powerpoint/2010/main" val="2353049018"/>
              </p:ext>
            </p:extLst>
          </p:nvPr>
        </p:nvGraphicFramePr>
        <p:xfrm>
          <a:off x="75903" y="834240"/>
          <a:ext cx="8992194" cy="5699760"/>
        </p:xfrm>
        <a:graphic>
          <a:graphicData uri="http://schemas.openxmlformats.org/drawingml/2006/table">
            <a:tbl>
              <a:tblPr firstRow="1" bandRow="1">
                <a:tableStyleId>{BC89EF96-8CEA-46FF-86C4-4CE0E7609802}</a:tableStyleId>
              </a:tblPr>
              <a:tblGrid>
                <a:gridCol w="1907901">
                  <a:extLst>
                    <a:ext uri="{9D8B030D-6E8A-4147-A177-3AD203B41FA5}">
                      <a16:colId xmlns:a16="http://schemas.microsoft.com/office/drawing/2014/main" val="19747259"/>
                    </a:ext>
                  </a:extLst>
                </a:gridCol>
                <a:gridCol w="7084293">
                  <a:extLst>
                    <a:ext uri="{9D8B030D-6E8A-4147-A177-3AD203B41FA5}">
                      <a16:colId xmlns:a16="http://schemas.microsoft.com/office/drawing/2014/main" val="2195378045"/>
                    </a:ext>
                  </a:extLst>
                </a:gridCol>
              </a:tblGrid>
              <a:tr h="370840">
                <a:tc>
                  <a:txBody>
                    <a:bodyPr/>
                    <a:lstStyle/>
                    <a:p>
                      <a:endParaRPr lang="de-DE" sz="1400" b="1" dirty="0"/>
                    </a:p>
                    <a:p>
                      <a:r>
                        <a:rPr lang="de-DE" sz="1400" b="1" dirty="0"/>
                        <a:t>Persönliche und soziale Kompetenz</a:t>
                      </a:r>
                    </a:p>
                    <a:p>
                      <a:pPr marL="0" marR="0" lvl="0" indent="0" algn="l" defTabSz="914400" rtl="0" eaLnBrk="1" fontAlgn="auto" latinLnBrk="0" hangingPunct="1">
                        <a:lnSpc>
                          <a:spcPct val="100000"/>
                        </a:lnSpc>
                        <a:spcBef>
                          <a:spcPts val="0"/>
                        </a:spcBef>
                        <a:spcAft>
                          <a:spcPts val="0"/>
                        </a:spcAft>
                        <a:buClrTx/>
                        <a:buSzTx/>
                        <a:buFontTx/>
                        <a:buNone/>
                        <a:tabLst/>
                        <a:defRPr/>
                      </a:pPr>
                      <a:r>
                        <a:rPr lang="de-DE" sz="1400" b="1" dirty="0"/>
                        <a:t>(</a:t>
                      </a:r>
                      <a:r>
                        <a:rPr lang="de-DE" sz="1400" b="1" dirty="0" err="1"/>
                        <a:t>max</a:t>
                      </a:r>
                      <a:r>
                        <a:rPr lang="de-DE" sz="1400" b="1" dirty="0"/>
                        <a:t> 3)</a:t>
                      </a:r>
                    </a:p>
                  </a:txBody>
                  <a:tcPr>
                    <a:solidFill>
                      <a:schemeClr val="bg1"/>
                    </a:solidFill>
                  </a:tcPr>
                </a:tc>
                <a:tc>
                  <a:txBody>
                    <a:bodyPr/>
                    <a:lstStyle/>
                    <a:p>
                      <a:r>
                        <a:rPr lang="de-DE" sz="1400" b="1" dirty="0"/>
                        <a:t>10 Emotionale Intelligenz (</a:t>
                      </a:r>
                      <a:r>
                        <a:rPr lang="de-DE" sz="1400" b="1" dirty="0" err="1"/>
                        <a:t>zB</a:t>
                      </a:r>
                      <a:r>
                        <a:rPr lang="de-DE" sz="1400" b="1" dirty="0"/>
                        <a:t> </a:t>
                      </a:r>
                      <a:r>
                        <a:rPr lang="de-DE" sz="1400" b="1" dirty="0" err="1"/>
                        <a:t>Bradberry</a:t>
                      </a:r>
                      <a:r>
                        <a:rPr lang="de-DE" sz="1400" b="1" dirty="0"/>
                        <a:t>/</a:t>
                      </a:r>
                      <a:r>
                        <a:rPr lang="de-DE" sz="1400" b="1" dirty="0" err="1"/>
                        <a:t>Greaves</a:t>
                      </a:r>
                      <a:r>
                        <a:rPr lang="de-DE" sz="1400" b="1" dirty="0"/>
                        <a:t>: Emotional </a:t>
                      </a:r>
                      <a:r>
                        <a:rPr lang="de-DE" sz="1400" b="1" dirty="0" err="1"/>
                        <a:t>Intelligence</a:t>
                      </a:r>
                      <a:r>
                        <a:rPr lang="de-DE" sz="1400" b="1" dirty="0"/>
                        <a:t> 2.0)</a:t>
                      </a:r>
                    </a:p>
                    <a:p>
                      <a:r>
                        <a:rPr lang="de-DE" sz="1400" b="1" dirty="0"/>
                        <a:t>11 Stress </a:t>
                      </a:r>
                      <a:r>
                        <a:rPr lang="de-DE" sz="1400" b="1" dirty="0" err="1"/>
                        <a:t>Mgmt</a:t>
                      </a:r>
                      <a:r>
                        <a:rPr lang="de-DE" sz="1400" b="1" dirty="0"/>
                        <a:t> – Stress </a:t>
                      </a:r>
                      <a:r>
                        <a:rPr lang="de-DE" sz="1400" b="1" dirty="0" err="1"/>
                        <a:t>Resilience</a:t>
                      </a:r>
                      <a:r>
                        <a:rPr lang="de-DE" sz="1400" b="1" dirty="0"/>
                        <a:t> (Kaluza: Gelassenheit … im Stress)</a:t>
                      </a:r>
                    </a:p>
                    <a:p>
                      <a:r>
                        <a:rPr lang="de-DE" sz="1400" b="1" dirty="0"/>
                        <a:t>12 Time </a:t>
                      </a:r>
                      <a:r>
                        <a:rPr lang="de-DE" sz="1400" b="1" dirty="0" err="1"/>
                        <a:t>Mgmt</a:t>
                      </a:r>
                      <a:r>
                        <a:rPr lang="de-DE" sz="1400" b="1" dirty="0"/>
                        <a:t> (Uchtmann: Endlich mehr Zeit!)</a:t>
                      </a:r>
                    </a:p>
                    <a:p>
                      <a:r>
                        <a:rPr lang="de-DE" sz="1400" b="1" dirty="0"/>
                        <a:t>13 </a:t>
                      </a:r>
                      <a:r>
                        <a:rPr lang="de-DE" sz="1400" b="1" dirty="0" err="1"/>
                        <a:t>Pessimists</a:t>
                      </a:r>
                      <a:r>
                        <a:rPr lang="de-DE" sz="1400" b="1" dirty="0"/>
                        <a:t> </a:t>
                      </a:r>
                      <a:r>
                        <a:rPr lang="de-DE" sz="1400" b="1" dirty="0" err="1"/>
                        <a:t>sound</a:t>
                      </a:r>
                      <a:r>
                        <a:rPr lang="de-DE" sz="1400" b="1" dirty="0"/>
                        <a:t> smart, </a:t>
                      </a:r>
                      <a:r>
                        <a:rPr lang="de-DE" sz="1400" b="1" dirty="0" err="1"/>
                        <a:t>optimists</a:t>
                      </a:r>
                      <a:r>
                        <a:rPr lang="de-DE" sz="1400" b="1" dirty="0"/>
                        <a:t> </a:t>
                      </a:r>
                      <a:r>
                        <a:rPr lang="de-DE" sz="1400" b="1" dirty="0" err="1"/>
                        <a:t>make</a:t>
                      </a:r>
                      <a:r>
                        <a:rPr lang="de-DE" sz="1400" b="1" dirty="0"/>
                        <a:t> </a:t>
                      </a:r>
                      <a:r>
                        <a:rPr lang="de-DE" sz="1400" b="1" dirty="0" err="1"/>
                        <a:t>money</a:t>
                      </a:r>
                      <a:r>
                        <a:rPr lang="de-DE" sz="1400" b="1" dirty="0"/>
                        <a:t> (Growth </a:t>
                      </a:r>
                      <a:r>
                        <a:rPr lang="de-DE" sz="1400" b="1" dirty="0" err="1"/>
                        <a:t>Mindset</a:t>
                      </a:r>
                      <a:r>
                        <a:rPr lang="de-DE" sz="1400" b="1"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de-DE" sz="1400" b="1" dirty="0"/>
                        <a:t>14 </a:t>
                      </a:r>
                      <a:r>
                        <a:rPr lang="de-DE" sz="1400" b="1" dirty="0" err="1"/>
                        <a:t>Decision</a:t>
                      </a:r>
                      <a:r>
                        <a:rPr lang="de-DE" sz="1400" b="1" dirty="0"/>
                        <a:t> Bias – Logische Entscheidungen? (Kahnemann/Tversky)</a:t>
                      </a:r>
                    </a:p>
                    <a:p>
                      <a:pPr marL="0" marR="0" lvl="0" indent="0" algn="l" defTabSz="914400" rtl="0" eaLnBrk="1" fontAlgn="auto" latinLnBrk="0" hangingPunct="1">
                        <a:lnSpc>
                          <a:spcPct val="100000"/>
                        </a:lnSpc>
                        <a:spcBef>
                          <a:spcPts val="0"/>
                        </a:spcBef>
                        <a:spcAft>
                          <a:spcPts val="0"/>
                        </a:spcAft>
                        <a:buClrTx/>
                        <a:buSzTx/>
                        <a:buFontTx/>
                        <a:buNone/>
                        <a:tabLst/>
                        <a:defRPr/>
                      </a:pPr>
                      <a:r>
                        <a:rPr lang="de-DE" sz="1400" b="1" dirty="0"/>
                        <a:t>15 Fehlerkultur, Fuck-Up-Nights (</a:t>
                      </a:r>
                      <a:r>
                        <a:rPr lang="de-DE" sz="1400" b="1" dirty="0" err="1"/>
                        <a:t>www</a:t>
                      </a:r>
                      <a:r>
                        <a:rPr lang="de-DE" sz="1400" b="1"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de-DE" sz="1400" b="1" dirty="0"/>
                        <a:t>16 </a:t>
                      </a:r>
                      <a:r>
                        <a:rPr lang="de-DE" sz="1400" b="1" strike="noStrike" dirty="0" err="1"/>
                        <a:t>Intercultural</a:t>
                      </a:r>
                      <a:r>
                        <a:rPr lang="de-DE" sz="1400" b="1" strike="noStrike" dirty="0"/>
                        <a:t> </a:t>
                      </a:r>
                      <a:r>
                        <a:rPr lang="de-DE" sz="1400" b="1" strike="noStrike" dirty="0" err="1"/>
                        <a:t>Aspects</a:t>
                      </a:r>
                      <a:r>
                        <a:rPr lang="de-DE" sz="1400" b="1" strike="noStrike" dirty="0"/>
                        <a:t> (</a:t>
                      </a:r>
                      <a:r>
                        <a:rPr lang="de-DE" sz="1400" b="1" strike="noStrike" dirty="0" err="1"/>
                        <a:t>www</a:t>
                      </a:r>
                      <a:r>
                        <a:rPr lang="de-DE" sz="1400" b="1" strike="noStrike"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de-DE" sz="1400" b="1" dirty="0"/>
                        <a:t>17 Schattenseiten der Digitalisierung (</a:t>
                      </a:r>
                      <a:r>
                        <a:rPr lang="de-DE" sz="1400" b="1" dirty="0" err="1"/>
                        <a:t>www</a:t>
                      </a:r>
                      <a:r>
                        <a:rPr lang="de-DE" sz="1400" b="1"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de-DE" sz="1400" b="1" dirty="0"/>
                        <a:t>18 Teambuilding (Tucker: Phasenmodell, </a:t>
                      </a:r>
                      <a:r>
                        <a:rPr lang="de-DE" sz="1400" b="1" dirty="0" err="1"/>
                        <a:t>Lencioni</a:t>
                      </a:r>
                      <a:r>
                        <a:rPr lang="de-DE" sz="1400" b="1" dirty="0"/>
                        <a:t>: 5 </a:t>
                      </a:r>
                      <a:r>
                        <a:rPr lang="de-DE" sz="1400" b="1" dirty="0" err="1"/>
                        <a:t>dysfunctions</a:t>
                      </a:r>
                      <a:r>
                        <a:rPr lang="de-DE" sz="1400" b="1" dirty="0"/>
                        <a:t> </a:t>
                      </a:r>
                      <a:r>
                        <a:rPr lang="de-DE" sz="1400" b="1" dirty="0" err="1"/>
                        <a:t>of</a:t>
                      </a:r>
                      <a:r>
                        <a:rPr lang="de-DE" sz="1400" b="1" dirty="0"/>
                        <a:t> a </a:t>
                      </a:r>
                      <a:r>
                        <a:rPr lang="de-DE" sz="1400" b="1" dirty="0" err="1"/>
                        <a:t>team</a:t>
                      </a:r>
                      <a:r>
                        <a:rPr lang="de-DE" sz="1400" b="1"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de-DE" sz="1400" b="1" dirty="0"/>
                        <a:t>19 Kreative Techniken (</a:t>
                      </a:r>
                      <a:r>
                        <a:rPr lang="de-DE" sz="1400" b="1" dirty="0" err="1"/>
                        <a:t>www</a:t>
                      </a:r>
                      <a:r>
                        <a:rPr lang="de-DE" sz="1400" b="1" dirty="0"/>
                        <a:t>)</a:t>
                      </a:r>
                    </a:p>
                  </a:txBody>
                  <a:tcPr>
                    <a:solidFill>
                      <a:schemeClr val="bg1"/>
                    </a:solidFill>
                  </a:tcPr>
                </a:tc>
                <a:extLst>
                  <a:ext uri="{0D108BD9-81ED-4DB2-BD59-A6C34878D82A}">
                    <a16:rowId xmlns:a16="http://schemas.microsoft.com/office/drawing/2014/main" val="1250319755"/>
                  </a:ext>
                </a:extLst>
              </a:tr>
              <a:tr h="370840">
                <a:tc>
                  <a:txBody>
                    <a:bodyPr/>
                    <a:lstStyle/>
                    <a:p>
                      <a:endParaRPr lang="de-DE" sz="1400" b="1" dirty="0"/>
                    </a:p>
                    <a:p>
                      <a:r>
                        <a:rPr lang="de-DE" sz="1400" b="1" dirty="0"/>
                        <a:t>Prozesse und Methoden</a:t>
                      </a:r>
                    </a:p>
                    <a:p>
                      <a:pPr marL="0" marR="0" lvl="0" indent="0" algn="l" defTabSz="914400" rtl="0" eaLnBrk="1" fontAlgn="auto" latinLnBrk="0" hangingPunct="1">
                        <a:lnSpc>
                          <a:spcPct val="100000"/>
                        </a:lnSpc>
                        <a:spcBef>
                          <a:spcPts val="0"/>
                        </a:spcBef>
                        <a:spcAft>
                          <a:spcPts val="0"/>
                        </a:spcAft>
                        <a:buClrTx/>
                        <a:buSzTx/>
                        <a:buFontTx/>
                        <a:buNone/>
                        <a:tabLst/>
                        <a:defRPr/>
                      </a:pPr>
                      <a:r>
                        <a:rPr lang="de-DE" sz="1400" b="1" dirty="0"/>
                        <a:t>(</a:t>
                      </a:r>
                      <a:r>
                        <a:rPr lang="de-DE" sz="1400" b="1" dirty="0" err="1"/>
                        <a:t>max</a:t>
                      </a:r>
                      <a:r>
                        <a:rPr lang="de-DE" sz="1400" b="1" dirty="0"/>
                        <a:t> 3)</a:t>
                      </a:r>
                    </a:p>
                    <a:p>
                      <a:endParaRPr lang="de-DE" sz="1400" b="1" dirty="0"/>
                    </a:p>
                  </a:txBody>
                  <a:tcPr>
                    <a:solidFill>
                      <a:schemeClr val="bg1">
                        <a:alpha val="20000"/>
                      </a:schemeClr>
                    </a:solidFill>
                  </a:tcPr>
                </a:tc>
                <a:tc>
                  <a:txBody>
                    <a:bodyPr/>
                    <a:lstStyle/>
                    <a:p>
                      <a:r>
                        <a:rPr lang="de-DE" sz="1400" b="1" dirty="0"/>
                        <a:t>20 Agile </a:t>
                      </a:r>
                      <a:r>
                        <a:rPr lang="de-DE" sz="1400" b="1" dirty="0" err="1"/>
                        <a:t>Manifesto</a:t>
                      </a:r>
                      <a:r>
                        <a:rPr lang="de-DE" sz="1400" b="1" dirty="0"/>
                        <a:t> &amp; </a:t>
                      </a:r>
                      <a:r>
                        <a:rPr lang="de-DE" sz="1400" b="1" dirty="0" err="1"/>
                        <a:t>Principles</a:t>
                      </a:r>
                      <a:r>
                        <a:rPr lang="de-DE" sz="1400" b="1" dirty="0"/>
                        <a:t> im Unternehmen (</a:t>
                      </a:r>
                      <a:r>
                        <a:rPr lang="de-DE" sz="1400" b="1" dirty="0" err="1"/>
                        <a:t>www</a:t>
                      </a:r>
                      <a:r>
                        <a:rPr lang="de-DE" sz="1400" b="1" dirty="0"/>
                        <a:t>)</a:t>
                      </a:r>
                    </a:p>
                    <a:p>
                      <a:r>
                        <a:rPr lang="de-DE" sz="1400" b="1" dirty="0"/>
                        <a:t>21 New Work / Leadership (</a:t>
                      </a:r>
                      <a:r>
                        <a:rPr lang="de-DE" sz="1400" b="1" dirty="0" err="1"/>
                        <a:t>www</a:t>
                      </a:r>
                      <a:r>
                        <a:rPr lang="de-DE" sz="1400" b="1" dirty="0"/>
                        <a:t>)</a:t>
                      </a:r>
                    </a:p>
                    <a:p>
                      <a:r>
                        <a:rPr lang="de-DE" sz="1400" b="1" dirty="0"/>
                        <a:t>22 </a:t>
                      </a:r>
                      <a:r>
                        <a:rPr lang="de-DE" sz="1400" b="1" dirty="0" err="1"/>
                        <a:t>Employee</a:t>
                      </a:r>
                      <a:r>
                        <a:rPr lang="de-DE" sz="1400" b="1" dirty="0"/>
                        <a:t> Engagement (</a:t>
                      </a:r>
                      <a:r>
                        <a:rPr lang="de-DE" sz="1400" b="1" dirty="0" err="1"/>
                        <a:t>Lencioni</a:t>
                      </a:r>
                      <a:r>
                        <a:rPr lang="de-DE" sz="1400" b="1" dirty="0"/>
                        <a:t>: 3 </a:t>
                      </a:r>
                      <a:r>
                        <a:rPr lang="de-DE" sz="1400" b="1" dirty="0" err="1"/>
                        <a:t>signs</a:t>
                      </a:r>
                      <a:r>
                        <a:rPr lang="de-DE" sz="1400" b="1" dirty="0"/>
                        <a:t> </a:t>
                      </a:r>
                      <a:r>
                        <a:rPr lang="de-DE" sz="1400" b="1" dirty="0" err="1"/>
                        <a:t>of</a:t>
                      </a:r>
                      <a:r>
                        <a:rPr lang="de-DE" sz="1400" b="1" dirty="0"/>
                        <a:t> a miserable </a:t>
                      </a:r>
                      <a:r>
                        <a:rPr lang="de-DE" sz="1400" b="1" dirty="0" err="1"/>
                        <a:t>job</a:t>
                      </a:r>
                      <a:r>
                        <a:rPr lang="de-DE" sz="1400" b="1" dirty="0"/>
                        <a:t>)</a:t>
                      </a:r>
                    </a:p>
                    <a:p>
                      <a:r>
                        <a:rPr lang="de-DE" sz="1400" b="1" dirty="0"/>
                        <a:t>23 Deep Work (Cal Newport)</a:t>
                      </a:r>
                    </a:p>
                    <a:p>
                      <a:r>
                        <a:rPr lang="de-DE" sz="1400" b="1" dirty="0"/>
                        <a:t>24 Design </a:t>
                      </a:r>
                      <a:r>
                        <a:rPr lang="de-DE" sz="1400" b="1" dirty="0" err="1"/>
                        <a:t>Thinking</a:t>
                      </a:r>
                      <a:r>
                        <a:rPr lang="de-DE" sz="1400" b="1" dirty="0"/>
                        <a:t> (</a:t>
                      </a:r>
                      <a:r>
                        <a:rPr lang="de-DE" sz="1400" b="1" dirty="0" err="1"/>
                        <a:t>www</a:t>
                      </a:r>
                      <a:r>
                        <a:rPr lang="de-DE" sz="1400" b="1" dirty="0"/>
                        <a:t> / </a:t>
                      </a:r>
                      <a:r>
                        <a:rPr lang="de-DE" sz="1400" b="1" dirty="0" err="1"/>
                        <a:t>Lewrick</a:t>
                      </a:r>
                      <a:r>
                        <a:rPr lang="de-DE" sz="1400" b="1" dirty="0"/>
                        <a:t>, Link, </a:t>
                      </a:r>
                      <a:r>
                        <a:rPr lang="de-DE" sz="1400" b="1" dirty="0" err="1"/>
                        <a:t>Leifer</a:t>
                      </a:r>
                      <a:r>
                        <a:rPr lang="de-DE" sz="1400" b="1" dirty="0"/>
                        <a:t>: Das DT </a:t>
                      </a:r>
                      <a:r>
                        <a:rPr lang="de-DE" sz="1400" b="1" dirty="0" err="1"/>
                        <a:t>Playbook</a:t>
                      </a:r>
                      <a:r>
                        <a:rPr lang="de-DE" sz="1400" b="1" dirty="0"/>
                        <a:t>)</a:t>
                      </a:r>
                    </a:p>
                    <a:p>
                      <a:r>
                        <a:rPr lang="de-DE" sz="1400" b="1" dirty="0"/>
                        <a:t>25 Business Model Canvas / Patterns (www.mosaiic.de/business-model-patterns) </a:t>
                      </a:r>
                    </a:p>
                    <a:p>
                      <a:r>
                        <a:rPr lang="de-DE" sz="1400" b="1" dirty="0"/>
                        <a:t>26 Blue Ocean </a:t>
                      </a:r>
                      <a:r>
                        <a:rPr lang="de-DE" sz="1400" b="1" dirty="0" err="1"/>
                        <a:t>Strategy</a:t>
                      </a:r>
                      <a:r>
                        <a:rPr lang="de-DE" sz="1400" b="1" dirty="0"/>
                        <a:t> (W. Chan Kim et al.)</a:t>
                      </a:r>
                    </a:p>
                    <a:p>
                      <a:r>
                        <a:rPr lang="de-DE" sz="1400" b="1" dirty="0"/>
                        <a:t>27 Google Venture Sprint (</a:t>
                      </a:r>
                      <a:r>
                        <a:rPr lang="de-DE" sz="1400" b="1" dirty="0">
                          <a:hlinkClick r:id="rId4"/>
                        </a:rPr>
                        <a:t>www.gv.com/sprint</a:t>
                      </a:r>
                      <a:r>
                        <a:rPr lang="de-DE" sz="1400" b="1" dirty="0"/>
                        <a:t>) – Jake Knapp: Sprint</a:t>
                      </a:r>
                    </a:p>
                  </a:txBody>
                  <a:tcPr>
                    <a:solidFill>
                      <a:schemeClr val="bg1">
                        <a:alpha val="20000"/>
                      </a:schemeClr>
                    </a:solidFill>
                  </a:tcPr>
                </a:tc>
                <a:extLst>
                  <a:ext uri="{0D108BD9-81ED-4DB2-BD59-A6C34878D82A}">
                    <a16:rowId xmlns:a16="http://schemas.microsoft.com/office/drawing/2014/main" val="2835579308"/>
                  </a:ext>
                </a:extLst>
              </a:tr>
              <a:tr h="370840">
                <a:tc>
                  <a:txBody>
                    <a:bodyPr/>
                    <a:lstStyle/>
                    <a:p>
                      <a:endParaRPr lang="de-DE" sz="1400" b="1" dirty="0"/>
                    </a:p>
                    <a:p>
                      <a:r>
                        <a:rPr lang="de-DE" sz="1400" b="1" dirty="0"/>
                        <a:t>Organisations-Management</a:t>
                      </a:r>
                    </a:p>
                    <a:p>
                      <a:r>
                        <a:rPr lang="de-DE" sz="1400" b="1" dirty="0"/>
                        <a:t>(</a:t>
                      </a:r>
                      <a:r>
                        <a:rPr lang="de-DE" sz="1400" b="1" dirty="0" err="1"/>
                        <a:t>max</a:t>
                      </a:r>
                      <a:r>
                        <a:rPr lang="de-DE" sz="1400" b="1" dirty="0"/>
                        <a:t> 3)</a:t>
                      </a:r>
                    </a:p>
                  </a:txBody>
                  <a:tcP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400" b="1" dirty="0"/>
                        <a:t>30 Innovatives Unternehmen? (</a:t>
                      </a:r>
                      <a:r>
                        <a:rPr lang="de-DE" sz="1400" kern="1200" dirty="0">
                          <a:solidFill>
                            <a:schemeClr val="dk1"/>
                          </a:solidFill>
                          <a:latin typeface="+mn-lt"/>
                          <a:ea typeface="+mn-ea"/>
                          <a:cs typeface="+mn-cs"/>
                        </a:rPr>
                        <a:t>Key </a:t>
                      </a:r>
                      <a:r>
                        <a:rPr lang="de-DE" sz="1400" kern="1200" dirty="0" err="1">
                          <a:solidFill>
                            <a:schemeClr val="dk1"/>
                          </a:solidFill>
                          <a:latin typeface="+mn-lt"/>
                          <a:ea typeface="+mn-ea"/>
                          <a:cs typeface="+mn-cs"/>
                        </a:rPr>
                        <a:t>aspects</a:t>
                      </a:r>
                      <a:r>
                        <a:rPr lang="de-DE" sz="1400" kern="1200" dirty="0">
                          <a:solidFill>
                            <a:schemeClr val="dk1"/>
                          </a:solidFill>
                          <a:latin typeface="+mn-lt"/>
                          <a:ea typeface="+mn-ea"/>
                          <a:cs typeface="+mn-cs"/>
                        </a:rPr>
                        <a:t>, </a:t>
                      </a:r>
                      <a:r>
                        <a:rPr lang="de-DE" sz="1400" kern="1200" dirty="0" err="1">
                          <a:solidFill>
                            <a:schemeClr val="dk1"/>
                          </a:solidFill>
                          <a:latin typeface="+mn-lt"/>
                          <a:ea typeface="+mn-ea"/>
                          <a:cs typeface="+mn-cs"/>
                        </a:rPr>
                        <a:t>challenges</a:t>
                      </a:r>
                      <a:r>
                        <a:rPr lang="de-DE" sz="1400" kern="1200" dirty="0">
                          <a:solidFill>
                            <a:schemeClr val="dk1"/>
                          </a:solidFill>
                          <a:latin typeface="+mn-lt"/>
                          <a:ea typeface="+mn-ea"/>
                          <a:cs typeface="+mn-cs"/>
                        </a:rPr>
                        <a:t>, </a:t>
                      </a:r>
                      <a:r>
                        <a:rPr lang="de-DE" sz="1400" kern="1200" dirty="0" err="1">
                          <a:solidFill>
                            <a:schemeClr val="dk1"/>
                          </a:solidFill>
                          <a:latin typeface="+mn-lt"/>
                          <a:ea typeface="+mn-ea"/>
                          <a:cs typeface="+mn-cs"/>
                        </a:rPr>
                        <a:t>success</a:t>
                      </a:r>
                      <a:r>
                        <a:rPr lang="de-DE" sz="1400" kern="1200" dirty="0">
                          <a:solidFill>
                            <a:schemeClr val="dk1"/>
                          </a:solidFill>
                          <a:latin typeface="+mn-lt"/>
                          <a:ea typeface="+mn-ea"/>
                          <a:cs typeface="+mn-cs"/>
                        </a:rPr>
                        <a:t> </a:t>
                      </a:r>
                      <a:r>
                        <a:rPr lang="de-DE" sz="1400" kern="1200" dirty="0" err="1">
                          <a:solidFill>
                            <a:schemeClr val="dk1"/>
                          </a:solidFill>
                          <a:latin typeface="+mn-lt"/>
                          <a:ea typeface="+mn-ea"/>
                          <a:cs typeface="+mn-cs"/>
                        </a:rPr>
                        <a:t>factors</a:t>
                      </a:r>
                      <a:r>
                        <a:rPr lang="de-DE" sz="1400" kern="1200" dirty="0">
                          <a:solidFill>
                            <a:schemeClr val="dk1"/>
                          </a:solidFill>
                          <a:latin typeface="+mn-lt"/>
                          <a:ea typeface="+mn-ea"/>
                          <a:cs typeface="+mn-cs"/>
                        </a:rPr>
                        <a:t>)</a:t>
                      </a:r>
                      <a:endParaRPr lang="de-DE" sz="1400" b="1" dirty="0"/>
                    </a:p>
                    <a:p>
                      <a:r>
                        <a:rPr lang="de-DE" sz="1400" b="1" dirty="0"/>
                        <a:t>31 </a:t>
                      </a:r>
                      <a:r>
                        <a:rPr lang="de-DE" sz="1400" b="1" dirty="0" err="1"/>
                        <a:t>Innovator‘s</a:t>
                      </a:r>
                      <a:r>
                        <a:rPr lang="de-DE" sz="1400" b="1" dirty="0"/>
                        <a:t> Dilemma (Clayton Christensen)</a:t>
                      </a:r>
                    </a:p>
                    <a:p>
                      <a:r>
                        <a:rPr lang="de-DE" sz="1400" b="1" dirty="0"/>
                        <a:t>32 Organizational Lifecycle – Augen auf bei der AG-Wahl (William Bridges)</a:t>
                      </a:r>
                    </a:p>
                    <a:p>
                      <a:r>
                        <a:rPr lang="de-DE" sz="1400" b="1" dirty="0"/>
                        <a:t>33 Digitale Projekte – wie umsetzen? (John Kotter, William Bridges, …)</a:t>
                      </a:r>
                    </a:p>
                    <a:p>
                      <a:r>
                        <a:rPr lang="de-DE" sz="1400" b="1" dirty="0"/>
                        <a:t>34 Crossing </a:t>
                      </a:r>
                      <a:r>
                        <a:rPr lang="de-DE" sz="1400" b="1" dirty="0" err="1"/>
                        <a:t>the</a:t>
                      </a:r>
                      <a:r>
                        <a:rPr lang="de-DE" sz="1400" b="1" dirty="0"/>
                        <a:t> </a:t>
                      </a:r>
                      <a:r>
                        <a:rPr lang="de-DE" sz="1400" b="1" dirty="0" err="1"/>
                        <a:t>Chasm</a:t>
                      </a:r>
                      <a:r>
                        <a:rPr lang="de-DE" sz="1400" b="1" dirty="0"/>
                        <a:t> (Geoffrey Moore)</a:t>
                      </a:r>
                    </a:p>
                  </a:txBody>
                  <a:tcPr>
                    <a:solidFill>
                      <a:schemeClr val="bg1"/>
                    </a:solidFill>
                  </a:tcPr>
                </a:tc>
                <a:extLst>
                  <a:ext uri="{0D108BD9-81ED-4DB2-BD59-A6C34878D82A}">
                    <a16:rowId xmlns:a16="http://schemas.microsoft.com/office/drawing/2014/main" val="380096814"/>
                  </a:ext>
                </a:extLst>
              </a:tr>
              <a:tr h="370840">
                <a:tc>
                  <a:txBody>
                    <a:bodyPr/>
                    <a:lstStyle/>
                    <a:p>
                      <a:r>
                        <a:rPr lang="de-DE" sz="1400" b="1" dirty="0"/>
                        <a:t>Weitere Themen</a:t>
                      </a:r>
                    </a:p>
                    <a:p>
                      <a:endParaRPr lang="de-DE" sz="1400" b="1" dirty="0"/>
                    </a:p>
                  </a:txBody>
                  <a:tcPr>
                    <a:solidFill>
                      <a:schemeClr val="bg1">
                        <a:alpha val="2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400" b="1" dirty="0"/>
                        <a:t>40  …..</a:t>
                      </a:r>
                    </a:p>
                  </a:txBody>
                  <a:tcPr>
                    <a:solidFill>
                      <a:schemeClr val="bg1">
                        <a:alpha val="20000"/>
                      </a:schemeClr>
                    </a:solidFill>
                  </a:tcPr>
                </a:tc>
                <a:extLst>
                  <a:ext uri="{0D108BD9-81ED-4DB2-BD59-A6C34878D82A}">
                    <a16:rowId xmlns:a16="http://schemas.microsoft.com/office/drawing/2014/main" val="1771233366"/>
                  </a:ext>
                </a:extLst>
              </a:tr>
            </a:tbl>
          </a:graphicData>
        </a:graphic>
      </p:graphicFrame>
      <p:sp>
        <p:nvSpPr>
          <p:cNvPr id="5" name="Oval 2">
            <a:extLst>
              <a:ext uri="{FF2B5EF4-FFF2-40B4-BE49-F238E27FC236}">
                <a16:creationId xmlns:a16="http://schemas.microsoft.com/office/drawing/2014/main" id="{BB52ACA7-6A63-49EA-8092-2221EAEDBBFE}"/>
              </a:ext>
            </a:extLst>
          </p:cNvPr>
          <p:cNvSpPr/>
          <p:nvPr/>
        </p:nvSpPr>
        <p:spPr bwMode="gray">
          <a:xfrm>
            <a:off x="2521527" y="2279997"/>
            <a:ext cx="5958610" cy="3635112"/>
          </a:xfrm>
          <a:prstGeom prst="ellipse">
            <a:avLst/>
          </a:prstGeom>
          <a:solidFill>
            <a:schemeClr val="accent1"/>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2800" b="1" i="0" u="none" strike="noStrike" kern="0" cap="none" spc="0" normalizeH="0" baseline="0" noProof="0" dirty="0">
                <a:ln>
                  <a:noFill/>
                </a:ln>
                <a:effectLst/>
                <a:uLnTx/>
                <a:uFillTx/>
                <a:ea typeface="Arial Unicode MS" pitchFamily="34" charset="-128"/>
                <a:cs typeface="Arial Unicode MS" pitchFamily="34" charset="-128"/>
              </a:rPr>
              <a:t>Jede Gruppe wählt </a:t>
            </a:r>
            <a:br>
              <a:rPr lang="de-DE" sz="2800" b="1" kern="0" dirty="0">
                <a:ea typeface="Arial Unicode MS" pitchFamily="34" charset="-128"/>
                <a:cs typeface="Arial Unicode MS" pitchFamily="34" charset="-128"/>
              </a:rPr>
            </a:br>
            <a:r>
              <a:rPr kumimoji="0" lang="de-DE" sz="2800" b="1" i="0" u="none" strike="noStrike" kern="0" cap="none" spc="0" normalizeH="0" baseline="0" noProof="0" dirty="0">
                <a:ln>
                  <a:noFill/>
                </a:ln>
                <a:effectLst/>
                <a:uLnTx/>
                <a:uFillTx/>
                <a:ea typeface="Arial Unicode MS" pitchFamily="34" charset="-128"/>
                <a:cs typeface="Arial Unicode MS" pitchFamily="34" charset="-128"/>
              </a:rPr>
              <a:t>3 Themen</a:t>
            </a:r>
            <a:br>
              <a:rPr kumimoji="0" lang="de-DE" sz="2800" b="1" i="0" u="none" strike="noStrike" kern="0" cap="none" spc="0" normalizeH="0" baseline="0" noProof="0" dirty="0">
                <a:ln>
                  <a:noFill/>
                </a:ln>
                <a:effectLst/>
                <a:uLnTx/>
                <a:uFillTx/>
                <a:ea typeface="Arial Unicode MS" pitchFamily="34" charset="-128"/>
                <a:cs typeface="Arial Unicode MS" pitchFamily="34" charset="-128"/>
              </a:rPr>
            </a:br>
            <a:r>
              <a:rPr kumimoji="0" lang="de-DE" sz="2800" b="1" i="0" u="none" strike="noStrike" kern="0" cap="none" spc="0" normalizeH="0" baseline="0" noProof="0" dirty="0">
                <a:ln>
                  <a:noFill/>
                </a:ln>
                <a:effectLst/>
                <a:uLnTx/>
                <a:uFillTx/>
                <a:ea typeface="Arial Unicode MS" pitchFamily="34" charset="-128"/>
                <a:cs typeface="Arial Unicode MS" pitchFamily="34" charset="-128"/>
              </a:rPr>
              <a:t>am Dienstag 03.03.26</a:t>
            </a:r>
          </a:p>
          <a:p>
            <a:pPr marR="0" algn="ctr" defTabSz="914400" eaLnBrk="1" fontAlgn="base" latinLnBrk="0" hangingPunct="1">
              <a:lnSpc>
                <a:spcPct val="100000"/>
              </a:lnSpc>
              <a:spcBef>
                <a:spcPct val="50000"/>
              </a:spcBef>
              <a:spcAft>
                <a:spcPct val="0"/>
              </a:spcAft>
              <a:buClr>
                <a:srgbClr val="F0AB00"/>
              </a:buClr>
              <a:buSzPct val="80000"/>
              <a:tabLst/>
            </a:pPr>
            <a:r>
              <a:rPr kumimoji="0" lang="de-DE" sz="2800" b="1" i="0" u="none" strike="noStrike" kern="0" cap="none" spc="0" normalizeH="0" baseline="0" noProof="0" dirty="0">
                <a:ln>
                  <a:noFill/>
                </a:ln>
                <a:effectLst/>
                <a:uLnTx/>
                <a:uFillTx/>
                <a:ea typeface="Arial Unicode MS" pitchFamily="34" charset="-128"/>
                <a:cs typeface="Arial Unicode MS" pitchFamily="34" charset="-128"/>
              </a:rPr>
              <a:t>(</a:t>
            </a:r>
            <a:r>
              <a:rPr lang="de-DE" sz="2800" b="1" kern="0" dirty="0">
                <a:ea typeface="Arial Unicode MS" pitchFamily="34" charset="-128"/>
                <a:cs typeface="Arial Unicode MS" pitchFamily="34" charset="-128"/>
              </a:rPr>
              <a:t>E</a:t>
            </a:r>
            <a:r>
              <a:rPr kumimoji="0" lang="de-DE" sz="2800" b="1" i="0" u="none" strike="noStrike" kern="0" cap="none" spc="0" normalizeH="0" baseline="0" noProof="0" dirty="0" err="1">
                <a:ln>
                  <a:noFill/>
                </a:ln>
                <a:effectLst/>
                <a:uLnTx/>
                <a:uFillTx/>
                <a:ea typeface="Arial Unicode MS" pitchFamily="34" charset="-128"/>
                <a:cs typeface="Arial Unicode MS" pitchFamily="34" charset="-128"/>
              </a:rPr>
              <a:t>rarbeiten</a:t>
            </a:r>
            <a:r>
              <a:rPr kumimoji="0" lang="de-DE" sz="2800" b="1" i="0" u="none" strike="noStrike" kern="0" cap="none" spc="0" normalizeH="0" baseline="0" noProof="0" dirty="0">
                <a:ln>
                  <a:noFill/>
                </a:ln>
                <a:effectLst/>
                <a:uLnTx/>
                <a:uFillTx/>
                <a:ea typeface="Arial Unicode MS" pitchFamily="34" charset="-128"/>
                <a:cs typeface="Arial Unicode MS" pitchFamily="34" charset="-128"/>
              </a:rPr>
              <a:t> und Vortragen)</a:t>
            </a:r>
          </a:p>
        </p:txBody>
      </p:sp>
    </p:spTree>
    <p:extLst>
      <p:ext uri="{BB962C8B-B14F-4D97-AF65-F5344CB8AC3E}">
        <p14:creationId xmlns:p14="http://schemas.microsoft.com/office/powerpoint/2010/main" val="71492795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de-DE" dirty="0">
                <a:solidFill>
                  <a:schemeClr val="tx1"/>
                </a:solidFill>
              </a:rPr>
              <a:t>SQ II: Digital </a:t>
            </a:r>
            <a:r>
              <a:rPr lang="de-DE" dirty="0" err="1">
                <a:solidFill>
                  <a:schemeClr val="tx1"/>
                </a:solidFill>
              </a:rPr>
              <a:t>Thinking</a:t>
            </a:r>
            <a:r>
              <a:rPr lang="de-DE" dirty="0">
                <a:solidFill>
                  <a:schemeClr val="tx1"/>
                </a:solidFill>
              </a:rPr>
              <a:t> &amp; Management</a:t>
            </a:r>
            <a:br>
              <a:rPr lang="de-DE" dirty="0">
                <a:solidFill>
                  <a:schemeClr val="tx1"/>
                </a:solidFill>
              </a:rPr>
            </a:br>
            <a:r>
              <a:rPr lang="de-DE" dirty="0" err="1">
                <a:solidFill>
                  <a:schemeClr val="tx1"/>
                </a:solidFill>
              </a:rPr>
              <a:t>Capabilities</a:t>
            </a:r>
            <a:r>
              <a:rPr lang="de-DE" dirty="0">
                <a:solidFill>
                  <a:schemeClr val="tx1"/>
                </a:solidFill>
              </a:rPr>
              <a:t> morgen: Vorschlag VL-Themen</a:t>
            </a:r>
            <a:endParaRPr lang="de-DE" dirty="0"/>
          </a:p>
        </p:txBody>
      </p:sp>
      <p:graphicFrame>
        <p:nvGraphicFramePr>
          <p:cNvPr id="2" name="Table 1">
            <a:extLst>
              <a:ext uri="{FF2B5EF4-FFF2-40B4-BE49-F238E27FC236}">
                <a16:creationId xmlns:a16="http://schemas.microsoft.com/office/drawing/2014/main" id="{50E22733-0F4C-4548-BDC3-7D49C26F70C4}"/>
              </a:ext>
            </a:extLst>
          </p:cNvPr>
          <p:cNvGraphicFramePr>
            <a:graphicFrameLocks noGrp="1"/>
          </p:cNvGraphicFramePr>
          <p:nvPr>
            <p:extLst>
              <p:ext uri="{D42A27DB-BD31-4B8C-83A1-F6EECF244321}">
                <p14:modId xmlns:p14="http://schemas.microsoft.com/office/powerpoint/2010/main" val="270512548"/>
              </p:ext>
            </p:extLst>
          </p:nvPr>
        </p:nvGraphicFramePr>
        <p:xfrm>
          <a:off x="2743200" y="1043835"/>
          <a:ext cx="6400800" cy="5790026"/>
        </p:xfrm>
        <a:graphic>
          <a:graphicData uri="http://schemas.openxmlformats.org/drawingml/2006/table">
            <a:tbl>
              <a:tblPr firstRow="1" bandRow="1">
                <a:tableStyleId>{BC89EF96-8CEA-46FF-86C4-4CE0E7609802}</a:tableStyleId>
              </a:tblPr>
              <a:tblGrid>
                <a:gridCol w="1424538">
                  <a:extLst>
                    <a:ext uri="{9D8B030D-6E8A-4147-A177-3AD203B41FA5}">
                      <a16:colId xmlns:a16="http://schemas.microsoft.com/office/drawing/2014/main" val="19747259"/>
                    </a:ext>
                  </a:extLst>
                </a:gridCol>
                <a:gridCol w="4976262">
                  <a:extLst>
                    <a:ext uri="{9D8B030D-6E8A-4147-A177-3AD203B41FA5}">
                      <a16:colId xmlns:a16="http://schemas.microsoft.com/office/drawing/2014/main" val="2195378045"/>
                    </a:ext>
                  </a:extLst>
                </a:gridCol>
              </a:tblGrid>
              <a:tr h="2123478">
                <a:tc>
                  <a:txBody>
                    <a:bodyPr/>
                    <a:lstStyle/>
                    <a:p>
                      <a:endParaRPr lang="de-DE" sz="1400" b="1" dirty="0"/>
                    </a:p>
                    <a:p>
                      <a:r>
                        <a:rPr lang="de-DE" sz="1400" b="1" dirty="0"/>
                        <a:t>Persönliche und soziale Kompetenz</a:t>
                      </a:r>
                    </a:p>
                    <a:p>
                      <a:pPr marL="0" marR="0" lvl="0" indent="0" algn="l" defTabSz="914400" rtl="0" eaLnBrk="1" fontAlgn="auto" latinLnBrk="0" hangingPunct="1">
                        <a:lnSpc>
                          <a:spcPct val="100000"/>
                        </a:lnSpc>
                        <a:spcBef>
                          <a:spcPts val="0"/>
                        </a:spcBef>
                        <a:spcAft>
                          <a:spcPts val="0"/>
                        </a:spcAft>
                        <a:buClrTx/>
                        <a:buSzTx/>
                        <a:buFontTx/>
                        <a:buNone/>
                        <a:tabLst/>
                        <a:defRPr/>
                      </a:pPr>
                      <a:r>
                        <a:rPr lang="de-DE" sz="1400" b="1" dirty="0"/>
                        <a:t>(</a:t>
                      </a:r>
                      <a:r>
                        <a:rPr lang="de-DE" sz="1400" b="1" dirty="0" err="1"/>
                        <a:t>max</a:t>
                      </a:r>
                      <a:r>
                        <a:rPr lang="de-DE" sz="1400" b="1" dirty="0"/>
                        <a:t> 3)</a:t>
                      </a:r>
                    </a:p>
                  </a:txBody>
                  <a:tcPr>
                    <a:solidFill>
                      <a:schemeClr val="bg1"/>
                    </a:solidFill>
                  </a:tcPr>
                </a:tc>
                <a:tc>
                  <a:txBody>
                    <a:bodyPr/>
                    <a:lstStyle/>
                    <a:p>
                      <a:r>
                        <a:rPr lang="de-DE" sz="1400" b="1" dirty="0"/>
                        <a:t>10 Emotionale Intelligenz</a:t>
                      </a:r>
                    </a:p>
                    <a:p>
                      <a:r>
                        <a:rPr lang="de-DE" sz="1400" b="1" dirty="0"/>
                        <a:t>11 Stress </a:t>
                      </a:r>
                      <a:r>
                        <a:rPr lang="de-DE" sz="1400" b="1" dirty="0" err="1"/>
                        <a:t>Mgmt</a:t>
                      </a:r>
                      <a:r>
                        <a:rPr lang="de-DE" sz="1400" b="1" dirty="0"/>
                        <a:t> – Stress </a:t>
                      </a:r>
                      <a:r>
                        <a:rPr lang="de-DE" sz="1400" b="1" dirty="0" err="1"/>
                        <a:t>Resilience</a:t>
                      </a:r>
                      <a:endParaRPr lang="de-DE" sz="1400" b="1" dirty="0"/>
                    </a:p>
                    <a:p>
                      <a:r>
                        <a:rPr lang="de-DE" sz="1400" b="1" dirty="0"/>
                        <a:t>12 Time </a:t>
                      </a:r>
                      <a:r>
                        <a:rPr lang="de-DE" sz="1400" b="1" dirty="0" err="1"/>
                        <a:t>Mgmt</a:t>
                      </a:r>
                      <a:endParaRPr lang="de-DE" sz="1400" b="1" dirty="0"/>
                    </a:p>
                    <a:p>
                      <a:r>
                        <a:rPr lang="de-DE" sz="1400" b="1" dirty="0"/>
                        <a:t>13 </a:t>
                      </a:r>
                      <a:r>
                        <a:rPr lang="de-DE" sz="1400" b="1" dirty="0" err="1"/>
                        <a:t>Pessimists</a:t>
                      </a:r>
                      <a:r>
                        <a:rPr lang="de-DE" sz="1400" b="1" dirty="0"/>
                        <a:t> </a:t>
                      </a:r>
                      <a:r>
                        <a:rPr lang="de-DE" sz="1400" b="1" dirty="0" err="1"/>
                        <a:t>sound</a:t>
                      </a:r>
                      <a:r>
                        <a:rPr lang="de-DE" sz="1400" b="1" dirty="0"/>
                        <a:t> smart, </a:t>
                      </a:r>
                      <a:r>
                        <a:rPr lang="de-DE" sz="1400" b="1" dirty="0" err="1"/>
                        <a:t>optimists</a:t>
                      </a:r>
                      <a:r>
                        <a:rPr lang="de-DE" sz="1400" b="1" dirty="0"/>
                        <a:t> </a:t>
                      </a:r>
                      <a:r>
                        <a:rPr lang="de-DE" sz="1400" b="1" dirty="0" err="1"/>
                        <a:t>make</a:t>
                      </a:r>
                      <a:r>
                        <a:rPr lang="de-DE" sz="1400" b="1" dirty="0"/>
                        <a:t> </a:t>
                      </a:r>
                      <a:r>
                        <a:rPr lang="de-DE" sz="1400" b="1" dirty="0" err="1"/>
                        <a:t>money</a:t>
                      </a:r>
                      <a:r>
                        <a:rPr lang="de-DE" sz="1400" b="1" dirty="0"/>
                        <a:t> </a:t>
                      </a:r>
                    </a:p>
                    <a:p>
                      <a:r>
                        <a:rPr lang="de-DE" sz="1400" b="1" dirty="0"/>
                        <a:t>14 </a:t>
                      </a:r>
                      <a:r>
                        <a:rPr lang="de-DE" sz="1400" b="1" dirty="0" err="1"/>
                        <a:t>Decision</a:t>
                      </a:r>
                      <a:r>
                        <a:rPr lang="de-DE" sz="1400" b="1" dirty="0"/>
                        <a:t> Bias – Logische Entscheidungen? </a:t>
                      </a:r>
                    </a:p>
                    <a:p>
                      <a:pPr marL="0" marR="0" lvl="0" indent="0" algn="l" defTabSz="914400" rtl="0" eaLnBrk="1" fontAlgn="auto" latinLnBrk="0" hangingPunct="1">
                        <a:lnSpc>
                          <a:spcPct val="100000"/>
                        </a:lnSpc>
                        <a:spcBef>
                          <a:spcPts val="0"/>
                        </a:spcBef>
                        <a:spcAft>
                          <a:spcPts val="0"/>
                        </a:spcAft>
                        <a:buClrTx/>
                        <a:buSzTx/>
                        <a:buFontTx/>
                        <a:buNone/>
                        <a:tabLst/>
                        <a:defRPr/>
                      </a:pPr>
                      <a:r>
                        <a:rPr lang="de-DE" sz="1400" b="1" dirty="0"/>
                        <a:t>15 Fehlerkultur, Fuck-Up-Nights</a:t>
                      </a:r>
                    </a:p>
                    <a:p>
                      <a:pPr marL="0" marR="0" lvl="0" indent="0" algn="l" defTabSz="914400" rtl="0" eaLnBrk="1" fontAlgn="auto" latinLnBrk="0" hangingPunct="1">
                        <a:lnSpc>
                          <a:spcPct val="100000"/>
                        </a:lnSpc>
                        <a:spcBef>
                          <a:spcPts val="0"/>
                        </a:spcBef>
                        <a:spcAft>
                          <a:spcPts val="0"/>
                        </a:spcAft>
                        <a:buClrTx/>
                        <a:buSzTx/>
                        <a:buFontTx/>
                        <a:buNone/>
                        <a:tabLst/>
                        <a:defRPr/>
                      </a:pPr>
                      <a:r>
                        <a:rPr lang="de-DE" sz="1400" b="1" dirty="0"/>
                        <a:t>16 </a:t>
                      </a:r>
                      <a:r>
                        <a:rPr lang="de-DE" sz="1400" b="1" strike="noStrike" dirty="0" err="1"/>
                        <a:t>Intercultural</a:t>
                      </a:r>
                      <a:r>
                        <a:rPr lang="de-DE" sz="1400" b="1" strike="noStrike" dirty="0"/>
                        <a:t> </a:t>
                      </a:r>
                      <a:r>
                        <a:rPr lang="de-DE" sz="1400" b="1" strike="noStrike" dirty="0" err="1"/>
                        <a:t>Aspects</a:t>
                      </a:r>
                      <a:endParaRPr lang="de-DE" sz="1400" b="1" strike="noStrike" dirty="0"/>
                    </a:p>
                    <a:p>
                      <a:pPr marL="0" marR="0" lvl="0" indent="0" algn="l" defTabSz="914400" rtl="0" eaLnBrk="1" fontAlgn="auto" latinLnBrk="0" hangingPunct="1">
                        <a:lnSpc>
                          <a:spcPct val="100000"/>
                        </a:lnSpc>
                        <a:spcBef>
                          <a:spcPts val="0"/>
                        </a:spcBef>
                        <a:spcAft>
                          <a:spcPts val="0"/>
                        </a:spcAft>
                        <a:buClrTx/>
                        <a:buSzTx/>
                        <a:buFontTx/>
                        <a:buNone/>
                        <a:tabLst/>
                        <a:defRPr/>
                      </a:pPr>
                      <a:r>
                        <a:rPr lang="de-DE" sz="1400" b="1" dirty="0"/>
                        <a:t>17 Schattenseiten der Digitalisierung</a:t>
                      </a:r>
                    </a:p>
                    <a:p>
                      <a:pPr marL="0" marR="0" lvl="0" indent="0" algn="l" defTabSz="914400" rtl="0" eaLnBrk="1" fontAlgn="auto" latinLnBrk="0" hangingPunct="1">
                        <a:lnSpc>
                          <a:spcPct val="100000"/>
                        </a:lnSpc>
                        <a:spcBef>
                          <a:spcPts val="0"/>
                        </a:spcBef>
                        <a:spcAft>
                          <a:spcPts val="0"/>
                        </a:spcAft>
                        <a:buClrTx/>
                        <a:buSzTx/>
                        <a:buFontTx/>
                        <a:buNone/>
                        <a:tabLst/>
                        <a:defRPr/>
                      </a:pPr>
                      <a:r>
                        <a:rPr lang="de-DE" sz="1400" b="1" dirty="0"/>
                        <a:t>18 High </a:t>
                      </a:r>
                      <a:r>
                        <a:rPr lang="de-DE" sz="1400" b="1" dirty="0" err="1"/>
                        <a:t>Performnace</a:t>
                      </a:r>
                      <a:r>
                        <a:rPr lang="de-DE" sz="1400" b="1" dirty="0"/>
                        <a:t> </a:t>
                      </a:r>
                      <a:r>
                        <a:rPr lang="de-DE" sz="1400" b="1" dirty="0" err="1"/>
                        <a:t>creative</a:t>
                      </a:r>
                      <a:r>
                        <a:rPr lang="de-DE" sz="1400" b="1" dirty="0"/>
                        <a:t> Teams bauen</a:t>
                      </a:r>
                    </a:p>
                    <a:p>
                      <a:pPr marL="0" marR="0" lvl="0" indent="0" algn="l" defTabSz="914400" rtl="0" eaLnBrk="1" fontAlgn="auto" latinLnBrk="0" hangingPunct="1">
                        <a:lnSpc>
                          <a:spcPct val="100000"/>
                        </a:lnSpc>
                        <a:spcBef>
                          <a:spcPts val="0"/>
                        </a:spcBef>
                        <a:spcAft>
                          <a:spcPts val="0"/>
                        </a:spcAft>
                        <a:buClrTx/>
                        <a:buSzTx/>
                        <a:buFontTx/>
                        <a:buNone/>
                        <a:tabLst/>
                        <a:defRPr/>
                      </a:pPr>
                      <a:r>
                        <a:rPr lang="de-DE" sz="1400" b="1" dirty="0"/>
                        <a:t>19 Kreative Techniken</a:t>
                      </a:r>
                    </a:p>
                  </a:txBody>
                  <a:tcPr>
                    <a:solidFill>
                      <a:schemeClr val="bg1"/>
                    </a:solidFill>
                  </a:tcPr>
                </a:tc>
                <a:extLst>
                  <a:ext uri="{0D108BD9-81ED-4DB2-BD59-A6C34878D82A}">
                    <a16:rowId xmlns:a16="http://schemas.microsoft.com/office/drawing/2014/main" val="3245231"/>
                  </a:ext>
                </a:extLst>
              </a:tr>
              <a:tr h="1105372">
                <a:tc>
                  <a:txBody>
                    <a:bodyPr/>
                    <a:lstStyle/>
                    <a:p>
                      <a:endParaRPr lang="de-DE" sz="1400" b="1" dirty="0"/>
                    </a:p>
                    <a:p>
                      <a:r>
                        <a:rPr lang="de-DE" sz="1400" b="1" dirty="0"/>
                        <a:t>Prozesse und Methoden</a:t>
                      </a:r>
                    </a:p>
                    <a:p>
                      <a:pPr marL="0" marR="0" lvl="0" indent="0" algn="l" defTabSz="914400" rtl="0" eaLnBrk="1" fontAlgn="auto" latinLnBrk="0" hangingPunct="1">
                        <a:lnSpc>
                          <a:spcPct val="100000"/>
                        </a:lnSpc>
                        <a:spcBef>
                          <a:spcPts val="0"/>
                        </a:spcBef>
                        <a:spcAft>
                          <a:spcPts val="0"/>
                        </a:spcAft>
                        <a:buClrTx/>
                        <a:buSzTx/>
                        <a:buFontTx/>
                        <a:buNone/>
                        <a:tabLst/>
                        <a:defRPr/>
                      </a:pPr>
                      <a:r>
                        <a:rPr lang="de-DE" sz="1400" b="1" dirty="0"/>
                        <a:t>(</a:t>
                      </a:r>
                      <a:r>
                        <a:rPr lang="de-DE" sz="1400" b="1" dirty="0" err="1"/>
                        <a:t>max</a:t>
                      </a:r>
                      <a:r>
                        <a:rPr lang="de-DE" sz="1400" b="1" dirty="0"/>
                        <a:t> 3)</a:t>
                      </a:r>
                    </a:p>
                  </a:txBody>
                  <a:tcPr>
                    <a:solidFill>
                      <a:schemeClr val="bg1">
                        <a:alpha val="20000"/>
                      </a:schemeClr>
                    </a:solidFill>
                  </a:tcPr>
                </a:tc>
                <a:tc>
                  <a:txBody>
                    <a:bodyPr/>
                    <a:lstStyle/>
                    <a:p>
                      <a:r>
                        <a:rPr lang="de-DE" sz="1400" b="1" dirty="0"/>
                        <a:t>20 Agile </a:t>
                      </a:r>
                      <a:r>
                        <a:rPr lang="de-DE" sz="1400" b="1" dirty="0" err="1"/>
                        <a:t>Manifesto</a:t>
                      </a:r>
                      <a:r>
                        <a:rPr lang="de-DE" sz="1400" b="1" dirty="0"/>
                        <a:t> &amp; </a:t>
                      </a:r>
                      <a:r>
                        <a:rPr lang="de-DE" sz="1400" b="1" dirty="0" err="1"/>
                        <a:t>Principles</a:t>
                      </a:r>
                      <a:r>
                        <a:rPr lang="de-DE" sz="1400" b="1" dirty="0"/>
                        <a:t> im Unternehmen</a:t>
                      </a:r>
                    </a:p>
                    <a:p>
                      <a:r>
                        <a:rPr lang="de-DE" sz="1400" b="1" dirty="0"/>
                        <a:t>21 New Work / Leadership </a:t>
                      </a:r>
                    </a:p>
                    <a:p>
                      <a:r>
                        <a:rPr lang="de-DE" sz="1400" b="1" dirty="0"/>
                        <a:t>22 </a:t>
                      </a:r>
                      <a:r>
                        <a:rPr lang="de-DE" sz="1400" b="1" dirty="0" err="1"/>
                        <a:t>Employee</a:t>
                      </a:r>
                      <a:r>
                        <a:rPr lang="de-DE" sz="1400" b="1" dirty="0"/>
                        <a:t> Engagement</a:t>
                      </a:r>
                    </a:p>
                    <a:p>
                      <a:r>
                        <a:rPr lang="de-DE" sz="1400" b="1" dirty="0"/>
                        <a:t>23 Deep Work (Cal Newport)</a:t>
                      </a:r>
                    </a:p>
                    <a:p>
                      <a:r>
                        <a:rPr lang="de-DE" sz="1400" b="1" dirty="0"/>
                        <a:t>24 Design </a:t>
                      </a:r>
                      <a:r>
                        <a:rPr lang="de-DE" sz="1400" b="1" dirty="0" err="1"/>
                        <a:t>Thinking</a:t>
                      </a:r>
                      <a:r>
                        <a:rPr lang="de-DE" sz="1400" b="1" dirty="0"/>
                        <a:t> – Methode</a:t>
                      </a:r>
                    </a:p>
                    <a:p>
                      <a:r>
                        <a:rPr lang="de-DE" sz="1400" b="1" dirty="0"/>
                        <a:t>25 Business Model Canvas / Patterns</a:t>
                      </a:r>
                    </a:p>
                    <a:p>
                      <a:r>
                        <a:rPr lang="de-DE" sz="1400" b="1" dirty="0"/>
                        <a:t>26 Blue Ocean </a:t>
                      </a:r>
                      <a:r>
                        <a:rPr lang="de-DE" sz="1400" b="1" dirty="0" err="1"/>
                        <a:t>Strategy</a:t>
                      </a:r>
                      <a:endParaRPr lang="de-DE" sz="1400" b="1" dirty="0"/>
                    </a:p>
                    <a:p>
                      <a:r>
                        <a:rPr lang="de-DE" sz="1400" b="1" dirty="0"/>
                        <a:t>27 Google Venture Sprint</a:t>
                      </a:r>
                    </a:p>
                  </a:txBody>
                  <a:tcPr>
                    <a:solidFill>
                      <a:schemeClr val="bg1">
                        <a:alpha val="20000"/>
                      </a:schemeClr>
                    </a:solidFill>
                  </a:tcPr>
                </a:tc>
                <a:extLst>
                  <a:ext uri="{0D108BD9-81ED-4DB2-BD59-A6C34878D82A}">
                    <a16:rowId xmlns:a16="http://schemas.microsoft.com/office/drawing/2014/main" val="2835579308"/>
                  </a:ext>
                </a:extLst>
              </a:tr>
              <a:tr h="1105372">
                <a:tc>
                  <a:txBody>
                    <a:bodyPr/>
                    <a:lstStyle/>
                    <a:p>
                      <a:endParaRPr lang="de-DE" sz="1400" b="1" dirty="0"/>
                    </a:p>
                    <a:p>
                      <a:r>
                        <a:rPr lang="de-DE" sz="1400" b="1" dirty="0"/>
                        <a:t>Management</a:t>
                      </a:r>
                    </a:p>
                    <a:p>
                      <a:r>
                        <a:rPr lang="de-DE" sz="1400" b="1" dirty="0"/>
                        <a:t>(</a:t>
                      </a:r>
                      <a:r>
                        <a:rPr lang="de-DE" sz="1400" b="1" dirty="0" err="1"/>
                        <a:t>max</a:t>
                      </a:r>
                      <a:r>
                        <a:rPr lang="de-DE" sz="1400" b="1" dirty="0"/>
                        <a:t> 3)</a:t>
                      </a:r>
                    </a:p>
                  </a:txBody>
                  <a:tcPr>
                    <a:solidFill>
                      <a:schemeClr val="bg1"/>
                    </a:solidFill>
                  </a:tcPr>
                </a:tc>
                <a:tc>
                  <a:txBody>
                    <a:bodyPr/>
                    <a:lstStyle/>
                    <a:p>
                      <a:r>
                        <a:rPr lang="de-DE" sz="1400" b="1" dirty="0"/>
                        <a:t>30 Was macht ein innovatives Unternehmen aus?</a:t>
                      </a:r>
                    </a:p>
                    <a:p>
                      <a:r>
                        <a:rPr lang="de-DE" sz="1400" b="1" dirty="0"/>
                        <a:t>31 Innovators Dilemma – Christensen</a:t>
                      </a:r>
                    </a:p>
                    <a:p>
                      <a:r>
                        <a:rPr lang="de-DE" sz="1400" b="1" dirty="0"/>
                        <a:t>32 Organizational Lifecycle – Augen auf bei der AG-Wahl</a:t>
                      </a:r>
                    </a:p>
                    <a:p>
                      <a:r>
                        <a:rPr lang="de-DE" sz="1400" b="1" dirty="0"/>
                        <a:t>33 Digitale Projekte – wie umsetzen? Change </a:t>
                      </a:r>
                      <a:r>
                        <a:rPr lang="de-DE" sz="1400" b="1" dirty="0" err="1"/>
                        <a:t>Mgmt</a:t>
                      </a:r>
                      <a:endParaRPr lang="de-DE" sz="1400" b="1" dirty="0"/>
                    </a:p>
                    <a:p>
                      <a:r>
                        <a:rPr lang="de-DE" sz="1400" b="1" dirty="0"/>
                        <a:t>34 Crossing </a:t>
                      </a:r>
                      <a:r>
                        <a:rPr lang="de-DE" sz="1400" b="1" dirty="0" err="1"/>
                        <a:t>the</a:t>
                      </a:r>
                      <a:r>
                        <a:rPr lang="de-DE" sz="1400" b="1" dirty="0"/>
                        <a:t> </a:t>
                      </a:r>
                      <a:r>
                        <a:rPr lang="de-DE" sz="1400" b="1" dirty="0" err="1"/>
                        <a:t>Chasm</a:t>
                      </a:r>
                      <a:r>
                        <a:rPr lang="de-DE" sz="1400" b="1" dirty="0"/>
                        <a:t> – Geoffrey Moore</a:t>
                      </a:r>
                    </a:p>
                  </a:txBody>
                  <a:tcPr>
                    <a:solidFill>
                      <a:schemeClr val="bg1"/>
                    </a:solidFill>
                  </a:tcPr>
                </a:tc>
                <a:extLst>
                  <a:ext uri="{0D108BD9-81ED-4DB2-BD59-A6C34878D82A}">
                    <a16:rowId xmlns:a16="http://schemas.microsoft.com/office/drawing/2014/main" val="1771233366"/>
                  </a:ext>
                </a:extLst>
              </a:tr>
              <a:tr h="608426">
                <a:tc>
                  <a:txBody>
                    <a:bodyPr/>
                    <a:lstStyle/>
                    <a:p>
                      <a:r>
                        <a:rPr lang="de-DE" sz="1400" b="1" dirty="0"/>
                        <a:t>Weitere Themen</a:t>
                      </a:r>
                    </a:p>
                  </a:txBody>
                  <a:tcPr>
                    <a:solidFill>
                      <a:schemeClr val="bg1">
                        <a:alpha val="2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400" b="1" dirty="0"/>
                        <a:t>40  ….</a:t>
                      </a:r>
                    </a:p>
                  </a:txBody>
                  <a:tcPr>
                    <a:solidFill>
                      <a:schemeClr val="bg1">
                        <a:alpha val="20000"/>
                      </a:schemeClr>
                    </a:solidFill>
                  </a:tcPr>
                </a:tc>
                <a:extLst>
                  <a:ext uri="{0D108BD9-81ED-4DB2-BD59-A6C34878D82A}">
                    <a16:rowId xmlns:a16="http://schemas.microsoft.com/office/drawing/2014/main" val="3599523446"/>
                  </a:ext>
                </a:extLst>
              </a:tr>
            </a:tbl>
          </a:graphicData>
        </a:graphic>
      </p:graphicFrame>
      <p:sp>
        <p:nvSpPr>
          <p:cNvPr id="5" name="Rectangle 4">
            <a:extLst>
              <a:ext uri="{FF2B5EF4-FFF2-40B4-BE49-F238E27FC236}">
                <a16:creationId xmlns:a16="http://schemas.microsoft.com/office/drawing/2014/main" id="{671D1946-E42B-4831-B97B-0156D63F0495}"/>
              </a:ext>
            </a:extLst>
          </p:cNvPr>
          <p:cNvSpPr/>
          <p:nvPr/>
        </p:nvSpPr>
        <p:spPr bwMode="gray">
          <a:xfrm>
            <a:off x="324000" y="1371524"/>
            <a:ext cx="2265197" cy="5098308"/>
          </a:xfrm>
          <a:prstGeom prst="rect">
            <a:avLst/>
          </a:prstGeom>
          <a:solidFill>
            <a:schemeClr val="tx2">
              <a:lumMod val="60000"/>
              <a:lumOff val="40000"/>
            </a:schemeClr>
          </a:solidFill>
          <a:ln w="6350" algn="ctr">
            <a:noFill/>
            <a:miter lim="800000"/>
            <a:headEnd/>
            <a:tailEnd/>
          </a:ln>
        </p:spPr>
        <p:txBody>
          <a:bodyPr lIns="72000" tIns="72000" rIns="72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1600" b="1" i="0" u="none" strike="noStrike" kern="0" cap="none" spc="0" normalizeH="0" baseline="0" noProof="0" dirty="0">
                <a:ln>
                  <a:noFill/>
                </a:ln>
                <a:effectLst/>
                <a:uLnTx/>
                <a:uFillTx/>
                <a:ea typeface="Arial Unicode MS" pitchFamily="34" charset="-128"/>
                <a:cs typeface="Arial Unicode MS" pitchFamily="34" charset="-128"/>
              </a:rPr>
              <a:t>In der Vorlesung</a:t>
            </a:r>
            <a:br>
              <a:rPr kumimoji="0" lang="de-DE" sz="1600" b="1" i="0" u="none" strike="noStrike" kern="0" cap="none" spc="0" normalizeH="0" baseline="0" noProof="0" dirty="0">
                <a:ln>
                  <a:noFill/>
                </a:ln>
                <a:effectLst/>
                <a:uLnTx/>
                <a:uFillTx/>
                <a:ea typeface="Arial Unicode MS" pitchFamily="34" charset="-128"/>
                <a:cs typeface="Arial Unicode MS" pitchFamily="34" charset="-128"/>
              </a:rPr>
            </a:br>
            <a:r>
              <a:rPr kumimoji="0" lang="de-DE" sz="1600" b="1" i="0" u="none" strike="noStrike" kern="0" cap="none" spc="0" normalizeH="0" baseline="0" noProof="0" dirty="0">
                <a:ln>
                  <a:noFill/>
                </a:ln>
                <a:effectLst/>
                <a:uLnTx/>
                <a:uFillTx/>
                <a:ea typeface="Arial Unicode MS" pitchFamily="34" charset="-128"/>
                <a:cs typeface="Arial Unicode MS" pitchFamily="34" charset="-128"/>
              </a:rPr>
              <a:t>am</a:t>
            </a:r>
            <a:br>
              <a:rPr kumimoji="0" lang="de-DE" sz="1600" b="1" i="0" u="none" strike="noStrike" kern="0" cap="none" spc="0" normalizeH="0" baseline="0" noProof="0" dirty="0">
                <a:ln>
                  <a:noFill/>
                </a:ln>
                <a:effectLst/>
                <a:uLnTx/>
                <a:uFillTx/>
                <a:ea typeface="Arial Unicode MS" pitchFamily="34" charset="-128"/>
                <a:cs typeface="Arial Unicode MS" pitchFamily="34" charset="-128"/>
              </a:rPr>
            </a:br>
            <a:r>
              <a:rPr kumimoji="0" lang="de-DE" sz="1600" b="1" i="0" u="none" strike="noStrike" kern="0" cap="none" spc="0" normalizeH="0" baseline="0" noProof="0" dirty="0">
                <a:ln>
                  <a:noFill/>
                </a:ln>
                <a:effectLst/>
                <a:uLnTx/>
                <a:uFillTx/>
                <a:ea typeface="Arial Unicode MS" pitchFamily="34" charset="-128"/>
                <a:cs typeface="Arial Unicode MS" pitchFamily="34" charset="-128"/>
              </a:rPr>
              <a:t>03.03.2026:</a:t>
            </a:r>
          </a:p>
          <a:p>
            <a:pPr marR="0" algn="ctr" defTabSz="914400" eaLnBrk="1" fontAlgn="base" latinLnBrk="0" hangingPunct="1">
              <a:lnSpc>
                <a:spcPct val="100000"/>
              </a:lnSpc>
              <a:spcBef>
                <a:spcPct val="50000"/>
              </a:spcBef>
              <a:spcAft>
                <a:spcPct val="0"/>
              </a:spcAft>
              <a:buClr>
                <a:srgbClr val="F0AB00"/>
              </a:buClr>
              <a:buSzPct val="80000"/>
              <a:tabLst/>
            </a:pPr>
            <a:endParaRPr kumimoji="0" lang="de-DE" sz="1600" b="1" i="0" u="none" strike="noStrike" kern="0" cap="none" spc="0" normalizeH="0" baseline="0" noProof="0" dirty="0">
              <a:ln>
                <a:noFill/>
              </a:ln>
              <a:effectLst/>
              <a:uLnTx/>
              <a:uFillTx/>
              <a:ea typeface="Arial Unicode MS" pitchFamily="34" charset="-128"/>
              <a:cs typeface="Arial Unicode MS" pitchFamily="34" charset="-128"/>
            </a:endParaRPr>
          </a:p>
          <a:p>
            <a:pPr algn="ctr" fontAlgn="base">
              <a:spcBef>
                <a:spcPct val="50000"/>
              </a:spcBef>
              <a:spcAft>
                <a:spcPct val="0"/>
              </a:spcAft>
              <a:buClr>
                <a:srgbClr val="F0AB00"/>
              </a:buClr>
              <a:buSzPct val="80000"/>
            </a:pPr>
            <a:r>
              <a:rPr lang="de-DE" sz="1600" kern="0" dirty="0">
                <a:ea typeface="Arial Unicode MS" pitchFamily="34" charset="-128"/>
                <a:cs typeface="Arial Unicode MS" pitchFamily="34" charset="-128"/>
              </a:rPr>
              <a:t>Jede Gruppe:</a:t>
            </a:r>
          </a:p>
          <a:p>
            <a:pPr algn="ctr" fontAlgn="base">
              <a:spcBef>
                <a:spcPct val="50000"/>
              </a:spcBef>
              <a:spcAft>
                <a:spcPct val="0"/>
              </a:spcAft>
              <a:buClr>
                <a:srgbClr val="F0AB00"/>
              </a:buClr>
              <a:buSzPct val="80000"/>
            </a:pPr>
            <a:r>
              <a:rPr lang="de-DE" sz="1600" kern="0" dirty="0">
                <a:ea typeface="Arial Unicode MS" pitchFamily="34" charset="-128"/>
                <a:cs typeface="Arial Unicode MS" pitchFamily="34" charset="-128"/>
              </a:rPr>
              <a:t>Welche Themen würden Sie gerne erarbeiten und vortragen?</a:t>
            </a:r>
          </a:p>
          <a:p>
            <a:pPr marR="0" algn="ctr" defTabSz="914400" eaLnBrk="1" fontAlgn="base" latinLnBrk="0" hangingPunct="1">
              <a:lnSpc>
                <a:spcPct val="100000"/>
              </a:lnSpc>
              <a:spcBef>
                <a:spcPct val="50000"/>
              </a:spcBef>
              <a:spcAft>
                <a:spcPct val="0"/>
              </a:spcAft>
              <a:buClr>
                <a:srgbClr val="F0AB00"/>
              </a:buClr>
              <a:buSzPct val="80000"/>
              <a:tabLst/>
            </a:pPr>
            <a:r>
              <a:rPr kumimoji="0" lang="de-DE" sz="1600" b="0" i="0" u="none" strike="noStrike" kern="0" cap="none" spc="0" normalizeH="0" baseline="0" noProof="0" dirty="0">
                <a:ln>
                  <a:noFill/>
                </a:ln>
                <a:effectLst/>
                <a:uLnTx/>
                <a:uFillTx/>
                <a:ea typeface="Arial Unicode MS" pitchFamily="34" charset="-128"/>
                <a:cs typeface="Arial Unicode MS" pitchFamily="34" charset="-128"/>
              </a:rPr>
              <a:t>Ranking der Top </a:t>
            </a:r>
            <a:r>
              <a:rPr lang="de-DE" sz="1600" kern="0" dirty="0">
                <a:ea typeface="Arial Unicode MS" pitchFamily="34" charset="-128"/>
                <a:cs typeface="Arial Unicode MS" pitchFamily="34" charset="-128"/>
              </a:rPr>
              <a:t>9</a:t>
            </a:r>
            <a:r>
              <a:rPr kumimoji="0" lang="de-DE" sz="1600" b="0" i="0" u="none" strike="noStrike" kern="0" cap="none" spc="0" normalizeH="0" baseline="0" noProof="0" dirty="0">
                <a:ln>
                  <a:noFill/>
                </a:ln>
                <a:effectLst/>
                <a:uLnTx/>
                <a:uFillTx/>
                <a:ea typeface="Arial Unicode MS" pitchFamily="34" charset="-128"/>
                <a:cs typeface="Arial Unicode MS" pitchFamily="34" charset="-128"/>
              </a:rPr>
              <a:t> Themen</a:t>
            </a:r>
          </a:p>
          <a:p>
            <a:pPr marR="0" algn="ctr" defTabSz="914400" eaLnBrk="1" fontAlgn="base" latinLnBrk="0" hangingPunct="1">
              <a:lnSpc>
                <a:spcPct val="100000"/>
              </a:lnSpc>
              <a:spcBef>
                <a:spcPct val="50000"/>
              </a:spcBef>
              <a:spcAft>
                <a:spcPct val="0"/>
              </a:spcAft>
              <a:buClr>
                <a:srgbClr val="F0AB00"/>
              </a:buClr>
              <a:buSzPct val="80000"/>
              <a:tabLst/>
            </a:pPr>
            <a:endParaRPr lang="de-DE" sz="1600" kern="0" dirty="0">
              <a:ea typeface="Arial Unicode MS" pitchFamily="34" charset="-128"/>
              <a:cs typeface="Arial Unicode MS" pitchFamily="34" charset="-128"/>
            </a:endParaRPr>
          </a:p>
          <a:p>
            <a:pPr marR="0" algn="ctr" defTabSz="914400" eaLnBrk="1" fontAlgn="base" latinLnBrk="0" hangingPunct="1">
              <a:lnSpc>
                <a:spcPct val="100000"/>
              </a:lnSpc>
              <a:spcBef>
                <a:spcPct val="50000"/>
              </a:spcBef>
              <a:spcAft>
                <a:spcPct val="0"/>
              </a:spcAft>
              <a:buClr>
                <a:srgbClr val="F0AB00"/>
              </a:buClr>
              <a:buSzPct val="80000"/>
              <a:tabLst/>
            </a:pPr>
            <a:r>
              <a:rPr lang="de-DE" sz="1600" kern="0" dirty="0">
                <a:ea typeface="Arial Unicode MS" pitchFamily="34" charset="-128"/>
                <a:cs typeface="Arial Unicode MS" pitchFamily="34" charset="-128"/>
              </a:rPr>
              <a:t>Auswahl 3 Themen </a:t>
            </a:r>
            <a:br>
              <a:rPr lang="de-DE" sz="1600" kern="0" dirty="0">
                <a:ea typeface="Arial Unicode MS" pitchFamily="34" charset="-128"/>
                <a:cs typeface="Arial Unicode MS" pitchFamily="34" charset="-128"/>
              </a:rPr>
            </a:br>
            <a:r>
              <a:rPr lang="de-DE" sz="1600" kern="0" dirty="0">
                <a:ea typeface="Arial Unicode MS" pitchFamily="34" charset="-128"/>
                <a:cs typeface="Arial Unicode MS" pitchFamily="34" charset="-128"/>
              </a:rPr>
              <a:t>je Gruppe</a:t>
            </a:r>
            <a:br>
              <a:rPr lang="de-DE" sz="1600" kern="0" dirty="0">
                <a:ea typeface="Arial Unicode MS" pitchFamily="34" charset="-128"/>
                <a:cs typeface="Arial Unicode MS" pitchFamily="34" charset="-128"/>
              </a:rPr>
            </a:br>
            <a:r>
              <a:rPr lang="de-DE" sz="1600" kern="0" dirty="0">
                <a:ea typeface="Arial Unicode MS" pitchFamily="34" charset="-128"/>
                <a:cs typeface="Arial Unicode MS" pitchFamily="34" charset="-128"/>
              </a:rPr>
              <a:t>Fair-Share-Verfahren</a:t>
            </a:r>
          </a:p>
          <a:p>
            <a:pPr marR="0" algn="ctr" defTabSz="914400" eaLnBrk="1" fontAlgn="base" latinLnBrk="0" hangingPunct="1">
              <a:lnSpc>
                <a:spcPct val="100000"/>
              </a:lnSpc>
              <a:spcBef>
                <a:spcPct val="50000"/>
              </a:spcBef>
              <a:spcAft>
                <a:spcPct val="0"/>
              </a:spcAft>
              <a:buClr>
                <a:srgbClr val="F0AB00"/>
              </a:buClr>
              <a:buSzPct val="80000"/>
              <a:tabLst/>
            </a:pPr>
            <a:endParaRPr lang="de-DE" sz="1600" kern="0" dirty="0">
              <a:ea typeface="Arial Unicode MS" pitchFamily="34" charset="-128"/>
              <a:cs typeface="Arial Unicode MS" pitchFamily="34" charset="-128"/>
            </a:endParaRPr>
          </a:p>
        </p:txBody>
      </p:sp>
    </p:spTree>
    <p:extLst>
      <p:ext uri="{BB962C8B-B14F-4D97-AF65-F5344CB8AC3E}">
        <p14:creationId xmlns:p14="http://schemas.microsoft.com/office/powerpoint/2010/main" val="197527848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de-DE" dirty="0">
                <a:solidFill>
                  <a:schemeClr val="tx1"/>
                </a:solidFill>
              </a:rPr>
              <a:t>SQ II: Digital </a:t>
            </a:r>
            <a:r>
              <a:rPr lang="de-DE" dirty="0" err="1">
                <a:solidFill>
                  <a:schemeClr val="tx1"/>
                </a:solidFill>
              </a:rPr>
              <a:t>Thinking</a:t>
            </a:r>
            <a:r>
              <a:rPr lang="de-DE" dirty="0">
                <a:solidFill>
                  <a:schemeClr val="tx1"/>
                </a:solidFill>
              </a:rPr>
              <a:t> &amp; Management</a:t>
            </a:r>
            <a:br>
              <a:rPr lang="de-DE" dirty="0"/>
            </a:br>
            <a:r>
              <a:rPr lang="de-DE" dirty="0">
                <a:solidFill>
                  <a:schemeClr val="tx1"/>
                </a:solidFill>
              </a:rPr>
              <a:t>Vorlesungsstruktur</a:t>
            </a:r>
          </a:p>
        </p:txBody>
      </p:sp>
      <p:graphicFrame>
        <p:nvGraphicFramePr>
          <p:cNvPr id="6" name="Table 5"/>
          <p:cNvGraphicFramePr>
            <a:graphicFrameLocks noGrp="1"/>
          </p:cNvGraphicFramePr>
          <p:nvPr>
            <p:extLst>
              <p:ext uri="{D42A27DB-BD31-4B8C-83A1-F6EECF244321}">
                <p14:modId xmlns:p14="http://schemas.microsoft.com/office/powerpoint/2010/main" val="1389749611"/>
              </p:ext>
            </p:extLst>
          </p:nvPr>
        </p:nvGraphicFramePr>
        <p:xfrm>
          <a:off x="324000" y="1353820"/>
          <a:ext cx="7993671" cy="4150360"/>
        </p:xfrm>
        <a:graphic>
          <a:graphicData uri="http://schemas.openxmlformats.org/drawingml/2006/table">
            <a:tbl>
              <a:tblPr firstRow="1" bandRow="1">
                <a:tableStyleId>{3C2FFA5D-87B4-456A-9821-1D502468CF0F}</a:tableStyleId>
              </a:tblPr>
              <a:tblGrid>
                <a:gridCol w="1307272">
                  <a:extLst>
                    <a:ext uri="{9D8B030D-6E8A-4147-A177-3AD203B41FA5}">
                      <a16:colId xmlns:a16="http://schemas.microsoft.com/office/drawing/2014/main" val="20000"/>
                    </a:ext>
                  </a:extLst>
                </a:gridCol>
                <a:gridCol w="6686399">
                  <a:extLst>
                    <a:ext uri="{9D8B030D-6E8A-4147-A177-3AD203B41FA5}">
                      <a16:colId xmlns:a16="http://schemas.microsoft.com/office/drawing/2014/main" val="20001"/>
                    </a:ext>
                  </a:extLst>
                </a:gridCol>
              </a:tblGrid>
              <a:tr h="370840">
                <a:tc>
                  <a:txBody>
                    <a:bodyPr/>
                    <a:lstStyle/>
                    <a:p>
                      <a:r>
                        <a:rPr lang="de-DE" sz="1600" dirty="0"/>
                        <a:t>Datum</a:t>
                      </a:r>
                    </a:p>
                  </a:txBody>
                  <a:tcPr/>
                </a:tc>
                <a:tc>
                  <a:txBody>
                    <a:bodyPr/>
                    <a:lstStyle/>
                    <a:p>
                      <a:r>
                        <a:rPr lang="de-DE" sz="1600" dirty="0"/>
                        <a:t>Themen</a:t>
                      </a:r>
                    </a:p>
                  </a:txBody>
                  <a:tcPr/>
                </a:tc>
                <a:extLst>
                  <a:ext uri="{0D108BD9-81ED-4DB2-BD59-A6C34878D82A}">
                    <a16:rowId xmlns:a16="http://schemas.microsoft.com/office/drawing/2014/main" val="10000"/>
                  </a:ext>
                </a:extLst>
              </a:tr>
              <a:tr h="370840">
                <a:tc>
                  <a:txBody>
                    <a:bodyPr/>
                    <a:lstStyle/>
                    <a:p>
                      <a:pPr algn="ctr"/>
                      <a:r>
                        <a:rPr lang="de-DE" sz="1400" dirty="0"/>
                        <a:t>17.02.26</a:t>
                      </a:r>
                    </a:p>
                    <a:p>
                      <a:pPr algn="ctr"/>
                      <a:r>
                        <a:rPr lang="de-DE" sz="1200" dirty="0"/>
                        <a:t>09.00-12.15 Uhr</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400" dirty="0"/>
                        <a:t>Vorstellung, </a:t>
                      </a:r>
                      <a:r>
                        <a:rPr lang="de-DE" sz="1400" dirty="0" err="1"/>
                        <a:t>Mega</a:t>
                      </a:r>
                      <a:r>
                        <a:rPr lang="de-DE" sz="1400" dirty="0"/>
                        <a:t> Trends – </a:t>
                      </a:r>
                      <a:r>
                        <a:rPr lang="de-DE" sz="1400" dirty="0" err="1"/>
                        <a:t>Capabilities</a:t>
                      </a:r>
                      <a:r>
                        <a:rPr lang="de-DE" sz="1400" dirty="0"/>
                        <a:t> der Zukunft</a:t>
                      </a:r>
                    </a:p>
                    <a:p>
                      <a:pPr marL="0" marR="0" indent="0" algn="l" defTabSz="914400" rtl="0" eaLnBrk="1" fontAlgn="auto" latinLnBrk="0" hangingPunct="1">
                        <a:lnSpc>
                          <a:spcPct val="100000"/>
                        </a:lnSpc>
                        <a:spcBef>
                          <a:spcPts val="0"/>
                        </a:spcBef>
                        <a:spcAft>
                          <a:spcPts val="0"/>
                        </a:spcAft>
                        <a:buClrTx/>
                        <a:buSzTx/>
                        <a:buFontTx/>
                        <a:buNone/>
                        <a:tabLst/>
                        <a:defRPr/>
                      </a:pPr>
                      <a:r>
                        <a:rPr lang="de-DE" sz="1400" dirty="0"/>
                        <a:t>Test &amp; mögliche Themen, Gruppen</a:t>
                      </a:r>
                    </a:p>
                  </a:txBody>
                  <a:tcPr/>
                </a:tc>
                <a:extLst>
                  <a:ext uri="{0D108BD9-81ED-4DB2-BD59-A6C34878D82A}">
                    <a16:rowId xmlns:a16="http://schemas.microsoft.com/office/drawing/2014/main" val="10001"/>
                  </a:ext>
                </a:extLst>
              </a:tr>
              <a:tr h="370840">
                <a:tc>
                  <a:txBody>
                    <a:bodyPr/>
                    <a:lstStyle/>
                    <a:p>
                      <a:pPr algn="ctr"/>
                      <a:r>
                        <a:rPr lang="de-DE" sz="1400" dirty="0"/>
                        <a:t>03.03.26</a:t>
                      </a:r>
                    </a:p>
                    <a:p>
                      <a:pPr algn="ctr"/>
                      <a:r>
                        <a:rPr lang="de-DE" sz="1200" dirty="0"/>
                        <a:t>09.00-12.15 Uhr</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400" dirty="0"/>
                        <a:t>(Gruppen &amp;) Themenauswahl</a:t>
                      </a:r>
                    </a:p>
                    <a:p>
                      <a:pPr marL="0" marR="0" indent="0" algn="l" defTabSz="914400" rtl="0" eaLnBrk="1" fontAlgn="auto" latinLnBrk="0" hangingPunct="1">
                        <a:lnSpc>
                          <a:spcPct val="100000"/>
                        </a:lnSpc>
                        <a:spcBef>
                          <a:spcPts val="0"/>
                        </a:spcBef>
                        <a:spcAft>
                          <a:spcPts val="0"/>
                        </a:spcAft>
                        <a:buClrTx/>
                        <a:buSzTx/>
                        <a:buFontTx/>
                        <a:buNone/>
                        <a:tabLst/>
                        <a:defRPr/>
                      </a:pPr>
                      <a:r>
                        <a:rPr lang="de-DE" sz="1400" dirty="0"/>
                        <a:t>T1:</a:t>
                      </a:r>
                      <a:r>
                        <a:rPr lang="de-DE" sz="1400" baseline="0" dirty="0"/>
                        <a:t> Kommunikation &amp; Feedback</a:t>
                      </a:r>
                    </a:p>
                    <a:p>
                      <a:pPr marL="0" marR="0" indent="0" algn="l" defTabSz="914400" rtl="0" eaLnBrk="1" fontAlgn="auto" latinLnBrk="0" hangingPunct="1">
                        <a:lnSpc>
                          <a:spcPct val="100000"/>
                        </a:lnSpc>
                        <a:spcBef>
                          <a:spcPts val="0"/>
                        </a:spcBef>
                        <a:spcAft>
                          <a:spcPts val="0"/>
                        </a:spcAft>
                        <a:buClrTx/>
                        <a:buSzTx/>
                        <a:buFontTx/>
                        <a:buNone/>
                        <a:tabLst/>
                        <a:defRPr/>
                      </a:pPr>
                      <a:r>
                        <a:rPr lang="de-DE" sz="1400" baseline="0" dirty="0"/>
                        <a:t>T2: Story </a:t>
                      </a:r>
                      <a:r>
                        <a:rPr lang="de-DE" sz="1400" baseline="0" dirty="0" err="1"/>
                        <a:t>Telling</a:t>
                      </a:r>
                      <a:r>
                        <a:rPr lang="de-DE" sz="1400" baseline="0" dirty="0"/>
                        <a:t> in Business</a:t>
                      </a:r>
                    </a:p>
                  </a:txBody>
                  <a:tcPr/>
                </a:tc>
                <a:extLst>
                  <a:ext uri="{0D108BD9-81ED-4DB2-BD59-A6C34878D82A}">
                    <a16:rowId xmlns:a16="http://schemas.microsoft.com/office/drawing/2014/main" val="10002"/>
                  </a:ext>
                </a:extLst>
              </a:tr>
              <a:tr h="370840">
                <a:tc>
                  <a:txBody>
                    <a:bodyPr/>
                    <a:lstStyle/>
                    <a:p>
                      <a:pPr algn="ctr"/>
                      <a:r>
                        <a:rPr lang="de-DE" sz="1400" dirty="0"/>
                        <a:t>10.03.26</a:t>
                      </a:r>
                    </a:p>
                    <a:p>
                      <a:pPr algn="ctr"/>
                      <a:r>
                        <a:rPr lang="de-DE" sz="1200" dirty="0"/>
                        <a:t>09.00-12.15 Uhr</a:t>
                      </a:r>
                    </a:p>
                  </a:txBody>
                  <a:tcPr/>
                </a:tc>
                <a:tc>
                  <a:txBody>
                    <a:bodyPr/>
                    <a:lstStyle/>
                    <a:p>
                      <a:r>
                        <a:rPr lang="de-DE" sz="1400" kern="1200" dirty="0">
                          <a:solidFill>
                            <a:schemeClr val="dk1"/>
                          </a:solidFill>
                          <a:latin typeface="+mn-lt"/>
                          <a:ea typeface="+mn-ea"/>
                          <a:cs typeface="+mn-cs"/>
                        </a:rPr>
                        <a:t>Themencoaching (45 min je Gruppe)</a:t>
                      </a:r>
                    </a:p>
                    <a:p>
                      <a:pPr marL="0" marR="0" lvl="0" indent="0" algn="l" defTabSz="914400" rtl="0" eaLnBrk="1" fontAlgn="auto" latinLnBrk="0" hangingPunct="1">
                        <a:lnSpc>
                          <a:spcPct val="100000"/>
                        </a:lnSpc>
                        <a:spcBef>
                          <a:spcPts val="0"/>
                        </a:spcBef>
                        <a:spcAft>
                          <a:spcPts val="0"/>
                        </a:spcAft>
                        <a:buClrTx/>
                        <a:buSzTx/>
                        <a:buFontTx/>
                        <a:buNone/>
                        <a:tabLst/>
                        <a:defRPr/>
                      </a:pPr>
                      <a:r>
                        <a:rPr lang="de-DE" sz="1200" kern="1200" dirty="0">
                          <a:solidFill>
                            <a:schemeClr val="dk1"/>
                          </a:solidFill>
                          <a:latin typeface="+mn-lt"/>
                          <a:ea typeface="+mn-ea"/>
                          <a:cs typeface="+mn-cs"/>
                        </a:rPr>
                        <a:t>09.00: A, 10.00: B, 11.00: C</a:t>
                      </a:r>
                      <a:endParaRPr lang="de-DE" sz="1200" baseline="0" dirty="0"/>
                    </a:p>
                  </a:txBody>
                  <a:tcPr/>
                </a:tc>
                <a:extLst>
                  <a:ext uri="{0D108BD9-81ED-4DB2-BD59-A6C34878D82A}">
                    <a16:rowId xmlns:a16="http://schemas.microsoft.com/office/drawing/2014/main" val="10003"/>
                  </a:ext>
                </a:extLst>
              </a:tr>
              <a:tr h="434016">
                <a:tc>
                  <a:txBody>
                    <a:bodyPr/>
                    <a:lstStyle/>
                    <a:p>
                      <a:pPr algn="ctr"/>
                      <a:r>
                        <a:rPr lang="de-DE" sz="1400" dirty="0"/>
                        <a:t>17.03.26</a:t>
                      </a:r>
                    </a:p>
                    <a:p>
                      <a:pPr algn="ctr"/>
                      <a:r>
                        <a:rPr lang="de-DE" sz="1200" dirty="0"/>
                        <a:t>13.00-16.15 Uhr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400" kern="1200" dirty="0">
                          <a:solidFill>
                            <a:schemeClr val="dk1"/>
                          </a:solidFill>
                          <a:latin typeface="+mn-lt"/>
                          <a:ea typeface="+mn-ea"/>
                          <a:cs typeface="+mn-cs"/>
                        </a:rPr>
                        <a:t>Persönliche/Soziale Kompetenz: </a:t>
                      </a:r>
                    </a:p>
                    <a:p>
                      <a:pPr marL="0" marR="0" lvl="0" indent="0" algn="l" defTabSz="914400" rtl="0" eaLnBrk="1" fontAlgn="auto" latinLnBrk="0" hangingPunct="1">
                        <a:lnSpc>
                          <a:spcPct val="100000"/>
                        </a:lnSpc>
                        <a:spcBef>
                          <a:spcPts val="0"/>
                        </a:spcBef>
                        <a:spcAft>
                          <a:spcPts val="0"/>
                        </a:spcAft>
                        <a:buClrTx/>
                        <a:buSzTx/>
                        <a:buFontTx/>
                        <a:buNone/>
                        <a:tabLst/>
                        <a:defRPr/>
                      </a:pPr>
                      <a:r>
                        <a:rPr lang="de-DE" sz="1400" dirty="0"/>
                        <a:t>T3 &amp; </a:t>
                      </a:r>
                      <a:r>
                        <a:rPr lang="de-DE" sz="1400" kern="1200" dirty="0">
                          <a:solidFill>
                            <a:schemeClr val="dk1"/>
                          </a:solidFill>
                          <a:latin typeface="+mn-lt"/>
                          <a:ea typeface="+mn-ea"/>
                          <a:cs typeface="+mn-cs"/>
                        </a:rPr>
                        <a:t>T4 &amp; T5</a:t>
                      </a:r>
                      <a:endParaRPr lang="de-DE" sz="1400" b="0" dirty="0"/>
                    </a:p>
                  </a:txBody>
                  <a:tcPr/>
                </a:tc>
                <a:extLst>
                  <a:ext uri="{0D108BD9-81ED-4DB2-BD59-A6C34878D82A}">
                    <a16:rowId xmlns:a16="http://schemas.microsoft.com/office/drawing/2014/main" val="430427903"/>
                  </a:ext>
                </a:extLst>
              </a:tr>
              <a:tr h="466833">
                <a:tc>
                  <a:txBody>
                    <a:bodyPr/>
                    <a:lstStyle/>
                    <a:p>
                      <a:pPr algn="ctr"/>
                      <a:r>
                        <a:rPr lang="de-DE" sz="1400" dirty="0"/>
                        <a:t>31.03.26</a:t>
                      </a:r>
                    </a:p>
                    <a:p>
                      <a:pPr algn="ctr"/>
                      <a:r>
                        <a:rPr lang="de-DE" sz="1200" dirty="0"/>
                        <a:t>09.00-12.15 Uhr</a:t>
                      </a:r>
                    </a:p>
                  </a:txBody>
                  <a:tcPr/>
                </a:tc>
                <a:tc>
                  <a:txBody>
                    <a:bodyPr/>
                    <a:lstStyle/>
                    <a:p>
                      <a:r>
                        <a:rPr lang="de-DE" sz="1400" dirty="0"/>
                        <a:t>Methoden: T6 &amp; </a:t>
                      </a:r>
                      <a:r>
                        <a:rPr lang="de-DE" sz="1400" kern="1200" dirty="0">
                          <a:solidFill>
                            <a:schemeClr val="dk1"/>
                          </a:solidFill>
                          <a:latin typeface="+mn-lt"/>
                          <a:ea typeface="+mn-ea"/>
                          <a:cs typeface="+mn-cs"/>
                        </a:rPr>
                        <a:t>T7 &amp; T8</a:t>
                      </a:r>
                    </a:p>
                  </a:txBody>
                  <a:tcPr/>
                </a:tc>
                <a:extLst>
                  <a:ext uri="{0D108BD9-81ED-4DB2-BD59-A6C34878D82A}">
                    <a16:rowId xmlns:a16="http://schemas.microsoft.com/office/drawing/2014/main" val="10004"/>
                  </a:ext>
                </a:extLst>
              </a:tr>
              <a:tr h="370840">
                <a:tc>
                  <a:txBody>
                    <a:bodyPr/>
                    <a:lstStyle/>
                    <a:p>
                      <a:pPr algn="ctr"/>
                      <a:r>
                        <a:rPr lang="de-DE" sz="1400" dirty="0"/>
                        <a:t>07.04.26</a:t>
                      </a:r>
                    </a:p>
                    <a:p>
                      <a:pPr algn="ctr"/>
                      <a:r>
                        <a:rPr lang="de-DE" sz="1200" dirty="0"/>
                        <a:t>09.00-12.15 Uhr</a:t>
                      </a:r>
                    </a:p>
                  </a:txBody>
                  <a:tcPr/>
                </a:tc>
                <a:tc>
                  <a:txBody>
                    <a:bodyPr/>
                    <a:lstStyle/>
                    <a:p>
                      <a:r>
                        <a:rPr lang="de-DE" sz="1400" kern="1200" dirty="0">
                          <a:solidFill>
                            <a:schemeClr val="dk1"/>
                          </a:solidFill>
                          <a:latin typeface="+mn-lt"/>
                          <a:ea typeface="+mn-ea"/>
                          <a:cs typeface="+mn-cs"/>
                        </a:rPr>
                        <a:t>Organisations-Management: </a:t>
                      </a:r>
                    </a:p>
                    <a:p>
                      <a:pPr marL="0" marR="0" lvl="0" indent="0" algn="l" defTabSz="914400" rtl="0" eaLnBrk="1" fontAlgn="auto" latinLnBrk="0" hangingPunct="1">
                        <a:lnSpc>
                          <a:spcPct val="100000"/>
                        </a:lnSpc>
                        <a:spcBef>
                          <a:spcPts val="0"/>
                        </a:spcBef>
                        <a:spcAft>
                          <a:spcPts val="0"/>
                        </a:spcAft>
                        <a:buClrTx/>
                        <a:buSzTx/>
                        <a:buFontTx/>
                        <a:buNone/>
                        <a:tabLst/>
                        <a:defRPr/>
                      </a:pPr>
                      <a:r>
                        <a:rPr lang="de-DE" sz="1400" kern="1200" dirty="0">
                          <a:solidFill>
                            <a:schemeClr val="dk1"/>
                          </a:solidFill>
                          <a:latin typeface="+mn-lt"/>
                          <a:ea typeface="+mn-ea"/>
                          <a:cs typeface="+mn-cs"/>
                        </a:rPr>
                        <a:t>T9 &amp; T10 &amp; T11</a:t>
                      </a:r>
                    </a:p>
                  </a:txBody>
                  <a:tcPr/>
                </a:tc>
                <a:extLst>
                  <a:ext uri="{0D108BD9-81ED-4DB2-BD59-A6C34878D82A}">
                    <a16:rowId xmlns:a16="http://schemas.microsoft.com/office/drawing/2014/main" val="10005"/>
                  </a:ext>
                </a:extLst>
              </a:tr>
              <a:tr h="264638">
                <a:tc>
                  <a:txBody>
                    <a:bodyPr/>
                    <a:lstStyle/>
                    <a:p>
                      <a:pPr algn="ctr"/>
                      <a:r>
                        <a:rPr lang="de-DE" sz="1400" dirty="0"/>
                        <a:t>14.04.26</a:t>
                      </a:r>
                    </a:p>
                    <a:p>
                      <a:pPr algn="ctr"/>
                      <a:r>
                        <a:rPr lang="de-DE" sz="1200" dirty="0"/>
                        <a:t>09.00-12.15 Uhr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400" b="0" kern="1200" dirty="0">
                          <a:solidFill>
                            <a:schemeClr val="dk1"/>
                          </a:solidFill>
                          <a:latin typeface="+mn-lt"/>
                          <a:ea typeface="+mn-ea"/>
                          <a:cs typeface="+mn-cs"/>
                        </a:rPr>
                        <a:t>ZEEB: DT </a:t>
                      </a:r>
                      <a:r>
                        <a:rPr lang="de-DE" sz="1400" b="0" kern="1200" dirty="0" err="1">
                          <a:solidFill>
                            <a:schemeClr val="dk1"/>
                          </a:solidFill>
                          <a:latin typeface="+mn-lt"/>
                          <a:ea typeface="+mn-ea"/>
                          <a:cs typeface="+mn-cs"/>
                        </a:rPr>
                        <a:t>workshop</a:t>
                      </a:r>
                      <a:r>
                        <a:rPr lang="de-DE" sz="1400" b="0" kern="1200" dirty="0">
                          <a:solidFill>
                            <a:schemeClr val="dk1"/>
                          </a:solidFill>
                          <a:latin typeface="+mn-lt"/>
                          <a:ea typeface="+mn-ea"/>
                          <a:cs typeface="+mn-cs"/>
                        </a:rPr>
                        <a:t> mit DT Coach Romana </a:t>
                      </a:r>
                      <a:r>
                        <a:rPr lang="de-DE" sz="1400" b="0" kern="1200" dirty="0" err="1">
                          <a:solidFill>
                            <a:schemeClr val="dk1"/>
                          </a:solidFill>
                          <a:latin typeface="+mn-lt"/>
                          <a:ea typeface="+mn-ea"/>
                          <a:cs typeface="+mn-cs"/>
                        </a:rPr>
                        <a:t>Öhmig</a:t>
                      </a:r>
                      <a:r>
                        <a:rPr lang="de-DE" sz="1400" b="0" kern="1200" dirty="0">
                          <a:solidFill>
                            <a:schemeClr val="dk1"/>
                          </a:solidFill>
                          <a:latin typeface="+mn-lt"/>
                          <a:ea typeface="+mn-ea"/>
                          <a:cs typeface="+mn-cs"/>
                        </a:rPr>
                        <a:t> (SAP) (DT=Design </a:t>
                      </a:r>
                      <a:r>
                        <a:rPr lang="de-DE" sz="1400" b="0" kern="1200" dirty="0" err="1">
                          <a:solidFill>
                            <a:schemeClr val="dk1"/>
                          </a:solidFill>
                          <a:latin typeface="+mn-lt"/>
                          <a:ea typeface="+mn-ea"/>
                          <a:cs typeface="+mn-cs"/>
                        </a:rPr>
                        <a:t>Thinking</a:t>
                      </a:r>
                      <a:r>
                        <a:rPr lang="de-DE" sz="1400" b="0" kern="1200" dirty="0">
                          <a:solidFill>
                            <a:schemeClr val="dk1"/>
                          </a:solidFill>
                          <a:latin typeface="+mn-lt"/>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de-DE" sz="1400" b="0" kern="1200" dirty="0">
                          <a:solidFill>
                            <a:schemeClr val="dk1"/>
                          </a:solidFill>
                          <a:latin typeface="+mn-lt"/>
                          <a:ea typeface="+mn-ea"/>
                          <a:cs typeface="+mn-cs"/>
                        </a:rPr>
                        <a:t>Feedback zur Vorlesung</a:t>
                      </a:r>
                      <a:endParaRPr lang="de-DE" sz="1400" b="0" dirty="0"/>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57140189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hteck 1">
            <a:extLst>
              <a:ext uri="{FF2B5EF4-FFF2-40B4-BE49-F238E27FC236}">
                <a16:creationId xmlns:a16="http://schemas.microsoft.com/office/drawing/2014/main" id="{66A7EFB2-86EF-4482-9BA5-FFEC8654A57E}"/>
              </a:ext>
            </a:extLst>
          </p:cNvPr>
          <p:cNvSpPr/>
          <p:nvPr/>
        </p:nvSpPr>
        <p:spPr bwMode="gray">
          <a:xfrm>
            <a:off x="500513" y="3243714"/>
            <a:ext cx="3383617" cy="1853580"/>
          </a:xfrm>
          <a:prstGeom prst="rect">
            <a:avLst/>
          </a:prstGeom>
          <a:solidFill>
            <a:schemeClr val="accent5">
              <a:lumMod val="40000"/>
              <a:lumOff val="60000"/>
            </a:schemeClr>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de-DE"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5" name="TextBox 4"/>
          <p:cNvSpPr txBox="1"/>
          <p:nvPr/>
        </p:nvSpPr>
        <p:spPr>
          <a:xfrm>
            <a:off x="324000" y="1436150"/>
            <a:ext cx="3560130" cy="3524042"/>
          </a:xfrm>
          <a:prstGeom prst="rect">
            <a:avLst/>
          </a:prstGeom>
          <a:noFill/>
        </p:spPr>
        <p:txBody>
          <a:bodyPr wrap="square" lIns="0" tIns="0" rIns="0" bIns="0" rtlCol="0">
            <a:spAutoFit/>
          </a:bodyPr>
          <a:lstStyle/>
          <a:p>
            <a:pPr fontAlgn="base">
              <a:spcBef>
                <a:spcPts val="600"/>
              </a:spcBef>
              <a:spcAft>
                <a:spcPct val="0"/>
              </a:spcAft>
              <a:buClr>
                <a:srgbClr val="F0AB00"/>
              </a:buClr>
              <a:buSzPct val="80000"/>
            </a:pPr>
            <a:r>
              <a:rPr lang="de-DE" sz="2400" b="1" kern="0" dirty="0">
                <a:ea typeface="Arial Unicode MS" pitchFamily="34" charset="-128"/>
                <a:cs typeface="Arial Unicode MS" pitchFamily="34" charset="-128"/>
              </a:rPr>
              <a:t>Leistungsnachweis</a:t>
            </a:r>
            <a:r>
              <a:rPr lang="de-DE" b="1" kern="0" dirty="0">
                <a:ea typeface="Arial Unicode MS" pitchFamily="34" charset="-128"/>
                <a:cs typeface="Arial Unicode MS" pitchFamily="34" charset="-128"/>
              </a:rPr>
              <a:t>:</a:t>
            </a:r>
            <a:endParaRPr lang="de-DE" sz="1800" b="1" kern="0" dirty="0">
              <a:ea typeface="Arial Unicode MS" pitchFamily="34" charset="-128"/>
              <a:cs typeface="Arial Unicode MS" pitchFamily="34" charset="-128"/>
            </a:endParaRPr>
          </a:p>
          <a:p>
            <a:pPr marL="285750" indent="-285750" fontAlgn="base">
              <a:spcBef>
                <a:spcPts val="600"/>
              </a:spcBef>
              <a:spcAft>
                <a:spcPct val="0"/>
              </a:spcAft>
              <a:buClr>
                <a:srgbClr val="F0AB00"/>
              </a:buClr>
              <a:buSzPct val="80000"/>
              <a:buFont typeface="Arial" panose="020B0604020202020204" pitchFamily="34" charset="0"/>
              <a:buChar char="•"/>
            </a:pPr>
            <a:endParaRPr lang="de-DE" sz="1800" b="1" kern="0" dirty="0">
              <a:ea typeface="Arial Unicode MS" pitchFamily="34" charset="-128"/>
              <a:cs typeface="Arial Unicode MS" pitchFamily="34" charset="-128"/>
            </a:endParaRPr>
          </a:p>
          <a:p>
            <a:pPr marL="285750" indent="-285750" fontAlgn="base">
              <a:spcBef>
                <a:spcPts val="600"/>
              </a:spcBef>
              <a:spcAft>
                <a:spcPct val="0"/>
              </a:spcAft>
              <a:buClr>
                <a:srgbClr val="F0AB00"/>
              </a:buClr>
              <a:buSzPct val="80000"/>
              <a:buFont typeface="Arial" panose="020B0604020202020204" pitchFamily="34" charset="0"/>
              <a:buChar char="•"/>
            </a:pPr>
            <a:r>
              <a:rPr lang="de-DE" sz="1800" b="1" kern="0" dirty="0">
                <a:ea typeface="Arial Unicode MS" pitchFamily="34" charset="-128"/>
                <a:cs typeface="Arial Unicode MS" pitchFamily="34" charset="-128"/>
              </a:rPr>
              <a:t>Kurzreferate</a:t>
            </a:r>
            <a:r>
              <a:rPr lang="de-DE" sz="1800" kern="0" dirty="0">
                <a:ea typeface="Arial Unicode MS" pitchFamily="34" charset="-128"/>
                <a:cs typeface="Arial Unicode MS" pitchFamily="34" charset="-128"/>
              </a:rPr>
              <a:t> </a:t>
            </a:r>
            <a:r>
              <a:rPr lang="de-DE" kern="0" dirty="0">
                <a:ea typeface="Arial Unicode MS" pitchFamily="34" charset="-128"/>
                <a:cs typeface="Arial Unicode MS" pitchFamily="34" charset="-128"/>
              </a:rPr>
              <a:t>(18 min) </a:t>
            </a:r>
          </a:p>
          <a:p>
            <a:pPr marL="742950" lvl="1" indent="-285750" fontAlgn="base">
              <a:spcBef>
                <a:spcPts val="600"/>
              </a:spcBef>
              <a:spcAft>
                <a:spcPct val="0"/>
              </a:spcAft>
              <a:buClr>
                <a:srgbClr val="F0AB00"/>
              </a:buClr>
              <a:buSzPct val="80000"/>
              <a:buFont typeface="Arial" panose="020B0604020202020204" pitchFamily="34" charset="0"/>
              <a:buChar char="•"/>
            </a:pPr>
            <a:r>
              <a:rPr lang="de-DE" kern="0" dirty="0">
                <a:ea typeface="Arial Unicode MS" pitchFamily="34" charset="-128"/>
                <a:cs typeface="Arial Unicode MS" pitchFamily="34" charset="-128"/>
              </a:rPr>
              <a:t>PPT + 1 Pager</a:t>
            </a:r>
          </a:p>
          <a:p>
            <a:pPr marL="285750" indent="-285750" fontAlgn="base">
              <a:spcBef>
                <a:spcPts val="600"/>
              </a:spcBef>
              <a:spcAft>
                <a:spcPct val="0"/>
              </a:spcAft>
              <a:buClr>
                <a:srgbClr val="F0AB00"/>
              </a:buClr>
              <a:buSzPct val="80000"/>
              <a:buFont typeface="Arial" panose="020B0604020202020204" pitchFamily="34" charset="0"/>
              <a:buChar char="•"/>
            </a:pPr>
            <a:endParaRPr lang="de-DE" b="1" kern="0" dirty="0">
              <a:ea typeface="Arial Unicode MS" pitchFamily="34" charset="-128"/>
              <a:cs typeface="Arial Unicode MS" pitchFamily="34" charset="-128"/>
            </a:endParaRPr>
          </a:p>
          <a:p>
            <a:pPr marL="285750" indent="-285750" fontAlgn="base">
              <a:spcBef>
                <a:spcPts val="600"/>
              </a:spcBef>
              <a:spcAft>
                <a:spcPct val="0"/>
              </a:spcAft>
              <a:buClr>
                <a:srgbClr val="F0AB00"/>
              </a:buClr>
              <a:buSzPct val="80000"/>
              <a:buFont typeface="Arial" panose="020B0604020202020204" pitchFamily="34" charset="0"/>
              <a:buChar char="•"/>
            </a:pPr>
            <a:r>
              <a:rPr lang="de-DE" b="1" kern="0" dirty="0">
                <a:ea typeface="Arial Unicode MS" pitchFamily="34" charset="-128"/>
                <a:cs typeface="Arial Unicode MS" pitchFamily="34" charset="-128"/>
              </a:rPr>
              <a:t>Protokoll</a:t>
            </a:r>
            <a:r>
              <a:rPr lang="de-DE" kern="0" dirty="0">
                <a:ea typeface="Arial Unicode MS" pitchFamily="34" charset="-128"/>
                <a:cs typeface="Arial Unicode MS" pitchFamily="34" charset="-128"/>
              </a:rPr>
              <a:t> (1-2 Seiten): </a:t>
            </a:r>
            <a:r>
              <a:rPr lang="de-DE" kern="0" dirty="0">
                <a:highlight>
                  <a:srgbClr val="FFFF00"/>
                </a:highlight>
                <a:ea typeface="Arial Unicode MS" pitchFamily="34" charset="-128"/>
                <a:cs typeface="Arial Unicode MS" pitchFamily="34" charset="-128"/>
              </a:rPr>
              <a:t>Moodle!</a:t>
            </a:r>
          </a:p>
          <a:p>
            <a:pPr marL="742950" lvl="1" indent="-285750" fontAlgn="base">
              <a:spcBef>
                <a:spcPts val="600"/>
              </a:spcBef>
              <a:spcAft>
                <a:spcPct val="0"/>
              </a:spcAft>
              <a:buClr>
                <a:srgbClr val="F0AB00"/>
              </a:buClr>
              <a:buSzPct val="80000"/>
              <a:buFont typeface="Arial" panose="020B0604020202020204" pitchFamily="34" charset="0"/>
              <a:buChar char="•"/>
            </a:pPr>
            <a:r>
              <a:rPr lang="de-DE" sz="1400" kern="0" dirty="0">
                <a:ea typeface="Arial Unicode MS" pitchFamily="34" charset="-128"/>
                <a:cs typeface="Arial Unicode MS" pitchFamily="34" charset="-128"/>
              </a:rPr>
              <a:t>Themen der anderen Gruppen</a:t>
            </a:r>
          </a:p>
          <a:p>
            <a:pPr marL="1200150" lvl="2" indent="-285750" fontAlgn="base">
              <a:spcBef>
                <a:spcPts val="600"/>
              </a:spcBef>
              <a:spcAft>
                <a:spcPct val="0"/>
              </a:spcAft>
              <a:buClr>
                <a:srgbClr val="F0AB00"/>
              </a:buClr>
              <a:buFont typeface="Arial" panose="020B0604020202020204" pitchFamily="34" charset="0"/>
              <a:buChar char="•"/>
            </a:pPr>
            <a:r>
              <a:rPr lang="de-DE" kern="0" dirty="0">
                <a:ea typeface="Arial Unicode MS" pitchFamily="34" charset="-128"/>
                <a:cs typeface="Arial Unicode MS" pitchFamily="34" charset="-128"/>
              </a:rPr>
              <a:t>Wichtig im DT weil ….</a:t>
            </a:r>
          </a:p>
          <a:p>
            <a:pPr marL="1200150" lvl="2" indent="-285750" fontAlgn="base">
              <a:spcBef>
                <a:spcPts val="600"/>
              </a:spcBef>
              <a:spcAft>
                <a:spcPct val="0"/>
              </a:spcAft>
              <a:buClr>
                <a:srgbClr val="F0AB00"/>
              </a:buClr>
              <a:buFont typeface="Arial" panose="020B0604020202020204" pitchFamily="34" charset="0"/>
              <a:buChar char="•"/>
            </a:pPr>
            <a:r>
              <a:rPr lang="de-DE" kern="0" dirty="0">
                <a:ea typeface="Arial Unicode MS" pitchFamily="34" charset="-128"/>
                <a:cs typeface="Arial Unicode MS" pitchFamily="34" charset="-128"/>
              </a:rPr>
              <a:t>Wie im Ausbildungs-U umgesetzt (2 Punkte)</a:t>
            </a:r>
          </a:p>
          <a:p>
            <a:pPr marL="1200150" lvl="2" indent="-285750" fontAlgn="base">
              <a:spcBef>
                <a:spcPts val="600"/>
              </a:spcBef>
              <a:spcAft>
                <a:spcPct val="0"/>
              </a:spcAft>
              <a:buClr>
                <a:srgbClr val="F0AB00"/>
              </a:buClr>
              <a:buFont typeface="Arial" panose="020B0604020202020204" pitchFamily="34" charset="0"/>
              <a:buChar char="•"/>
            </a:pPr>
            <a:r>
              <a:rPr lang="de-DE" kern="0" dirty="0">
                <a:ea typeface="Arial Unicode MS" pitchFamily="34" charset="-128"/>
                <a:cs typeface="Arial Unicode MS" pitchFamily="34" charset="-128"/>
              </a:rPr>
              <a:t>Verbesserungsvorschläge (2)</a:t>
            </a:r>
          </a:p>
        </p:txBody>
      </p:sp>
      <p:sp>
        <p:nvSpPr>
          <p:cNvPr id="4" name="Title 3"/>
          <p:cNvSpPr>
            <a:spLocks noGrp="1"/>
          </p:cNvSpPr>
          <p:nvPr>
            <p:ph type="title"/>
          </p:nvPr>
        </p:nvSpPr>
        <p:spPr/>
        <p:txBody>
          <a:bodyPr/>
          <a:lstStyle/>
          <a:p>
            <a:r>
              <a:rPr lang="de-DE" dirty="0">
                <a:solidFill>
                  <a:schemeClr val="tx1"/>
                </a:solidFill>
              </a:rPr>
              <a:t>SQ II: Digital </a:t>
            </a:r>
            <a:r>
              <a:rPr lang="de-DE" dirty="0" err="1">
                <a:solidFill>
                  <a:schemeClr val="tx1"/>
                </a:solidFill>
              </a:rPr>
              <a:t>Thinking</a:t>
            </a:r>
            <a:r>
              <a:rPr lang="de-DE" dirty="0">
                <a:solidFill>
                  <a:schemeClr val="tx1"/>
                </a:solidFill>
              </a:rPr>
              <a:t> &amp; Management</a:t>
            </a:r>
            <a:br>
              <a:rPr lang="de-DE" dirty="0"/>
            </a:br>
            <a:r>
              <a:rPr lang="de-DE" dirty="0">
                <a:solidFill>
                  <a:schemeClr val="tx1"/>
                </a:solidFill>
              </a:rPr>
              <a:t>Leistungsnachweis</a:t>
            </a:r>
          </a:p>
        </p:txBody>
      </p:sp>
      <p:sp>
        <p:nvSpPr>
          <p:cNvPr id="7" name="TextBox 6"/>
          <p:cNvSpPr txBox="1"/>
          <p:nvPr/>
        </p:nvSpPr>
        <p:spPr>
          <a:xfrm>
            <a:off x="239825" y="5246450"/>
            <a:ext cx="3560130" cy="1253402"/>
          </a:xfrm>
          <a:prstGeom prst="rect">
            <a:avLst/>
          </a:prstGeom>
          <a:solidFill>
            <a:srgbClr val="FFFF00"/>
          </a:solidFill>
        </p:spPr>
        <p:txBody>
          <a:bodyPr wrap="square" lIns="72000" tIns="72000" rIns="72000" bIns="72000" rtlCol="0">
            <a:spAutoFit/>
          </a:bodyPr>
          <a:lstStyle/>
          <a:p>
            <a:pPr algn="ctr" fontAlgn="base">
              <a:spcBef>
                <a:spcPts val="600"/>
              </a:spcBef>
              <a:spcAft>
                <a:spcPct val="0"/>
              </a:spcAft>
              <a:buClr>
                <a:srgbClr val="F0AB00"/>
              </a:buClr>
              <a:buSzPct val="80000"/>
            </a:pPr>
            <a:r>
              <a:rPr lang="de-DE" sz="1600" kern="0" dirty="0">
                <a:ea typeface="Arial Unicode MS" pitchFamily="34" charset="-128"/>
                <a:cs typeface="Arial Unicode MS" pitchFamily="34" charset="-128"/>
              </a:rPr>
              <a:t>Protokoll </a:t>
            </a:r>
          </a:p>
          <a:p>
            <a:pPr algn="ctr" fontAlgn="base">
              <a:spcBef>
                <a:spcPts val="600"/>
              </a:spcBef>
              <a:spcAft>
                <a:spcPct val="0"/>
              </a:spcAft>
              <a:buClr>
                <a:srgbClr val="F0AB00"/>
              </a:buClr>
              <a:buSzPct val="80000"/>
            </a:pPr>
            <a:r>
              <a:rPr lang="de-DE" sz="2800" b="1" kern="0" dirty="0">
                <a:ea typeface="Arial Unicode MS" pitchFamily="34" charset="-128"/>
                <a:cs typeface="Arial Unicode MS" pitchFamily="34" charset="-128"/>
              </a:rPr>
              <a:t>bis 20.04.2026 </a:t>
            </a:r>
          </a:p>
          <a:p>
            <a:pPr algn="ctr" fontAlgn="base">
              <a:spcBef>
                <a:spcPts val="600"/>
              </a:spcBef>
              <a:spcAft>
                <a:spcPct val="0"/>
              </a:spcAft>
              <a:buClr>
                <a:srgbClr val="F0AB00"/>
              </a:buClr>
              <a:buSzPct val="80000"/>
            </a:pPr>
            <a:r>
              <a:rPr lang="de-DE" kern="0" dirty="0">
                <a:ea typeface="Arial Unicode MS" pitchFamily="34" charset="-128"/>
                <a:cs typeface="Arial Unicode MS" pitchFamily="34" charset="-128"/>
              </a:rPr>
              <a:t>Heinz.H.Haefner@t-online.de</a:t>
            </a:r>
            <a:endParaRPr lang="de-DE" sz="2800" kern="0" dirty="0">
              <a:ea typeface="Arial Unicode MS" pitchFamily="34" charset="-128"/>
              <a:cs typeface="Arial Unicode MS" pitchFamily="34" charset="-128"/>
            </a:endParaRPr>
          </a:p>
        </p:txBody>
      </p:sp>
      <p:graphicFrame>
        <p:nvGraphicFramePr>
          <p:cNvPr id="6" name="Table 5">
            <a:extLst>
              <a:ext uri="{FF2B5EF4-FFF2-40B4-BE49-F238E27FC236}">
                <a16:creationId xmlns:a16="http://schemas.microsoft.com/office/drawing/2014/main" id="{F0DE64B9-E3BD-4DB9-9FC3-F99322CD1B15}"/>
              </a:ext>
            </a:extLst>
          </p:cNvPr>
          <p:cNvGraphicFramePr>
            <a:graphicFrameLocks noGrp="1"/>
          </p:cNvGraphicFramePr>
          <p:nvPr>
            <p:extLst/>
          </p:nvPr>
        </p:nvGraphicFramePr>
        <p:xfrm>
          <a:off x="3934691" y="1436150"/>
          <a:ext cx="4812145" cy="4795625"/>
        </p:xfrm>
        <a:graphic>
          <a:graphicData uri="http://schemas.openxmlformats.org/drawingml/2006/table">
            <a:tbl>
              <a:tblPr firstRow="1" bandRow="1">
                <a:tableStyleId>{3C2FFA5D-87B4-456A-9821-1D502468CF0F}</a:tableStyleId>
              </a:tblPr>
              <a:tblGrid>
                <a:gridCol w="1313560">
                  <a:extLst>
                    <a:ext uri="{9D8B030D-6E8A-4147-A177-3AD203B41FA5}">
                      <a16:colId xmlns:a16="http://schemas.microsoft.com/office/drawing/2014/main" val="20000"/>
                    </a:ext>
                  </a:extLst>
                </a:gridCol>
                <a:gridCol w="3498585">
                  <a:extLst>
                    <a:ext uri="{9D8B030D-6E8A-4147-A177-3AD203B41FA5}">
                      <a16:colId xmlns:a16="http://schemas.microsoft.com/office/drawing/2014/main" val="20001"/>
                    </a:ext>
                  </a:extLst>
                </a:gridCol>
              </a:tblGrid>
              <a:tr h="370840">
                <a:tc>
                  <a:txBody>
                    <a:bodyPr/>
                    <a:lstStyle/>
                    <a:p>
                      <a:r>
                        <a:rPr lang="de-DE" sz="1600" dirty="0"/>
                        <a:t>Datum</a:t>
                      </a:r>
                    </a:p>
                  </a:txBody>
                  <a:tcPr/>
                </a:tc>
                <a:tc>
                  <a:txBody>
                    <a:bodyPr/>
                    <a:lstStyle/>
                    <a:p>
                      <a:r>
                        <a:rPr lang="de-DE" sz="1600" dirty="0"/>
                        <a:t>Themen</a:t>
                      </a:r>
                    </a:p>
                  </a:txBody>
                  <a:tcPr/>
                </a:tc>
                <a:extLst>
                  <a:ext uri="{0D108BD9-81ED-4DB2-BD59-A6C34878D82A}">
                    <a16:rowId xmlns:a16="http://schemas.microsoft.com/office/drawing/2014/main" val="10000"/>
                  </a:ext>
                </a:extLst>
              </a:tr>
              <a:tr h="370840">
                <a:tc>
                  <a:txBody>
                    <a:bodyPr/>
                    <a:lstStyle/>
                    <a:p>
                      <a:pPr algn="ctr"/>
                      <a:r>
                        <a:rPr lang="de-DE" sz="1400" dirty="0"/>
                        <a:t>17.02.26</a:t>
                      </a:r>
                    </a:p>
                    <a:p>
                      <a:pPr algn="ctr"/>
                      <a:r>
                        <a:rPr lang="de-DE" sz="1200" dirty="0"/>
                        <a:t>09.00-12.15 Uhr</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400" dirty="0"/>
                        <a:t>Vorstellung, </a:t>
                      </a:r>
                      <a:r>
                        <a:rPr lang="de-DE" sz="1400" dirty="0" err="1"/>
                        <a:t>Mega</a:t>
                      </a:r>
                      <a:r>
                        <a:rPr lang="de-DE" sz="1400" dirty="0"/>
                        <a:t> Trends – </a:t>
                      </a:r>
                      <a:r>
                        <a:rPr lang="de-DE" sz="1400" dirty="0" err="1"/>
                        <a:t>Capabilities</a:t>
                      </a:r>
                      <a:r>
                        <a:rPr lang="de-DE" sz="1400" dirty="0"/>
                        <a:t> der Zukunft</a:t>
                      </a:r>
                    </a:p>
                    <a:p>
                      <a:pPr marL="0" marR="0" indent="0" algn="l" defTabSz="914400" rtl="0" eaLnBrk="1" fontAlgn="auto" latinLnBrk="0" hangingPunct="1">
                        <a:lnSpc>
                          <a:spcPct val="100000"/>
                        </a:lnSpc>
                        <a:spcBef>
                          <a:spcPts val="0"/>
                        </a:spcBef>
                        <a:spcAft>
                          <a:spcPts val="0"/>
                        </a:spcAft>
                        <a:buClrTx/>
                        <a:buSzTx/>
                        <a:buFontTx/>
                        <a:buNone/>
                        <a:tabLst/>
                        <a:defRPr/>
                      </a:pPr>
                      <a:r>
                        <a:rPr lang="de-DE" sz="1400" dirty="0"/>
                        <a:t>Test &amp; mögliche Themen, Gruppen</a:t>
                      </a:r>
                    </a:p>
                  </a:txBody>
                  <a:tcPr/>
                </a:tc>
                <a:extLst>
                  <a:ext uri="{0D108BD9-81ED-4DB2-BD59-A6C34878D82A}">
                    <a16:rowId xmlns:a16="http://schemas.microsoft.com/office/drawing/2014/main" val="10001"/>
                  </a:ext>
                </a:extLst>
              </a:tr>
              <a:tr h="370840">
                <a:tc>
                  <a:txBody>
                    <a:bodyPr/>
                    <a:lstStyle/>
                    <a:p>
                      <a:pPr algn="ctr"/>
                      <a:r>
                        <a:rPr lang="de-DE" sz="1400" dirty="0"/>
                        <a:t>03.03.26</a:t>
                      </a:r>
                    </a:p>
                    <a:p>
                      <a:pPr algn="ctr"/>
                      <a:r>
                        <a:rPr lang="de-DE" sz="1200" dirty="0"/>
                        <a:t>09.00-12.15 Uhr</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400" dirty="0"/>
                        <a:t>(Gruppen &amp;) Themenauswahl</a:t>
                      </a:r>
                    </a:p>
                    <a:p>
                      <a:pPr marL="0" marR="0" indent="0" algn="l" defTabSz="914400" rtl="0" eaLnBrk="1" fontAlgn="auto" latinLnBrk="0" hangingPunct="1">
                        <a:lnSpc>
                          <a:spcPct val="100000"/>
                        </a:lnSpc>
                        <a:spcBef>
                          <a:spcPts val="0"/>
                        </a:spcBef>
                        <a:spcAft>
                          <a:spcPts val="0"/>
                        </a:spcAft>
                        <a:buClrTx/>
                        <a:buSzTx/>
                        <a:buFontTx/>
                        <a:buNone/>
                        <a:tabLst/>
                        <a:defRPr/>
                      </a:pPr>
                      <a:r>
                        <a:rPr lang="de-DE" sz="1400" dirty="0"/>
                        <a:t>T1:</a:t>
                      </a:r>
                      <a:r>
                        <a:rPr lang="de-DE" sz="1400" baseline="0" dirty="0"/>
                        <a:t> Kommunikation &amp; Feedback</a:t>
                      </a:r>
                    </a:p>
                    <a:p>
                      <a:pPr marL="0" marR="0" indent="0" algn="l" defTabSz="914400" rtl="0" eaLnBrk="1" fontAlgn="auto" latinLnBrk="0" hangingPunct="1">
                        <a:lnSpc>
                          <a:spcPct val="100000"/>
                        </a:lnSpc>
                        <a:spcBef>
                          <a:spcPts val="0"/>
                        </a:spcBef>
                        <a:spcAft>
                          <a:spcPts val="0"/>
                        </a:spcAft>
                        <a:buClrTx/>
                        <a:buSzTx/>
                        <a:buFontTx/>
                        <a:buNone/>
                        <a:tabLst/>
                        <a:defRPr/>
                      </a:pPr>
                      <a:r>
                        <a:rPr lang="de-DE" sz="1400" baseline="0" dirty="0"/>
                        <a:t>T2: Story </a:t>
                      </a:r>
                      <a:r>
                        <a:rPr lang="de-DE" sz="1400" baseline="0" dirty="0" err="1"/>
                        <a:t>Telling</a:t>
                      </a:r>
                      <a:r>
                        <a:rPr lang="de-DE" sz="1400" baseline="0" dirty="0"/>
                        <a:t> in Business</a:t>
                      </a:r>
                    </a:p>
                  </a:txBody>
                  <a:tcPr/>
                </a:tc>
                <a:extLst>
                  <a:ext uri="{0D108BD9-81ED-4DB2-BD59-A6C34878D82A}">
                    <a16:rowId xmlns:a16="http://schemas.microsoft.com/office/drawing/2014/main" val="10002"/>
                  </a:ext>
                </a:extLst>
              </a:tr>
              <a:tr h="370840">
                <a:tc>
                  <a:txBody>
                    <a:bodyPr/>
                    <a:lstStyle/>
                    <a:p>
                      <a:pPr algn="ctr"/>
                      <a:r>
                        <a:rPr lang="de-DE" sz="1400" dirty="0"/>
                        <a:t>10.03.26</a:t>
                      </a:r>
                    </a:p>
                    <a:p>
                      <a:pPr algn="ctr"/>
                      <a:r>
                        <a:rPr lang="de-DE" sz="1200" dirty="0"/>
                        <a:t>09.00-12.15 Uhr</a:t>
                      </a:r>
                    </a:p>
                  </a:txBody>
                  <a:tcPr/>
                </a:tc>
                <a:tc>
                  <a:txBody>
                    <a:bodyPr/>
                    <a:lstStyle/>
                    <a:p>
                      <a:r>
                        <a:rPr lang="de-DE" sz="1400" kern="1200" dirty="0">
                          <a:solidFill>
                            <a:schemeClr val="dk1"/>
                          </a:solidFill>
                          <a:latin typeface="+mn-lt"/>
                          <a:ea typeface="+mn-ea"/>
                          <a:cs typeface="+mn-cs"/>
                        </a:rPr>
                        <a:t>Themencoaching (45 min je Gruppe)</a:t>
                      </a:r>
                    </a:p>
                    <a:p>
                      <a:pPr marL="0" marR="0" lvl="0" indent="0" algn="l" defTabSz="914400" rtl="0" eaLnBrk="1" fontAlgn="auto" latinLnBrk="0" hangingPunct="1">
                        <a:lnSpc>
                          <a:spcPct val="100000"/>
                        </a:lnSpc>
                        <a:spcBef>
                          <a:spcPts val="0"/>
                        </a:spcBef>
                        <a:spcAft>
                          <a:spcPts val="0"/>
                        </a:spcAft>
                        <a:buClrTx/>
                        <a:buSzTx/>
                        <a:buFontTx/>
                        <a:buNone/>
                        <a:tabLst/>
                        <a:defRPr/>
                      </a:pPr>
                      <a:r>
                        <a:rPr lang="de-DE" sz="1200" kern="1200" dirty="0">
                          <a:solidFill>
                            <a:schemeClr val="dk1"/>
                          </a:solidFill>
                          <a:latin typeface="+mn-lt"/>
                          <a:ea typeface="+mn-ea"/>
                          <a:cs typeface="+mn-cs"/>
                        </a:rPr>
                        <a:t>09.00: A, 10.00: B, 11.00: C</a:t>
                      </a:r>
                      <a:endParaRPr lang="de-DE" sz="1200" baseline="0" dirty="0"/>
                    </a:p>
                  </a:txBody>
                  <a:tcPr/>
                </a:tc>
                <a:extLst>
                  <a:ext uri="{0D108BD9-81ED-4DB2-BD59-A6C34878D82A}">
                    <a16:rowId xmlns:a16="http://schemas.microsoft.com/office/drawing/2014/main" val="10003"/>
                  </a:ext>
                </a:extLst>
              </a:tr>
              <a:tr h="341850">
                <a:tc>
                  <a:txBody>
                    <a:bodyPr/>
                    <a:lstStyle/>
                    <a:p>
                      <a:pPr algn="ctr"/>
                      <a:r>
                        <a:rPr lang="de-DE" sz="1400" dirty="0"/>
                        <a:t>17.03.26</a:t>
                      </a:r>
                    </a:p>
                    <a:p>
                      <a:pPr algn="ctr"/>
                      <a:r>
                        <a:rPr lang="de-DE" sz="1200" dirty="0"/>
                        <a:t>13.00-16.15 Uhr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400" kern="1200" dirty="0">
                          <a:solidFill>
                            <a:schemeClr val="dk1"/>
                          </a:solidFill>
                          <a:latin typeface="+mn-lt"/>
                          <a:ea typeface="+mn-ea"/>
                          <a:cs typeface="+mn-cs"/>
                        </a:rPr>
                        <a:t>Persönliche/Soziale Kompetenz: </a:t>
                      </a:r>
                    </a:p>
                    <a:p>
                      <a:pPr marL="0" marR="0" lvl="0" indent="0" algn="l" defTabSz="914400" rtl="0" eaLnBrk="1" fontAlgn="auto" latinLnBrk="0" hangingPunct="1">
                        <a:lnSpc>
                          <a:spcPct val="100000"/>
                        </a:lnSpc>
                        <a:spcBef>
                          <a:spcPts val="0"/>
                        </a:spcBef>
                        <a:spcAft>
                          <a:spcPts val="0"/>
                        </a:spcAft>
                        <a:buClrTx/>
                        <a:buSzTx/>
                        <a:buFontTx/>
                        <a:buNone/>
                        <a:tabLst/>
                        <a:defRPr/>
                      </a:pPr>
                      <a:r>
                        <a:rPr lang="de-DE" sz="1400" dirty="0"/>
                        <a:t>T3 &amp; </a:t>
                      </a:r>
                      <a:r>
                        <a:rPr lang="de-DE" sz="1400" kern="1200" dirty="0">
                          <a:solidFill>
                            <a:schemeClr val="dk1"/>
                          </a:solidFill>
                          <a:latin typeface="+mn-lt"/>
                          <a:ea typeface="+mn-ea"/>
                          <a:cs typeface="+mn-cs"/>
                        </a:rPr>
                        <a:t>T4 &amp; T5</a:t>
                      </a:r>
                      <a:endParaRPr lang="de-DE" sz="1400" b="0" dirty="0"/>
                    </a:p>
                  </a:txBody>
                  <a:tcPr/>
                </a:tc>
                <a:extLst>
                  <a:ext uri="{0D108BD9-81ED-4DB2-BD59-A6C34878D82A}">
                    <a16:rowId xmlns:a16="http://schemas.microsoft.com/office/drawing/2014/main" val="430427903"/>
                  </a:ext>
                </a:extLst>
              </a:tr>
              <a:tr h="492865">
                <a:tc>
                  <a:txBody>
                    <a:bodyPr/>
                    <a:lstStyle/>
                    <a:p>
                      <a:pPr algn="ctr"/>
                      <a:r>
                        <a:rPr lang="de-DE" sz="1400" dirty="0"/>
                        <a:t>31.03.26</a:t>
                      </a:r>
                    </a:p>
                    <a:p>
                      <a:pPr algn="ctr"/>
                      <a:r>
                        <a:rPr lang="de-DE" sz="1200" dirty="0"/>
                        <a:t>09.00-12.15 Uhr</a:t>
                      </a:r>
                    </a:p>
                  </a:txBody>
                  <a:tcPr/>
                </a:tc>
                <a:tc>
                  <a:txBody>
                    <a:bodyPr/>
                    <a:lstStyle/>
                    <a:p>
                      <a:r>
                        <a:rPr lang="de-DE" sz="1400" dirty="0"/>
                        <a:t>Methoden: T6 &amp; </a:t>
                      </a:r>
                      <a:r>
                        <a:rPr lang="de-DE" sz="1400" kern="1200" dirty="0">
                          <a:solidFill>
                            <a:schemeClr val="dk1"/>
                          </a:solidFill>
                          <a:latin typeface="+mn-lt"/>
                          <a:ea typeface="+mn-ea"/>
                          <a:cs typeface="+mn-cs"/>
                        </a:rPr>
                        <a:t>T7 &amp; T8</a:t>
                      </a:r>
                    </a:p>
                  </a:txBody>
                  <a:tcPr/>
                </a:tc>
                <a:extLst>
                  <a:ext uri="{0D108BD9-81ED-4DB2-BD59-A6C34878D82A}">
                    <a16:rowId xmlns:a16="http://schemas.microsoft.com/office/drawing/2014/main" val="10004"/>
                  </a:ext>
                </a:extLst>
              </a:tr>
              <a:tr h="370840">
                <a:tc>
                  <a:txBody>
                    <a:bodyPr/>
                    <a:lstStyle/>
                    <a:p>
                      <a:pPr algn="ctr"/>
                      <a:r>
                        <a:rPr lang="de-DE" sz="1400" dirty="0"/>
                        <a:t>07.04.26</a:t>
                      </a:r>
                    </a:p>
                    <a:p>
                      <a:pPr algn="ctr"/>
                      <a:r>
                        <a:rPr lang="de-DE" sz="1200" dirty="0"/>
                        <a:t>09.00-12.15 Uhr</a:t>
                      </a:r>
                    </a:p>
                  </a:txBody>
                  <a:tcPr/>
                </a:tc>
                <a:tc>
                  <a:txBody>
                    <a:bodyPr/>
                    <a:lstStyle/>
                    <a:p>
                      <a:r>
                        <a:rPr lang="de-DE" sz="1400" kern="1200" dirty="0">
                          <a:solidFill>
                            <a:schemeClr val="dk1"/>
                          </a:solidFill>
                          <a:latin typeface="+mn-lt"/>
                          <a:ea typeface="+mn-ea"/>
                          <a:cs typeface="+mn-cs"/>
                        </a:rPr>
                        <a:t>Organisations-Management: </a:t>
                      </a:r>
                    </a:p>
                    <a:p>
                      <a:pPr marL="0" marR="0" lvl="0" indent="0" algn="l" defTabSz="914400" rtl="0" eaLnBrk="1" fontAlgn="auto" latinLnBrk="0" hangingPunct="1">
                        <a:lnSpc>
                          <a:spcPct val="100000"/>
                        </a:lnSpc>
                        <a:spcBef>
                          <a:spcPts val="0"/>
                        </a:spcBef>
                        <a:spcAft>
                          <a:spcPts val="0"/>
                        </a:spcAft>
                        <a:buClrTx/>
                        <a:buSzTx/>
                        <a:buFontTx/>
                        <a:buNone/>
                        <a:tabLst/>
                        <a:defRPr/>
                      </a:pPr>
                      <a:r>
                        <a:rPr lang="de-DE" sz="1400" kern="1200" dirty="0">
                          <a:solidFill>
                            <a:schemeClr val="dk1"/>
                          </a:solidFill>
                          <a:latin typeface="+mn-lt"/>
                          <a:ea typeface="+mn-ea"/>
                          <a:cs typeface="+mn-cs"/>
                        </a:rPr>
                        <a:t>T9 &amp; T10 &amp; T11</a:t>
                      </a:r>
                    </a:p>
                  </a:txBody>
                  <a:tcPr/>
                </a:tc>
                <a:extLst>
                  <a:ext uri="{0D108BD9-81ED-4DB2-BD59-A6C34878D82A}">
                    <a16:rowId xmlns:a16="http://schemas.microsoft.com/office/drawing/2014/main" val="10005"/>
                  </a:ext>
                </a:extLst>
              </a:tr>
              <a:tr h="370840">
                <a:tc>
                  <a:txBody>
                    <a:bodyPr/>
                    <a:lstStyle/>
                    <a:p>
                      <a:pPr algn="ctr"/>
                      <a:r>
                        <a:rPr lang="de-DE" sz="1400" dirty="0"/>
                        <a:t>14.04.26</a:t>
                      </a:r>
                    </a:p>
                    <a:p>
                      <a:pPr algn="ctr"/>
                      <a:r>
                        <a:rPr lang="de-DE" sz="1200" dirty="0"/>
                        <a:t>09.00-12.15 Uhr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400" b="0" kern="1200" dirty="0">
                          <a:solidFill>
                            <a:schemeClr val="dk1"/>
                          </a:solidFill>
                          <a:latin typeface="+mn-lt"/>
                          <a:ea typeface="+mn-ea"/>
                          <a:cs typeface="+mn-cs"/>
                        </a:rPr>
                        <a:t>ZEEB: DT </a:t>
                      </a:r>
                      <a:r>
                        <a:rPr lang="de-DE" sz="1400" b="0" kern="1200" dirty="0" err="1">
                          <a:solidFill>
                            <a:schemeClr val="dk1"/>
                          </a:solidFill>
                          <a:latin typeface="+mn-lt"/>
                          <a:ea typeface="+mn-ea"/>
                          <a:cs typeface="+mn-cs"/>
                        </a:rPr>
                        <a:t>workshop</a:t>
                      </a:r>
                      <a:r>
                        <a:rPr lang="de-DE" sz="1400" b="0" kern="1200" dirty="0">
                          <a:solidFill>
                            <a:schemeClr val="dk1"/>
                          </a:solidFill>
                          <a:latin typeface="+mn-lt"/>
                          <a:ea typeface="+mn-ea"/>
                          <a:cs typeface="+mn-cs"/>
                        </a:rPr>
                        <a:t> mit DT Coach Romana </a:t>
                      </a:r>
                      <a:r>
                        <a:rPr lang="de-DE" sz="1400" b="0" kern="1200" dirty="0" err="1">
                          <a:solidFill>
                            <a:schemeClr val="dk1"/>
                          </a:solidFill>
                          <a:latin typeface="+mn-lt"/>
                          <a:ea typeface="+mn-ea"/>
                          <a:cs typeface="+mn-cs"/>
                        </a:rPr>
                        <a:t>Öhmig</a:t>
                      </a:r>
                      <a:r>
                        <a:rPr lang="de-DE" sz="1400" b="0" kern="1200" dirty="0">
                          <a:solidFill>
                            <a:schemeClr val="dk1"/>
                          </a:solidFill>
                          <a:latin typeface="+mn-lt"/>
                          <a:ea typeface="+mn-ea"/>
                          <a:cs typeface="+mn-cs"/>
                        </a:rPr>
                        <a:t> (SAP)</a:t>
                      </a:r>
                    </a:p>
                    <a:p>
                      <a:pPr marL="0" marR="0" lvl="0" indent="0" algn="l" defTabSz="914400" rtl="0" eaLnBrk="1" fontAlgn="auto" latinLnBrk="0" hangingPunct="1">
                        <a:lnSpc>
                          <a:spcPct val="100000"/>
                        </a:lnSpc>
                        <a:spcBef>
                          <a:spcPts val="0"/>
                        </a:spcBef>
                        <a:spcAft>
                          <a:spcPts val="0"/>
                        </a:spcAft>
                        <a:buClrTx/>
                        <a:buSzTx/>
                        <a:buFontTx/>
                        <a:buNone/>
                        <a:tabLst/>
                        <a:defRPr/>
                      </a:pPr>
                      <a:r>
                        <a:rPr lang="de-DE" sz="1400" b="0" kern="1200" dirty="0">
                          <a:solidFill>
                            <a:schemeClr val="dk1"/>
                          </a:solidFill>
                          <a:latin typeface="+mn-lt"/>
                          <a:ea typeface="+mn-ea"/>
                          <a:cs typeface="+mn-cs"/>
                        </a:rPr>
                        <a:t>(DT=Design Thinking)</a:t>
                      </a:r>
                    </a:p>
                    <a:p>
                      <a:pPr marL="0" marR="0" lvl="0" indent="0" algn="l" defTabSz="914400" rtl="0" eaLnBrk="1" fontAlgn="auto" latinLnBrk="0" hangingPunct="1">
                        <a:lnSpc>
                          <a:spcPct val="100000"/>
                        </a:lnSpc>
                        <a:spcBef>
                          <a:spcPts val="0"/>
                        </a:spcBef>
                        <a:spcAft>
                          <a:spcPts val="0"/>
                        </a:spcAft>
                        <a:buClrTx/>
                        <a:buSzTx/>
                        <a:buFontTx/>
                        <a:buNone/>
                        <a:tabLst/>
                        <a:defRPr/>
                      </a:pPr>
                      <a:r>
                        <a:rPr lang="de-DE" sz="1400" b="0" kern="1200" dirty="0">
                          <a:solidFill>
                            <a:schemeClr val="dk1"/>
                          </a:solidFill>
                          <a:latin typeface="+mn-lt"/>
                          <a:ea typeface="+mn-ea"/>
                          <a:cs typeface="+mn-cs"/>
                        </a:rPr>
                        <a:t>Feedback zur Vorlesung</a:t>
                      </a:r>
                      <a:endParaRPr lang="de-DE" sz="1400" b="0" dirty="0"/>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74600304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hteck 1">
            <a:extLst>
              <a:ext uri="{FF2B5EF4-FFF2-40B4-BE49-F238E27FC236}">
                <a16:creationId xmlns:a16="http://schemas.microsoft.com/office/drawing/2014/main" id="{66A7EFB2-86EF-4482-9BA5-FFEC8654A57E}"/>
              </a:ext>
            </a:extLst>
          </p:cNvPr>
          <p:cNvSpPr/>
          <p:nvPr/>
        </p:nvSpPr>
        <p:spPr bwMode="gray">
          <a:xfrm>
            <a:off x="500513" y="3243714"/>
            <a:ext cx="3383617" cy="1853580"/>
          </a:xfrm>
          <a:prstGeom prst="rect">
            <a:avLst/>
          </a:prstGeom>
          <a:solidFill>
            <a:schemeClr val="accent5">
              <a:lumMod val="40000"/>
              <a:lumOff val="60000"/>
            </a:schemeClr>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de-DE"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5" name="TextBox 4"/>
          <p:cNvSpPr txBox="1"/>
          <p:nvPr/>
        </p:nvSpPr>
        <p:spPr>
          <a:xfrm>
            <a:off x="324000" y="1436150"/>
            <a:ext cx="3560130" cy="3524042"/>
          </a:xfrm>
          <a:prstGeom prst="rect">
            <a:avLst/>
          </a:prstGeom>
          <a:noFill/>
        </p:spPr>
        <p:txBody>
          <a:bodyPr wrap="square" lIns="0" tIns="0" rIns="0" bIns="0" rtlCol="0">
            <a:spAutoFit/>
          </a:bodyPr>
          <a:lstStyle/>
          <a:p>
            <a:pPr fontAlgn="base">
              <a:spcBef>
                <a:spcPts val="600"/>
              </a:spcBef>
              <a:spcAft>
                <a:spcPct val="0"/>
              </a:spcAft>
              <a:buClr>
                <a:srgbClr val="F0AB00"/>
              </a:buClr>
              <a:buSzPct val="80000"/>
            </a:pPr>
            <a:r>
              <a:rPr lang="de-DE" sz="2400" b="1" kern="0" dirty="0">
                <a:ea typeface="Arial Unicode MS" pitchFamily="34" charset="-128"/>
                <a:cs typeface="Arial Unicode MS" pitchFamily="34" charset="-128"/>
              </a:rPr>
              <a:t>Leistungsnachweis</a:t>
            </a:r>
            <a:r>
              <a:rPr lang="de-DE" b="1" kern="0" dirty="0">
                <a:ea typeface="Arial Unicode MS" pitchFamily="34" charset="-128"/>
                <a:cs typeface="Arial Unicode MS" pitchFamily="34" charset="-128"/>
              </a:rPr>
              <a:t>:</a:t>
            </a:r>
            <a:endParaRPr lang="de-DE" sz="1800" b="1" kern="0" dirty="0">
              <a:ea typeface="Arial Unicode MS" pitchFamily="34" charset="-128"/>
              <a:cs typeface="Arial Unicode MS" pitchFamily="34" charset="-128"/>
            </a:endParaRPr>
          </a:p>
          <a:p>
            <a:pPr marL="285750" indent="-285750" fontAlgn="base">
              <a:spcBef>
                <a:spcPts val="600"/>
              </a:spcBef>
              <a:spcAft>
                <a:spcPct val="0"/>
              </a:spcAft>
              <a:buClr>
                <a:srgbClr val="F0AB00"/>
              </a:buClr>
              <a:buSzPct val="80000"/>
              <a:buFont typeface="Arial" panose="020B0604020202020204" pitchFamily="34" charset="0"/>
              <a:buChar char="•"/>
            </a:pPr>
            <a:endParaRPr lang="de-DE" sz="1800" b="1" kern="0" dirty="0">
              <a:ea typeface="Arial Unicode MS" pitchFamily="34" charset="-128"/>
              <a:cs typeface="Arial Unicode MS" pitchFamily="34" charset="-128"/>
            </a:endParaRPr>
          </a:p>
          <a:p>
            <a:pPr marL="285750" indent="-285750" fontAlgn="base">
              <a:spcBef>
                <a:spcPts val="600"/>
              </a:spcBef>
              <a:spcAft>
                <a:spcPct val="0"/>
              </a:spcAft>
              <a:buClr>
                <a:srgbClr val="F0AB00"/>
              </a:buClr>
              <a:buSzPct val="80000"/>
              <a:buFont typeface="Arial" panose="020B0604020202020204" pitchFamily="34" charset="0"/>
              <a:buChar char="•"/>
            </a:pPr>
            <a:r>
              <a:rPr lang="de-DE" sz="1800" b="1" kern="0" dirty="0">
                <a:ea typeface="Arial Unicode MS" pitchFamily="34" charset="-128"/>
                <a:cs typeface="Arial Unicode MS" pitchFamily="34" charset="-128"/>
              </a:rPr>
              <a:t>Kurzreferate</a:t>
            </a:r>
            <a:r>
              <a:rPr lang="de-DE" sz="1800" kern="0" dirty="0">
                <a:ea typeface="Arial Unicode MS" pitchFamily="34" charset="-128"/>
                <a:cs typeface="Arial Unicode MS" pitchFamily="34" charset="-128"/>
              </a:rPr>
              <a:t> </a:t>
            </a:r>
            <a:r>
              <a:rPr lang="de-DE" kern="0" dirty="0">
                <a:ea typeface="Arial Unicode MS" pitchFamily="34" charset="-128"/>
                <a:cs typeface="Arial Unicode MS" pitchFamily="34" charset="-128"/>
              </a:rPr>
              <a:t>(18 min) </a:t>
            </a:r>
          </a:p>
          <a:p>
            <a:pPr marL="742950" lvl="1" indent="-285750" fontAlgn="base">
              <a:spcBef>
                <a:spcPts val="600"/>
              </a:spcBef>
              <a:spcAft>
                <a:spcPct val="0"/>
              </a:spcAft>
              <a:buClr>
                <a:srgbClr val="F0AB00"/>
              </a:buClr>
              <a:buSzPct val="80000"/>
              <a:buFont typeface="Arial" panose="020B0604020202020204" pitchFamily="34" charset="0"/>
              <a:buChar char="•"/>
            </a:pPr>
            <a:r>
              <a:rPr lang="de-DE" kern="0" dirty="0">
                <a:ea typeface="Arial Unicode MS" pitchFamily="34" charset="-128"/>
                <a:cs typeface="Arial Unicode MS" pitchFamily="34" charset="-128"/>
              </a:rPr>
              <a:t>PPT + 1 Pager</a:t>
            </a:r>
          </a:p>
          <a:p>
            <a:pPr marL="285750" indent="-285750" fontAlgn="base">
              <a:spcBef>
                <a:spcPts val="600"/>
              </a:spcBef>
              <a:spcAft>
                <a:spcPct val="0"/>
              </a:spcAft>
              <a:buClr>
                <a:srgbClr val="F0AB00"/>
              </a:buClr>
              <a:buSzPct val="80000"/>
              <a:buFont typeface="Arial" panose="020B0604020202020204" pitchFamily="34" charset="0"/>
              <a:buChar char="•"/>
            </a:pPr>
            <a:endParaRPr lang="de-DE" b="1" kern="0" dirty="0">
              <a:ea typeface="Arial Unicode MS" pitchFamily="34" charset="-128"/>
              <a:cs typeface="Arial Unicode MS" pitchFamily="34" charset="-128"/>
            </a:endParaRPr>
          </a:p>
          <a:p>
            <a:pPr marL="285750" indent="-285750" fontAlgn="base">
              <a:spcBef>
                <a:spcPts val="600"/>
              </a:spcBef>
              <a:spcAft>
                <a:spcPct val="0"/>
              </a:spcAft>
              <a:buClr>
                <a:srgbClr val="F0AB00"/>
              </a:buClr>
              <a:buSzPct val="80000"/>
              <a:buFont typeface="Arial" panose="020B0604020202020204" pitchFamily="34" charset="0"/>
              <a:buChar char="•"/>
            </a:pPr>
            <a:r>
              <a:rPr lang="de-DE" b="1" kern="0" dirty="0">
                <a:ea typeface="Arial Unicode MS" pitchFamily="34" charset="-128"/>
                <a:cs typeface="Arial Unicode MS" pitchFamily="34" charset="-128"/>
              </a:rPr>
              <a:t>Protokoll</a:t>
            </a:r>
            <a:r>
              <a:rPr lang="de-DE" kern="0" dirty="0">
                <a:ea typeface="Arial Unicode MS" pitchFamily="34" charset="-128"/>
                <a:cs typeface="Arial Unicode MS" pitchFamily="34" charset="-128"/>
              </a:rPr>
              <a:t> (1-2 Seiten): </a:t>
            </a:r>
            <a:r>
              <a:rPr lang="de-DE" kern="0" dirty="0">
                <a:highlight>
                  <a:srgbClr val="FFFF00"/>
                </a:highlight>
                <a:ea typeface="Arial Unicode MS" pitchFamily="34" charset="-128"/>
                <a:cs typeface="Arial Unicode MS" pitchFamily="34" charset="-128"/>
              </a:rPr>
              <a:t>Moodle!</a:t>
            </a:r>
          </a:p>
          <a:p>
            <a:pPr marL="742950" lvl="1" indent="-285750" fontAlgn="base">
              <a:spcBef>
                <a:spcPts val="600"/>
              </a:spcBef>
              <a:spcAft>
                <a:spcPct val="0"/>
              </a:spcAft>
              <a:buClr>
                <a:srgbClr val="F0AB00"/>
              </a:buClr>
              <a:buSzPct val="80000"/>
              <a:buFont typeface="Arial" panose="020B0604020202020204" pitchFamily="34" charset="0"/>
              <a:buChar char="•"/>
            </a:pPr>
            <a:r>
              <a:rPr lang="de-DE" sz="1400" kern="0" dirty="0">
                <a:ea typeface="Arial Unicode MS" pitchFamily="34" charset="-128"/>
                <a:cs typeface="Arial Unicode MS" pitchFamily="34" charset="-128"/>
              </a:rPr>
              <a:t>Themen der anderen Gruppen</a:t>
            </a:r>
          </a:p>
          <a:p>
            <a:pPr marL="1200150" lvl="2" indent="-285750" fontAlgn="base">
              <a:spcBef>
                <a:spcPts val="600"/>
              </a:spcBef>
              <a:spcAft>
                <a:spcPct val="0"/>
              </a:spcAft>
              <a:buClr>
                <a:srgbClr val="F0AB00"/>
              </a:buClr>
              <a:buFont typeface="Arial" panose="020B0604020202020204" pitchFamily="34" charset="0"/>
              <a:buChar char="•"/>
            </a:pPr>
            <a:r>
              <a:rPr lang="de-DE" kern="0" dirty="0">
                <a:ea typeface="Arial Unicode MS" pitchFamily="34" charset="-128"/>
                <a:cs typeface="Arial Unicode MS" pitchFamily="34" charset="-128"/>
              </a:rPr>
              <a:t>Wichtig im DT weil ….</a:t>
            </a:r>
          </a:p>
          <a:p>
            <a:pPr marL="1200150" lvl="2" indent="-285750" fontAlgn="base">
              <a:spcBef>
                <a:spcPts val="600"/>
              </a:spcBef>
              <a:spcAft>
                <a:spcPct val="0"/>
              </a:spcAft>
              <a:buClr>
                <a:srgbClr val="F0AB00"/>
              </a:buClr>
              <a:buFont typeface="Arial" panose="020B0604020202020204" pitchFamily="34" charset="0"/>
              <a:buChar char="•"/>
            </a:pPr>
            <a:r>
              <a:rPr lang="de-DE" kern="0" dirty="0">
                <a:ea typeface="Arial Unicode MS" pitchFamily="34" charset="-128"/>
                <a:cs typeface="Arial Unicode MS" pitchFamily="34" charset="-128"/>
              </a:rPr>
              <a:t>Wie im Ausbildungs-U umgesetzt (2 Punkte)</a:t>
            </a:r>
          </a:p>
          <a:p>
            <a:pPr marL="1200150" lvl="2" indent="-285750" fontAlgn="base">
              <a:spcBef>
                <a:spcPts val="600"/>
              </a:spcBef>
              <a:spcAft>
                <a:spcPct val="0"/>
              </a:spcAft>
              <a:buClr>
                <a:srgbClr val="F0AB00"/>
              </a:buClr>
              <a:buFont typeface="Arial" panose="020B0604020202020204" pitchFamily="34" charset="0"/>
              <a:buChar char="•"/>
            </a:pPr>
            <a:r>
              <a:rPr lang="de-DE" kern="0" dirty="0">
                <a:ea typeface="Arial Unicode MS" pitchFamily="34" charset="-128"/>
                <a:cs typeface="Arial Unicode MS" pitchFamily="34" charset="-128"/>
              </a:rPr>
              <a:t>Verbesserungsvorschläge (2)</a:t>
            </a:r>
          </a:p>
        </p:txBody>
      </p:sp>
      <p:sp>
        <p:nvSpPr>
          <p:cNvPr id="4" name="Title 3"/>
          <p:cNvSpPr>
            <a:spLocks noGrp="1"/>
          </p:cNvSpPr>
          <p:nvPr>
            <p:ph type="title"/>
          </p:nvPr>
        </p:nvSpPr>
        <p:spPr/>
        <p:txBody>
          <a:bodyPr/>
          <a:lstStyle/>
          <a:p>
            <a:r>
              <a:rPr lang="de-DE" dirty="0">
                <a:solidFill>
                  <a:schemeClr val="tx1"/>
                </a:solidFill>
              </a:rPr>
              <a:t>SQ II: Digital </a:t>
            </a:r>
            <a:r>
              <a:rPr lang="de-DE" dirty="0" err="1">
                <a:solidFill>
                  <a:schemeClr val="tx1"/>
                </a:solidFill>
              </a:rPr>
              <a:t>Thinking</a:t>
            </a:r>
            <a:r>
              <a:rPr lang="de-DE" dirty="0">
                <a:solidFill>
                  <a:schemeClr val="tx1"/>
                </a:solidFill>
              </a:rPr>
              <a:t> &amp; Management</a:t>
            </a:r>
            <a:br>
              <a:rPr lang="de-DE" dirty="0"/>
            </a:br>
            <a:r>
              <a:rPr lang="de-DE" dirty="0">
                <a:solidFill>
                  <a:schemeClr val="tx1"/>
                </a:solidFill>
              </a:rPr>
              <a:t>Leistungsnachweis</a:t>
            </a:r>
          </a:p>
        </p:txBody>
      </p:sp>
      <p:sp>
        <p:nvSpPr>
          <p:cNvPr id="7" name="TextBox 6"/>
          <p:cNvSpPr txBox="1"/>
          <p:nvPr/>
        </p:nvSpPr>
        <p:spPr>
          <a:xfrm>
            <a:off x="239825" y="5246450"/>
            <a:ext cx="3560130" cy="1253402"/>
          </a:xfrm>
          <a:prstGeom prst="rect">
            <a:avLst/>
          </a:prstGeom>
          <a:solidFill>
            <a:srgbClr val="FFFF00"/>
          </a:solidFill>
        </p:spPr>
        <p:txBody>
          <a:bodyPr wrap="square" lIns="72000" tIns="72000" rIns="72000" bIns="72000" rtlCol="0">
            <a:spAutoFit/>
          </a:bodyPr>
          <a:lstStyle/>
          <a:p>
            <a:pPr algn="ctr" fontAlgn="base">
              <a:spcBef>
                <a:spcPts val="600"/>
              </a:spcBef>
              <a:spcAft>
                <a:spcPct val="0"/>
              </a:spcAft>
              <a:buClr>
                <a:srgbClr val="F0AB00"/>
              </a:buClr>
              <a:buSzPct val="80000"/>
            </a:pPr>
            <a:r>
              <a:rPr lang="de-DE" sz="1600" kern="0" dirty="0">
                <a:ea typeface="Arial Unicode MS" pitchFamily="34" charset="-128"/>
                <a:cs typeface="Arial Unicode MS" pitchFamily="34" charset="-128"/>
              </a:rPr>
              <a:t>Protokoll </a:t>
            </a:r>
          </a:p>
          <a:p>
            <a:pPr algn="ctr" fontAlgn="base">
              <a:spcBef>
                <a:spcPts val="600"/>
              </a:spcBef>
              <a:spcAft>
                <a:spcPct val="0"/>
              </a:spcAft>
              <a:buClr>
                <a:srgbClr val="F0AB00"/>
              </a:buClr>
              <a:buSzPct val="80000"/>
            </a:pPr>
            <a:r>
              <a:rPr lang="de-DE" sz="2800" b="1" kern="0" dirty="0">
                <a:ea typeface="Arial Unicode MS" pitchFamily="34" charset="-128"/>
                <a:cs typeface="Arial Unicode MS" pitchFamily="34" charset="-128"/>
              </a:rPr>
              <a:t>bis 20.04.2026 </a:t>
            </a:r>
          </a:p>
          <a:p>
            <a:pPr algn="ctr" fontAlgn="base">
              <a:spcBef>
                <a:spcPts val="600"/>
              </a:spcBef>
              <a:spcAft>
                <a:spcPct val="0"/>
              </a:spcAft>
              <a:buClr>
                <a:srgbClr val="F0AB00"/>
              </a:buClr>
              <a:buSzPct val="80000"/>
            </a:pPr>
            <a:r>
              <a:rPr lang="de-DE" kern="0" dirty="0">
                <a:ea typeface="Arial Unicode MS" pitchFamily="34" charset="-128"/>
                <a:cs typeface="Arial Unicode MS" pitchFamily="34" charset="-128"/>
              </a:rPr>
              <a:t>Heinz.H.Haefner@t-online.de</a:t>
            </a:r>
            <a:endParaRPr lang="de-DE" sz="2800" kern="0" dirty="0">
              <a:ea typeface="Arial Unicode MS" pitchFamily="34" charset="-128"/>
              <a:cs typeface="Arial Unicode MS" pitchFamily="34" charset="-128"/>
            </a:endParaRPr>
          </a:p>
        </p:txBody>
      </p:sp>
      <p:graphicFrame>
        <p:nvGraphicFramePr>
          <p:cNvPr id="6" name="Table 5">
            <a:extLst>
              <a:ext uri="{FF2B5EF4-FFF2-40B4-BE49-F238E27FC236}">
                <a16:creationId xmlns:a16="http://schemas.microsoft.com/office/drawing/2014/main" id="{F0DE64B9-E3BD-4DB9-9FC3-F99322CD1B15}"/>
              </a:ext>
            </a:extLst>
          </p:cNvPr>
          <p:cNvGraphicFramePr>
            <a:graphicFrameLocks noGrp="1"/>
          </p:cNvGraphicFramePr>
          <p:nvPr>
            <p:extLst/>
          </p:nvPr>
        </p:nvGraphicFramePr>
        <p:xfrm>
          <a:off x="3934691" y="1436150"/>
          <a:ext cx="4812145" cy="4795625"/>
        </p:xfrm>
        <a:graphic>
          <a:graphicData uri="http://schemas.openxmlformats.org/drawingml/2006/table">
            <a:tbl>
              <a:tblPr firstRow="1" bandRow="1">
                <a:tableStyleId>{3C2FFA5D-87B4-456A-9821-1D502468CF0F}</a:tableStyleId>
              </a:tblPr>
              <a:tblGrid>
                <a:gridCol w="1313560">
                  <a:extLst>
                    <a:ext uri="{9D8B030D-6E8A-4147-A177-3AD203B41FA5}">
                      <a16:colId xmlns:a16="http://schemas.microsoft.com/office/drawing/2014/main" val="20000"/>
                    </a:ext>
                  </a:extLst>
                </a:gridCol>
                <a:gridCol w="3498585">
                  <a:extLst>
                    <a:ext uri="{9D8B030D-6E8A-4147-A177-3AD203B41FA5}">
                      <a16:colId xmlns:a16="http://schemas.microsoft.com/office/drawing/2014/main" val="20001"/>
                    </a:ext>
                  </a:extLst>
                </a:gridCol>
              </a:tblGrid>
              <a:tr h="370840">
                <a:tc>
                  <a:txBody>
                    <a:bodyPr/>
                    <a:lstStyle/>
                    <a:p>
                      <a:r>
                        <a:rPr lang="de-DE" sz="1600" dirty="0"/>
                        <a:t>Datum</a:t>
                      </a:r>
                    </a:p>
                  </a:txBody>
                  <a:tcPr/>
                </a:tc>
                <a:tc>
                  <a:txBody>
                    <a:bodyPr/>
                    <a:lstStyle/>
                    <a:p>
                      <a:r>
                        <a:rPr lang="de-DE" sz="1600" dirty="0"/>
                        <a:t>Themen</a:t>
                      </a:r>
                    </a:p>
                  </a:txBody>
                  <a:tcPr/>
                </a:tc>
                <a:extLst>
                  <a:ext uri="{0D108BD9-81ED-4DB2-BD59-A6C34878D82A}">
                    <a16:rowId xmlns:a16="http://schemas.microsoft.com/office/drawing/2014/main" val="10000"/>
                  </a:ext>
                </a:extLst>
              </a:tr>
              <a:tr h="370840">
                <a:tc>
                  <a:txBody>
                    <a:bodyPr/>
                    <a:lstStyle/>
                    <a:p>
                      <a:pPr algn="ctr"/>
                      <a:r>
                        <a:rPr lang="de-DE" sz="1400" dirty="0"/>
                        <a:t>17.02.26</a:t>
                      </a:r>
                    </a:p>
                    <a:p>
                      <a:pPr algn="ctr"/>
                      <a:r>
                        <a:rPr lang="de-DE" sz="1200" dirty="0"/>
                        <a:t>09.00-12.15 Uhr</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400" dirty="0"/>
                        <a:t>Vorstellung, </a:t>
                      </a:r>
                      <a:r>
                        <a:rPr lang="de-DE" sz="1400" dirty="0" err="1"/>
                        <a:t>Mega</a:t>
                      </a:r>
                      <a:r>
                        <a:rPr lang="de-DE" sz="1400" dirty="0"/>
                        <a:t> Trends – </a:t>
                      </a:r>
                      <a:r>
                        <a:rPr lang="de-DE" sz="1400" dirty="0" err="1"/>
                        <a:t>Capabilities</a:t>
                      </a:r>
                      <a:r>
                        <a:rPr lang="de-DE" sz="1400" dirty="0"/>
                        <a:t> der Zukunft</a:t>
                      </a:r>
                    </a:p>
                    <a:p>
                      <a:pPr marL="0" marR="0" indent="0" algn="l" defTabSz="914400" rtl="0" eaLnBrk="1" fontAlgn="auto" latinLnBrk="0" hangingPunct="1">
                        <a:lnSpc>
                          <a:spcPct val="100000"/>
                        </a:lnSpc>
                        <a:spcBef>
                          <a:spcPts val="0"/>
                        </a:spcBef>
                        <a:spcAft>
                          <a:spcPts val="0"/>
                        </a:spcAft>
                        <a:buClrTx/>
                        <a:buSzTx/>
                        <a:buFontTx/>
                        <a:buNone/>
                        <a:tabLst/>
                        <a:defRPr/>
                      </a:pPr>
                      <a:r>
                        <a:rPr lang="de-DE" sz="1400" dirty="0"/>
                        <a:t>Test &amp; mögliche Themen, Gruppen</a:t>
                      </a:r>
                    </a:p>
                  </a:txBody>
                  <a:tcPr/>
                </a:tc>
                <a:extLst>
                  <a:ext uri="{0D108BD9-81ED-4DB2-BD59-A6C34878D82A}">
                    <a16:rowId xmlns:a16="http://schemas.microsoft.com/office/drawing/2014/main" val="10001"/>
                  </a:ext>
                </a:extLst>
              </a:tr>
              <a:tr h="370840">
                <a:tc>
                  <a:txBody>
                    <a:bodyPr/>
                    <a:lstStyle/>
                    <a:p>
                      <a:pPr algn="ctr"/>
                      <a:r>
                        <a:rPr lang="de-DE" sz="1400" dirty="0"/>
                        <a:t>03.03.26</a:t>
                      </a:r>
                    </a:p>
                    <a:p>
                      <a:pPr algn="ctr"/>
                      <a:r>
                        <a:rPr lang="de-DE" sz="1200" dirty="0"/>
                        <a:t>09.00-12.15 Uhr</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400" dirty="0"/>
                        <a:t>(Gruppen &amp;) Themenauswahl</a:t>
                      </a:r>
                    </a:p>
                    <a:p>
                      <a:pPr marL="0" marR="0" indent="0" algn="l" defTabSz="914400" rtl="0" eaLnBrk="1" fontAlgn="auto" latinLnBrk="0" hangingPunct="1">
                        <a:lnSpc>
                          <a:spcPct val="100000"/>
                        </a:lnSpc>
                        <a:spcBef>
                          <a:spcPts val="0"/>
                        </a:spcBef>
                        <a:spcAft>
                          <a:spcPts val="0"/>
                        </a:spcAft>
                        <a:buClrTx/>
                        <a:buSzTx/>
                        <a:buFontTx/>
                        <a:buNone/>
                        <a:tabLst/>
                        <a:defRPr/>
                      </a:pPr>
                      <a:r>
                        <a:rPr lang="de-DE" sz="1400" dirty="0"/>
                        <a:t>T1:</a:t>
                      </a:r>
                      <a:r>
                        <a:rPr lang="de-DE" sz="1400" baseline="0" dirty="0"/>
                        <a:t> Kommunikation &amp; Feedback</a:t>
                      </a:r>
                    </a:p>
                    <a:p>
                      <a:pPr marL="0" marR="0" indent="0" algn="l" defTabSz="914400" rtl="0" eaLnBrk="1" fontAlgn="auto" latinLnBrk="0" hangingPunct="1">
                        <a:lnSpc>
                          <a:spcPct val="100000"/>
                        </a:lnSpc>
                        <a:spcBef>
                          <a:spcPts val="0"/>
                        </a:spcBef>
                        <a:spcAft>
                          <a:spcPts val="0"/>
                        </a:spcAft>
                        <a:buClrTx/>
                        <a:buSzTx/>
                        <a:buFontTx/>
                        <a:buNone/>
                        <a:tabLst/>
                        <a:defRPr/>
                      </a:pPr>
                      <a:r>
                        <a:rPr lang="de-DE" sz="1400" baseline="0" dirty="0"/>
                        <a:t>T2: Story </a:t>
                      </a:r>
                      <a:r>
                        <a:rPr lang="de-DE" sz="1400" baseline="0" dirty="0" err="1"/>
                        <a:t>Telling</a:t>
                      </a:r>
                      <a:r>
                        <a:rPr lang="de-DE" sz="1400" baseline="0" dirty="0"/>
                        <a:t> in Business</a:t>
                      </a:r>
                    </a:p>
                  </a:txBody>
                  <a:tcPr/>
                </a:tc>
                <a:extLst>
                  <a:ext uri="{0D108BD9-81ED-4DB2-BD59-A6C34878D82A}">
                    <a16:rowId xmlns:a16="http://schemas.microsoft.com/office/drawing/2014/main" val="10002"/>
                  </a:ext>
                </a:extLst>
              </a:tr>
              <a:tr h="370840">
                <a:tc>
                  <a:txBody>
                    <a:bodyPr/>
                    <a:lstStyle/>
                    <a:p>
                      <a:pPr algn="ctr"/>
                      <a:r>
                        <a:rPr lang="de-DE" sz="1400" dirty="0"/>
                        <a:t>10.03.26</a:t>
                      </a:r>
                    </a:p>
                    <a:p>
                      <a:pPr algn="ctr"/>
                      <a:r>
                        <a:rPr lang="de-DE" sz="1200" dirty="0"/>
                        <a:t>09.00-12.15 Uhr</a:t>
                      </a:r>
                    </a:p>
                  </a:txBody>
                  <a:tcPr/>
                </a:tc>
                <a:tc>
                  <a:txBody>
                    <a:bodyPr/>
                    <a:lstStyle/>
                    <a:p>
                      <a:r>
                        <a:rPr lang="de-DE" sz="1400" kern="1200" dirty="0">
                          <a:solidFill>
                            <a:schemeClr val="dk1"/>
                          </a:solidFill>
                          <a:latin typeface="+mn-lt"/>
                          <a:ea typeface="+mn-ea"/>
                          <a:cs typeface="+mn-cs"/>
                        </a:rPr>
                        <a:t>Themencoaching (45 min je Gruppe)</a:t>
                      </a:r>
                    </a:p>
                    <a:p>
                      <a:pPr marL="0" marR="0" lvl="0" indent="0" algn="l" defTabSz="914400" rtl="0" eaLnBrk="1" fontAlgn="auto" latinLnBrk="0" hangingPunct="1">
                        <a:lnSpc>
                          <a:spcPct val="100000"/>
                        </a:lnSpc>
                        <a:spcBef>
                          <a:spcPts val="0"/>
                        </a:spcBef>
                        <a:spcAft>
                          <a:spcPts val="0"/>
                        </a:spcAft>
                        <a:buClrTx/>
                        <a:buSzTx/>
                        <a:buFontTx/>
                        <a:buNone/>
                        <a:tabLst/>
                        <a:defRPr/>
                      </a:pPr>
                      <a:r>
                        <a:rPr lang="de-DE" sz="1200" kern="1200" dirty="0">
                          <a:solidFill>
                            <a:schemeClr val="dk1"/>
                          </a:solidFill>
                          <a:latin typeface="+mn-lt"/>
                          <a:ea typeface="+mn-ea"/>
                          <a:cs typeface="+mn-cs"/>
                        </a:rPr>
                        <a:t>09.00: A, 10.00: B, 11.00: C</a:t>
                      </a:r>
                      <a:endParaRPr lang="de-DE" sz="1200" baseline="0" dirty="0"/>
                    </a:p>
                  </a:txBody>
                  <a:tcPr/>
                </a:tc>
                <a:extLst>
                  <a:ext uri="{0D108BD9-81ED-4DB2-BD59-A6C34878D82A}">
                    <a16:rowId xmlns:a16="http://schemas.microsoft.com/office/drawing/2014/main" val="10003"/>
                  </a:ext>
                </a:extLst>
              </a:tr>
              <a:tr h="341850">
                <a:tc>
                  <a:txBody>
                    <a:bodyPr/>
                    <a:lstStyle/>
                    <a:p>
                      <a:pPr algn="ctr"/>
                      <a:r>
                        <a:rPr lang="de-DE" sz="1400" dirty="0"/>
                        <a:t>17.03.26</a:t>
                      </a:r>
                    </a:p>
                    <a:p>
                      <a:pPr algn="ctr"/>
                      <a:r>
                        <a:rPr lang="de-DE" sz="1200" dirty="0"/>
                        <a:t>13.00-16.15 Uhr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400" kern="1200" dirty="0">
                          <a:solidFill>
                            <a:schemeClr val="dk1"/>
                          </a:solidFill>
                          <a:latin typeface="+mn-lt"/>
                          <a:ea typeface="+mn-ea"/>
                          <a:cs typeface="+mn-cs"/>
                        </a:rPr>
                        <a:t>Persönliche/Soziale Kompetenz: </a:t>
                      </a:r>
                    </a:p>
                    <a:p>
                      <a:pPr marL="0" marR="0" lvl="0" indent="0" algn="l" defTabSz="914400" rtl="0" eaLnBrk="1" fontAlgn="auto" latinLnBrk="0" hangingPunct="1">
                        <a:lnSpc>
                          <a:spcPct val="100000"/>
                        </a:lnSpc>
                        <a:spcBef>
                          <a:spcPts val="0"/>
                        </a:spcBef>
                        <a:spcAft>
                          <a:spcPts val="0"/>
                        </a:spcAft>
                        <a:buClrTx/>
                        <a:buSzTx/>
                        <a:buFontTx/>
                        <a:buNone/>
                        <a:tabLst/>
                        <a:defRPr/>
                      </a:pPr>
                      <a:r>
                        <a:rPr lang="de-DE" sz="1400" dirty="0"/>
                        <a:t>T3 &amp; </a:t>
                      </a:r>
                      <a:r>
                        <a:rPr lang="de-DE" sz="1400" kern="1200" dirty="0">
                          <a:solidFill>
                            <a:schemeClr val="dk1"/>
                          </a:solidFill>
                          <a:latin typeface="+mn-lt"/>
                          <a:ea typeface="+mn-ea"/>
                          <a:cs typeface="+mn-cs"/>
                        </a:rPr>
                        <a:t>T4 &amp; T5</a:t>
                      </a:r>
                      <a:endParaRPr lang="de-DE" sz="1400" b="0" dirty="0"/>
                    </a:p>
                  </a:txBody>
                  <a:tcPr/>
                </a:tc>
                <a:extLst>
                  <a:ext uri="{0D108BD9-81ED-4DB2-BD59-A6C34878D82A}">
                    <a16:rowId xmlns:a16="http://schemas.microsoft.com/office/drawing/2014/main" val="430427903"/>
                  </a:ext>
                </a:extLst>
              </a:tr>
              <a:tr h="492865">
                <a:tc>
                  <a:txBody>
                    <a:bodyPr/>
                    <a:lstStyle/>
                    <a:p>
                      <a:pPr algn="ctr"/>
                      <a:r>
                        <a:rPr lang="de-DE" sz="1400" dirty="0"/>
                        <a:t>31.03.26</a:t>
                      </a:r>
                    </a:p>
                    <a:p>
                      <a:pPr algn="ctr"/>
                      <a:r>
                        <a:rPr lang="de-DE" sz="1200" dirty="0"/>
                        <a:t>09.00-12.15 Uhr</a:t>
                      </a:r>
                    </a:p>
                  </a:txBody>
                  <a:tcPr/>
                </a:tc>
                <a:tc>
                  <a:txBody>
                    <a:bodyPr/>
                    <a:lstStyle/>
                    <a:p>
                      <a:r>
                        <a:rPr lang="de-DE" sz="1400" dirty="0"/>
                        <a:t>Methoden: T6 &amp; </a:t>
                      </a:r>
                      <a:r>
                        <a:rPr lang="de-DE" sz="1400" kern="1200" dirty="0">
                          <a:solidFill>
                            <a:schemeClr val="dk1"/>
                          </a:solidFill>
                          <a:latin typeface="+mn-lt"/>
                          <a:ea typeface="+mn-ea"/>
                          <a:cs typeface="+mn-cs"/>
                        </a:rPr>
                        <a:t>T7 &amp; T8</a:t>
                      </a:r>
                    </a:p>
                  </a:txBody>
                  <a:tcPr/>
                </a:tc>
                <a:extLst>
                  <a:ext uri="{0D108BD9-81ED-4DB2-BD59-A6C34878D82A}">
                    <a16:rowId xmlns:a16="http://schemas.microsoft.com/office/drawing/2014/main" val="10004"/>
                  </a:ext>
                </a:extLst>
              </a:tr>
              <a:tr h="370840">
                <a:tc>
                  <a:txBody>
                    <a:bodyPr/>
                    <a:lstStyle/>
                    <a:p>
                      <a:pPr algn="ctr"/>
                      <a:r>
                        <a:rPr lang="de-DE" sz="1400" dirty="0"/>
                        <a:t>07.04.26</a:t>
                      </a:r>
                    </a:p>
                    <a:p>
                      <a:pPr algn="ctr"/>
                      <a:r>
                        <a:rPr lang="de-DE" sz="1200" dirty="0"/>
                        <a:t>09.00-12.15 Uhr</a:t>
                      </a:r>
                    </a:p>
                  </a:txBody>
                  <a:tcPr/>
                </a:tc>
                <a:tc>
                  <a:txBody>
                    <a:bodyPr/>
                    <a:lstStyle/>
                    <a:p>
                      <a:r>
                        <a:rPr lang="de-DE" sz="1400" kern="1200" dirty="0">
                          <a:solidFill>
                            <a:schemeClr val="dk1"/>
                          </a:solidFill>
                          <a:latin typeface="+mn-lt"/>
                          <a:ea typeface="+mn-ea"/>
                          <a:cs typeface="+mn-cs"/>
                        </a:rPr>
                        <a:t>Organisations-Management: </a:t>
                      </a:r>
                    </a:p>
                    <a:p>
                      <a:pPr marL="0" marR="0" lvl="0" indent="0" algn="l" defTabSz="914400" rtl="0" eaLnBrk="1" fontAlgn="auto" latinLnBrk="0" hangingPunct="1">
                        <a:lnSpc>
                          <a:spcPct val="100000"/>
                        </a:lnSpc>
                        <a:spcBef>
                          <a:spcPts val="0"/>
                        </a:spcBef>
                        <a:spcAft>
                          <a:spcPts val="0"/>
                        </a:spcAft>
                        <a:buClrTx/>
                        <a:buSzTx/>
                        <a:buFontTx/>
                        <a:buNone/>
                        <a:tabLst/>
                        <a:defRPr/>
                      </a:pPr>
                      <a:r>
                        <a:rPr lang="de-DE" sz="1400" kern="1200" dirty="0">
                          <a:solidFill>
                            <a:schemeClr val="dk1"/>
                          </a:solidFill>
                          <a:latin typeface="+mn-lt"/>
                          <a:ea typeface="+mn-ea"/>
                          <a:cs typeface="+mn-cs"/>
                        </a:rPr>
                        <a:t>T9 &amp; T10 &amp; T11</a:t>
                      </a:r>
                    </a:p>
                  </a:txBody>
                  <a:tcPr/>
                </a:tc>
                <a:extLst>
                  <a:ext uri="{0D108BD9-81ED-4DB2-BD59-A6C34878D82A}">
                    <a16:rowId xmlns:a16="http://schemas.microsoft.com/office/drawing/2014/main" val="10005"/>
                  </a:ext>
                </a:extLst>
              </a:tr>
              <a:tr h="370840">
                <a:tc>
                  <a:txBody>
                    <a:bodyPr/>
                    <a:lstStyle/>
                    <a:p>
                      <a:pPr algn="ctr"/>
                      <a:r>
                        <a:rPr lang="de-DE" sz="1400" dirty="0"/>
                        <a:t>14.04.26</a:t>
                      </a:r>
                    </a:p>
                    <a:p>
                      <a:pPr algn="ctr"/>
                      <a:r>
                        <a:rPr lang="de-DE" sz="1200" dirty="0"/>
                        <a:t>09.00-12.15 Uhr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400" b="0" kern="1200" dirty="0">
                          <a:solidFill>
                            <a:schemeClr val="dk1"/>
                          </a:solidFill>
                          <a:latin typeface="+mn-lt"/>
                          <a:ea typeface="+mn-ea"/>
                          <a:cs typeface="+mn-cs"/>
                        </a:rPr>
                        <a:t>ZEEB: DT </a:t>
                      </a:r>
                      <a:r>
                        <a:rPr lang="de-DE" sz="1400" b="0" kern="1200" dirty="0" err="1">
                          <a:solidFill>
                            <a:schemeClr val="dk1"/>
                          </a:solidFill>
                          <a:latin typeface="+mn-lt"/>
                          <a:ea typeface="+mn-ea"/>
                          <a:cs typeface="+mn-cs"/>
                        </a:rPr>
                        <a:t>workshop</a:t>
                      </a:r>
                      <a:r>
                        <a:rPr lang="de-DE" sz="1400" b="0" kern="1200" dirty="0">
                          <a:solidFill>
                            <a:schemeClr val="dk1"/>
                          </a:solidFill>
                          <a:latin typeface="+mn-lt"/>
                          <a:ea typeface="+mn-ea"/>
                          <a:cs typeface="+mn-cs"/>
                        </a:rPr>
                        <a:t> mit DT Coach Romana </a:t>
                      </a:r>
                      <a:r>
                        <a:rPr lang="de-DE" sz="1400" b="0" kern="1200" dirty="0" err="1">
                          <a:solidFill>
                            <a:schemeClr val="dk1"/>
                          </a:solidFill>
                          <a:latin typeface="+mn-lt"/>
                          <a:ea typeface="+mn-ea"/>
                          <a:cs typeface="+mn-cs"/>
                        </a:rPr>
                        <a:t>Öhmig</a:t>
                      </a:r>
                      <a:r>
                        <a:rPr lang="de-DE" sz="1400" b="0" kern="1200" dirty="0">
                          <a:solidFill>
                            <a:schemeClr val="dk1"/>
                          </a:solidFill>
                          <a:latin typeface="+mn-lt"/>
                          <a:ea typeface="+mn-ea"/>
                          <a:cs typeface="+mn-cs"/>
                        </a:rPr>
                        <a:t> (SAP)</a:t>
                      </a:r>
                    </a:p>
                    <a:p>
                      <a:pPr marL="0" marR="0" lvl="0" indent="0" algn="l" defTabSz="914400" rtl="0" eaLnBrk="1" fontAlgn="auto" latinLnBrk="0" hangingPunct="1">
                        <a:lnSpc>
                          <a:spcPct val="100000"/>
                        </a:lnSpc>
                        <a:spcBef>
                          <a:spcPts val="0"/>
                        </a:spcBef>
                        <a:spcAft>
                          <a:spcPts val="0"/>
                        </a:spcAft>
                        <a:buClrTx/>
                        <a:buSzTx/>
                        <a:buFontTx/>
                        <a:buNone/>
                        <a:tabLst/>
                        <a:defRPr/>
                      </a:pPr>
                      <a:r>
                        <a:rPr lang="de-DE" sz="1400" b="0" kern="1200" dirty="0">
                          <a:solidFill>
                            <a:schemeClr val="dk1"/>
                          </a:solidFill>
                          <a:latin typeface="+mn-lt"/>
                          <a:ea typeface="+mn-ea"/>
                          <a:cs typeface="+mn-cs"/>
                        </a:rPr>
                        <a:t>(DT=Design Thinking)</a:t>
                      </a:r>
                    </a:p>
                    <a:p>
                      <a:pPr marL="0" marR="0" lvl="0" indent="0" algn="l" defTabSz="914400" rtl="0" eaLnBrk="1" fontAlgn="auto" latinLnBrk="0" hangingPunct="1">
                        <a:lnSpc>
                          <a:spcPct val="100000"/>
                        </a:lnSpc>
                        <a:spcBef>
                          <a:spcPts val="0"/>
                        </a:spcBef>
                        <a:spcAft>
                          <a:spcPts val="0"/>
                        </a:spcAft>
                        <a:buClrTx/>
                        <a:buSzTx/>
                        <a:buFontTx/>
                        <a:buNone/>
                        <a:tabLst/>
                        <a:defRPr/>
                      </a:pPr>
                      <a:r>
                        <a:rPr lang="de-DE" sz="1400" b="0" kern="1200" dirty="0">
                          <a:solidFill>
                            <a:schemeClr val="dk1"/>
                          </a:solidFill>
                          <a:latin typeface="+mn-lt"/>
                          <a:ea typeface="+mn-ea"/>
                          <a:cs typeface="+mn-cs"/>
                        </a:rPr>
                        <a:t>Feedback zur Vorlesung</a:t>
                      </a:r>
                      <a:endParaRPr lang="de-DE" sz="1400" b="0" dirty="0"/>
                    </a:p>
                  </a:txBody>
                  <a:tcPr/>
                </a:tc>
                <a:extLst>
                  <a:ext uri="{0D108BD9-81ED-4DB2-BD59-A6C34878D82A}">
                    <a16:rowId xmlns:a16="http://schemas.microsoft.com/office/drawing/2014/main" val="10006"/>
                  </a:ext>
                </a:extLst>
              </a:tr>
            </a:tbl>
          </a:graphicData>
        </a:graphic>
      </p:graphicFrame>
      <p:sp>
        <p:nvSpPr>
          <p:cNvPr id="8" name="TextBox 7">
            <a:extLst>
              <a:ext uri="{FF2B5EF4-FFF2-40B4-BE49-F238E27FC236}">
                <a16:creationId xmlns:a16="http://schemas.microsoft.com/office/drawing/2014/main" id="{6F8FDF04-AC39-483E-8EE5-ABDA19DB2C6F}"/>
              </a:ext>
            </a:extLst>
          </p:cNvPr>
          <p:cNvSpPr txBox="1"/>
          <p:nvPr/>
        </p:nvSpPr>
        <p:spPr>
          <a:xfrm>
            <a:off x="3160977" y="3105294"/>
            <a:ext cx="5852160" cy="2515286"/>
          </a:xfrm>
          <a:prstGeom prst="rect">
            <a:avLst/>
          </a:prstGeom>
          <a:solidFill>
            <a:schemeClr val="bg1"/>
          </a:solidFill>
        </p:spPr>
        <p:txBody>
          <a:bodyPr wrap="square" lIns="72000" tIns="72000" rIns="72000" bIns="72000" rtlCol="0">
            <a:spAutoFit/>
          </a:bodyPr>
          <a:lstStyle/>
          <a:p>
            <a:pPr algn="ctr" fontAlgn="base">
              <a:spcBef>
                <a:spcPts val="600"/>
              </a:spcBef>
              <a:spcAft>
                <a:spcPct val="0"/>
              </a:spcAft>
              <a:buClr>
                <a:srgbClr val="F0AB00"/>
              </a:buClr>
              <a:buSzPct val="80000"/>
            </a:pPr>
            <a:r>
              <a:rPr lang="de-DE" sz="4800" kern="0" dirty="0">
                <a:ea typeface="Arial Unicode MS" pitchFamily="34" charset="-128"/>
                <a:cs typeface="Arial Unicode MS" pitchFamily="34" charset="-128"/>
              </a:rPr>
              <a:t>Bis Dienstag</a:t>
            </a:r>
          </a:p>
          <a:p>
            <a:pPr algn="ctr" fontAlgn="base">
              <a:spcBef>
                <a:spcPts val="600"/>
              </a:spcBef>
              <a:spcAft>
                <a:spcPct val="0"/>
              </a:spcAft>
              <a:buClr>
                <a:srgbClr val="F0AB00"/>
              </a:buClr>
              <a:buSzPct val="80000"/>
            </a:pPr>
            <a:r>
              <a:rPr lang="de-DE" sz="4800" b="1" kern="0" dirty="0">
                <a:ea typeface="Arial Unicode MS" pitchFamily="34" charset="-128"/>
                <a:cs typeface="Arial Unicode MS" pitchFamily="34" charset="-128"/>
              </a:rPr>
              <a:t>03.03.2026</a:t>
            </a:r>
          </a:p>
          <a:p>
            <a:pPr algn="ctr" fontAlgn="base">
              <a:spcBef>
                <a:spcPts val="600"/>
              </a:spcBef>
              <a:spcAft>
                <a:spcPct val="0"/>
              </a:spcAft>
              <a:buClr>
                <a:srgbClr val="F0AB00"/>
              </a:buClr>
              <a:buSzPct val="80000"/>
            </a:pPr>
            <a:r>
              <a:rPr lang="de-DE" sz="4800" kern="0" dirty="0">
                <a:ea typeface="Arial Unicode MS" pitchFamily="34" charset="-128"/>
                <a:cs typeface="Arial Unicode MS" pitchFamily="34" charset="-128"/>
              </a:rPr>
              <a:t>09.00 – 12.15 Uhr</a:t>
            </a:r>
          </a:p>
        </p:txBody>
      </p:sp>
    </p:spTree>
    <p:extLst>
      <p:ext uri="{BB962C8B-B14F-4D97-AF65-F5344CB8AC3E}">
        <p14:creationId xmlns:p14="http://schemas.microsoft.com/office/powerpoint/2010/main" val="3525120638"/>
      </p:ext>
    </p:extLst>
  </p:cSld>
  <p:clrMapOvr>
    <a:masterClrMapping/>
  </p:clrMapOvr>
</p:sld>
</file>

<file path=ppt/theme/theme1.xml><?xml version="1.0" encoding="utf-8"?>
<a:theme xmlns:a="http://schemas.openxmlformats.org/drawingml/2006/main" name="SAP_2015_4x3">
  <a:themeElements>
    <a:clrScheme name="SAP_Colors2011_1.1">
      <a:dk1>
        <a:srgbClr val="000000"/>
      </a:dk1>
      <a:lt1>
        <a:srgbClr val="FFFFFF"/>
      </a:lt1>
      <a:dk2>
        <a:srgbClr val="0076CB"/>
      </a:dk2>
      <a:lt2>
        <a:srgbClr val="CCCCCC"/>
      </a:lt2>
      <a:accent1>
        <a:srgbClr val="F0AB00"/>
      </a:accent1>
      <a:accent2>
        <a:srgbClr val="666666"/>
      </a:accent2>
      <a:accent3>
        <a:srgbClr val="0076CB"/>
      </a:accent3>
      <a:accent4>
        <a:srgbClr val="4FB81C"/>
      </a:accent4>
      <a:accent5>
        <a:srgbClr val="E35500"/>
      </a:accent5>
      <a:accent6>
        <a:srgbClr val="760A85"/>
      </a:accent6>
      <a:hlink>
        <a:srgbClr val="666666"/>
      </a:hlink>
      <a:folHlink>
        <a:srgbClr val="CCCCCC"/>
      </a:folHlink>
    </a:clrScheme>
    <a:fontScheme name="SAP_Fonts2011">
      <a:majorFont>
        <a:latin typeface="Arial"/>
        <a:ea typeface=""/>
        <a:cs typeface=""/>
      </a:majorFont>
      <a:minorFont>
        <a:latin typeface="Arial"/>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1"/>
        </a:solidFill>
        <a:ln w="6350" algn="ctr">
          <a:noFill/>
          <a:miter lim="800000"/>
          <a:headEnd/>
          <a:tailEnd/>
        </a:ln>
      </a:spPr>
      <a:bodyPr lIns="90000" tIns="72000" rIns="90000" bIns="72000" rtlCol="0" anchor="ctr"/>
      <a:lstStyle>
        <a:defPPr marR="0" algn="ctr" defTabSz="914400" eaLnBrk="1" fontAlgn="base" latinLnBrk="0" hangingPunct="1">
          <a:lnSpc>
            <a:spcPct val="100000"/>
          </a:lnSpc>
          <a:spcBef>
            <a:spcPct val="50000"/>
          </a:spcBef>
          <a:spcAft>
            <a:spcPct val="0"/>
          </a:spcAft>
          <a:buClr>
            <a:srgbClr val="F0AB00"/>
          </a:buClr>
          <a:buSzPct val="80000"/>
          <a:tabLst/>
          <a:defRPr kumimoji="0" b="0" i="0" u="none" strike="noStrike" kern="0" cap="none" spc="0" normalizeH="0" baseline="0" noProof="0" dirty="0" smtClean="0">
            <a:ln>
              <a:noFill/>
            </a:ln>
            <a:effectLst/>
            <a:uLnTx/>
            <a:uFillTx/>
            <a:ea typeface="Arial Unicode MS" pitchFamily="34" charset="-128"/>
            <a:cs typeface="Arial Unicode MS" pitchFamily="34" charset="-128"/>
          </a:defRPr>
        </a:defPPr>
      </a:lstStyle>
    </a:spDef>
    <a:lnDef>
      <a:spPr>
        <a:ln w="63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fontAlgn="base">
          <a:spcBef>
            <a:spcPts val="600"/>
          </a:spcBef>
          <a:spcAft>
            <a:spcPct val="0"/>
          </a:spcAft>
          <a:buClr>
            <a:srgbClr val="F0AB00"/>
          </a:buClr>
          <a:buSzPct val="80000"/>
          <a:defRPr sz="1800" kern="0" dirty="0" err="1" smtClean="0">
            <a:ea typeface="Arial Unicode MS" pitchFamily="34" charset="-128"/>
            <a:cs typeface="Arial Unicode MS" pitchFamily="34" charset="-128"/>
          </a:defRPr>
        </a:defPPr>
      </a:lstStyle>
    </a:txDef>
  </a:objectDefaults>
  <a:extraClrSchemeLst/>
  <a:extLst>
    <a:ext uri="{05A4C25C-085E-4340-85A3-A5531E510DB2}">
      <thm15:themeFamily xmlns:thm15="http://schemas.microsoft.com/office/thememl/2012/main" name="SAP_2015_4x3.pptx" id="{2062C091-8B1A-4A0C-A7A2-7ED37FCDEDCB}" vid="{EC6AEFB6-1F52-4AC8-91EE-EB73D40627EE}"/>
    </a:ext>
  </a:extLst>
</a:theme>
</file>

<file path=ppt/theme/theme2.xml><?xml version="1.0" encoding="utf-8"?>
<a:theme xmlns:a="http://schemas.openxmlformats.org/drawingml/2006/main" name="Office Theme">
  <a:themeElements>
    <a:clrScheme name="SAP_Colors2011_1.1">
      <a:dk1>
        <a:srgbClr val="000000"/>
      </a:dk1>
      <a:lt1>
        <a:srgbClr val="FFFFFF"/>
      </a:lt1>
      <a:dk2>
        <a:srgbClr val="0076CB"/>
      </a:dk2>
      <a:lt2>
        <a:srgbClr val="CCCCCC"/>
      </a:lt2>
      <a:accent1>
        <a:srgbClr val="F0AB00"/>
      </a:accent1>
      <a:accent2>
        <a:srgbClr val="666666"/>
      </a:accent2>
      <a:accent3>
        <a:srgbClr val="0076CB"/>
      </a:accent3>
      <a:accent4>
        <a:srgbClr val="4FB81C"/>
      </a:accent4>
      <a:accent5>
        <a:srgbClr val="E35500"/>
      </a:accent5>
      <a:accent6>
        <a:srgbClr val="760A85"/>
      </a:accent6>
      <a:hlink>
        <a:srgbClr val="666666"/>
      </a:hlink>
      <a:folHlink>
        <a:srgbClr val="CCCCCC"/>
      </a:folHlink>
    </a:clrScheme>
    <a:fontScheme name="SAP_Fonts2011">
      <a:majorFont>
        <a:latin typeface="Arial"/>
        <a:ea typeface=""/>
        <a:cs typeface=""/>
      </a:majorFont>
      <a:minorFont>
        <a:latin typeface="Arial"/>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SAP_Colors2011">
      <a:dk1>
        <a:srgbClr val="000000"/>
      </a:dk1>
      <a:lt1>
        <a:srgbClr val="FFFFFF"/>
      </a:lt1>
      <a:dk2>
        <a:srgbClr val="00AFE3"/>
      </a:dk2>
      <a:lt2>
        <a:srgbClr val="CCCCCC"/>
      </a:lt2>
      <a:accent1>
        <a:srgbClr val="FDB913"/>
      </a:accent1>
      <a:accent2>
        <a:srgbClr val="626366"/>
      </a:accent2>
      <a:accent3>
        <a:srgbClr val="0082C9"/>
      </a:accent3>
      <a:accent4>
        <a:srgbClr val="4BBE44"/>
      </a:accent4>
      <a:accent5>
        <a:srgbClr val="B1D249"/>
      </a:accent5>
      <a:accent6>
        <a:srgbClr val="80298F"/>
      </a:accent6>
      <a:hlink>
        <a:srgbClr val="04357B"/>
      </a:hlink>
      <a:folHlink>
        <a:srgbClr val="999999"/>
      </a:folHlink>
    </a:clrScheme>
    <a:fontScheme name="SAP_Fonts2011">
      <a:majorFont>
        <a:latin typeface="Arial"/>
        <a:ea typeface=""/>
        <a:cs typeface=""/>
      </a:majorFont>
      <a:minorFont>
        <a:latin typeface="Arial"/>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2722</Words>
  <Application>Microsoft Office PowerPoint</Application>
  <PresentationFormat>Bildschirmpräsentation (4:3)</PresentationFormat>
  <Paragraphs>590</Paragraphs>
  <Slides>44</Slides>
  <Notes>38</Notes>
  <HiddenSlides>0</HiddenSlides>
  <MMClips>0</MMClips>
  <ScaleCrop>false</ScaleCrop>
  <HeadingPairs>
    <vt:vector size="6" baseType="variant">
      <vt:variant>
        <vt:lpstr>Verwendete Schriftarten</vt:lpstr>
      </vt:variant>
      <vt:variant>
        <vt:i4>8</vt:i4>
      </vt:variant>
      <vt:variant>
        <vt:lpstr>Design</vt:lpstr>
      </vt:variant>
      <vt:variant>
        <vt:i4>1</vt:i4>
      </vt:variant>
      <vt:variant>
        <vt:lpstr>Folientitel</vt:lpstr>
      </vt:variant>
      <vt:variant>
        <vt:i4>44</vt:i4>
      </vt:variant>
    </vt:vector>
  </HeadingPairs>
  <TitlesOfParts>
    <vt:vector size="53" baseType="lpstr">
      <vt:lpstr>MS PGothic</vt:lpstr>
      <vt:lpstr>Arial</vt:lpstr>
      <vt:lpstr>Arial Unicode MS</vt:lpstr>
      <vt:lpstr>Courier New</vt:lpstr>
      <vt:lpstr>Symbol</vt:lpstr>
      <vt:lpstr>Viga</vt:lpstr>
      <vt:lpstr>Wingdings</vt:lpstr>
      <vt:lpstr>Wingdings</vt:lpstr>
      <vt:lpstr>SAP_2015_4x3</vt:lpstr>
      <vt:lpstr>SQ II: Digital Thinking &amp; Management MA-WWI24SEA</vt:lpstr>
      <vt:lpstr>SQ II: Digital Thinking &amp; Management</vt:lpstr>
      <vt:lpstr>SQ II: Digital Thinking &amp; Management</vt:lpstr>
      <vt:lpstr>SQ II: Digital Thinking &amp; Management</vt:lpstr>
      <vt:lpstr>SQ II: Digital Thinking &amp; Management</vt:lpstr>
      <vt:lpstr>SQ II: Digital Thinking &amp; Management</vt:lpstr>
      <vt:lpstr>SQ II: Digital Thinking &amp; Management Leistungsnachweis</vt:lpstr>
      <vt:lpstr>SQ II: Digital Thinking &amp; Management</vt:lpstr>
      <vt:lpstr>SQ II: Digital Thinking &amp; Management</vt:lpstr>
      <vt:lpstr>SQ II: Digital Thinking &amp; Management https://www.zukunftsinstitut.de/dossier/megatrends/</vt:lpstr>
      <vt:lpstr>SQ II: Digital Thinking &amp; Management https://www.zukunftsinstitut.de/dossier/megatrends/</vt:lpstr>
      <vt:lpstr>SQ II: Digital Thinking &amp; Management https://www.zukunftsinstitut.de/dossier/megatrends/</vt:lpstr>
      <vt:lpstr>SQ II: Digital Thinking &amp; Management Capabilities damals</vt:lpstr>
      <vt:lpstr>SQ II: Digital Thinking &amp; Management Capabilities damals</vt:lpstr>
      <vt:lpstr>SQ II: Digital Thinking &amp; Management</vt:lpstr>
      <vt:lpstr>SQ II: Digital Thinking &amp; Management</vt:lpstr>
      <vt:lpstr>Sind Sie innovativ?</vt:lpstr>
      <vt:lpstr>Sind Sie innovativ? Unterschiedliche Wahrnehmung: Kippfiguren</vt:lpstr>
      <vt:lpstr>Wahrnehmung: Effekt der Erwartung</vt:lpstr>
      <vt:lpstr>Wahrnehmung: Effekt der Erwartung Quelle: Athisser/Hochstein: The reverse hierarchy of visual perceptual learning. 2004.</vt:lpstr>
      <vt:lpstr>Wahrnehmung: Effekt der Erwartung Quelle: Athisser/Hochstein: The reverse hierarchy of visual perceptual learning. 2004.</vt:lpstr>
      <vt:lpstr>Wahrnehmung: Effekt der Erwartung Quelle: Athisser/Hochstein: The reverse hierarchy of visual perceptual learning. 2004.</vt:lpstr>
      <vt:lpstr>Wahrnehmung: Effekt der Erwartung Quelle: Athisser/Hochstein: The reverse hierarchy of visual perceptual learning. 2004.</vt:lpstr>
      <vt:lpstr>Wahrnehmung: Effekt der Erwartung Quelle: Athisser/Hochstein: The reverse hierarchy of visual perceptual learning. 2004.</vt:lpstr>
      <vt:lpstr>Wirtschaftspsychologie Schnelles Denken</vt:lpstr>
      <vt:lpstr>SQ II: Digital Thinking &amp; Management</vt:lpstr>
      <vt:lpstr>(Sehr vereinfachte) Funktionsweise des Gehirns Quelle: Stokes/Whiteside: One Brain, S. 147ff.</vt:lpstr>
      <vt:lpstr>(Sehr vereinfachte) Funktionsweise des Gehirns Quelle: Stokes/Whiteside: One Brain, S. 147ff.</vt:lpstr>
      <vt:lpstr>(Sehr vereinfachte) Funktionsweise des Gehirns Quelle: Stokes/Whiteside: One Brain, S. 147ff.</vt:lpstr>
      <vt:lpstr>(Sehr vereinfachte) Funktionsweise des Gehirns Quelle: Stokes/Whiteside: One Brain, S. 147ff.</vt:lpstr>
      <vt:lpstr>PowerPoint-Präsentation</vt:lpstr>
      <vt:lpstr>Wie sehen wir? Was nehmen wir wahr?</vt:lpstr>
      <vt:lpstr>Wie sehen wir? Was nehmen wir war? Dilemma des Erfolgs von gestern!</vt:lpstr>
      <vt:lpstr>SQ II: Digital Thinking &amp; Management Was braucht ein guter IT-Consultant? (Quelle: AW Scheer)</vt:lpstr>
      <vt:lpstr>SQ II: Digital Thinking &amp; Management Capabilities morgen (https://www. neuro-pulse.de/blogs/trends/future-skills-2026-kompetenzen-arbeitsmarkt/)</vt:lpstr>
      <vt:lpstr>SQ II: Digital Thinking &amp; Management https://www.zukunftsinstitut.de/dossier/megatrends/</vt:lpstr>
      <vt:lpstr>SQ II: Digital Thinking &amp; Management Capabilities morgen: Vorschlag VL-Themen</vt:lpstr>
      <vt:lpstr>SQ II: Digital Thinking &amp; Management Capabilities morgen: VL-Themen</vt:lpstr>
      <vt:lpstr>SQ II: Digital Thinking &amp; Management Studentische Arbeitspakete (Guide to Innovation Mgmt: https://www.viima.com/blog/innovation-management)</vt:lpstr>
      <vt:lpstr>SQ II: Digital Thinking &amp; Management Studentische Arbeitspakete (Guide to Innovation Mgmt: https://www.viima.com/blog/innovation-management)</vt:lpstr>
      <vt:lpstr>SQ II: Digital Thinking &amp; Management Capabilities morgen: Vorschlag VL-Themen</vt:lpstr>
      <vt:lpstr>SQ II: Digital Thinking &amp; Management Vorlesungsstruktur</vt:lpstr>
      <vt:lpstr>SQ II: Digital Thinking &amp; Management Leistungsnachweis</vt:lpstr>
      <vt:lpstr>SQ II: Digital Thinking &amp; Management Leistungsnachweis</vt:lpstr>
    </vt:vector>
  </TitlesOfParts>
  <Company>SAP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Short Presentation Title</dc:title>
  <dc:creator>SAP SE</dc:creator>
  <cp:lastModifiedBy>Besitzer</cp:lastModifiedBy>
  <cp:revision>702</cp:revision>
  <cp:lastPrinted>2021-02-24T11:15:23Z</cp:lastPrinted>
  <dcterms:created xsi:type="dcterms:W3CDTF">2014-11-26T15:19:41Z</dcterms:created>
  <dcterms:modified xsi:type="dcterms:W3CDTF">2026-02-17T15:58:06Z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AdHocReviewCycleID">
    <vt:i4>1007515562</vt:i4>
  </property>
  <property fmtid="{D5CDD505-2E9C-101B-9397-08002B2CF9AE}" pid="3" name="_NewReviewCycle">
    <vt:lpwstr/>
  </property>
  <property fmtid="{D5CDD505-2E9C-101B-9397-08002B2CF9AE}" pid="4" name="_EmailSubject">
    <vt:lpwstr>Folien für das DSAG Planungsmeeting</vt:lpwstr>
  </property>
  <property fmtid="{D5CDD505-2E9C-101B-9397-08002B2CF9AE}" pid="5" name="_AuthorEmail">
    <vt:lpwstr>marco.dorn@sap.com</vt:lpwstr>
  </property>
  <property fmtid="{D5CDD505-2E9C-101B-9397-08002B2CF9AE}" pid="6" name="_AuthorEmailDisplayName">
    <vt:lpwstr>Dorn, Marco</vt:lpwstr>
  </property>
  <property fmtid="{D5CDD505-2E9C-101B-9397-08002B2CF9AE}" pid="7" name="_PreviousAdHocReviewCycleID">
    <vt:i4>-1579441856</vt:i4>
  </property>
</Properties>
</file>