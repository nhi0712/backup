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4"/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No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NotoSans-bold.fntdata"/><Relationship Id="rId10" Type="http://schemas.openxmlformats.org/officeDocument/2006/relationships/slide" Target="slides/slide3.xml"/><Relationship Id="rId32" Type="http://schemas.openxmlformats.org/officeDocument/2006/relationships/font" Target="fonts/NotoSans-regular.fntdata"/><Relationship Id="rId13" Type="http://schemas.openxmlformats.org/officeDocument/2006/relationships/slide" Target="slides/slide6.xml"/><Relationship Id="rId35" Type="http://schemas.openxmlformats.org/officeDocument/2006/relationships/font" Target="fonts/NotoSans-boldItalic.fntdata"/><Relationship Id="rId12" Type="http://schemas.openxmlformats.org/officeDocument/2006/relationships/slide" Target="slides/slide5.xml"/><Relationship Id="rId34" Type="http://schemas.openxmlformats.org/officeDocument/2006/relationships/font" Target="fonts/NotoSans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86c74863_2_13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a86c74863_2_13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a86c74863_2_1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72dcfc2a_0_9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a72dcfc2a_0_91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a72dcfc2a_0_9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72dcfc2a_0_20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fa72dcfc2a_0_201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a72dcfc2a_0_20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634d9ba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a634d9ba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</a:t>
            </a:r>
            <a:r>
              <a:rPr lang="en"/>
              <a:t>Dozenten sollen ohne tiefergehende Kenntnisse von OpenStack vorkonfigurierte VMs deployen und verwalten können”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Risikominimierung:</a:t>
            </a:r>
            <a:br>
              <a:rPr lang="en"/>
            </a:br>
            <a:r>
              <a:rPr lang="en"/>
              <a:t>Versteckt die OpenStack-Komplexität (UX-Abstraktion): Komplexe OpenStack-Parameter (Flavors, Subnetze, Network Pools) werden im Backend verborgen Die UI reduziert Eingaben auf das Minimum (z. B. Anwendungs-Typ wählen, Kursgröße angeben, Deployen).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Problem:</a:t>
            </a:r>
            <a:r>
              <a:rPr lang="en">
                <a:solidFill>
                  <a:schemeClr val="dk1"/>
                </a:solidFill>
              </a:rPr>
              <a:t> Technische Fachbegriffe wie </a:t>
            </a:r>
            <a:r>
              <a:rPr i="1" lang="en">
                <a:solidFill>
                  <a:schemeClr val="dk1"/>
                </a:solidFill>
              </a:rPr>
              <a:t>Flavor ID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Subnet CIDR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i="1" lang="en">
                <a:solidFill>
                  <a:schemeClr val="dk1"/>
                </a:solidFill>
              </a:rPr>
              <a:t>Floating IP Pools</a:t>
            </a:r>
            <a:r>
              <a:rPr lang="en">
                <a:solidFill>
                  <a:schemeClr val="dk1"/>
                </a:solidFill>
              </a:rPr>
              <a:t> oder </a:t>
            </a:r>
            <a:r>
              <a:rPr i="1" lang="en">
                <a:solidFill>
                  <a:schemeClr val="dk1"/>
                </a:solidFill>
              </a:rPr>
              <a:t>SSH Keypairs</a:t>
            </a:r>
            <a:r>
              <a:rPr lang="en">
                <a:solidFill>
                  <a:schemeClr val="dk1"/>
                </a:solidFill>
              </a:rPr>
              <a:t> überfordern Lehrende ohne Cloud-Hintergrund.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Lösung:</a:t>
            </a:r>
            <a:r>
              <a:rPr lang="en">
                <a:solidFill>
                  <a:schemeClr val="dk1"/>
                </a:solidFill>
              </a:rPr>
              <a:t> Das Template kapselt alle Infrastruktur-Details im Backend. Der Dozent wählt im Frontend nur noch die gewünschte Anwendung (z. B. NodeJS, Pentest-Target, Jupyter) und die Kursgröße aus.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R5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Szenario: Der „Vorlesungs-Kollaps“ (Quota Limit)</a:t>
            </a:r>
            <a:r>
              <a:rPr lang="en">
                <a:solidFill>
                  <a:schemeClr val="dk1"/>
                </a:solidFill>
              </a:rPr>
              <a:t>: Ein Dozent startet vor einer Übung ein Deployment für 30 Studierende (z. B. 30 NodeJS- oder Jupyter-VMs).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Nach VM Nr. 10 bricht OpenStack ab, weil das begrenzte Ressourcen-Quota des Dozenten erschöpft ist (z. B. Limit von max. 10 VMs)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Maßnahmen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Infrastruktur-Abstimmung</a:t>
            </a:r>
            <a:r>
              <a:rPr lang="en">
                <a:solidFill>
                  <a:schemeClr val="dk1"/>
                </a:solidFill>
              </a:rPr>
              <a:t>: Frühzeitige Koordination mit den Verantwortlichen der Infrastruktur (Prof. Martin &amp; Prof. Pfisterer), um genaue Einblicke in die BWCloud-Infrastruktur zu erhalten und Deployment-Grenzwerte abzustimmen.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Quota-Validierung</a:t>
            </a:r>
            <a:r>
              <a:rPr lang="en">
                <a:solidFill>
                  <a:schemeClr val="dk1"/>
                </a:solidFill>
              </a:rPr>
              <a:t>: Vor dem Start eines Deployments prüft der AppStore automatisch über die OpenStack-API das verfügbare RessourcenQuota des Dozenten (z. B. Limit von 10 VMs) und stoppt den Prozess bei unzureichenden Ressourcen mit verständlicher Warnung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a8a423311_10_7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a8a423311_10_7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a8a423311_10_7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a8a423311_10_9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a8a423311_10_9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fa8a423311_10_9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a8a423311_10_11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fa8a423311_10_11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a8a423311_10_11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fa8a423311_10_16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3fa8a423311_10_16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a8a423311_10_16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a8a423311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a8a423311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a8a423311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a8a42331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a8a423311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a8a423311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a8a423311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a8a423311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a7bc66e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a7bc66e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a7bc66e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a7bc66e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a7bc66e6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fa7bc66e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a976221ca_2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g3fa976221ca_2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AUSSAGE: Ein Image wird einmal gebaut, danach startet Terraform daraus beliebig oft VMs.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BEGRIFFE, DIE AUF DER FOLIE STEHEN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OpenStack: unsere private Cloud. Nova ist darin der Dienst, der VMs startet, Glance der Dienst, der Images speichert.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Image: eingefrorenes Abbild einer Festplatte. Daraus lassen sich beliebig viele identische VMs klonen.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Packer: Werkzeug, das solche Images baut.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Terraform: Werkzeug, das Cloud-Ressourcen deklarativ startet. Man beschreibt den Zielzustand, Terraform stellt ihn her.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Cloud-Init: Dienst, der in jedem Linux-Cloud-Image steckt und beim allerersten Boot eine mitgegebene Konfiguration abarbeitet.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SCHRITT 1 — PACKER, EINMALIG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Startet über Nova eine temporäre VM aus dem offiziellen Ubuntu-22.04-Cloud-Image, Flavor gp1.small.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Verbindet sich per SSH; dieser Kanal heißt bei Packer Communicator.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Führt provision.sh als root aus: Node.js 24, Python 3, Git, Kursmaterial nach /etc/skel.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/etc/skel ist die Vorlage für jedes neu angelegte Home-Verzeichnis — jeder später angelegte User bekommt das Material automatisch.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Snapshot der laufenden VM → landet als Image ubuntu-v1 in Glance.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Build-VM wird gelöscht. Übrig bleibt das Image; es kostet nur Speicher, keine CPU.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SCHRITT 2 — TERRAFORM, PRO KURS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Dozent klickt Deploy → Backend (FastAPI) prüft das Keycloak-Token (Keycloak = unser Login-Dienst) und legt einen Task in RabbitMQ.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RabbitMQ ist eine Warteschlange, Celery der Worker, der Aufgaben daraus abarbeitet. Nötig, weil ein Deployment 3–15 Minuten dauert und ein HTTP-Request vorher abbrechen würde.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Worker klont das App-Repo (dort liegen packer/ und terraform/ nebeneinander) und ruft terraform apply auf.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Terraform erzeugt je Studi ein 16-stelliges Zufallspasswort und rendert damit über templatefile() das Cloud-Init-Template.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Terraform startet eine VM aus ubuntu-v1 und hängt das gerenderte YAML als Userdata an.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Userdata = Konfigurationstext, den die VM beim ersten Boot über den Metadatendienst abholt.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Cloud-Init legt daraus Gruppen, User und Passwörter an und öffnet in UFW (Firewall) nur Port 22.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Der Terraform-State (Abbild dessen, was Terraform angelegt hat) liegt im pg-Backend, einer eigenen PostgreSQL-DB namens postgres-tfstate. Damit überschreiben sich parallele Deployments nicht.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SCHRITT 3 — RÜCKWEG (DUNKLES BAND)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terraform output -json gibt die Zugangsdaten strukturiert zurück.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Worker parst User, Passwort, IP und schickt sie ans Backend.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Backend legt sie verschlüsselt in der DB ab, das Frontend zeigt jedem Studi seine Zeile.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ÜBERLEITUNG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Diese Struktur bleibt in beiden Windows-Varianten erhalten.</a:t>
            </a:r>
            <a:b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Unterschied ist nur: wie viele VMs Terraform startet und wie viele User je VM angelegt werden.</a:t>
            </a:r>
            <a:endParaRPr/>
          </a:p>
        </p:txBody>
      </p:sp>
      <p:sp>
        <p:nvSpPr>
          <p:cNvPr id="402" name="Google Shape;402;g3fa976221ca_2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a976221ca_2_2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g3fa976221ca_2_2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AUSSAGE: Eine Maschine für den ganzen Kurs — nah an unserem heutigen Modell, aber lizenzpflichtig.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IN DIE BESTEHENDE TECHNIK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Packer-Schicht: statt SSH spricht Packer WinRM (Windows Remote Management, Port 5986, verschlüsselt). Statt provision.sh läuft provision.ps1 (PowerShell).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Ins Image gehören: Cloudbase-Init, VirtIO-Treiber, Desktop Experience, Rolle RD Session Host. Danach Sysprep, dann Upload nach Glance als windows-v1.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Terraform-Schicht: identisch zu heute. Eine Ressource, ein Init-Skript, gleicher Worker-Aufruf, gleiches pg-State-Backend.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Init-Skript: aus dem Cloud-Init-YAML wird ein PowerShell-Skript. Aus useradd wird net user, dazu Aufnahme in die Gruppe Remote Desktop Users, fDenyTSConnections auf 0, Firewallregel für RDP.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Ausgabe: statt ssh user@ip nun host:3389 plus Benutzername und Passwort. Einzige Änderung im Frontend.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BEGRIFFE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RDP (Remote Desktop Protocol): Microsofts Protokoll für grafische Fernsitzungen, Port 3389. Das Gegenstück zu SSH, nur mit Bildschirm statt Terminal.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RD Session Host: die Serverrolle, die mehrere gleichzeitige Desktop-Sitzungen auf einer Maschine erlaubt. Ohne sie sind es zwei, und die sind offiziell nur für Administration gedacht.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Desktop Experience: die Installationsvariante von Windows Server mit grafischer Oberfläche. Gegenstück ist Server Core ohne GUI. Nachträglich nicht umstellbar.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RDS-CAL (Client Access License): Zugriffslizenz. Sie erlaubt einer Person oder einem Gerät, sich auf einen Sitzungshost zu verbinden. Sie ist zusätzlich zur Windows-Server-Lizenz fällig.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Per-User-CAL: Lizenz hängt an der Person, gilt für alle ihre Geräte. Setzt Active Directory voraus, weil der Lizenzserver die Zuordnung sonst nicht nachhalten kann.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Per-Device-CAL: Lizenz hängt am Gerät. Funktioniert auch ohne Domäne — hieße bei privaten Laptops aber eine Lizenz je Laptop.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Active Directory / Domäne: zentrale Benutzerverwaltung von Windows. Unsere VMs sind standalone, also ohne Domäne, mit rein lokalen Konten.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RD-Lizenzserver: eigener Dienst, der die CALs verwaltet und ausgibt. Ohne ihn läuft der Sitzungshost 120 Tage im Gnadenzeitraum, danach verweigert er Verbindungen.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Cloudbase-Init: das Windows-Gegenstück zu Cloud-Init. Muss vor dem Sysprep im Image installiert sein, nachträglich geht es nicht.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Sysprep: entfernt maschinenspezifische Kennungen (z. B. die SID), damit aus dem Image beliebig viele VMs geklont werden können.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VirtIO: Treiber für virtuelle Platten und Netzwerkkarten unter KVM. Linux bringt sie mit, Windows nicht.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VORTEILE IM DETAIL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Ressourcen: eine VM mit 8–12 vCPU und 32–48 GB trägt dreißig Sitzungen. Richtwert von Microsoft: vier Nutzer je vCPU bei mittlerer Last, Minimum acht vCPU und 16 GB. Dreißig Einzel-VMs lägen dagegen außerhalb unseres Kontingents von 50 vCPU und 128 GB.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Vorbehalt zum Ressourcenvorteil: er gilt für Editor-, Browser- und Terminalarbeit. Aufwändiges 3D-CAD rendert ohne GPU auf der CPU, und alle teilen sich dieselbe. Bei solchen Kursen kann die Rechnung kippen — das gehört gemessen, bevor man es zusagt.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Architektur: shared VM mit lokalen Usern und Gruppen ist exakt das Muster unserer Linux-VMs. Kein neues Konzept im AppStore, gleiche Denkweise für Betrieb und Support.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Betrieb: ein Deployment, ein State, eine Maschine im Monitoring statt dreißig.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NACHTEILE IM DETAIL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Lizenz: RDS-CAL je Nutzer plus Lizenzserver. Das ist echtes Geld und muss über das ZWR laufen.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Modellfrage: Per-User-CAL setzt eine Domäne voraus, die wir nicht haben; Per-Device passt nicht zu privaten Laptops. Also entweder Domänenanbindung in die Pipeline aufnehmen oder anderes Lizenzmodell.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Gemeinsames Schicksal: ein Absturz, ein voller Speicher oder eine Endlosschleife trifft den ganzen Kurs.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Kein Neustart auf Zuruf: einzelne Person neu starten geht nicht, das betrifft immer alle.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Falls jemand Guacamole (Browser-Gateway für RDP) vorschlägt: spart keine CALs. Microsoft nennt das Multiplexing und schließt eine Reduktion ausdrücklich aus.</a:t>
            </a:r>
            <a:endParaRPr/>
          </a:p>
        </p:txBody>
      </p:sp>
      <p:sp>
        <p:nvSpPr>
          <p:cNvPr id="426" name="Google Shape;426;g3fa976221ca_2_2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a976221ca_2_4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g3fa976221ca_2_4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AUSSAGE: Eine eigene Maschine je Person — technisch einfacher, scheitert aber an der Kapazität.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INTEGRATION IN DIE BESTEHENDE TECHNIK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Packer-Schicht: identisch zu Variante 1, nur ohne die Rolle RD Session Host. Cloudbase-Init, VirtIO, Sysprep bleiben gleich.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Terraform-Schicht: aus einer Ressource wird eine Schleife. for_each ist der Terraform-Mechanismus, der aus einer Liste (hier: der Studierendenliste) je Eintrag eine eigene Ressource erzeugt.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Init-Skript: legt genau einen User an statt dreißig. Kürzer als heute, nicht länger.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Terraform-Output: je VM eine Zeile mit Host, Port 3389, Benutzername und Passwort — der Worker liest das genauso wie heute.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Der State enthält dann dreißig Instanzen statt einer; Laufzeit eines Deployments steigt entsprechend.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BEGRIFFE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VDA (Virtual Desktop Access): Lizenz, die einer Person oder einem Gerät erlaubt, auf einen virtualisierten Windows-Client-Desktop zuzugreifen. Nötig, weil ein Windows-Client in einer VM anders lizenziert ist als auf einem physischen Laptop.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Education A3/A5: die Bildungsversionen der Windows- und Microsoft-365-Lizenzpakete für Hochschulen. Sie enthalten die Virtualisierungsrechte, die VDA sonst separat abdeckt.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Student Use Benefit: die kostenlose Lizenz, die Studierende über die Hochschule bekommen. Wichtig: laut Microsoft Product Terms deckt sie nur den Zugriff auf Azure Virtual Desktop und ausdrücklich keine weiteren Virtualisierungsrechte. Für VMs auf unserer eigenen Hardware reicht sie also nicht.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Kontingent: unsere Obergrenze in OpenStack, 50 vCPU und 128 GB RAM für Gruppe 3.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VORTEILE IM DETAIL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Lizenz: keine RDS-CALs, kein Lizenzserver, keine Domänenfrage, weil auf jeder VM nur eine Sitzung läuft.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Isolation: wer seine Maschine zerschießt, zerschießt nur die eigene. Neustart, Snapshot und Zurücksetzen sind pro Person möglich.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Leistung ist planbar: jede Person hat feste Ressourcen, niemand kann den Kurs ausbremsen. Das ist gerade bei rechenintensiven Programmen ein echtes Argument.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Praxisbeleg: eine andere Gruppe betreibt diesen Weg bereits auf demselben OpenStack. Das heißt, ein bootfähiges Windows-Image existiert, VirtIO ist drin und die Compute-Knoten können Secure Boot und vTPM (Voraussetzungen von Windows 11).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Zu klären bei dieser Gruppe: Image-Name, ob Cloudbase-Init enthalten ist, für wie viele Personen sie es betreiben.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NACHTEILE IM DETAIL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Ressourcen: Windows 11 verlangt mindestens zwei Kerne, 4 GB RAM und 64 GB Speicher. Dreißig VMs sind damit 60 vCPU, 120 GB RAM und knapp zwei Terabyte Plattenplatz. Unser Kontingent trägt rund zwölf Maschinen — und das ist die Untergrenze, kein komfortabler Wert.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Lizenz: die Frage verschwindet nicht, sie wechselt nur die Form. Statt RDS-CALs braucht es Virtualisierungsrechte über VDA, Education A3/A5 oder Enterprise E3/E5. Das gehört genauso ans ZWR.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Betrieb: dreißig Maschinen im Monitoring, dreißig Images zu aktualisieren, längere Deployments.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EINSCHÄTZUNG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Für kleine Kurse der schnellere Weg, weil das Image bereits existiert.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Für dreißig Personen führt kein Weg an Variante 1 vorbei.</a:t>
            </a:r>
            <a:b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Sinnvoll wäre: mit Variante 2 starten, während die Lizenzlage geklärt wird, und Variante 1 bauen, sobald ein großer Kurs ansteht.</a:t>
            </a:r>
            <a:endParaRPr/>
          </a:p>
        </p:txBody>
      </p:sp>
      <p:sp>
        <p:nvSpPr>
          <p:cNvPr id="453" name="Google Shape;453;g3fa976221ca_2_4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a8a423311_1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fa8a423311_1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fa976221ca_8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fa976221ca_8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fa8a423311_1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fa8a423311_1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fa72dcfc2a_15_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0" name="Google Shape;560;g3fa72dcfc2a_15_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fa72dcfc2a_15_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a8a423311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fa8a423311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D71920"/>
          </a:solidFill>
          <a:ln cap="flat" cmpd="sng" w="12700">
            <a:solidFill>
              <a:srgbClr val="D71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/>
          <p:nvPr/>
        </p:nvSpPr>
        <p:spPr>
          <a:xfrm>
            <a:off x="493776" y="4882896"/>
            <a:ext cx="37719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DHBW APPSTORE · PROJEKTKONZEPTION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7235190" y="4882896"/>
            <a:ext cx="140589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Dokumentationsreview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723376" y="4855464"/>
            <a:ext cx="1508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8FAF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3771" cy="54864"/>
          </a:xfrm>
          <a:prstGeom prst="rect">
            <a:avLst/>
          </a:prstGeom>
          <a:solidFill>
            <a:srgbClr val="D71920"/>
          </a:solidFill>
          <a:ln cap="flat" cmpd="sng" w="12700">
            <a:solidFill>
              <a:srgbClr val="D719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493776" y="4882896"/>
            <a:ext cx="377190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DHBW APPSTORE · PROJEKTKONZEPTION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7235190" y="4882896"/>
            <a:ext cx="140589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Dokumentationsreview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723376" y="4855464"/>
            <a:ext cx="150876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C2C2C"/>
                </a:solidFill>
              </a:rPr>
              <a:t>Projektkonzeption</a:t>
            </a:r>
            <a:endParaRPr>
              <a:solidFill>
                <a:srgbClr val="2C2C2C"/>
              </a:solidFill>
            </a:endParaRPr>
          </a:p>
        </p:txBody>
      </p:sp>
      <p:sp>
        <p:nvSpPr>
          <p:cNvPr id="71" name="Google Shape;7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T3: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Christina, Daniel, Lea, Lorenzo, Lukas, Nhi, Andrii, Victor, Max</a:t>
            </a:r>
            <a:endParaRPr/>
          </a:p>
        </p:txBody>
      </p:sp>
      <p:pic>
        <p:nvPicPr>
          <p:cNvPr id="72" name="Google Shape;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838" y="0"/>
            <a:ext cx="1891175" cy="1431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9"/>
          <p:cNvSpPr txBox="1"/>
          <p:nvPr/>
        </p:nvSpPr>
        <p:spPr>
          <a:xfrm>
            <a:off x="351825" y="4539400"/>
            <a:ext cx="3739500" cy="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11.09.2026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/>
        </p:nvSpPr>
        <p:spPr>
          <a:xfrm>
            <a:off x="377190" y="288036"/>
            <a:ext cx="838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1F2A30"/>
                </a:solidFill>
              </a:rPr>
              <a:t>Projektorganisation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0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Lukas Gröning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20"/>
          <p:cNvGrpSpPr/>
          <p:nvPr/>
        </p:nvGrpSpPr>
        <p:grpSpPr>
          <a:xfrm>
            <a:off x="377203" y="974815"/>
            <a:ext cx="3175516" cy="768000"/>
            <a:chOff x="2316245" y="1006050"/>
            <a:chExt cx="3881100" cy="768000"/>
          </a:xfrm>
        </p:grpSpPr>
        <p:sp>
          <p:nvSpPr>
            <p:cNvPr id="82" name="Google Shape;82;p20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270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0"/>
            <p:cNvSpPr txBox="1"/>
            <p:nvPr/>
          </p:nvSpPr>
          <p:spPr>
            <a:xfrm>
              <a:off x="3110350" y="1465871"/>
              <a:ext cx="2292900" cy="1647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46C7A"/>
                </a:buClr>
                <a:buSzPts val="800"/>
                <a:buFont typeface="Arial"/>
                <a:buNone/>
              </a:pPr>
              <a:r>
                <a:rPr lang="en" sz="1600">
                  <a:solidFill>
                    <a:srgbClr val="000020"/>
                  </a:solidFill>
                </a:rPr>
                <a:t>Lukas Gröning</a:t>
              </a:r>
              <a:endParaRPr i="0" sz="1600" u="none" cap="none" strike="noStrike">
                <a:solidFill>
                  <a:srgbClr val="0000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0"/>
            <p:cNvSpPr txBox="1"/>
            <p:nvPr/>
          </p:nvSpPr>
          <p:spPr>
            <a:xfrm>
              <a:off x="2610362" y="1136360"/>
              <a:ext cx="3188100" cy="2742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rgbClr val="1F2A30"/>
                  </a:solidFill>
                </a:rPr>
                <a:t>Projektmanagement</a:t>
              </a:r>
              <a:endParaRPr b="0" i="0" sz="1600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" name="Google Shape;85;p20"/>
          <p:cNvGrpSpPr/>
          <p:nvPr/>
        </p:nvGrpSpPr>
        <p:grpSpPr>
          <a:xfrm>
            <a:off x="428665" y="1898783"/>
            <a:ext cx="2567100" cy="2023200"/>
            <a:chOff x="377190" y="1847280"/>
            <a:chExt cx="2567100" cy="2023200"/>
          </a:xfrm>
        </p:grpSpPr>
        <p:sp>
          <p:nvSpPr>
            <p:cNvPr id="86" name="Google Shape;86;p20"/>
            <p:cNvSpPr/>
            <p:nvPr/>
          </p:nvSpPr>
          <p:spPr>
            <a:xfrm>
              <a:off x="377190" y="1847280"/>
              <a:ext cx="2567100" cy="2023200"/>
            </a:xfrm>
            <a:prstGeom prst="roundRect">
              <a:avLst>
                <a:gd fmla="val 5085" name="adj"/>
              </a:avLst>
            </a:prstGeom>
            <a:solidFill>
              <a:srgbClr val="F1F3F4"/>
            </a:solidFill>
            <a:ln cap="flat" cmpd="sng" w="9525">
              <a:solidFill>
                <a:srgbClr val="D7D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0"/>
            <p:cNvSpPr txBox="1"/>
            <p:nvPr/>
          </p:nvSpPr>
          <p:spPr>
            <a:xfrm>
              <a:off x="514250" y="1902282"/>
              <a:ext cx="229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rgbClr val="1F2A30"/>
                  </a:solidFill>
                </a:rPr>
                <a:t>Backend Development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0"/>
            <p:cNvSpPr txBox="1"/>
            <p:nvPr/>
          </p:nvSpPr>
          <p:spPr>
            <a:xfrm>
              <a:off x="514300" y="2176470"/>
              <a:ext cx="2292900" cy="15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45720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0"/>
            <p:cNvSpPr/>
            <p:nvPr/>
          </p:nvSpPr>
          <p:spPr>
            <a:xfrm>
              <a:off x="617250" y="2348643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45818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0"/>
            <p:cNvSpPr txBox="1"/>
            <p:nvPr/>
          </p:nvSpPr>
          <p:spPr>
            <a:xfrm>
              <a:off x="926775" y="2273797"/>
              <a:ext cx="1795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Max Rommel</a:t>
              </a:r>
              <a:endParaRPr sz="1600"/>
            </a:p>
          </p:txBody>
        </p:sp>
        <p:sp>
          <p:nvSpPr>
            <p:cNvPr id="91" name="Google Shape;91;p20"/>
            <p:cNvSpPr/>
            <p:nvPr/>
          </p:nvSpPr>
          <p:spPr>
            <a:xfrm>
              <a:off x="617250" y="2858998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F1C23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0"/>
            <p:cNvSpPr txBox="1"/>
            <p:nvPr/>
          </p:nvSpPr>
          <p:spPr>
            <a:xfrm>
              <a:off x="926775" y="2784147"/>
              <a:ext cx="164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Andre Maxinger</a:t>
              </a:r>
              <a:endParaRPr sz="1600"/>
            </a:p>
          </p:txBody>
        </p:sp>
        <p:sp>
          <p:nvSpPr>
            <p:cNvPr id="93" name="Google Shape;93;p20"/>
            <p:cNvSpPr/>
            <p:nvPr/>
          </p:nvSpPr>
          <p:spPr>
            <a:xfrm>
              <a:off x="617250" y="3428488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E7E6E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0"/>
            <p:cNvSpPr txBox="1"/>
            <p:nvPr/>
          </p:nvSpPr>
          <p:spPr>
            <a:xfrm>
              <a:off x="926775" y="3353650"/>
              <a:ext cx="1647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Victor Hacker</a:t>
              </a:r>
              <a:endParaRPr sz="1600"/>
            </a:p>
          </p:txBody>
        </p:sp>
      </p:grpSp>
      <p:grpSp>
        <p:nvGrpSpPr>
          <p:cNvPr id="95" name="Google Shape;95;p20"/>
          <p:cNvGrpSpPr/>
          <p:nvPr/>
        </p:nvGrpSpPr>
        <p:grpSpPr>
          <a:xfrm>
            <a:off x="3730244" y="974815"/>
            <a:ext cx="5085793" cy="768000"/>
            <a:chOff x="2316245" y="1006050"/>
            <a:chExt cx="3881100" cy="768000"/>
          </a:xfrm>
        </p:grpSpPr>
        <p:sp>
          <p:nvSpPr>
            <p:cNvPr id="96" name="Google Shape;96;p20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1F2A30"/>
            </a:solidFill>
            <a:ln cap="flat" cmpd="sng" w="1270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0"/>
            <p:cNvSpPr txBox="1"/>
            <p:nvPr/>
          </p:nvSpPr>
          <p:spPr>
            <a:xfrm>
              <a:off x="2403303" y="1376235"/>
              <a:ext cx="3706500" cy="36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46C7A"/>
                </a:buClr>
                <a:buSzPts val="800"/>
                <a:buFont typeface="Arial"/>
                <a:buNone/>
              </a:pPr>
              <a:r>
                <a:rPr lang="en">
                  <a:solidFill>
                    <a:schemeClr val="lt1"/>
                  </a:solidFill>
                </a:rPr>
                <a:t>Michael Eichberg, Dennis Pfisterer, </a:t>
              </a:r>
              <a:endParaRPr>
                <a:solidFill>
                  <a:schemeClr val="lt1"/>
                </a:solidFill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46C7A"/>
                </a:buClr>
                <a:buSzPts val="800"/>
                <a:buFont typeface="Arial"/>
                <a:buNone/>
              </a:pPr>
              <a:r>
                <a:rPr lang="en">
                  <a:solidFill>
                    <a:schemeClr val="lt1"/>
                  </a:solidFill>
                </a:rPr>
                <a:t>Clemens Martin</a:t>
              </a:r>
              <a:endParaRPr b="0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0"/>
            <p:cNvSpPr txBox="1"/>
            <p:nvPr/>
          </p:nvSpPr>
          <p:spPr>
            <a:xfrm>
              <a:off x="3110350" y="1102045"/>
              <a:ext cx="229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rgbClr val="E2F0F1"/>
                  </a:solidFill>
                </a:rPr>
                <a:t>Stakeholder</a:t>
              </a:r>
              <a:endParaRPr b="0" i="0" sz="1600" u="none" cap="none" strike="noStrike">
                <a:solidFill>
                  <a:srgbClr val="E2F0F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0"/>
          <p:cNvGrpSpPr/>
          <p:nvPr/>
        </p:nvGrpSpPr>
        <p:grpSpPr>
          <a:xfrm>
            <a:off x="6214591" y="1898783"/>
            <a:ext cx="2567100" cy="2183470"/>
            <a:chOff x="368609" y="1847280"/>
            <a:chExt cx="2567100" cy="2183470"/>
          </a:xfrm>
        </p:grpSpPr>
        <p:sp>
          <p:nvSpPr>
            <p:cNvPr id="100" name="Google Shape;100;p20"/>
            <p:cNvSpPr/>
            <p:nvPr/>
          </p:nvSpPr>
          <p:spPr>
            <a:xfrm>
              <a:off x="368609" y="1847280"/>
              <a:ext cx="2567100" cy="2023200"/>
            </a:xfrm>
            <a:prstGeom prst="roundRect">
              <a:avLst>
                <a:gd fmla="val 5085" name="adj"/>
              </a:avLst>
            </a:prstGeom>
            <a:solidFill>
              <a:srgbClr val="F1F3F4"/>
            </a:solidFill>
            <a:ln cap="flat" cmpd="sng" w="9525">
              <a:solidFill>
                <a:srgbClr val="D7D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 txBox="1"/>
            <p:nvPr/>
          </p:nvSpPr>
          <p:spPr>
            <a:xfrm>
              <a:off x="514250" y="1902282"/>
              <a:ext cx="229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rgbClr val="1F2A30"/>
                  </a:solidFill>
                </a:rPr>
                <a:t>App Templates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0"/>
            <p:cNvSpPr txBox="1"/>
            <p:nvPr/>
          </p:nvSpPr>
          <p:spPr>
            <a:xfrm>
              <a:off x="514300" y="2491932"/>
              <a:ext cx="2292900" cy="126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45720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0"/>
            <p:cNvSpPr/>
            <p:nvPr/>
          </p:nvSpPr>
          <p:spPr>
            <a:xfrm>
              <a:off x="617250" y="2374386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45818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0"/>
            <p:cNvSpPr txBox="1"/>
            <p:nvPr/>
          </p:nvSpPr>
          <p:spPr>
            <a:xfrm>
              <a:off x="926764" y="2299547"/>
              <a:ext cx="178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Daniel Brecht</a:t>
              </a:r>
              <a:endParaRPr sz="1600"/>
            </a:p>
          </p:txBody>
        </p:sp>
        <p:sp>
          <p:nvSpPr>
            <p:cNvPr id="105" name="Google Shape;105;p20"/>
            <p:cNvSpPr/>
            <p:nvPr/>
          </p:nvSpPr>
          <p:spPr>
            <a:xfrm>
              <a:off x="617250" y="2882596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F1C23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0"/>
            <p:cNvSpPr txBox="1"/>
            <p:nvPr/>
          </p:nvSpPr>
          <p:spPr>
            <a:xfrm>
              <a:off x="926775" y="2807753"/>
              <a:ext cx="1585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Nhi Duong</a:t>
              </a:r>
              <a:endParaRPr sz="1600"/>
            </a:p>
          </p:txBody>
        </p:sp>
        <p:sp>
          <p:nvSpPr>
            <p:cNvPr id="107" name="Google Shape;107;p20"/>
            <p:cNvSpPr/>
            <p:nvPr/>
          </p:nvSpPr>
          <p:spPr>
            <a:xfrm>
              <a:off x="617250" y="3428488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E7E6E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0"/>
            <p:cNvSpPr txBox="1"/>
            <p:nvPr/>
          </p:nvSpPr>
          <p:spPr>
            <a:xfrm>
              <a:off x="926775" y="3353650"/>
              <a:ext cx="1647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Lukas Gröning</a:t>
              </a:r>
              <a:endParaRPr sz="16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</p:grpSp>
      <p:grpSp>
        <p:nvGrpSpPr>
          <p:cNvPr id="109" name="Google Shape;109;p20"/>
          <p:cNvGrpSpPr/>
          <p:nvPr/>
        </p:nvGrpSpPr>
        <p:grpSpPr>
          <a:xfrm>
            <a:off x="3338803" y="1922108"/>
            <a:ext cx="2567100" cy="2023200"/>
            <a:chOff x="377190" y="1847280"/>
            <a:chExt cx="2567100" cy="2023200"/>
          </a:xfrm>
        </p:grpSpPr>
        <p:sp>
          <p:nvSpPr>
            <p:cNvPr id="110" name="Google Shape;110;p20"/>
            <p:cNvSpPr/>
            <p:nvPr/>
          </p:nvSpPr>
          <p:spPr>
            <a:xfrm>
              <a:off x="377190" y="1847280"/>
              <a:ext cx="2567100" cy="2023200"/>
            </a:xfrm>
            <a:prstGeom prst="roundRect">
              <a:avLst>
                <a:gd fmla="val 5085" name="adj"/>
              </a:avLst>
            </a:prstGeom>
            <a:solidFill>
              <a:srgbClr val="F1F3F4"/>
            </a:solidFill>
            <a:ln cap="flat" cmpd="sng" w="9525">
              <a:solidFill>
                <a:srgbClr val="D7D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0"/>
            <p:cNvSpPr txBox="1"/>
            <p:nvPr/>
          </p:nvSpPr>
          <p:spPr>
            <a:xfrm>
              <a:off x="514250" y="1902282"/>
              <a:ext cx="229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rgbClr val="1F2A30"/>
                  </a:solidFill>
                </a:rPr>
                <a:t>Frontend Development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0"/>
            <p:cNvSpPr txBox="1"/>
            <p:nvPr/>
          </p:nvSpPr>
          <p:spPr>
            <a:xfrm>
              <a:off x="514300" y="2491932"/>
              <a:ext cx="2292900" cy="126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45720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617250" y="2348643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45818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0"/>
            <p:cNvSpPr txBox="1"/>
            <p:nvPr/>
          </p:nvSpPr>
          <p:spPr>
            <a:xfrm>
              <a:off x="926795" y="2273793"/>
              <a:ext cx="1758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Lea Dennhardt</a:t>
              </a:r>
              <a:endParaRPr sz="1600"/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617250" y="2865434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F1C23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0"/>
            <p:cNvSpPr txBox="1"/>
            <p:nvPr/>
          </p:nvSpPr>
          <p:spPr>
            <a:xfrm>
              <a:off x="926787" y="2790597"/>
              <a:ext cx="1880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Lorenzo Negri</a:t>
              </a:r>
              <a:endParaRPr sz="1600"/>
            </a:p>
          </p:txBody>
        </p:sp>
        <p:sp>
          <p:nvSpPr>
            <p:cNvPr id="117" name="Google Shape;117;p20"/>
            <p:cNvSpPr/>
            <p:nvPr/>
          </p:nvSpPr>
          <p:spPr>
            <a:xfrm>
              <a:off x="617250" y="3419906"/>
              <a:ext cx="223200" cy="219600"/>
            </a:xfrm>
            <a:prstGeom prst="roundRect">
              <a:avLst>
                <a:gd fmla="val 16667" name="adj"/>
              </a:avLst>
            </a:prstGeom>
            <a:solidFill>
              <a:srgbClr val="E7E6E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0"/>
            <p:cNvSpPr txBox="1"/>
            <p:nvPr/>
          </p:nvSpPr>
          <p:spPr>
            <a:xfrm>
              <a:off x="926790" y="3345066"/>
              <a:ext cx="201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dk1"/>
                  </a:solidFill>
                </a:rPr>
                <a:t>Christina Schultz</a:t>
              </a:r>
              <a:endParaRPr sz="1600"/>
            </a:p>
          </p:txBody>
        </p:sp>
      </p:grpSp>
      <p:sp>
        <p:nvSpPr>
          <p:cNvPr id="119" name="Google Shape;119;p20"/>
          <p:cNvSpPr/>
          <p:nvPr/>
        </p:nvSpPr>
        <p:spPr>
          <a:xfrm>
            <a:off x="572275" y="4189690"/>
            <a:ext cx="223200" cy="2196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871250" y="4080528"/>
            <a:ext cx="203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Teamlead</a:t>
            </a:r>
            <a:endParaRPr sz="1600"/>
          </a:p>
        </p:txBody>
      </p:sp>
      <p:sp>
        <p:nvSpPr>
          <p:cNvPr id="121" name="Google Shape;12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3402613" y="4239103"/>
            <a:ext cx="223200" cy="219600"/>
          </a:xfrm>
          <a:prstGeom prst="roundRect">
            <a:avLst>
              <a:gd fmla="val 16667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 txBox="1"/>
          <p:nvPr/>
        </p:nvSpPr>
        <p:spPr>
          <a:xfrm>
            <a:off x="3701588" y="4129941"/>
            <a:ext cx="203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Qualitätssicherung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377190" y="288036"/>
            <a:ext cx="838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1F2A30"/>
                </a:solidFill>
              </a:rPr>
              <a:t>Projekt </a:t>
            </a:r>
            <a:r>
              <a:rPr b="1" lang="en" sz="2600">
                <a:solidFill>
                  <a:srgbClr val="1F2A30"/>
                </a:solidFill>
              </a:rPr>
              <a:t>Kommunikation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Lukas Gröning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21"/>
          <p:cNvGrpSpPr/>
          <p:nvPr/>
        </p:nvGrpSpPr>
        <p:grpSpPr>
          <a:xfrm>
            <a:off x="4425839" y="1112125"/>
            <a:ext cx="4192388" cy="2606124"/>
            <a:chOff x="4026425" y="1112125"/>
            <a:chExt cx="3993891" cy="3015300"/>
          </a:xfrm>
        </p:grpSpPr>
        <p:sp>
          <p:nvSpPr>
            <p:cNvPr id="132" name="Google Shape;132;p21"/>
            <p:cNvSpPr/>
            <p:nvPr/>
          </p:nvSpPr>
          <p:spPr>
            <a:xfrm>
              <a:off x="4026425" y="1112125"/>
              <a:ext cx="3937800" cy="3015300"/>
            </a:xfrm>
            <a:prstGeom prst="roundRect">
              <a:avLst>
                <a:gd fmla="val 5085" name="adj"/>
              </a:avLst>
            </a:prstGeom>
            <a:solidFill>
              <a:srgbClr val="F1F3F4"/>
            </a:solidFill>
            <a:ln cap="flat" cmpd="sng" w="9525">
              <a:solidFill>
                <a:srgbClr val="D7DD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1"/>
            <p:cNvSpPr txBox="1"/>
            <p:nvPr/>
          </p:nvSpPr>
          <p:spPr>
            <a:xfrm>
              <a:off x="4275573" y="1167141"/>
              <a:ext cx="3631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rgbClr val="1F2A30"/>
                  </a:solidFill>
                </a:rPr>
                <a:t>Weekly Meeting </a:t>
              </a:r>
              <a:r>
                <a:rPr b="1" lang="en" sz="1600">
                  <a:solidFill>
                    <a:srgbClr val="1F2A30"/>
                  </a:solidFill>
                </a:rPr>
                <a:t>Schedule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1"/>
            <p:cNvSpPr txBox="1"/>
            <p:nvPr/>
          </p:nvSpPr>
          <p:spPr>
            <a:xfrm>
              <a:off x="4275650" y="1756780"/>
              <a:ext cx="3688500" cy="126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45720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1"/>
            <p:cNvSpPr/>
            <p:nvPr/>
          </p:nvSpPr>
          <p:spPr>
            <a:xfrm>
              <a:off x="4462793" y="1950347"/>
              <a:ext cx="405600" cy="219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Mo</a:t>
              </a:r>
              <a:endParaRPr sz="1100"/>
            </a:p>
          </p:txBody>
        </p:sp>
        <p:sp>
          <p:nvSpPr>
            <p:cNvPr id="136" name="Google Shape;136;p21"/>
            <p:cNvSpPr txBox="1"/>
            <p:nvPr/>
          </p:nvSpPr>
          <p:spPr>
            <a:xfrm>
              <a:off x="5025416" y="1796070"/>
              <a:ext cx="19965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Lead-Sync</a:t>
              </a:r>
              <a:endParaRPr sz="1600"/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4462793" y="2334380"/>
              <a:ext cx="405600" cy="219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Di</a:t>
              </a:r>
              <a:endParaRPr sz="1100"/>
            </a:p>
          </p:txBody>
        </p:sp>
        <p:sp>
          <p:nvSpPr>
            <p:cNvPr id="138" name="Google Shape;138;p21"/>
            <p:cNvSpPr txBox="1"/>
            <p:nvPr/>
          </p:nvSpPr>
          <p:spPr>
            <a:xfrm>
              <a:off x="5025416" y="2207282"/>
              <a:ext cx="28815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Team-Sync</a:t>
              </a:r>
              <a:endParaRPr sz="1600"/>
            </a:p>
          </p:txBody>
        </p:sp>
        <p:sp>
          <p:nvSpPr>
            <p:cNvPr id="139" name="Google Shape;139;p21"/>
            <p:cNvSpPr/>
            <p:nvPr/>
          </p:nvSpPr>
          <p:spPr>
            <a:xfrm>
              <a:off x="4462793" y="2762831"/>
              <a:ext cx="405600" cy="219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Mi</a:t>
              </a:r>
              <a:endParaRPr sz="1100"/>
            </a:p>
          </p:txBody>
        </p:sp>
        <p:sp>
          <p:nvSpPr>
            <p:cNvPr id="140" name="Google Shape;140;p21"/>
            <p:cNvSpPr txBox="1"/>
            <p:nvPr/>
          </p:nvSpPr>
          <p:spPr>
            <a:xfrm>
              <a:off x="5025416" y="2648280"/>
              <a:ext cx="2994900" cy="4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-</a:t>
              </a:r>
              <a:endParaRPr sz="1200"/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4462793" y="3208450"/>
              <a:ext cx="405600" cy="219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Do</a:t>
              </a:r>
              <a:endParaRPr sz="1100"/>
            </a:p>
          </p:txBody>
        </p:sp>
        <p:sp>
          <p:nvSpPr>
            <p:cNvPr id="142" name="Google Shape;142;p21"/>
            <p:cNvSpPr txBox="1"/>
            <p:nvPr/>
          </p:nvSpPr>
          <p:spPr>
            <a:xfrm>
              <a:off x="5025416" y="3044257"/>
              <a:ext cx="29949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Team-Sync</a:t>
              </a:r>
              <a:endParaRPr sz="1600"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4462793" y="3619018"/>
              <a:ext cx="405600" cy="219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Fr</a:t>
              </a:r>
              <a:endParaRPr sz="1100"/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5025416" y="3474682"/>
              <a:ext cx="29949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Stakeholder-Meeting</a:t>
              </a:r>
              <a:endParaRPr sz="1600"/>
            </a:p>
          </p:txBody>
        </p:sp>
      </p:grpSp>
      <p:grpSp>
        <p:nvGrpSpPr>
          <p:cNvPr id="145" name="Google Shape;145;p21"/>
          <p:cNvGrpSpPr/>
          <p:nvPr/>
        </p:nvGrpSpPr>
        <p:grpSpPr>
          <a:xfrm>
            <a:off x="595317" y="1112143"/>
            <a:ext cx="3175500" cy="2606124"/>
            <a:chOff x="377275" y="1112124"/>
            <a:chExt cx="3175500" cy="3015300"/>
          </a:xfrm>
        </p:grpSpPr>
        <p:sp>
          <p:nvSpPr>
            <p:cNvPr id="146" name="Google Shape;146;p21"/>
            <p:cNvSpPr/>
            <p:nvPr/>
          </p:nvSpPr>
          <p:spPr>
            <a:xfrm>
              <a:off x="377275" y="1112124"/>
              <a:ext cx="3175500" cy="3015300"/>
            </a:xfrm>
            <a:prstGeom prst="roundRect">
              <a:avLst>
                <a:gd fmla="val 13393" name="adj"/>
              </a:avLst>
            </a:prstGeom>
            <a:solidFill>
              <a:srgbClr val="1F2A30"/>
            </a:solidFill>
            <a:ln cap="flat" cmpd="sng" w="1270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 txBox="1"/>
            <p:nvPr/>
          </p:nvSpPr>
          <p:spPr>
            <a:xfrm>
              <a:off x="648210" y="1939545"/>
              <a:ext cx="18762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chemeClr val="lt1"/>
                  </a:solidFill>
                </a:rPr>
                <a:t>Intern</a:t>
              </a:r>
              <a:endParaRPr b="1" sz="1600">
                <a:solidFill>
                  <a:schemeClr val="lt1"/>
                </a:solidFill>
              </a:endParaRPr>
            </a:p>
          </p:txBody>
        </p:sp>
        <p:sp>
          <p:nvSpPr>
            <p:cNvPr id="148" name="Google Shape;148;p21"/>
            <p:cNvSpPr txBox="1"/>
            <p:nvPr/>
          </p:nvSpPr>
          <p:spPr>
            <a:xfrm>
              <a:off x="886652" y="1242413"/>
              <a:ext cx="21567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rgbClr val="E2F0F1"/>
                  </a:solidFill>
                </a:rPr>
                <a:t>Kommunikationswege</a:t>
              </a:r>
              <a:endParaRPr b="0" i="0" sz="1600" u="none" cap="none" strike="noStrike">
                <a:solidFill>
                  <a:srgbClr val="E2F0F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1"/>
            <p:cNvSpPr txBox="1"/>
            <p:nvPr/>
          </p:nvSpPr>
          <p:spPr>
            <a:xfrm>
              <a:off x="648198" y="3033066"/>
              <a:ext cx="18762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400"/>
                <a:buFont typeface="Arial"/>
                <a:buNone/>
              </a:pPr>
              <a:r>
                <a:rPr b="1" lang="en" sz="1600">
                  <a:solidFill>
                    <a:schemeClr val="lt1"/>
                  </a:solidFill>
                </a:rPr>
                <a:t>Extern</a:t>
              </a:r>
              <a:endParaRPr b="1" sz="1600">
                <a:solidFill>
                  <a:schemeClr val="lt1"/>
                </a:solidFill>
              </a:endParaRPr>
            </a:p>
          </p:txBody>
        </p:sp>
        <p:sp>
          <p:nvSpPr>
            <p:cNvPr id="150" name="Google Shape;150;p21"/>
            <p:cNvSpPr txBox="1"/>
            <p:nvPr/>
          </p:nvSpPr>
          <p:spPr>
            <a:xfrm>
              <a:off x="467575" y="3212208"/>
              <a:ext cx="2994900" cy="78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</a:rPr>
                <a:t>E-Mail, persönlich,</a:t>
              </a:r>
              <a:endParaRPr sz="16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</a:rPr>
                <a:t>Moodle-Vorlesungsraum</a:t>
              </a:r>
              <a:endParaRPr sz="1600">
                <a:solidFill>
                  <a:schemeClr val="lt1"/>
                </a:solidFill>
              </a:endParaRPr>
            </a:p>
          </p:txBody>
        </p:sp>
        <p:sp>
          <p:nvSpPr>
            <p:cNvPr id="151" name="Google Shape;151;p21"/>
            <p:cNvSpPr txBox="1"/>
            <p:nvPr/>
          </p:nvSpPr>
          <p:spPr>
            <a:xfrm>
              <a:off x="467513" y="2144672"/>
              <a:ext cx="2994900" cy="49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chemeClr val="lt1"/>
                  </a:solidFill>
                </a:rPr>
                <a:t>Discord, WhatsApp</a:t>
              </a:r>
              <a:endParaRPr sz="1600">
                <a:solidFill>
                  <a:schemeClr val="lt1"/>
                </a:solidFill>
              </a:endParaRPr>
            </a:p>
          </p:txBody>
        </p:sp>
      </p:grpSp>
      <p:sp>
        <p:nvSpPr>
          <p:cNvPr id="152" name="Google Shape;152;p21"/>
          <p:cNvSpPr/>
          <p:nvPr/>
        </p:nvSpPr>
        <p:spPr>
          <a:xfrm>
            <a:off x="595325" y="3920550"/>
            <a:ext cx="8023200" cy="691500"/>
          </a:xfrm>
          <a:prstGeom prst="roundRect">
            <a:avLst>
              <a:gd fmla="val 5085" name="adj"/>
            </a:avLst>
          </a:prstGeom>
          <a:solidFill>
            <a:srgbClr val="F1F3F4"/>
          </a:solidFill>
          <a:ln cap="flat" cmpd="sng" w="9525">
            <a:solidFill>
              <a:srgbClr val="D7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706269" y="3993651"/>
            <a:ext cx="21567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" sz="1600">
                <a:solidFill>
                  <a:srgbClr val="1F2A30"/>
                </a:solidFill>
              </a:rPr>
              <a:t>Scrum Events</a:t>
            </a:r>
            <a:endParaRPr b="1" sz="1600">
              <a:solidFill>
                <a:srgbClr val="E2F0F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595330" y="4230659"/>
            <a:ext cx="20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Alle 2 Wochen</a:t>
            </a:r>
            <a:endParaRPr/>
          </a:p>
        </p:txBody>
      </p:sp>
      <p:sp>
        <p:nvSpPr>
          <p:cNvPr id="155" name="Google Shape;155;p21"/>
          <p:cNvSpPr/>
          <p:nvPr/>
        </p:nvSpPr>
        <p:spPr>
          <a:xfrm>
            <a:off x="2396200" y="3979200"/>
            <a:ext cx="1872900" cy="574200"/>
          </a:xfrm>
          <a:prstGeom prst="roundRect">
            <a:avLst>
              <a:gd fmla="val 13393" name="adj"/>
            </a:avLst>
          </a:prstGeom>
          <a:solidFill>
            <a:srgbClr val="1F2A30"/>
          </a:solidFill>
          <a:ln cap="flat" cmpd="sng" w="12700">
            <a:solidFill>
              <a:srgbClr val="1F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4492000" y="3979200"/>
            <a:ext cx="1872900" cy="574200"/>
          </a:xfrm>
          <a:prstGeom prst="roundRect">
            <a:avLst>
              <a:gd fmla="val 13393" name="adj"/>
            </a:avLst>
          </a:prstGeom>
          <a:solidFill>
            <a:srgbClr val="1F2A30"/>
          </a:solidFill>
          <a:ln cap="flat" cmpd="sng" w="12700">
            <a:solidFill>
              <a:srgbClr val="1F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/>
          <p:nvPr/>
        </p:nvSpPr>
        <p:spPr>
          <a:xfrm>
            <a:off x="6587800" y="3979188"/>
            <a:ext cx="1872900" cy="574200"/>
          </a:xfrm>
          <a:prstGeom prst="roundRect">
            <a:avLst>
              <a:gd fmla="val 13393" name="adj"/>
            </a:avLst>
          </a:prstGeom>
          <a:solidFill>
            <a:srgbClr val="1F2A30"/>
          </a:solidFill>
          <a:ln cap="flat" cmpd="sng" w="12700">
            <a:solidFill>
              <a:srgbClr val="1F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2254302" y="4129188"/>
            <a:ext cx="215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">
                <a:solidFill>
                  <a:srgbClr val="E2F0F1"/>
                </a:solidFill>
              </a:rPr>
              <a:t>Review</a:t>
            </a:r>
            <a:endParaRPr b="0" i="0" sz="1400" u="none" cap="none" strike="noStrike">
              <a:solidFill>
                <a:srgbClr val="E2F0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4350102" y="4129188"/>
            <a:ext cx="215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">
                <a:solidFill>
                  <a:srgbClr val="E2F0F1"/>
                </a:solidFill>
              </a:rPr>
              <a:t>Planning</a:t>
            </a:r>
            <a:endParaRPr b="0" i="0" sz="1400" u="none" cap="none" strike="noStrike">
              <a:solidFill>
                <a:srgbClr val="E2F0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6445902" y="4129175"/>
            <a:ext cx="215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400"/>
              <a:buFont typeface="Arial"/>
              <a:buNone/>
            </a:pPr>
            <a:r>
              <a:rPr b="1" lang="en">
                <a:solidFill>
                  <a:srgbClr val="E2F0F1"/>
                </a:solidFill>
              </a:rPr>
              <a:t>Retrospektive</a:t>
            </a:r>
            <a:endParaRPr b="0" i="0" sz="1400" u="none" cap="none" strike="noStrike">
              <a:solidFill>
                <a:srgbClr val="E2F0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/>
        </p:nvSpPr>
        <p:spPr>
          <a:xfrm>
            <a:off x="377190" y="288036"/>
            <a:ext cx="838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1F2A30"/>
                </a:solidFill>
              </a:rPr>
              <a:t>Stakeholder Management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Lukas Gröning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0" name="Google Shape;170;p22"/>
          <p:cNvGrpSpPr/>
          <p:nvPr/>
        </p:nvGrpSpPr>
        <p:grpSpPr>
          <a:xfrm>
            <a:off x="1756573" y="1240840"/>
            <a:ext cx="5773226" cy="2511857"/>
            <a:chOff x="1054129" y="2001197"/>
            <a:chExt cx="1752755" cy="1751399"/>
          </a:xfrm>
        </p:grpSpPr>
        <p:sp>
          <p:nvSpPr>
            <p:cNvPr id="171" name="Google Shape;171;p22"/>
            <p:cNvSpPr/>
            <p:nvPr/>
          </p:nvSpPr>
          <p:spPr>
            <a:xfrm>
              <a:off x="1054129" y="2001197"/>
              <a:ext cx="869702" cy="869702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103950" lIns="77975" spcFirstLastPara="1" rIns="77975" wrap="square" tIns="10395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2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72" name="Google Shape;172;p22"/>
            <p:cNvSpPr/>
            <p:nvPr/>
          </p:nvSpPr>
          <p:spPr>
            <a:xfrm>
              <a:off x="1937181" y="2001197"/>
              <a:ext cx="869702" cy="869702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103950" lIns="77975" spcFirstLastPara="1" rIns="77975" wrap="square" tIns="10395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2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73" name="Google Shape;173;p22"/>
            <p:cNvSpPr/>
            <p:nvPr/>
          </p:nvSpPr>
          <p:spPr>
            <a:xfrm>
              <a:off x="1054129" y="2882894"/>
              <a:ext cx="869702" cy="869702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103950" lIns="77975" spcFirstLastPara="1" rIns="77975" wrap="square" tIns="10395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2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174" name="Google Shape;174;p22"/>
            <p:cNvSpPr/>
            <p:nvPr/>
          </p:nvSpPr>
          <p:spPr>
            <a:xfrm>
              <a:off x="1937181" y="2882894"/>
              <a:ext cx="869700" cy="8697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103950" lIns="77975" spcFirstLastPara="1" rIns="77975" wrap="square" tIns="10395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32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cxnSp>
        <p:nvCxnSpPr>
          <p:cNvPr id="175" name="Google Shape;175;p22"/>
          <p:cNvCxnSpPr/>
          <p:nvPr/>
        </p:nvCxnSpPr>
        <p:spPr>
          <a:xfrm>
            <a:off x="1819508" y="3879906"/>
            <a:ext cx="5710200" cy="0"/>
          </a:xfrm>
          <a:prstGeom prst="straightConnector1">
            <a:avLst/>
          </a:prstGeom>
          <a:noFill/>
          <a:ln cap="rnd" cmpd="sng" w="9575">
            <a:solidFill>
              <a:srgbClr val="878787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6" name="Google Shape;176;p22"/>
          <p:cNvCxnSpPr/>
          <p:nvPr/>
        </p:nvCxnSpPr>
        <p:spPr>
          <a:xfrm rot="10800000">
            <a:off x="1568578" y="1119349"/>
            <a:ext cx="0" cy="2641800"/>
          </a:xfrm>
          <a:prstGeom prst="straightConnector1">
            <a:avLst/>
          </a:prstGeom>
          <a:noFill/>
          <a:ln cap="rnd" cmpd="sng" w="9575">
            <a:solidFill>
              <a:srgbClr val="878787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77" name="Google Shape;177;p22"/>
          <p:cNvSpPr txBox="1"/>
          <p:nvPr/>
        </p:nvSpPr>
        <p:spPr>
          <a:xfrm rot="-5400000">
            <a:off x="1049009" y="3233656"/>
            <a:ext cx="874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07"/>
              <a:buFont typeface="Noto Sans"/>
              <a:buNone/>
            </a:pPr>
            <a:r>
              <a:rPr lang="en" sz="1207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Gering</a:t>
            </a:r>
            <a:endParaRPr i="0" sz="1207" u="none" cap="none" strike="noStrike">
              <a:solidFill>
                <a:srgbClr val="26262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 rot="-5400000">
            <a:off x="1049009" y="2351960"/>
            <a:ext cx="874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07"/>
              <a:buFont typeface="Noto Sans"/>
              <a:buNone/>
            </a:pPr>
            <a:r>
              <a:rPr i="0" lang="en" sz="1207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M</a:t>
            </a:r>
            <a:r>
              <a:rPr lang="en" sz="1207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ittel</a:t>
            </a:r>
            <a:endParaRPr i="0" sz="1207" u="none" cap="none" strike="noStrike">
              <a:solidFill>
                <a:srgbClr val="26262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 rot="-5400000">
            <a:off x="1049009" y="1470263"/>
            <a:ext cx="874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07"/>
              <a:buFont typeface="Noto Sans"/>
              <a:buNone/>
            </a:pPr>
            <a:r>
              <a:rPr lang="en" sz="1207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Hoch</a:t>
            </a:r>
            <a:endParaRPr i="0" sz="1207" u="none" cap="none" strike="noStrike">
              <a:solidFill>
                <a:srgbClr val="26262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1698013" y="4221552"/>
            <a:ext cx="2192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208"/>
              <a:buFont typeface="Noto Sans"/>
              <a:buNone/>
            </a:pPr>
            <a:r>
              <a:t/>
            </a:r>
            <a:endParaRPr b="1" i="0" sz="1208" u="none" cap="none" strike="noStrike">
              <a:solidFill>
                <a:srgbClr val="26262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1819511" y="3946077"/>
            <a:ext cx="18906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07"/>
              <a:buFont typeface="Noto Sans"/>
              <a:buNone/>
            </a:pPr>
            <a:r>
              <a:rPr lang="en" sz="1207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Gering</a:t>
            </a:r>
            <a:endParaRPr i="0" sz="1207" u="none" cap="none" strike="noStrike">
              <a:solidFill>
                <a:srgbClr val="26262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3725316" y="3946077"/>
            <a:ext cx="18906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07"/>
              <a:buFont typeface="Noto Sans"/>
              <a:buNone/>
            </a:pPr>
            <a:r>
              <a:rPr lang="en" sz="1207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Mittel</a:t>
            </a:r>
            <a:endParaRPr sz="1207">
              <a:solidFill>
                <a:srgbClr val="26262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5631123" y="3946077"/>
            <a:ext cx="18906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07"/>
              <a:buFont typeface="Noto Sans"/>
              <a:buNone/>
            </a:pPr>
            <a:r>
              <a:rPr lang="en" sz="1207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Hoch</a:t>
            </a:r>
            <a:endParaRPr i="0" sz="1207" u="none" cap="none" strike="noStrike">
              <a:solidFill>
                <a:srgbClr val="262626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4" name="Google Shape;184;p22"/>
          <p:cNvSpPr/>
          <p:nvPr/>
        </p:nvSpPr>
        <p:spPr>
          <a:xfrm rot="-5400000">
            <a:off x="-111991" y="2376641"/>
            <a:ext cx="26184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54000" spcFirstLastPara="1" rIns="54000" wrap="square" tIns="72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50"/>
              <a:buFont typeface="Noto Sans"/>
              <a:buNone/>
            </a:pPr>
            <a:r>
              <a:rPr b="1" lang="en" sz="1600">
                <a:solidFill>
                  <a:srgbClr val="237864"/>
                </a:solidFill>
                <a:latin typeface="Noto Sans"/>
                <a:ea typeface="Noto Sans"/>
                <a:cs typeface="Noto Sans"/>
                <a:sym typeface="Noto Sans"/>
              </a:rPr>
              <a:t>Einfluss</a:t>
            </a:r>
            <a:endParaRPr b="1" i="0" sz="1600" u="none" cap="none" strike="noStrike">
              <a:solidFill>
                <a:srgbClr val="23786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593434" y="4163375"/>
            <a:ext cx="59364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54000" spcFirstLastPara="1" rIns="54000" wrap="square" tIns="72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50"/>
              <a:buFont typeface="Noto Sans"/>
              <a:buNone/>
            </a:pPr>
            <a:r>
              <a:rPr b="1" lang="en" sz="1600">
                <a:solidFill>
                  <a:srgbClr val="237864"/>
                </a:solidFill>
                <a:latin typeface="Noto Sans"/>
                <a:ea typeface="Noto Sans"/>
                <a:cs typeface="Noto Sans"/>
                <a:sym typeface="Noto Sans"/>
              </a:rPr>
              <a:t>Interesse</a:t>
            </a:r>
            <a:endParaRPr b="1" i="0" sz="1600" u="none" cap="none" strike="noStrike">
              <a:solidFill>
                <a:srgbClr val="23786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1819809" y="1273150"/>
            <a:ext cx="204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6C7A"/>
              </a:buClr>
              <a:buSzPts val="800"/>
              <a:buFont typeface="Arial"/>
              <a:buNone/>
            </a:pPr>
            <a:r>
              <a:rPr b="1" lang="en" sz="1600">
                <a:solidFill>
                  <a:srgbClr val="237864"/>
                </a:solidFill>
              </a:rPr>
              <a:t>Zufrieden halten</a:t>
            </a:r>
            <a:endParaRPr b="1" i="0" sz="1600" u="none" cap="none" strike="noStrike">
              <a:solidFill>
                <a:srgbClr val="237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4723959" y="1273150"/>
            <a:ext cx="204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6C7A"/>
              </a:buClr>
              <a:buSzPts val="800"/>
              <a:buFont typeface="Arial"/>
              <a:buNone/>
            </a:pPr>
            <a:r>
              <a:rPr b="1" lang="en" sz="1600">
                <a:solidFill>
                  <a:srgbClr val="237864"/>
                </a:solidFill>
              </a:rPr>
              <a:t>Eng einbinden</a:t>
            </a:r>
            <a:endParaRPr b="0" i="0" sz="1600" u="none" cap="none" strike="noStrike">
              <a:solidFill>
                <a:srgbClr val="237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4723959" y="2576525"/>
            <a:ext cx="204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6C7A"/>
              </a:buClr>
              <a:buSzPts val="800"/>
              <a:buFont typeface="Arial"/>
              <a:buNone/>
            </a:pPr>
            <a:r>
              <a:rPr b="1" lang="en" sz="1600">
                <a:solidFill>
                  <a:srgbClr val="237864"/>
                </a:solidFill>
              </a:rPr>
              <a:t>Informiert halten</a:t>
            </a:r>
            <a:endParaRPr b="0" i="0" sz="1600" u="none" cap="none" strike="noStrike">
              <a:solidFill>
                <a:srgbClr val="237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2016402" y="1600900"/>
            <a:ext cx="247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Infrastruktur Admins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Fakultätsleitung</a:t>
            </a:r>
            <a:endParaRPr sz="1600"/>
          </a:p>
        </p:txBody>
      </p:sp>
      <p:sp>
        <p:nvSpPr>
          <p:cNvPr id="190" name="Google Shape;190;p22"/>
          <p:cNvSpPr txBox="1"/>
          <p:nvPr/>
        </p:nvSpPr>
        <p:spPr>
          <a:xfrm>
            <a:off x="5191051" y="1795300"/>
            <a:ext cx="18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Betreunder Dozent</a:t>
            </a:r>
            <a:endParaRPr sz="1600"/>
          </a:p>
        </p:txBody>
      </p:sp>
      <p:sp>
        <p:nvSpPr>
          <p:cNvPr id="191" name="Google Shape;191;p22"/>
          <p:cNvSpPr txBox="1"/>
          <p:nvPr/>
        </p:nvSpPr>
        <p:spPr>
          <a:xfrm>
            <a:off x="5332996" y="3015800"/>
            <a:ext cx="165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Endbenutzer</a:t>
            </a:r>
            <a:endParaRPr sz="1600"/>
          </a:p>
        </p:txBody>
      </p:sp>
      <p:sp>
        <p:nvSpPr>
          <p:cNvPr id="192" name="Google Shape;192;p22"/>
          <p:cNvSpPr txBox="1"/>
          <p:nvPr/>
        </p:nvSpPr>
        <p:spPr>
          <a:xfrm>
            <a:off x="1819809" y="2576525"/>
            <a:ext cx="20490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6C7A"/>
              </a:buClr>
              <a:buSzPts val="800"/>
              <a:buFont typeface="Arial"/>
              <a:buNone/>
            </a:pPr>
            <a:r>
              <a:rPr b="1" lang="en" sz="1600">
                <a:solidFill>
                  <a:srgbClr val="237864"/>
                </a:solidFill>
              </a:rPr>
              <a:t>Beobachten</a:t>
            </a:r>
            <a:endParaRPr b="1" i="0" sz="1600" u="none" cap="none" strike="noStrike">
              <a:solidFill>
                <a:srgbClr val="237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2347546" y="2924188"/>
            <a:ext cx="1651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Nachfolgende Teams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3"/>
          <p:cNvGrpSpPr/>
          <p:nvPr/>
        </p:nvGrpSpPr>
        <p:grpSpPr>
          <a:xfrm>
            <a:off x="377200" y="1639854"/>
            <a:ext cx="2939875" cy="3275208"/>
            <a:chOff x="750664" y="1812540"/>
            <a:chExt cx="2920599" cy="3253733"/>
          </a:xfrm>
        </p:grpSpPr>
        <p:sp>
          <p:nvSpPr>
            <p:cNvPr id="199" name="Google Shape;199;p23"/>
            <p:cNvSpPr/>
            <p:nvPr/>
          </p:nvSpPr>
          <p:spPr>
            <a:xfrm>
              <a:off x="2801389" y="2688576"/>
              <a:ext cx="868800" cy="8688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0" name="Google Shape;200;p23"/>
            <p:cNvSpPr/>
            <p:nvPr/>
          </p:nvSpPr>
          <p:spPr>
            <a:xfrm>
              <a:off x="1046863" y="1812661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1" name="Google Shape;201;p23"/>
            <p:cNvSpPr/>
            <p:nvPr/>
          </p:nvSpPr>
          <p:spPr>
            <a:xfrm>
              <a:off x="1925381" y="1812661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2" name="Google Shape;202;p23"/>
            <p:cNvSpPr/>
            <p:nvPr/>
          </p:nvSpPr>
          <p:spPr>
            <a:xfrm>
              <a:off x="2801205" y="1812661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3" name="Google Shape;203;p23"/>
            <p:cNvSpPr/>
            <p:nvPr/>
          </p:nvSpPr>
          <p:spPr>
            <a:xfrm>
              <a:off x="1046863" y="2688576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1924126" y="2688576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2801205" y="2688577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1046863" y="3564492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1924126" y="3564492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cxnSp>
          <p:nvCxnSpPr>
            <p:cNvPr id="208" name="Google Shape;208;p23"/>
            <p:cNvCxnSpPr/>
            <p:nvPr/>
          </p:nvCxnSpPr>
          <p:spPr>
            <a:xfrm>
              <a:off x="1046863" y="4554970"/>
              <a:ext cx="2624400" cy="0"/>
            </a:xfrm>
            <a:prstGeom prst="straightConnector1">
              <a:avLst/>
            </a:prstGeom>
            <a:noFill/>
            <a:ln cap="rnd" cmpd="sng" w="9575">
              <a:solidFill>
                <a:srgbClr val="878787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cxnSp>
          <p:nvCxnSpPr>
            <p:cNvPr id="209" name="Google Shape;209;p23"/>
            <p:cNvCxnSpPr/>
            <p:nvPr/>
          </p:nvCxnSpPr>
          <p:spPr>
            <a:xfrm rot="10800000">
              <a:off x="918277" y="1812589"/>
              <a:ext cx="0" cy="2624400"/>
            </a:xfrm>
            <a:prstGeom prst="straightConnector1">
              <a:avLst/>
            </a:prstGeom>
            <a:noFill/>
            <a:ln cap="rnd" cmpd="sng" w="9575">
              <a:solidFill>
                <a:srgbClr val="878787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210" name="Google Shape;210;p23"/>
            <p:cNvSpPr txBox="1"/>
            <p:nvPr/>
          </p:nvSpPr>
          <p:spPr>
            <a:xfrm rot="-5400000">
              <a:off x="402064" y="3912971"/>
              <a:ext cx="868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A195"/>
                </a:buClr>
                <a:buSzPts val="1007"/>
                <a:buFont typeface="Noto Sans"/>
                <a:buNone/>
              </a:pPr>
              <a:r>
                <a:rPr lang="en" sz="1207">
                  <a:solidFill>
                    <a:srgbClr val="262626"/>
                  </a:solidFill>
                  <a:latin typeface="Noto Sans"/>
                  <a:ea typeface="Noto Sans"/>
                  <a:cs typeface="Noto Sans"/>
                  <a:sym typeface="Noto Sans"/>
                </a:rPr>
                <a:t>Gering</a:t>
              </a:r>
              <a:endParaRPr i="0" sz="1207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11" name="Google Shape;211;p23"/>
            <p:cNvSpPr txBox="1"/>
            <p:nvPr/>
          </p:nvSpPr>
          <p:spPr>
            <a:xfrm rot="-5400000">
              <a:off x="402064" y="3037056"/>
              <a:ext cx="868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A195"/>
                </a:buClr>
                <a:buSzPts val="1007"/>
                <a:buFont typeface="Noto Sans"/>
                <a:buNone/>
              </a:pPr>
              <a:r>
                <a:rPr i="0" lang="en" sz="1207" u="none" cap="none" strike="noStrike">
                  <a:solidFill>
                    <a:srgbClr val="262626"/>
                  </a:solidFill>
                  <a:latin typeface="Noto Sans"/>
                  <a:ea typeface="Noto Sans"/>
                  <a:cs typeface="Noto Sans"/>
                  <a:sym typeface="Noto Sans"/>
                </a:rPr>
                <a:t>M</a:t>
              </a:r>
              <a:r>
                <a:rPr lang="en" sz="1207">
                  <a:solidFill>
                    <a:srgbClr val="262626"/>
                  </a:solidFill>
                  <a:latin typeface="Noto Sans"/>
                  <a:ea typeface="Noto Sans"/>
                  <a:cs typeface="Noto Sans"/>
                  <a:sym typeface="Noto Sans"/>
                </a:rPr>
                <a:t>ittel</a:t>
              </a:r>
              <a:endParaRPr i="0" sz="1207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12" name="Google Shape;212;p23"/>
            <p:cNvSpPr txBox="1"/>
            <p:nvPr/>
          </p:nvSpPr>
          <p:spPr>
            <a:xfrm rot="-5400000">
              <a:off x="402064" y="2161140"/>
              <a:ext cx="868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A195"/>
                </a:buClr>
                <a:buSzPts val="1007"/>
                <a:buFont typeface="Noto Sans"/>
                <a:buNone/>
              </a:pPr>
              <a:r>
                <a:rPr lang="en" sz="1207">
                  <a:solidFill>
                    <a:srgbClr val="262626"/>
                  </a:solidFill>
                  <a:latin typeface="Noto Sans"/>
                  <a:ea typeface="Noto Sans"/>
                  <a:cs typeface="Noto Sans"/>
                  <a:sym typeface="Noto Sans"/>
                </a:rPr>
                <a:t>Hoch</a:t>
              </a:r>
              <a:endParaRPr i="0" sz="1207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13" name="Google Shape;213;p23"/>
            <p:cNvSpPr txBox="1"/>
            <p:nvPr/>
          </p:nvSpPr>
          <p:spPr>
            <a:xfrm>
              <a:off x="1046863" y="4894373"/>
              <a:ext cx="2177700" cy="1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A195"/>
                </a:buClr>
                <a:buSzPts val="1208"/>
                <a:buFont typeface="Noto Sans"/>
                <a:buNone/>
              </a:pPr>
              <a:r>
                <a:t/>
              </a:r>
              <a:endParaRPr b="1" i="0" sz="1208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14" name="Google Shape;214;p23"/>
            <p:cNvSpPr txBox="1"/>
            <p:nvPr/>
          </p:nvSpPr>
          <p:spPr>
            <a:xfrm>
              <a:off x="1046864" y="4620704"/>
              <a:ext cx="868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A195"/>
                </a:buClr>
                <a:buSzPts val="1007"/>
                <a:buFont typeface="Noto Sans"/>
                <a:buNone/>
              </a:pPr>
              <a:r>
                <a:rPr lang="en" sz="1207">
                  <a:solidFill>
                    <a:srgbClr val="262626"/>
                  </a:solidFill>
                  <a:latin typeface="Noto Sans"/>
                  <a:ea typeface="Noto Sans"/>
                  <a:cs typeface="Noto Sans"/>
                  <a:sym typeface="Noto Sans"/>
                </a:rPr>
                <a:t>Gering</a:t>
              </a:r>
              <a:endParaRPr i="0" sz="1207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15" name="Google Shape;215;p23"/>
            <p:cNvSpPr txBox="1"/>
            <p:nvPr/>
          </p:nvSpPr>
          <p:spPr>
            <a:xfrm>
              <a:off x="1922779" y="4620704"/>
              <a:ext cx="868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A195"/>
                </a:buClr>
                <a:buSzPts val="1007"/>
                <a:buFont typeface="Noto Sans"/>
                <a:buNone/>
              </a:pPr>
              <a:r>
                <a:rPr lang="en" sz="1207">
                  <a:solidFill>
                    <a:srgbClr val="262626"/>
                  </a:solidFill>
                  <a:latin typeface="Noto Sans"/>
                  <a:ea typeface="Noto Sans"/>
                  <a:cs typeface="Noto Sans"/>
                  <a:sym typeface="Noto Sans"/>
                </a:rPr>
                <a:t>Mittel</a:t>
              </a:r>
              <a:endParaRPr sz="1207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16" name="Google Shape;216;p23"/>
            <p:cNvSpPr txBox="1"/>
            <p:nvPr/>
          </p:nvSpPr>
          <p:spPr>
            <a:xfrm>
              <a:off x="2798695" y="4620704"/>
              <a:ext cx="8688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3A195"/>
                </a:buClr>
                <a:buSzPts val="1007"/>
                <a:buFont typeface="Noto Sans"/>
                <a:buNone/>
              </a:pPr>
              <a:r>
                <a:rPr lang="en" sz="1207">
                  <a:solidFill>
                    <a:srgbClr val="262626"/>
                  </a:solidFill>
                  <a:latin typeface="Noto Sans"/>
                  <a:ea typeface="Noto Sans"/>
                  <a:cs typeface="Noto Sans"/>
                  <a:sym typeface="Noto Sans"/>
                </a:rPr>
                <a:t>Hoch</a:t>
              </a:r>
              <a:endParaRPr i="0" sz="1207" u="none" cap="none" strike="noStrik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2801389" y="3564492"/>
              <a:ext cx="864000" cy="864000"/>
            </a:xfrm>
            <a:prstGeom prst="rect">
              <a:avLst/>
            </a:prstGeom>
            <a:solidFill>
              <a:srgbClr val="EBEBEB"/>
            </a:solidFill>
            <a:ln>
              <a:noFill/>
            </a:ln>
          </p:spPr>
          <p:txBody>
            <a:bodyPr anchorCtr="0" anchor="ctr" bIns="72475" lIns="54375" spcFirstLastPara="1" rIns="54375" wrap="square" tIns="7247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8">
                <a:solidFill>
                  <a:srgbClr val="2C2C2C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218" name="Google Shape;218;p23"/>
          <p:cNvSpPr txBox="1"/>
          <p:nvPr/>
        </p:nvSpPr>
        <p:spPr>
          <a:xfrm>
            <a:off x="377200" y="791700"/>
            <a:ext cx="90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en" sz="2000" cap="none">
                <a:solidFill>
                  <a:srgbClr val="262626"/>
                </a:solidFill>
              </a:rPr>
              <a:t>Project</a:t>
            </a:r>
            <a:r>
              <a:rPr b="1" lang="en" sz="1500">
                <a:solidFill>
                  <a:srgbClr val="262626"/>
                </a:solidFill>
              </a:rPr>
              <a:t>: </a:t>
            </a: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</a:rPr>
              <a:t>DHBW App Store </a:t>
            </a:r>
            <a:endParaRPr b="1" sz="2000" cap="none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2870875" y="2381508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698663" y="4674739"/>
            <a:ext cx="26184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54000" spcFirstLastPara="1" rIns="54000" wrap="square" tIns="72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50"/>
              <a:buFont typeface="Noto Sans"/>
              <a:buNone/>
            </a:pPr>
            <a:r>
              <a:rPr b="1" lang="en">
                <a:solidFill>
                  <a:srgbClr val="237864"/>
                </a:solidFill>
                <a:latin typeface="Noto Sans"/>
                <a:ea typeface="Noto Sans"/>
                <a:cs typeface="Noto Sans"/>
                <a:sym typeface="Noto Sans"/>
              </a:rPr>
              <a:t>Eintrittswahrscheinlichkeit</a:t>
            </a:r>
            <a:endParaRPr b="1" i="0" u="none" cap="none" strike="noStrike">
              <a:solidFill>
                <a:srgbClr val="23786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1" name="Google Shape;221;p23"/>
          <p:cNvSpPr/>
          <p:nvPr/>
        </p:nvSpPr>
        <p:spPr>
          <a:xfrm rot="-5400000">
            <a:off x="-1089175" y="2780066"/>
            <a:ext cx="26184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000" lIns="54000" spcFirstLastPara="1" rIns="54000" wrap="square" tIns="7200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73A195"/>
              </a:buClr>
              <a:buSzPts val="1050"/>
              <a:buFont typeface="Noto Sans"/>
              <a:buNone/>
            </a:pPr>
            <a:r>
              <a:rPr b="1" lang="en">
                <a:solidFill>
                  <a:srgbClr val="237864"/>
                </a:solidFill>
                <a:latin typeface="Noto Sans"/>
                <a:ea typeface="Noto Sans"/>
                <a:cs typeface="Noto Sans"/>
                <a:sym typeface="Noto Sans"/>
              </a:rPr>
              <a:t>Auswirkung</a:t>
            </a:r>
            <a:endParaRPr b="1" i="0" u="none" cap="none" strike="noStrike">
              <a:solidFill>
                <a:srgbClr val="23786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377200" y="288025"/>
            <a:ext cx="492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20">
                <a:solidFill>
                  <a:schemeClr val="dk1"/>
                </a:solidFill>
              </a:rPr>
              <a:t>Risikomanagement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3317075" y="1343950"/>
            <a:ext cx="720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en" cap="non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Risk-ID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859500" y="1334575"/>
            <a:ext cx="15951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en" cap="non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M</a:t>
            </a:r>
            <a:r>
              <a:rPr b="1" lang="en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aßnahmen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4248110" y="1355091"/>
            <a:ext cx="1476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en" cap="none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Tit</a:t>
            </a:r>
            <a:r>
              <a:rPr b="1" lang="en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el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7664551" y="1334603"/>
            <a:ext cx="1800000" cy="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1" lang="en">
                <a:solidFill>
                  <a:srgbClr val="262626"/>
                </a:solidFill>
                <a:latin typeface="Noto Sans"/>
                <a:ea typeface="Noto Sans"/>
                <a:cs typeface="Noto Sans"/>
                <a:sym typeface="Noto Sans"/>
              </a:rPr>
              <a:t>Verantwortliche</a:t>
            </a:r>
            <a:endParaRPr/>
          </a:p>
        </p:txBody>
      </p:sp>
      <p:cxnSp>
        <p:nvCxnSpPr>
          <p:cNvPr id="227" name="Google Shape;227;p23"/>
          <p:cNvCxnSpPr/>
          <p:nvPr/>
        </p:nvCxnSpPr>
        <p:spPr>
          <a:xfrm>
            <a:off x="4248110" y="1585310"/>
            <a:ext cx="1367400" cy="420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73A1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23"/>
          <p:cNvCxnSpPr/>
          <p:nvPr/>
        </p:nvCxnSpPr>
        <p:spPr>
          <a:xfrm>
            <a:off x="3391407" y="1587397"/>
            <a:ext cx="7200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73A1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23"/>
          <p:cNvCxnSpPr/>
          <p:nvPr/>
        </p:nvCxnSpPr>
        <p:spPr>
          <a:xfrm>
            <a:off x="5859499" y="1585310"/>
            <a:ext cx="1447200" cy="420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73A19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23"/>
          <p:cNvCxnSpPr/>
          <p:nvPr/>
        </p:nvCxnSpPr>
        <p:spPr>
          <a:xfrm flipH="1" rot="10800000">
            <a:off x="7664551" y="1583822"/>
            <a:ext cx="1413600" cy="720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73A19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23"/>
          <p:cNvSpPr/>
          <p:nvPr/>
        </p:nvSpPr>
        <p:spPr>
          <a:xfrm>
            <a:off x="3430325" y="1810400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4163950" y="1639850"/>
            <a:ext cx="1535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Ungleiches Commitment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5810600" y="1639825"/>
            <a:ext cx="16929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Kommunikation,Sprint Retro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7614450" y="1639850"/>
            <a:ext cx="136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Projektleiter, Team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3430325" y="2381025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4163950" y="2210950"/>
            <a:ext cx="15357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Ungleiche Arbeitslast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5810600" y="2319250"/>
            <a:ext cx="16929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Flexible Teams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7614450" y="2347450"/>
            <a:ext cx="13674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Team</a:t>
            </a:r>
            <a:r>
              <a:rPr lang="en" sz="1600">
                <a:solidFill>
                  <a:schemeClr val="dk2"/>
                </a:solidFill>
              </a:rPr>
              <a:t>leiter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696500" y="3077800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3430325" y="3005200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4164150" y="2834650"/>
            <a:ext cx="15357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UI/UX</a:t>
            </a:r>
            <a:r>
              <a:rPr lang="en" sz="1600" u="sng">
                <a:solidFill>
                  <a:schemeClr val="dk2"/>
                </a:solidFill>
              </a:rPr>
              <a:t> </a:t>
            </a:r>
            <a:r>
              <a:rPr lang="en" sz="1600">
                <a:solidFill>
                  <a:schemeClr val="dk2"/>
                </a:solidFill>
              </a:rPr>
              <a:t>Barrieren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/>
              <a:t>‹#›</a:t>
            </a:fld>
            <a:endParaRPr sz="1300"/>
          </a:p>
        </p:txBody>
      </p:sp>
      <p:sp>
        <p:nvSpPr>
          <p:cNvPr id="243" name="Google Shape;243;p23"/>
          <p:cNvSpPr/>
          <p:nvPr/>
        </p:nvSpPr>
        <p:spPr>
          <a:xfrm>
            <a:off x="3430325" y="3564650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4111400" y="3414875"/>
            <a:ext cx="2016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Verlust Mitglieder durch Krankheit/Exma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430325" y="4386750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/>
          </a:p>
        </p:txBody>
      </p:sp>
      <p:cxnSp>
        <p:nvCxnSpPr>
          <p:cNvPr id="246" name="Google Shape;246;p23"/>
          <p:cNvCxnSpPr/>
          <p:nvPr/>
        </p:nvCxnSpPr>
        <p:spPr>
          <a:xfrm flipH="1" rot="10800000">
            <a:off x="3430320" y="2267546"/>
            <a:ext cx="5536800" cy="15600"/>
          </a:xfrm>
          <a:prstGeom prst="straightConnector1">
            <a:avLst/>
          </a:prstGeom>
          <a:noFill/>
          <a:ln cap="flat" cmpd="sng" w="9525">
            <a:solidFill>
              <a:srgbClr val="EBEBE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7" name="Google Shape;247;p23"/>
          <p:cNvCxnSpPr/>
          <p:nvPr/>
        </p:nvCxnSpPr>
        <p:spPr>
          <a:xfrm flipH="1" rot="10800000">
            <a:off x="3430320" y="2888233"/>
            <a:ext cx="5527500" cy="12000"/>
          </a:xfrm>
          <a:prstGeom prst="straightConnector1">
            <a:avLst/>
          </a:prstGeom>
          <a:noFill/>
          <a:ln cap="flat" cmpd="sng" w="9525">
            <a:solidFill>
              <a:srgbClr val="EBEBE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8" name="Google Shape;248;p23"/>
          <p:cNvCxnSpPr/>
          <p:nvPr/>
        </p:nvCxnSpPr>
        <p:spPr>
          <a:xfrm flipH="1" rot="10800000">
            <a:off x="3434970" y="3454483"/>
            <a:ext cx="5527500" cy="12000"/>
          </a:xfrm>
          <a:prstGeom prst="straightConnector1">
            <a:avLst/>
          </a:prstGeom>
          <a:noFill/>
          <a:ln cap="flat" cmpd="sng" w="9525">
            <a:solidFill>
              <a:srgbClr val="EBEBEB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49" name="Google Shape;249;p23"/>
          <p:cNvCxnSpPr/>
          <p:nvPr/>
        </p:nvCxnSpPr>
        <p:spPr>
          <a:xfrm flipH="1" rot="10800000">
            <a:off x="3434970" y="4251946"/>
            <a:ext cx="5527500" cy="12000"/>
          </a:xfrm>
          <a:prstGeom prst="straightConnector1">
            <a:avLst/>
          </a:prstGeom>
          <a:noFill/>
          <a:ln cap="flat" cmpd="sng" w="9525">
            <a:solidFill>
              <a:srgbClr val="EBEB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0" name="Google Shape;250;p23"/>
          <p:cNvSpPr/>
          <p:nvPr/>
        </p:nvSpPr>
        <p:spPr>
          <a:xfrm>
            <a:off x="1703137" y="2750225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1415125" y="2210950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5810600" y="2855600"/>
            <a:ext cx="18939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1-Click-Application-Template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7687650" y="2853638"/>
            <a:ext cx="13674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Team FE, BE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5810600" y="3449227"/>
            <a:ext cx="189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Code-Review, Git-Dokumentation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7687650" y="3540425"/>
            <a:ext cx="136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Projektleiter, Team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4111400" y="4277225"/>
            <a:ext cx="2016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Quota Limit 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7687650" y="4251950"/>
            <a:ext cx="136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Projektleiter, Lead BE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5859500" y="4251952"/>
            <a:ext cx="18939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Infrastruktur Abstimmung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Quota-Validierung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1863875" y="1755813"/>
            <a:ext cx="288000" cy="288000"/>
          </a:xfrm>
          <a:prstGeom prst="rect">
            <a:avLst/>
          </a:prstGeom>
          <a:solidFill>
            <a:srgbClr val="619685"/>
          </a:solidFill>
          <a:ln>
            <a:noFill/>
          </a:ln>
        </p:spPr>
        <p:txBody>
          <a:bodyPr anchorCtr="0" anchor="ctr" bIns="45700" lIns="36000" spcFirstLastPara="1" rIns="360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"/>
              <a:buNone/>
            </a:pPr>
            <a:r>
              <a:rPr b="1" lang="en" sz="12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133290" y="4822541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100">
                <a:solidFill>
                  <a:srgbClr val="5A6B73"/>
                </a:solidFill>
              </a:rPr>
              <a:t>Nhi Duong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/>
        </p:nvSpPr>
        <p:spPr>
          <a:xfrm>
            <a:off x="377190" y="288036"/>
            <a:ext cx="838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1F2A30"/>
                </a:solidFill>
              </a:rPr>
              <a:t>Qualitätsziele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Andre Maxinger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69" name="Google Shape;269;p24"/>
          <p:cNvGrpSpPr/>
          <p:nvPr/>
        </p:nvGrpSpPr>
        <p:grpSpPr>
          <a:xfrm>
            <a:off x="5006929" y="3080208"/>
            <a:ext cx="3757681" cy="863616"/>
            <a:chOff x="2316245" y="1006050"/>
            <a:chExt cx="3881100" cy="768000"/>
          </a:xfrm>
        </p:grpSpPr>
        <p:sp>
          <p:nvSpPr>
            <p:cNvPr id="270" name="Google Shape;270;p24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4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Weiterentwicklungseignung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" name="Google Shape;272;p24"/>
          <p:cNvGrpSpPr/>
          <p:nvPr/>
        </p:nvGrpSpPr>
        <p:grpSpPr>
          <a:xfrm>
            <a:off x="459341" y="3112445"/>
            <a:ext cx="3757681" cy="863616"/>
            <a:chOff x="2316245" y="1006050"/>
            <a:chExt cx="3881100" cy="768000"/>
          </a:xfrm>
        </p:grpSpPr>
        <p:sp>
          <p:nvSpPr>
            <p:cNvPr id="273" name="Google Shape;273;p24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4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Leistungseffizienz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5" name="Google Shape;275;p24"/>
          <p:cNvGrpSpPr/>
          <p:nvPr/>
        </p:nvGrpSpPr>
        <p:grpSpPr>
          <a:xfrm>
            <a:off x="5006929" y="1410570"/>
            <a:ext cx="3757681" cy="863616"/>
            <a:chOff x="2316245" y="1006050"/>
            <a:chExt cx="3881100" cy="768000"/>
          </a:xfrm>
        </p:grpSpPr>
        <p:sp>
          <p:nvSpPr>
            <p:cNvPr id="276" name="Google Shape;276;p24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4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Benutzerfreundlichkeit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8" name="Google Shape;278;p24"/>
          <p:cNvGrpSpPr/>
          <p:nvPr/>
        </p:nvGrpSpPr>
        <p:grpSpPr>
          <a:xfrm>
            <a:off x="459354" y="1410570"/>
            <a:ext cx="3757681" cy="863616"/>
            <a:chOff x="2316245" y="1006050"/>
            <a:chExt cx="3881100" cy="768000"/>
          </a:xfrm>
        </p:grpSpPr>
        <p:sp>
          <p:nvSpPr>
            <p:cNvPr id="279" name="Google Shape;279;p24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4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Funktionale Eignung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1" name="Google Shape;281;p24"/>
          <p:cNvSpPr txBox="1"/>
          <p:nvPr/>
        </p:nvSpPr>
        <p:spPr>
          <a:xfrm>
            <a:off x="1365625" y="378700"/>
            <a:ext cx="41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/>
        </p:nvSpPr>
        <p:spPr>
          <a:xfrm>
            <a:off x="377190" y="288036"/>
            <a:ext cx="838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1F2A30"/>
                </a:solidFill>
              </a:rPr>
              <a:t>Funktionale Eignung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Andre Maxinger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90" name="Google Shape;290;p25"/>
          <p:cNvGrpSpPr/>
          <p:nvPr/>
        </p:nvGrpSpPr>
        <p:grpSpPr>
          <a:xfrm>
            <a:off x="5006929" y="3080208"/>
            <a:ext cx="3757681" cy="863616"/>
            <a:chOff x="2316245" y="1006050"/>
            <a:chExt cx="3881100" cy="768000"/>
          </a:xfrm>
        </p:grpSpPr>
        <p:sp>
          <p:nvSpPr>
            <p:cNvPr id="291" name="Google Shape;291;p25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5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Testing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25"/>
          <p:cNvGrpSpPr/>
          <p:nvPr/>
        </p:nvGrpSpPr>
        <p:grpSpPr>
          <a:xfrm>
            <a:off x="459341" y="3112445"/>
            <a:ext cx="3757681" cy="863616"/>
            <a:chOff x="2316245" y="1006050"/>
            <a:chExt cx="3881100" cy="768000"/>
          </a:xfrm>
        </p:grpSpPr>
        <p:sp>
          <p:nvSpPr>
            <p:cNvPr id="294" name="Google Shape;294;p25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5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Qualitätssicherung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25"/>
          <p:cNvGrpSpPr/>
          <p:nvPr/>
        </p:nvGrpSpPr>
        <p:grpSpPr>
          <a:xfrm>
            <a:off x="5006929" y="1410570"/>
            <a:ext cx="3757681" cy="863616"/>
            <a:chOff x="2316245" y="1006050"/>
            <a:chExt cx="3881100" cy="768000"/>
          </a:xfrm>
        </p:grpSpPr>
        <p:sp>
          <p:nvSpPr>
            <p:cNvPr id="297" name="Google Shape;297;p25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5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Definition of Done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25"/>
          <p:cNvGrpSpPr/>
          <p:nvPr/>
        </p:nvGrpSpPr>
        <p:grpSpPr>
          <a:xfrm>
            <a:off x="459354" y="1410570"/>
            <a:ext cx="3757681" cy="863616"/>
            <a:chOff x="2316245" y="1006050"/>
            <a:chExt cx="3881100" cy="768000"/>
          </a:xfrm>
        </p:grpSpPr>
        <p:sp>
          <p:nvSpPr>
            <p:cNvPr id="300" name="Google Shape;300;p25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5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Scrum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5"/>
          <p:cNvSpPr txBox="1"/>
          <p:nvPr/>
        </p:nvSpPr>
        <p:spPr>
          <a:xfrm>
            <a:off x="1365625" y="378700"/>
            <a:ext cx="41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Andre Maxinger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0" name="Google Shape;310;p26"/>
          <p:cNvGrpSpPr/>
          <p:nvPr/>
        </p:nvGrpSpPr>
        <p:grpSpPr>
          <a:xfrm>
            <a:off x="2693154" y="2139945"/>
            <a:ext cx="3757681" cy="863616"/>
            <a:chOff x="2316245" y="1006050"/>
            <a:chExt cx="3881100" cy="768000"/>
          </a:xfrm>
        </p:grpSpPr>
        <p:sp>
          <p:nvSpPr>
            <p:cNvPr id="311" name="Google Shape;311;p26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Testing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3" name="Google Shape;313;p26"/>
          <p:cNvSpPr txBox="1"/>
          <p:nvPr/>
        </p:nvSpPr>
        <p:spPr>
          <a:xfrm>
            <a:off x="1365625" y="378700"/>
            <a:ext cx="41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26"/>
          <p:cNvGrpSpPr/>
          <p:nvPr/>
        </p:nvGrpSpPr>
        <p:grpSpPr>
          <a:xfrm>
            <a:off x="2693154" y="642545"/>
            <a:ext cx="3757681" cy="863616"/>
            <a:chOff x="2316245" y="1006050"/>
            <a:chExt cx="3881100" cy="768000"/>
          </a:xfrm>
        </p:grpSpPr>
        <p:sp>
          <p:nvSpPr>
            <p:cNvPr id="315" name="Google Shape;315;p26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6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Funktionale Tests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26"/>
          <p:cNvGrpSpPr/>
          <p:nvPr/>
        </p:nvGrpSpPr>
        <p:grpSpPr>
          <a:xfrm>
            <a:off x="442379" y="3637358"/>
            <a:ext cx="3757681" cy="863616"/>
            <a:chOff x="2316245" y="1006050"/>
            <a:chExt cx="3881100" cy="768000"/>
          </a:xfrm>
        </p:grpSpPr>
        <p:sp>
          <p:nvSpPr>
            <p:cNvPr id="318" name="Google Shape;318;p26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6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Usability</a:t>
              </a:r>
              <a:r>
                <a:rPr b="1" lang="en" sz="2003">
                  <a:solidFill>
                    <a:srgbClr val="1F2A30"/>
                  </a:solidFill>
                </a:rPr>
                <a:t> Tests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0" name="Google Shape;320;p26"/>
          <p:cNvGrpSpPr/>
          <p:nvPr/>
        </p:nvGrpSpPr>
        <p:grpSpPr>
          <a:xfrm>
            <a:off x="4929554" y="3637358"/>
            <a:ext cx="3757681" cy="863616"/>
            <a:chOff x="2316245" y="1006050"/>
            <a:chExt cx="3881100" cy="768000"/>
          </a:xfrm>
        </p:grpSpPr>
        <p:sp>
          <p:nvSpPr>
            <p:cNvPr id="321" name="Google Shape;321;p26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Last- und Leistungst</a:t>
              </a:r>
              <a:r>
                <a:rPr b="1" lang="en" sz="2003">
                  <a:solidFill>
                    <a:srgbClr val="1F2A30"/>
                  </a:solidFill>
                </a:rPr>
                <a:t>ests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3" name="Google Shape;323;p26"/>
          <p:cNvCxnSpPr>
            <a:stCxn id="311" idx="2"/>
            <a:endCxn id="318" idx="0"/>
          </p:cNvCxnSpPr>
          <p:nvPr/>
        </p:nvCxnSpPr>
        <p:spPr>
          <a:xfrm flipH="1">
            <a:off x="2321094" y="3003561"/>
            <a:ext cx="2250900" cy="6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26"/>
          <p:cNvCxnSpPr>
            <a:stCxn id="311" idx="2"/>
            <a:endCxn id="321" idx="0"/>
          </p:cNvCxnSpPr>
          <p:nvPr/>
        </p:nvCxnSpPr>
        <p:spPr>
          <a:xfrm>
            <a:off x="4571994" y="3003561"/>
            <a:ext cx="2236500" cy="6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26"/>
          <p:cNvCxnSpPr>
            <a:stCxn id="311" idx="0"/>
            <a:endCxn id="315" idx="2"/>
          </p:cNvCxnSpPr>
          <p:nvPr/>
        </p:nvCxnSpPr>
        <p:spPr>
          <a:xfrm rot="10800000">
            <a:off x="4571994" y="1506045"/>
            <a:ext cx="0" cy="63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377190" y="288036"/>
            <a:ext cx="838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1F2A30"/>
                </a:solidFill>
              </a:rPr>
              <a:t>Weiterentwicklungse</a:t>
            </a:r>
            <a:r>
              <a:rPr b="1" lang="en" sz="2600">
                <a:solidFill>
                  <a:srgbClr val="1F2A30"/>
                </a:solidFill>
              </a:rPr>
              <a:t>ignung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7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Andre Maxinger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34" name="Google Shape;334;p27"/>
          <p:cNvGrpSpPr/>
          <p:nvPr/>
        </p:nvGrpSpPr>
        <p:grpSpPr>
          <a:xfrm>
            <a:off x="5006929" y="3080208"/>
            <a:ext cx="3757681" cy="863616"/>
            <a:chOff x="2316245" y="1006050"/>
            <a:chExt cx="3881100" cy="768000"/>
          </a:xfrm>
        </p:grpSpPr>
        <p:sp>
          <p:nvSpPr>
            <p:cNvPr id="335" name="Google Shape;335;p27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CI/CD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27"/>
          <p:cNvGrpSpPr/>
          <p:nvPr/>
        </p:nvGrpSpPr>
        <p:grpSpPr>
          <a:xfrm>
            <a:off x="459341" y="3112445"/>
            <a:ext cx="3757681" cy="863616"/>
            <a:chOff x="2316245" y="1006050"/>
            <a:chExt cx="3881100" cy="768000"/>
          </a:xfrm>
        </p:grpSpPr>
        <p:sp>
          <p:nvSpPr>
            <p:cNvPr id="338" name="Google Shape;338;p27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Dokumentation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27"/>
          <p:cNvGrpSpPr/>
          <p:nvPr/>
        </p:nvGrpSpPr>
        <p:grpSpPr>
          <a:xfrm>
            <a:off x="5006929" y="1410570"/>
            <a:ext cx="3757681" cy="863616"/>
            <a:chOff x="2316245" y="1006050"/>
            <a:chExt cx="3881100" cy="768000"/>
          </a:xfrm>
        </p:grpSpPr>
        <p:sp>
          <p:nvSpPr>
            <p:cNvPr id="341" name="Google Shape;341;p27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7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Clean Code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7"/>
          <p:cNvGrpSpPr/>
          <p:nvPr/>
        </p:nvGrpSpPr>
        <p:grpSpPr>
          <a:xfrm>
            <a:off x="459354" y="1410570"/>
            <a:ext cx="3757681" cy="863616"/>
            <a:chOff x="2316245" y="1006050"/>
            <a:chExt cx="3881100" cy="768000"/>
          </a:xfrm>
        </p:grpSpPr>
        <p:sp>
          <p:nvSpPr>
            <p:cNvPr id="344" name="Google Shape;344;p27"/>
            <p:cNvSpPr/>
            <p:nvPr/>
          </p:nvSpPr>
          <p:spPr>
            <a:xfrm>
              <a:off x="2316245" y="1006050"/>
              <a:ext cx="3881100" cy="768000"/>
            </a:xfrm>
            <a:prstGeom prst="roundRect">
              <a:avLst>
                <a:gd fmla="val 13393" name="adj"/>
              </a:avLst>
            </a:prstGeom>
            <a:solidFill>
              <a:srgbClr val="F1F3F4"/>
            </a:solidFill>
            <a:ln cap="flat" cmpd="sng" w="15450">
              <a:solidFill>
                <a:srgbClr val="1F2A3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3400" lIns="83400" spcFirstLastPara="1" rIns="83400" wrap="square" tIns="834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7"/>
            <p:cNvSpPr txBox="1"/>
            <p:nvPr/>
          </p:nvSpPr>
          <p:spPr>
            <a:xfrm>
              <a:off x="2506581" y="1126496"/>
              <a:ext cx="3500400" cy="527100"/>
            </a:xfrm>
            <a:prstGeom prst="rect">
              <a:avLst/>
            </a:prstGeom>
            <a:solidFill>
              <a:srgbClr val="F1F3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F2A30"/>
                </a:buClr>
                <a:buSzPts val="1703"/>
                <a:buFont typeface="Arial"/>
                <a:buNone/>
              </a:pPr>
              <a:r>
                <a:rPr b="1" lang="en" sz="2003">
                  <a:solidFill>
                    <a:srgbClr val="1F2A30"/>
                  </a:solidFill>
                </a:rPr>
                <a:t>Code Review</a:t>
              </a:r>
              <a:endParaRPr b="0" i="0" sz="2003" u="none" cap="none" strike="noStrike">
                <a:solidFill>
                  <a:srgbClr val="1F2A3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6" name="Google Shape;346;p27"/>
          <p:cNvSpPr txBox="1"/>
          <p:nvPr/>
        </p:nvSpPr>
        <p:spPr>
          <a:xfrm>
            <a:off x="1365625" y="378700"/>
            <a:ext cx="417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 txBox="1"/>
          <p:nvPr/>
        </p:nvSpPr>
        <p:spPr>
          <a:xfrm>
            <a:off x="377200" y="288025"/>
            <a:ext cx="68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20">
                <a:solidFill>
                  <a:schemeClr val="dk1"/>
                </a:solidFill>
              </a:rPr>
              <a:t>Moodle Integration &amp; Authentifizierung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8825" y="1350400"/>
            <a:ext cx="2887749" cy="43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Christina Schultz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600" y="-581400"/>
            <a:ext cx="6276825" cy="94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Christina Schultz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525" y="-4463325"/>
            <a:ext cx="6927350" cy="1044902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8" name="Google Shape;368;p30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Christina Schultz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"/>
          <p:cNvSpPr txBox="1"/>
          <p:nvPr/>
        </p:nvSpPr>
        <p:spPr>
          <a:xfrm>
            <a:off x="377200" y="288025"/>
            <a:ext cx="68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620">
                <a:solidFill>
                  <a:schemeClr val="dk1"/>
                </a:solidFill>
              </a:rPr>
              <a:t>C4 Diagramm 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5" name="Google Shape;375;p31" title="Screenshot 2026-09-11 at 09.56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83975" y="4652775"/>
            <a:ext cx="5229700" cy="6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1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Christina Schultz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2" name="Google Shape;382;p32" title="Diagramm1Container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202975"/>
            <a:ext cx="13520051" cy="903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Christina Schultz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0" name="Google Shape;390;p33" title="Diagramm1ContainerDiagram.png"/>
          <p:cNvPicPr preferRelativeResize="0"/>
          <p:nvPr/>
        </p:nvPicPr>
        <p:blipFill rotWithShape="1">
          <a:blip r:embed="rId3">
            <a:alphaModFix/>
          </a:blip>
          <a:srcRect b="0" l="46335" r="0" t="0"/>
          <a:stretch/>
        </p:blipFill>
        <p:spPr>
          <a:xfrm>
            <a:off x="1104300" y="-339025"/>
            <a:ext cx="6761073" cy="84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3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Christina Schultz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7" name="Google Shape;397;p34" title="Diagramm1ContainerDiagram.png"/>
          <p:cNvPicPr preferRelativeResize="0"/>
          <p:nvPr/>
        </p:nvPicPr>
        <p:blipFill rotWithShape="1">
          <a:blip r:embed="rId3">
            <a:alphaModFix/>
          </a:blip>
          <a:srcRect b="0" l="46335" r="0" t="0"/>
          <a:stretch/>
        </p:blipFill>
        <p:spPr>
          <a:xfrm>
            <a:off x="969800" y="-3236275"/>
            <a:ext cx="7204398" cy="896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4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Christina Schultz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/>
        </p:nvSpPr>
        <p:spPr>
          <a:xfrm>
            <a:off x="377190" y="308610"/>
            <a:ext cx="838733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1F2A30"/>
                </a:solidFill>
              </a:rPr>
              <a:t>Deployment heute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377190" y="1028700"/>
            <a:ext cx="2567178" cy="2160270"/>
          </a:xfrm>
          <a:prstGeom prst="roundRect">
            <a:avLst>
              <a:gd fmla="val 4762" name="adj"/>
            </a:avLst>
          </a:prstGeom>
          <a:solidFill>
            <a:srgbClr val="F1F3F4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555498" y="1145286"/>
            <a:ext cx="221056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EINMALIG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555498" y="1433322"/>
            <a:ext cx="22105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Packer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555498" y="1858518"/>
            <a:ext cx="221056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Build-VM starten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provision.sh (SSH)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Snapshot → Glance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 txBox="1"/>
          <p:nvPr/>
        </p:nvSpPr>
        <p:spPr>
          <a:xfrm>
            <a:off x="2944368" y="1947672"/>
            <a:ext cx="3771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3287268" y="1028700"/>
            <a:ext cx="2567178" cy="2160270"/>
          </a:xfrm>
          <a:prstGeom prst="roundRect">
            <a:avLst>
              <a:gd fmla="val 4762" name="adj"/>
            </a:avLst>
          </a:prstGeom>
          <a:solidFill>
            <a:srgbClr val="F1F3F4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3465576" y="1145286"/>
            <a:ext cx="221056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ARTEFAKT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3465576" y="1433322"/>
            <a:ext cx="22105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Glance-Image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 txBox="1"/>
          <p:nvPr/>
        </p:nvSpPr>
        <p:spPr>
          <a:xfrm>
            <a:off x="3465576" y="1858518"/>
            <a:ext cx="221056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ubuntu-v1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Basis pro Deploy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 txBox="1"/>
          <p:nvPr/>
        </p:nvSpPr>
        <p:spPr>
          <a:xfrm>
            <a:off x="5854446" y="1947672"/>
            <a:ext cx="3771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6197346" y="1028700"/>
            <a:ext cx="2567178" cy="2160270"/>
          </a:xfrm>
          <a:prstGeom prst="roundRect">
            <a:avLst>
              <a:gd fmla="val 4762" name="adj"/>
            </a:avLst>
          </a:prstGeom>
          <a:solidFill>
            <a:srgbClr val="F1F3F4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/>
          <p:cNvSpPr txBox="1"/>
          <p:nvPr/>
        </p:nvSpPr>
        <p:spPr>
          <a:xfrm>
            <a:off x="6375654" y="1145286"/>
            <a:ext cx="221056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PRO KURS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6375654" y="1433322"/>
            <a:ext cx="22105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Terraform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6375654" y="1858518"/>
            <a:ext cx="221056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Kurs-VM starten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Cloud-Init: User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SSH, Port 22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377190" y="3854196"/>
            <a:ext cx="8387334" cy="685800"/>
          </a:xfrm>
          <a:prstGeom prst="roundRect">
            <a:avLst>
              <a:gd fmla="val 15000" name="adj"/>
            </a:avLst>
          </a:prstGeom>
          <a:solidFill>
            <a:srgbClr val="1F2A30"/>
          </a:solidFill>
          <a:ln cap="flat" cmpd="sng" w="12700">
            <a:solidFill>
              <a:srgbClr val="1F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5"/>
          <p:cNvSpPr txBox="1"/>
          <p:nvPr/>
        </p:nvSpPr>
        <p:spPr>
          <a:xfrm>
            <a:off x="610362" y="3922776"/>
            <a:ext cx="79209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terraform output</a:t>
            </a:r>
            <a:r>
              <a:rPr lang="en" sz="1500">
                <a:solidFill>
                  <a:srgbClr val="8FB2BA"/>
                </a:solidFill>
                <a:latin typeface="Arial"/>
                <a:ea typeface="Arial"/>
                <a:cs typeface="Arial"/>
                <a:sym typeface="Arial"/>
              </a:rPr>
              <a:t>   →   </a:t>
            </a: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Worker</a:t>
            </a:r>
            <a:r>
              <a:rPr lang="en" sz="1500">
                <a:solidFill>
                  <a:srgbClr val="8FB2BA"/>
                </a:solidFill>
                <a:latin typeface="Arial"/>
                <a:ea typeface="Arial"/>
                <a:cs typeface="Arial"/>
                <a:sym typeface="Arial"/>
              </a:rPr>
              <a:t>   →   </a:t>
            </a: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DB</a:t>
            </a:r>
            <a:r>
              <a:rPr lang="en" sz="1500">
                <a:solidFill>
                  <a:srgbClr val="8FB2BA"/>
                </a:solidFill>
                <a:latin typeface="Arial"/>
                <a:ea typeface="Arial"/>
                <a:cs typeface="Arial"/>
                <a:sym typeface="Arial"/>
              </a:rPr>
              <a:t>   →   </a:t>
            </a: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Frontend: ssh user@ip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 txBox="1"/>
          <p:nvPr/>
        </p:nvSpPr>
        <p:spPr>
          <a:xfrm>
            <a:off x="8078724" y="4636008"/>
            <a:ext cx="6858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45C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4545C"/>
                </a:solidFill>
              </a:rPr>
              <a:t>17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Max Rommel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"/>
          <p:cNvSpPr txBox="1"/>
          <p:nvPr/>
        </p:nvSpPr>
        <p:spPr>
          <a:xfrm>
            <a:off x="377190" y="308610"/>
            <a:ext cx="838733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Variante 1: eine geteilte Kurs-VM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377190" y="857250"/>
            <a:ext cx="3463290" cy="291465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548640" y="1165860"/>
            <a:ext cx="891540" cy="3429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 cap="flat" cmpd="sng" w="15875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 txBox="1"/>
          <p:nvPr/>
        </p:nvSpPr>
        <p:spPr>
          <a:xfrm>
            <a:off x="617220" y="1165860"/>
            <a:ext cx="754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Studi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/>
          <p:nvPr/>
        </p:nvSpPr>
        <p:spPr>
          <a:xfrm>
            <a:off x="548640" y="1611630"/>
            <a:ext cx="891540" cy="3429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 cap="flat" cmpd="sng" w="15875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 txBox="1"/>
          <p:nvPr/>
        </p:nvSpPr>
        <p:spPr>
          <a:xfrm>
            <a:off x="617220" y="1611630"/>
            <a:ext cx="754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Studi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548640" y="2057400"/>
            <a:ext cx="891540" cy="3429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 cap="flat" cmpd="sng" w="15875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617220" y="2057400"/>
            <a:ext cx="754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Studi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 txBox="1"/>
          <p:nvPr/>
        </p:nvSpPr>
        <p:spPr>
          <a:xfrm>
            <a:off x="1536192" y="1618488"/>
            <a:ext cx="3771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6"/>
          <p:cNvSpPr/>
          <p:nvPr/>
        </p:nvSpPr>
        <p:spPr>
          <a:xfrm>
            <a:off x="1988820" y="1165860"/>
            <a:ext cx="1714500" cy="1234440"/>
          </a:xfrm>
          <a:prstGeom prst="roundRect">
            <a:avLst>
              <a:gd fmla="val 8333" name="adj"/>
            </a:avLst>
          </a:prstGeom>
          <a:solidFill>
            <a:srgbClr val="045C68"/>
          </a:solidFill>
          <a:ln cap="flat" cmpd="sng" w="15875">
            <a:solidFill>
              <a:srgbClr val="045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6"/>
          <p:cNvSpPr txBox="1"/>
          <p:nvPr/>
        </p:nvSpPr>
        <p:spPr>
          <a:xfrm>
            <a:off x="2057400" y="1165860"/>
            <a:ext cx="15773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Kurs-VM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0E4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CFE0E4"/>
                </a:solidFill>
                <a:latin typeface="Arial"/>
                <a:ea typeface="Arial"/>
                <a:cs typeface="Arial"/>
                <a:sym typeface="Arial"/>
              </a:rPr>
              <a:t>Windows Server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0E4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CFE0E4"/>
                </a:solidFill>
                <a:latin typeface="Arial"/>
                <a:ea typeface="Arial"/>
                <a:cs typeface="Arial"/>
                <a:sym typeface="Arial"/>
              </a:rPr>
              <a:t>RD Session Host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6"/>
          <p:cNvSpPr txBox="1"/>
          <p:nvPr/>
        </p:nvSpPr>
        <p:spPr>
          <a:xfrm>
            <a:off x="548640" y="2606040"/>
            <a:ext cx="312039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5C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4545C"/>
                </a:solidFill>
                <a:latin typeface="Arial"/>
                <a:ea typeface="Arial"/>
                <a:cs typeface="Arial"/>
                <a:sym typeface="Arial"/>
              </a:rPr>
              <a:t>30 Personen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5C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4545C"/>
                </a:solidFill>
                <a:latin typeface="Arial"/>
                <a:ea typeface="Arial"/>
                <a:cs typeface="Arial"/>
                <a:sym typeface="Arial"/>
              </a:rPr>
              <a:t>8–12 vCPU, 32–48 GB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6"/>
          <p:cNvSpPr/>
          <p:nvPr/>
        </p:nvSpPr>
        <p:spPr>
          <a:xfrm>
            <a:off x="4080510" y="857250"/>
            <a:ext cx="4684014" cy="1152144"/>
          </a:xfrm>
          <a:prstGeom prst="roundRect">
            <a:avLst>
              <a:gd fmla="val 8929" name="adj"/>
            </a:avLst>
          </a:prstGeom>
          <a:solidFill>
            <a:srgbClr val="DCEDEF"/>
          </a:solidFill>
          <a:ln cap="flat" cmpd="sng" w="12700">
            <a:solidFill>
              <a:srgbClr val="DCE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6"/>
          <p:cNvSpPr txBox="1"/>
          <p:nvPr/>
        </p:nvSpPr>
        <p:spPr>
          <a:xfrm>
            <a:off x="4265676" y="939546"/>
            <a:ext cx="4320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6"/>
          <p:cNvSpPr txBox="1"/>
          <p:nvPr/>
        </p:nvSpPr>
        <p:spPr>
          <a:xfrm>
            <a:off x="4265676" y="1255014"/>
            <a:ext cx="4320540" cy="672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Ressourcengünstig, falls alle in eine VM passen - unsicher bei 3D-CAD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Shared-Architektur wie bei den Linux-VMs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6"/>
          <p:cNvSpPr/>
          <p:nvPr/>
        </p:nvSpPr>
        <p:spPr>
          <a:xfrm>
            <a:off x="4080510" y="2091690"/>
            <a:ext cx="4684014" cy="1680210"/>
          </a:xfrm>
          <a:prstGeom prst="roundRect">
            <a:avLst>
              <a:gd fmla="val 6122" name="adj"/>
            </a:avLst>
          </a:prstGeom>
          <a:solidFill>
            <a:srgbClr val="F1F3F4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6"/>
          <p:cNvSpPr txBox="1"/>
          <p:nvPr/>
        </p:nvSpPr>
        <p:spPr>
          <a:xfrm>
            <a:off x="4265676" y="2173986"/>
            <a:ext cx="4320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Nachteile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4265676" y="2489454"/>
            <a:ext cx="43205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RDS-CAL je Nutzer + Lizenzserver (Zugriffslizenz pro Person)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Per-User-CAL nur mit Domäne (Lizenz an Person, nicht an Gerät)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Ein Absturz trifft den ganzen Kurs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6"/>
          <p:cNvSpPr/>
          <p:nvPr/>
        </p:nvSpPr>
        <p:spPr>
          <a:xfrm>
            <a:off x="377190" y="3854196"/>
            <a:ext cx="8387334" cy="685800"/>
          </a:xfrm>
          <a:prstGeom prst="roundRect">
            <a:avLst>
              <a:gd fmla="val 15000" name="adj"/>
            </a:avLst>
          </a:prstGeom>
          <a:solidFill>
            <a:srgbClr val="1F2A30"/>
          </a:solidFill>
          <a:ln cap="flat" cmpd="sng" w="12700">
            <a:solidFill>
              <a:srgbClr val="1F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10362" y="3922776"/>
            <a:ext cx="79209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Änderung: eine VM wie heute mit WinRM statt SSH, provision.ps1, RDS-Rolle im Image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C8D6DB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C8D6DB"/>
                </a:solidFill>
                <a:latin typeface="Arial"/>
                <a:ea typeface="Arial"/>
                <a:cs typeface="Arial"/>
                <a:sym typeface="Arial"/>
              </a:rPr>
              <a:t>Cloudbase-Init statt Cloud-Init, net user + RDP-Freigabe, Port 3389 statt 22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8078724" y="4636008"/>
            <a:ext cx="68580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45C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4545C"/>
                </a:solidFill>
              </a:rPr>
              <a:t>18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Max Rommel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7"/>
          <p:cNvSpPr txBox="1"/>
          <p:nvPr/>
        </p:nvSpPr>
        <p:spPr>
          <a:xfrm>
            <a:off x="377190" y="308610"/>
            <a:ext cx="838733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700"/>
              <a:buFont typeface="Arial"/>
              <a:buNone/>
            </a:pPr>
            <a:r>
              <a:rPr b="1" lang="en" sz="27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Variante 2: eine VM pro Studierendem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7"/>
          <p:cNvSpPr/>
          <p:nvPr/>
        </p:nvSpPr>
        <p:spPr>
          <a:xfrm>
            <a:off x="377190" y="857250"/>
            <a:ext cx="3463290" cy="291465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7"/>
          <p:cNvSpPr/>
          <p:nvPr/>
        </p:nvSpPr>
        <p:spPr>
          <a:xfrm>
            <a:off x="548640" y="1165860"/>
            <a:ext cx="891540" cy="3429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 cap="flat" cmpd="sng" w="15875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7"/>
          <p:cNvSpPr txBox="1"/>
          <p:nvPr/>
        </p:nvSpPr>
        <p:spPr>
          <a:xfrm>
            <a:off x="617220" y="1165860"/>
            <a:ext cx="754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Studi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7"/>
          <p:cNvSpPr txBox="1"/>
          <p:nvPr/>
        </p:nvSpPr>
        <p:spPr>
          <a:xfrm>
            <a:off x="1536192" y="1172718"/>
            <a:ext cx="3771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7"/>
          <p:cNvSpPr/>
          <p:nvPr/>
        </p:nvSpPr>
        <p:spPr>
          <a:xfrm>
            <a:off x="1988820" y="1165860"/>
            <a:ext cx="1714500" cy="342900"/>
          </a:xfrm>
          <a:prstGeom prst="roundRect">
            <a:avLst>
              <a:gd fmla="val 30000" name="adj"/>
            </a:avLst>
          </a:prstGeom>
          <a:solidFill>
            <a:srgbClr val="045C68"/>
          </a:solidFill>
          <a:ln cap="flat" cmpd="sng" w="15875">
            <a:solidFill>
              <a:srgbClr val="045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7"/>
          <p:cNvSpPr txBox="1"/>
          <p:nvPr/>
        </p:nvSpPr>
        <p:spPr>
          <a:xfrm>
            <a:off x="2057400" y="1165860"/>
            <a:ext cx="1577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Windows-VM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548640" y="1611630"/>
            <a:ext cx="891540" cy="3429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 cap="flat" cmpd="sng" w="15875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617220" y="1611630"/>
            <a:ext cx="754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Studi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7"/>
          <p:cNvSpPr txBox="1"/>
          <p:nvPr/>
        </p:nvSpPr>
        <p:spPr>
          <a:xfrm>
            <a:off x="1536192" y="1618488"/>
            <a:ext cx="3771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7"/>
          <p:cNvSpPr/>
          <p:nvPr/>
        </p:nvSpPr>
        <p:spPr>
          <a:xfrm>
            <a:off x="1988820" y="1611630"/>
            <a:ext cx="1714500" cy="342900"/>
          </a:xfrm>
          <a:prstGeom prst="roundRect">
            <a:avLst>
              <a:gd fmla="val 30000" name="adj"/>
            </a:avLst>
          </a:prstGeom>
          <a:solidFill>
            <a:srgbClr val="045C68"/>
          </a:solidFill>
          <a:ln cap="flat" cmpd="sng" w="15875">
            <a:solidFill>
              <a:srgbClr val="045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7"/>
          <p:cNvSpPr txBox="1"/>
          <p:nvPr/>
        </p:nvSpPr>
        <p:spPr>
          <a:xfrm>
            <a:off x="2057400" y="1611630"/>
            <a:ext cx="1577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Windows-VM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7"/>
          <p:cNvSpPr/>
          <p:nvPr/>
        </p:nvSpPr>
        <p:spPr>
          <a:xfrm>
            <a:off x="548640" y="2057400"/>
            <a:ext cx="891540" cy="342900"/>
          </a:xfrm>
          <a:prstGeom prst="roundRect">
            <a:avLst>
              <a:gd fmla="val 30000" name="adj"/>
            </a:avLst>
          </a:prstGeom>
          <a:solidFill>
            <a:srgbClr val="FFFFFF"/>
          </a:solidFill>
          <a:ln cap="flat" cmpd="sng" w="15875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7"/>
          <p:cNvSpPr txBox="1"/>
          <p:nvPr/>
        </p:nvSpPr>
        <p:spPr>
          <a:xfrm>
            <a:off x="617220" y="2057400"/>
            <a:ext cx="754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Studi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7"/>
          <p:cNvSpPr txBox="1"/>
          <p:nvPr/>
        </p:nvSpPr>
        <p:spPr>
          <a:xfrm>
            <a:off x="1536192" y="2064258"/>
            <a:ext cx="37719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5C68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045C6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7"/>
          <p:cNvSpPr/>
          <p:nvPr/>
        </p:nvSpPr>
        <p:spPr>
          <a:xfrm>
            <a:off x="1988820" y="2057400"/>
            <a:ext cx="1714500" cy="342900"/>
          </a:xfrm>
          <a:prstGeom prst="roundRect">
            <a:avLst>
              <a:gd fmla="val 30000" name="adj"/>
            </a:avLst>
          </a:prstGeom>
          <a:solidFill>
            <a:srgbClr val="045C68"/>
          </a:solidFill>
          <a:ln cap="flat" cmpd="sng" w="15875">
            <a:solidFill>
              <a:srgbClr val="045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7"/>
          <p:cNvSpPr txBox="1"/>
          <p:nvPr/>
        </p:nvSpPr>
        <p:spPr>
          <a:xfrm>
            <a:off x="2057400" y="2057400"/>
            <a:ext cx="15773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Windows-VM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7"/>
          <p:cNvSpPr txBox="1"/>
          <p:nvPr/>
        </p:nvSpPr>
        <p:spPr>
          <a:xfrm>
            <a:off x="548640" y="2606040"/>
            <a:ext cx="312039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5C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4545C"/>
                </a:solidFill>
                <a:latin typeface="Arial"/>
                <a:ea typeface="Arial"/>
                <a:cs typeface="Arial"/>
                <a:sym typeface="Arial"/>
              </a:rPr>
              <a:t>30 Paare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5C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4545C"/>
                </a:solidFill>
                <a:latin typeface="Arial"/>
                <a:ea typeface="Arial"/>
                <a:cs typeface="Arial"/>
                <a:sym typeface="Arial"/>
              </a:rPr>
              <a:t>je 2 vCPU, 4 GB, 64 GB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7"/>
          <p:cNvSpPr/>
          <p:nvPr/>
        </p:nvSpPr>
        <p:spPr>
          <a:xfrm>
            <a:off x="4080510" y="857250"/>
            <a:ext cx="4684014" cy="1152144"/>
          </a:xfrm>
          <a:prstGeom prst="roundRect">
            <a:avLst>
              <a:gd fmla="val 8929" name="adj"/>
            </a:avLst>
          </a:prstGeom>
          <a:solidFill>
            <a:srgbClr val="DCEDEF"/>
          </a:solidFill>
          <a:ln cap="flat" cmpd="sng" w="12700">
            <a:solidFill>
              <a:srgbClr val="DCED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7"/>
          <p:cNvSpPr txBox="1"/>
          <p:nvPr/>
        </p:nvSpPr>
        <p:spPr>
          <a:xfrm>
            <a:off x="4265676" y="939546"/>
            <a:ext cx="4320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Vorteile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4265676" y="1255014"/>
            <a:ext cx="4320540" cy="672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Weniger Lizenzaufwand: keine RDS-CALs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Volle Isolation, eine Sitzung je VM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7"/>
          <p:cNvSpPr/>
          <p:nvPr/>
        </p:nvSpPr>
        <p:spPr>
          <a:xfrm>
            <a:off x="4080510" y="2091690"/>
            <a:ext cx="4684014" cy="1680210"/>
          </a:xfrm>
          <a:prstGeom prst="roundRect">
            <a:avLst>
              <a:gd fmla="val 6122" name="adj"/>
            </a:avLst>
          </a:prstGeom>
          <a:solidFill>
            <a:srgbClr val="F1F3F4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7"/>
          <p:cNvSpPr txBox="1"/>
          <p:nvPr/>
        </p:nvSpPr>
        <p:spPr>
          <a:xfrm>
            <a:off x="4265676" y="2173986"/>
            <a:ext cx="43205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800"/>
              <a:buFont typeface="Arial"/>
              <a:buNone/>
            </a:pPr>
            <a:r>
              <a:rPr b="1" lang="en" sz="18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Nachteile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7"/>
          <p:cNvSpPr txBox="1"/>
          <p:nvPr/>
        </p:nvSpPr>
        <p:spPr>
          <a:xfrm>
            <a:off x="4265676" y="2489454"/>
            <a:ext cx="432054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Ressourcenaufwand: 30 VMs = 60 vCPU, 120 GB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300"/>
              </a:spcBef>
              <a:spcAft>
                <a:spcPts val="0"/>
              </a:spcAft>
              <a:buClr>
                <a:srgbClr val="1F2A3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1F2A30"/>
                </a:solidFill>
                <a:latin typeface="Arial"/>
                <a:ea typeface="Arial"/>
                <a:cs typeface="Arial"/>
                <a:sym typeface="Arial"/>
              </a:rPr>
              <a:t>Client-VMs brauchen VDA oder A3/A5 (Lizenzen für virtuelle Windows-Desktops)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377190" y="3854196"/>
            <a:ext cx="8387334" cy="685800"/>
          </a:xfrm>
          <a:prstGeom prst="roundRect">
            <a:avLst>
              <a:gd fmla="val 15000" name="adj"/>
            </a:avLst>
          </a:prstGeom>
          <a:solidFill>
            <a:srgbClr val="1F2A30"/>
          </a:solidFill>
          <a:ln cap="flat" cmpd="sng" w="12700">
            <a:solidFill>
              <a:srgbClr val="1F2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7"/>
          <p:cNvSpPr txBox="1"/>
          <p:nvPr/>
        </p:nvSpPr>
        <p:spPr>
          <a:xfrm>
            <a:off x="610362" y="3922776"/>
            <a:ext cx="792099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Änderung: aus einer Ressource wird for_each, 30 VMs mit je einem User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C8D6DB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C8D6DB"/>
                </a:solidFill>
                <a:latin typeface="Arial"/>
                <a:ea typeface="Arial"/>
                <a:cs typeface="Arial"/>
                <a:sym typeface="Arial"/>
              </a:rPr>
              <a:t>Sonst analog zu Variante 1, aber ohne RDS-Rolle und ohne Lizenzserver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 txBox="1"/>
          <p:nvPr/>
        </p:nvSpPr>
        <p:spPr>
          <a:xfrm>
            <a:off x="8078724" y="4636008"/>
            <a:ext cx="6858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545C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44545C"/>
                </a:solidFill>
              </a:rPr>
              <a:t>19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Max Rommel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38"/>
          <p:cNvSpPr/>
          <p:nvPr/>
        </p:nvSpPr>
        <p:spPr>
          <a:xfrm>
            <a:off x="1296850" y="329350"/>
            <a:ext cx="6547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lang="en" sz="3000">
                <a:solidFill>
                  <a:srgbClr val="0F172A"/>
                </a:solidFill>
              </a:rPr>
              <a:t>Identifizierte Dokumentationslücken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672084" y="1584198"/>
            <a:ext cx="233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44350" y="1124638"/>
            <a:ext cx="30741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Entwicklungsumgebung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8"/>
          <p:cNvSpPr/>
          <p:nvPr/>
        </p:nvSpPr>
        <p:spPr>
          <a:xfrm>
            <a:off x="230950" y="1765600"/>
            <a:ext cx="27009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-"/>
            </a:pPr>
            <a:r>
              <a:rPr b="0" i="0" lang="en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Makefile setzt Bash-/Unix-Werkzeuge voraus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8"/>
          <p:cNvSpPr/>
          <p:nvPr/>
        </p:nvSpPr>
        <p:spPr>
          <a:xfrm>
            <a:off x="179575" y="2787413"/>
            <a:ext cx="252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-"/>
            </a:pPr>
            <a:r>
              <a:rPr b="0" i="0" lang="en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jq fehlt in den Voraussetzungen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8"/>
          <p:cNvSpPr/>
          <p:nvPr/>
        </p:nvSpPr>
        <p:spPr>
          <a:xfrm>
            <a:off x="179575" y="3691875"/>
            <a:ext cx="26619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-"/>
            </a:pPr>
            <a:r>
              <a:rPr b="0" i="0" lang="en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Git Bash kann Docker-Containerpfade unter Windows umschreiben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8"/>
          <p:cNvSpPr/>
          <p:nvPr/>
        </p:nvSpPr>
        <p:spPr>
          <a:xfrm>
            <a:off x="809475" y="4089385"/>
            <a:ext cx="6171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192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8"/>
          <p:cNvSpPr/>
          <p:nvPr/>
        </p:nvSpPr>
        <p:spPr>
          <a:xfrm>
            <a:off x="3238850" y="1122938"/>
            <a:ext cx="2700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Port-Konfiguration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8"/>
          <p:cNvSpPr/>
          <p:nvPr/>
        </p:nvSpPr>
        <p:spPr>
          <a:xfrm>
            <a:off x="3518168" y="1954552"/>
            <a:ext cx="21054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8"/>
          <p:cNvSpPr/>
          <p:nvPr/>
        </p:nvSpPr>
        <p:spPr>
          <a:xfrm>
            <a:off x="6240775" y="1089675"/>
            <a:ext cx="2604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Authentifizierung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8"/>
          <p:cNvSpPr/>
          <p:nvPr/>
        </p:nvSpPr>
        <p:spPr>
          <a:xfrm>
            <a:off x="6049025" y="1680900"/>
            <a:ext cx="2916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Char char="-"/>
            </a:pPr>
            <a:r>
              <a:rPr i="0" lang="en" sz="1600" u="none" cap="none" strike="noStrike">
                <a:solidFill>
                  <a:srgbClr val="0F172A"/>
                </a:solidFill>
              </a:rPr>
              <a:t>Keycloak als OIDC Identity Provider</a:t>
            </a:r>
            <a:r>
              <a:rPr lang="en" sz="1600">
                <a:solidFill>
                  <a:schemeClr val="dk1"/>
                </a:solidFill>
              </a:rPr>
              <a:t> 				 </a:t>
            </a:r>
            <a:r>
              <a:rPr i="0" lang="en" sz="1600" u="none" cap="none" strike="noStrike">
                <a:solidFill>
                  <a:srgbClr val="0F172A"/>
                </a:solidFill>
              </a:rPr>
              <a:t>+</a:t>
            </a:r>
            <a:r>
              <a:rPr lang="en" sz="1600">
                <a:solidFill>
                  <a:srgbClr val="0F172A"/>
                </a:solidFill>
              </a:rPr>
              <a:t> </a:t>
            </a:r>
            <a:r>
              <a:rPr i="0" lang="en" sz="1600" u="none" cap="none" strike="noStrike">
                <a:solidFill>
                  <a:srgbClr val="0F172A"/>
                </a:solidFill>
              </a:rPr>
              <a:t>Nutzeranforderungen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499" name="Google Shape;499;p38"/>
          <p:cNvSpPr/>
          <p:nvPr/>
        </p:nvSpPr>
        <p:spPr>
          <a:xfrm>
            <a:off x="6032125" y="2575150"/>
            <a:ext cx="903600" cy="1452600"/>
          </a:xfrm>
          <a:prstGeom prst="roundRect">
            <a:avLst>
              <a:gd fmla="val 17391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8"/>
          <p:cNvSpPr/>
          <p:nvPr/>
        </p:nvSpPr>
        <p:spPr>
          <a:xfrm>
            <a:off x="6027378" y="2988075"/>
            <a:ext cx="8418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Arial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Front-</a:t>
            </a:r>
            <a:endParaRPr b="1" i="0" sz="160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Arial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8"/>
          <p:cNvSpPr/>
          <p:nvPr/>
        </p:nvSpPr>
        <p:spPr>
          <a:xfrm>
            <a:off x="7054413" y="2575150"/>
            <a:ext cx="809100" cy="1452600"/>
          </a:xfrm>
          <a:prstGeom prst="roundRect">
            <a:avLst>
              <a:gd fmla="val 17391" name="adj"/>
            </a:avLst>
          </a:prstGeom>
          <a:solidFill>
            <a:srgbClr val="F0FDFA"/>
          </a:solidFill>
          <a:ln cap="flat" cmpd="sng" w="1015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/>
          <p:nvPr/>
        </p:nvSpPr>
        <p:spPr>
          <a:xfrm>
            <a:off x="7170975" y="2905279"/>
            <a:ext cx="5760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Arial"/>
              <a:buNone/>
            </a:pPr>
            <a:r>
              <a:rPr b="1" i="0" lang="en" sz="16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Key-</a:t>
            </a:r>
            <a:endParaRPr b="1" i="0" sz="16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600"/>
              <a:buFont typeface="Arial"/>
              <a:buNone/>
            </a:pPr>
            <a:r>
              <a:rPr b="1" i="0" lang="en" sz="16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cloak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8"/>
          <p:cNvSpPr/>
          <p:nvPr/>
        </p:nvSpPr>
        <p:spPr>
          <a:xfrm>
            <a:off x="8048775" y="2575150"/>
            <a:ext cx="1014300" cy="1452600"/>
          </a:xfrm>
          <a:prstGeom prst="roundRect">
            <a:avLst>
              <a:gd fmla="val 17391" name="adj"/>
            </a:avLst>
          </a:prstGeom>
          <a:solidFill>
            <a:srgbClr val="F8FAFC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8"/>
          <p:cNvSpPr/>
          <p:nvPr/>
        </p:nvSpPr>
        <p:spPr>
          <a:xfrm>
            <a:off x="8098850" y="2787225"/>
            <a:ext cx="903600" cy="9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600"/>
              <a:buFont typeface="Arial"/>
              <a:buNone/>
            </a:pPr>
            <a:r>
              <a:rPr b="1" i="0" lang="en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8"/>
          <p:cNvSpPr/>
          <p:nvPr/>
        </p:nvSpPr>
        <p:spPr>
          <a:xfrm>
            <a:off x="6211975" y="4129650"/>
            <a:ext cx="26619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700"/>
              <a:buFont typeface="Arial"/>
              <a:buNone/>
            </a:pPr>
            <a:r>
              <a:rPr b="1" i="0" lang="en" sz="16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Login · Tokens · Rollen/Claims · Logout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38"/>
          <p:cNvCxnSpPr/>
          <p:nvPr/>
        </p:nvCxnSpPr>
        <p:spPr>
          <a:xfrm>
            <a:off x="-96075" y="908975"/>
            <a:ext cx="9328200" cy="16800"/>
          </a:xfrm>
          <a:prstGeom prst="straightConnector1">
            <a:avLst/>
          </a:prstGeom>
          <a:noFill/>
          <a:ln cap="flat" cmpd="sng" w="19050">
            <a:solidFill>
              <a:srgbClr val="0F766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38"/>
          <p:cNvCxnSpPr/>
          <p:nvPr/>
        </p:nvCxnSpPr>
        <p:spPr>
          <a:xfrm flipH="1">
            <a:off x="3030900" y="897850"/>
            <a:ext cx="29400" cy="4315800"/>
          </a:xfrm>
          <a:prstGeom prst="straightConnector1">
            <a:avLst/>
          </a:prstGeom>
          <a:noFill/>
          <a:ln cap="flat" cmpd="sng" w="19050">
            <a:solidFill>
              <a:srgbClr val="61968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8"/>
          <p:cNvCxnSpPr/>
          <p:nvPr/>
        </p:nvCxnSpPr>
        <p:spPr>
          <a:xfrm>
            <a:off x="5917613" y="909125"/>
            <a:ext cx="14700" cy="4249200"/>
          </a:xfrm>
          <a:prstGeom prst="straightConnector1">
            <a:avLst/>
          </a:prstGeom>
          <a:noFill/>
          <a:ln cap="flat" cmpd="sng" w="19050">
            <a:solidFill>
              <a:srgbClr val="61968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" name="Google Shape;509;p38"/>
          <p:cNvSpPr/>
          <p:nvPr/>
        </p:nvSpPr>
        <p:spPr>
          <a:xfrm>
            <a:off x="3074288" y="1768075"/>
            <a:ext cx="27009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-"/>
            </a:pPr>
            <a:r>
              <a:rPr lang="en" sz="1600">
                <a:solidFill>
                  <a:srgbClr val="0F172A"/>
                </a:solidFill>
              </a:rPr>
              <a:t>Compose liest .env automatisch (Make nicht)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8"/>
          <p:cNvSpPr/>
          <p:nvPr/>
        </p:nvSpPr>
        <p:spPr>
          <a:xfrm>
            <a:off x="3072413" y="2787413"/>
            <a:ext cx="28599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-"/>
            </a:pPr>
            <a:r>
              <a:rPr lang="en" sz="1600">
                <a:solidFill>
                  <a:srgbClr val="0F172A"/>
                </a:solidFill>
              </a:rPr>
              <a:t>FRONTEND_PORT,</a:t>
            </a:r>
            <a:r>
              <a:rPr lang="en" sz="1600">
                <a:solidFill>
                  <a:srgbClr val="0F172A"/>
                </a:solidFill>
              </a:rPr>
              <a:t>  FRONTEND_PORT_DEV</a:t>
            </a:r>
            <a:r>
              <a:rPr lang="en" sz="1600">
                <a:solidFill>
                  <a:srgbClr val="0F172A"/>
                </a:solidFill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8"/>
          <p:cNvSpPr/>
          <p:nvPr/>
        </p:nvSpPr>
        <p:spPr>
          <a:xfrm>
            <a:off x="3088013" y="3691863"/>
            <a:ext cx="26619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Char char="-"/>
            </a:pPr>
            <a:r>
              <a:rPr lang="en" sz="1600">
                <a:solidFill>
                  <a:srgbClr val="0F172A"/>
                </a:solidFill>
              </a:rPr>
              <a:t>Frontend-Port beeinflusst zusätzlich CORS und Keycloak-Redirects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38"/>
          <p:cNvCxnSpPr/>
          <p:nvPr/>
        </p:nvCxnSpPr>
        <p:spPr>
          <a:xfrm flipH="1" rot="10800000">
            <a:off x="-27700" y="1529625"/>
            <a:ext cx="9234000" cy="2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38"/>
          <p:cNvSpPr txBox="1"/>
          <p:nvPr/>
        </p:nvSpPr>
        <p:spPr>
          <a:xfrm>
            <a:off x="377190" y="4814316"/>
            <a:ext cx="4114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5A6B73"/>
                </a:solidFill>
              </a:rPr>
              <a:t>Lorenzo Negri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9" name="Google Shape;519;p39"/>
          <p:cNvSpPr/>
          <p:nvPr/>
        </p:nvSpPr>
        <p:spPr>
          <a:xfrm>
            <a:off x="1963350" y="297400"/>
            <a:ext cx="521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0F172A"/>
                </a:solidFill>
              </a:rPr>
              <a:t>Dokumentationslücken beim Deployment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493238" y="1096200"/>
            <a:ext cx="8154300" cy="9852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9"/>
          <p:cNvSpPr/>
          <p:nvPr/>
        </p:nvSpPr>
        <p:spPr>
          <a:xfrm>
            <a:off x="493250" y="2344287"/>
            <a:ext cx="8154300" cy="8955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9"/>
          <p:cNvSpPr/>
          <p:nvPr/>
        </p:nvSpPr>
        <p:spPr>
          <a:xfrm>
            <a:off x="494838" y="3396046"/>
            <a:ext cx="8154300" cy="8955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9"/>
          <p:cNvSpPr txBox="1"/>
          <p:nvPr/>
        </p:nvSpPr>
        <p:spPr>
          <a:xfrm>
            <a:off x="377190" y="4814316"/>
            <a:ext cx="7632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4A5A63"/>
                </a:solidFill>
              </a:rPr>
              <a:t>Lorenzo Negri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9"/>
          <p:cNvSpPr/>
          <p:nvPr/>
        </p:nvSpPr>
        <p:spPr>
          <a:xfrm>
            <a:off x="2946988" y="1334700"/>
            <a:ext cx="37059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OpenStack-Authentifizierung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525" name="Google Shape;525;p39"/>
          <p:cNvSpPr/>
          <p:nvPr/>
        </p:nvSpPr>
        <p:spPr>
          <a:xfrm>
            <a:off x="2946988" y="2417563"/>
            <a:ext cx="43194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Netzwerkerreichbarkeit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  <p:sp>
        <p:nvSpPr>
          <p:cNvPr id="526" name="Google Shape;526;p39"/>
          <p:cNvSpPr/>
          <p:nvPr/>
        </p:nvSpPr>
        <p:spPr>
          <a:xfrm>
            <a:off x="2947513" y="3502650"/>
            <a:ext cx="33207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Produktionskonfiguration</a:t>
            </a:r>
            <a:endParaRPr i="0" sz="20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40"/>
          <p:cNvSpPr/>
          <p:nvPr/>
        </p:nvSpPr>
        <p:spPr>
          <a:xfrm>
            <a:off x="2464025" y="357300"/>
            <a:ext cx="4213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0F172A"/>
                </a:solidFill>
              </a:rPr>
              <a:t>Abweichungen vom Ist-Zustand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0"/>
          <p:cNvSpPr/>
          <p:nvPr/>
        </p:nvSpPr>
        <p:spPr>
          <a:xfrm>
            <a:off x="493775" y="932800"/>
            <a:ext cx="8154300" cy="9852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0"/>
          <p:cNvSpPr/>
          <p:nvPr/>
        </p:nvSpPr>
        <p:spPr>
          <a:xfrm>
            <a:off x="685725" y="1143938"/>
            <a:ext cx="20631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n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Service-/Container-</a:t>
            </a:r>
            <a:endParaRPr b="1" i="0" u="none" cap="none" strike="noStrike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n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angabe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p40"/>
          <p:cNvCxnSpPr/>
          <p:nvPr/>
        </p:nvCxnSpPr>
        <p:spPr>
          <a:xfrm>
            <a:off x="2750021" y="1267604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40"/>
          <p:cNvSpPr/>
          <p:nvPr/>
        </p:nvSpPr>
        <p:spPr>
          <a:xfrm>
            <a:off x="3037325" y="1063900"/>
            <a:ext cx="2734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Doku: 12 Container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Compose-Konfiguration: 11 Services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7" name="Google Shape;537;p40"/>
          <p:cNvCxnSpPr/>
          <p:nvPr/>
        </p:nvCxnSpPr>
        <p:spPr>
          <a:xfrm>
            <a:off x="5922441" y="1297542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40"/>
          <p:cNvSpPr/>
          <p:nvPr/>
        </p:nvSpPr>
        <p:spPr>
          <a:xfrm>
            <a:off x="6192900" y="1119188"/>
            <a:ext cx="20322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00"/>
              <a:buFont typeface="Arial"/>
              <a:buNone/>
            </a:pPr>
            <a:r>
              <a:rPr i="0" lang="en" u="none" cap="none" strike="noStrike">
                <a:solidFill>
                  <a:srgbClr val="0F172A"/>
                </a:solidFill>
              </a:rPr>
              <a:t>Zahl und Terminologie korrigieren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sp>
        <p:nvSpPr>
          <p:cNvPr id="539" name="Google Shape;539;p40"/>
          <p:cNvSpPr/>
          <p:nvPr/>
        </p:nvSpPr>
        <p:spPr>
          <a:xfrm>
            <a:off x="493775" y="1977874"/>
            <a:ext cx="8154300" cy="8955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0"/>
          <p:cNvSpPr/>
          <p:nvPr/>
        </p:nvSpPr>
        <p:spPr>
          <a:xfrm>
            <a:off x="685725" y="2306866"/>
            <a:ext cx="18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n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Healthcheck-Beispiel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40"/>
          <p:cNvCxnSpPr/>
          <p:nvPr/>
        </p:nvCxnSpPr>
        <p:spPr>
          <a:xfrm>
            <a:off x="2750021" y="2249399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40"/>
          <p:cNvSpPr/>
          <p:nvPr/>
        </p:nvSpPr>
        <p:spPr>
          <a:xfrm>
            <a:off x="2983225" y="2024875"/>
            <a:ext cx="2939100" cy="8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Doku: {"status":"ok"}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Code/Test: status = "healthy" + Service + Version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p40"/>
          <p:cNvCxnSpPr/>
          <p:nvPr/>
        </p:nvCxnSpPr>
        <p:spPr>
          <a:xfrm>
            <a:off x="5922441" y="2224899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40"/>
          <p:cNvSpPr/>
          <p:nvPr/>
        </p:nvSpPr>
        <p:spPr>
          <a:xfrm>
            <a:off x="6192900" y="2141800"/>
            <a:ext cx="20322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00"/>
              <a:buFont typeface="Arial"/>
              <a:buNone/>
            </a:pPr>
            <a:r>
              <a:rPr i="0" lang="en" u="none" cap="none" strike="noStrike">
                <a:solidFill>
                  <a:srgbClr val="0F172A"/>
                </a:solidFill>
              </a:rPr>
              <a:t>Beispiel an tatsächliche API-Antwort anpassen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sp>
        <p:nvSpPr>
          <p:cNvPr id="545" name="Google Shape;545;p40"/>
          <p:cNvSpPr/>
          <p:nvPr/>
        </p:nvSpPr>
        <p:spPr>
          <a:xfrm>
            <a:off x="494850" y="2988396"/>
            <a:ext cx="8154300" cy="8955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40"/>
          <p:cNvSpPr/>
          <p:nvPr/>
        </p:nvSpPr>
        <p:spPr>
          <a:xfrm>
            <a:off x="685725" y="3318611"/>
            <a:ext cx="18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n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Port 55433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p40"/>
          <p:cNvCxnSpPr/>
          <p:nvPr/>
        </p:nvCxnSpPr>
        <p:spPr>
          <a:xfrm>
            <a:off x="2750021" y="3393319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40"/>
          <p:cNvSpPr/>
          <p:nvPr/>
        </p:nvSpPr>
        <p:spPr>
          <a:xfrm>
            <a:off x="2996930" y="3320245"/>
            <a:ext cx="2503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Aufgeführt, Zweck nicht erklärt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Tatsächlich: Host-Port von postgres-test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40"/>
          <p:cNvCxnSpPr/>
          <p:nvPr/>
        </p:nvCxnSpPr>
        <p:spPr>
          <a:xfrm>
            <a:off x="5922441" y="3340794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40"/>
          <p:cNvSpPr/>
          <p:nvPr/>
        </p:nvSpPr>
        <p:spPr>
          <a:xfrm>
            <a:off x="6108500" y="3144300"/>
            <a:ext cx="24411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00"/>
              <a:buFont typeface="Arial"/>
              <a:buNone/>
            </a:pPr>
            <a:r>
              <a:rPr i="0" lang="en" sz="1300" u="none" cap="none" strike="noStrike">
                <a:solidFill>
                  <a:srgbClr val="0F172A"/>
                </a:solidFill>
              </a:rPr>
              <a:t>Port-Matrix: Port</a:t>
            </a:r>
            <a:r>
              <a:rPr lang="en" sz="1300">
                <a:solidFill>
                  <a:srgbClr val="0F172A"/>
                </a:solidFill>
              </a:rPr>
              <a:t>, </a:t>
            </a:r>
            <a:r>
              <a:rPr i="0" lang="en" sz="1300" u="none" cap="none" strike="noStrike">
                <a:solidFill>
                  <a:srgbClr val="0F172A"/>
                </a:solidFill>
              </a:rPr>
              <a:t>Dienst</a:t>
            </a:r>
            <a:r>
              <a:rPr lang="en" sz="1300">
                <a:solidFill>
                  <a:srgbClr val="0F172A"/>
                </a:solidFill>
              </a:rPr>
              <a:t>, </a:t>
            </a:r>
            <a:r>
              <a:rPr i="0" lang="en" sz="1300" u="none" cap="none" strike="noStrike">
                <a:solidFill>
                  <a:srgbClr val="0F172A"/>
                </a:solidFill>
              </a:rPr>
              <a:t>Zweck Override-Variable</a:t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sp>
        <p:nvSpPr>
          <p:cNvPr id="551" name="Google Shape;551;p40"/>
          <p:cNvSpPr/>
          <p:nvPr/>
        </p:nvSpPr>
        <p:spPr>
          <a:xfrm>
            <a:off x="530725" y="4038025"/>
            <a:ext cx="8154300" cy="8541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0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0"/>
          <p:cNvSpPr/>
          <p:nvPr/>
        </p:nvSpPr>
        <p:spPr>
          <a:xfrm>
            <a:off x="735900" y="4330331"/>
            <a:ext cx="181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00"/>
              <a:buFont typeface="Arial"/>
              <a:buNone/>
            </a:pPr>
            <a:r>
              <a:rPr b="1" i="0" lang="en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seed-reset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40"/>
          <p:cNvCxnSpPr/>
          <p:nvPr/>
        </p:nvCxnSpPr>
        <p:spPr>
          <a:xfrm>
            <a:off x="2750021" y="4343114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40"/>
          <p:cNvSpPr/>
          <p:nvPr/>
        </p:nvSpPr>
        <p:spPr>
          <a:xfrm>
            <a:off x="3079300" y="4286725"/>
            <a:ext cx="26922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Als Komplettablauf dokumentiert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Arial"/>
              <a:buNone/>
            </a:pPr>
            <a:r>
              <a:rPr b="0" i="0" lang="en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Make-Rezept fragt intern erneut nach Bestätigung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40"/>
          <p:cNvCxnSpPr/>
          <p:nvPr/>
        </p:nvCxnSpPr>
        <p:spPr>
          <a:xfrm>
            <a:off x="5922441" y="4286739"/>
            <a:ext cx="0" cy="3156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6" name="Google Shape;556;p40"/>
          <p:cNvSpPr/>
          <p:nvPr/>
        </p:nvSpPr>
        <p:spPr>
          <a:xfrm>
            <a:off x="6108500" y="4107700"/>
            <a:ext cx="24411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00"/>
              <a:buFont typeface="Arial"/>
              <a:buNone/>
            </a:pPr>
            <a:r>
              <a:rPr i="0" lang="en" u="none" cap="none" strike="noStrike">
                <a:solidFill>
                  <a:srgbClr val="0F172A"/>
                </a:solidFill>
              </a:rPr>
              <a:t>Makefile korrigieren</a:t>
            </a:r>
            <a:r>
              <a:rPr lang="en">
                <a:solidFill>
                  <a:srgbClr val="0F172A"/>
                </a:solidFill>
              </a:rPr>
              <a:t> und </a:t>
            </a:r>
            <a:r>
              <a:rPr i="0" lang="en" u="none" cap="none" strike="noStrike">
                <a:solidFill>
                  <a:srgbClr val="0F172A"/>
                </a:solidFill>
              </a:rPr>
              <a:t>bis dahin Verhalten explizit dokumentieren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0"/>
          <p:cNvSpPr txBox="1"/>
          <p:nvPr/>
        </p:nvSpPr>
        <p:spPr>
          <a:xfrm>
            <a:off x="352540" y="4850641"/>
            <a:ext cx="7632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4A5A63"/>
                </a:solidFill>
              </a:rPr>
              <a:t>Lorenzo Negri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1"/>
          <p:cNvSpPr txBox="1"/>
          <p:nvPr/>
        </p:nvSpPr>
        <p:spPr>
          <a:xfrm>
            <a:off x="377190" y="342900"/>
            <a:ext cx="8387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1F2A30"/>
                </a:solidFill>
              </a:rPr>
              <a:t>Bewertung Codebasis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1"/>
          <p:cNvSpPr/>
          <p:nvPr/>
        </p:nvSpPr>
        <p:spPr>
          <a:xfrm>
            <a:off x="370325" y="953125"/>
            <a:ext cx="3429000" cy="2085900"/>
          </a:xfrm>
          <a:prstGeom prst="roundRect">
            <a:avLst>
              <a:gd fmla="val 4630" name="adj"/>
            </a:avLst>
          </a:prstGeom>
          <a:solidFill>
            <a:srgbClr val="DCEDEF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1"/>
          <p:cNvSpPr txBox="1"/>
          <p:nvPr/>
        </p:nvSpPr>
        <p:spPr>
          <a:xfrm>
            <a:off x="541775" y="1062774"/>
            <a:ext cx="30861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5A63"/>
              </a:buClr>
              <a:buSzPts val="9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Struktur und Lesbarkeit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4A5A63"/>
              </a:buClr>
              <a:buSzPts val="9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566" name="Google Shape;566;p41"/>
          <p:cNvSpPr/>
          <p:nvPr/>
        </p:nvSpPr>
        <p:spPr>
          <a:xfrm>
            <a:off x="2258400" y="3530475"/>
            <a:ext cx="3219000" cy="1097400"/>
          </a:xfrm>
          <a:prstGeom prst="roundRect">
            <a:avLst>
              <a:gd fmla="val 9868" name="adj"/>
            </a:avLst>
          </a:prstGeom>
          <a:solidFill>
            <a:srgbClr val="D8D8D8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Tests</a:t>
            </a:r>
            <a:endParaRPr b="1" sz="1600">
              <a:solidFill>
                <a:schemeClr val="dk1"/>
              </a:solidFill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Tests erfolgreich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Mocking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67" name="Google Shape;567;p41"/>
          <p:cNvSpPr/>
          <p:nvPr/>
        </p:nvSpPr>
        <p:spPr>
          <a:xfrm>
            <a:off x="4091800" y="953125"/>
            <a:ext cx="4718400" cy="2085900"/>
          </a:xfrm>
          <a:prstGeom prst="roundRect">
            <a:avLst>
              <a:gd fmla="val 9868" name="adj"/>
            </a:avLst>
          </a:prstGeom>
          <a:solidFill>
            <a:srgbClr val="F1F3F4"/>
          </a:solidFill>
          <a:ln cap="flat" cmpd="sng" w="12700">
            <a:solidFill>
              <a:srgbClr val="C9D1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1"/>
          <p:cNvSpPr txBox="1"/>
          <p:nvPr/>
        </p:nvSpPr>
        <p:spPr>
          <a:xfrm>
            <a:off x="4256437" y="1062768"/>
            <a:ext cx="438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1F2A30"/>
                </a:solidFill>
              </a:rPr>
              <a:t>Sonstiges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1"/>
          <p:cNvSpPr txBox="1"/>
          <p:nvPr/>
        </p:nvSpPr>
        <p:spPr>
          <a:xfrm>
            <a:off x="4256550" y="1370425"/>
            <a:ext cx="4389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F2A30"/>
              </a:buClr>
              <a:buSzPts val="1500"/>
              <a:buChar char="●"/>
            </a:pPr>
            <a:r>
              <a:rPr lang="en" sz="1500">
                <a:solidFill>
                  <a:srgbClr val="1F2A30"/>
                </a:solidFill>
              </a:rPr>
              <a:t>Verwendung von Typ any</a:t>
            </a:r>
            <a:endParaRPr sz="1500">
              <a:solidFill>
                <a:srgbClr val="1F2A30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Funktionen mit zu vielen Zeilen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Logik aus Router in Service umlagern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A3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1"/>
          <p:cNvSpPr txBox="1"/>
          <p:nvPr/>
        </p:nvSpPr>
        <p:spPr>
          <a:xfrm>
            <a:off x="377190" y="4814316"/>
            <a:ext cx="7632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3"/>
              </a:buClr>
              <a:buSzPts val="700"/>
              <a:buFont typeface="Arial"/>
              <a:buNone/>
            </a:pPr>
            <a:r>
              <a:rPr lang="en" sz="1000">
                <a:solidFill>
                  <a:srgbClr val="4A5A63"/>
                </a:solidFill>
              </a:rPr>
              <a:t>Daniel Brecht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1"/>
          <p:cNvSpPr txBox="1"/>
          <p:nvPr/>
        </p:nvSpPr>
        <p:spPr>
          <a:xfrm>
            <a:off x="541775" y="1322950"/>
            <a:ext cx="3219000" cy="15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Klare Ordnerstruktur und Schichten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Eindeutige Variablen- und Funktionsnamen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Selbsterklärende Funktionen</a:t>
            </a:r>
            <a:endParaRPr/>
          </a:p>
        </p:txBody>
      </p:sp>
      <p:sp>
        <p:nvSpPr>
          <p:cNvPr id="572" name="Google Shape;572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7" name="Google Shape;57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3950" y="1021750"/>
            <a:ext cx="2176700" cy="21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2"/>
          <p:cNvSpPr txBox="1"/>
          <p:nvPr>
            <p:ph type="title"/>
          </p:nvPr>
        </p:nvSpPr>
        <p:spPr>
          <a:xfrm>
            <a:off x="603250" y="2150850"/>
            <a:ext cx="8229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Demo</a:t>
            </a:r>
            <a:endParaRPr b="1"/>
          </a:p>
        </p:txBody>
      </p:sp>
      <p:sp>
        <p:nvSpPr>
          <p:cNvPr id="579" name="Google Shape;579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0" name="Google Shape;580;p42" title="2466471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1200" y="2524700"/>
            <a:ext cx="1826050" cy="182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