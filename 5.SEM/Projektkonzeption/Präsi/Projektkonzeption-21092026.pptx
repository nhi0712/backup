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3" r:id="rId5"/>
    <p:sldMasterId id="2147483674" r:id="rId6"/>
    <p:sldMasterId id="214748367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Lst>
  <p:sldSz cy="5143500" cx="9144000"/>
  <p:notesSz cx="6858000" cy="9144000"/>
  <p:embeddedFontLst>
    <p:embeddedFont>
      <p:font typeface="Inter Light"/>
      <p:regular r:id="rId60"/>
      <p:bold r:id="rId61"/>
      <p:italic r:id="rId62"/>
      <p:boldItalic r:id="rId63"/>
    </p:embeddedFont>
    <p:embeddedFont>
      <p:font typeface="Roboto"/>
      <p:regular r:id="rId64"/>
      <p:bold r:id="rId65"/>
      <p:italic r:id="rId66"/>
      <p:boldItalic r:id="rId67"/>
    </p:embeddedFont>
    <p:embeddedFont>
      <p:font typeface="Inter"/>
      <p:regular r:id="rId68"/>
      <p:bold r:id="rId69"/>
      <p:italic r:id="rId70"/>
      <p:boldItalic r:id="rId71"/>
    </p:embeddedFont>
    <p:embeddedFont>
      <p:font typeface="Plus Jakarta Sans"/>
      <p:regular r:id="rId72"/>
      <p:bold r:id="rId73"/>
      <p:italic r:id="rId74"/>
      <p:boldItalic r:id="rId75"/>
    </p:embeddedFont>
    <p:embeddedFont>
      <p:font typeface="Inter Medium"/>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4208A0-CE58-4DB5-A663-28A193160D85}">
  <a:tblStyle styleId="{5E4208A0-CE58-4DB5-A663-28A193160D8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font" Target="fonts/PlusJakartaSans-bold.fntdata"/><Relationship Id="rId72" Type="http://schemas.openxmlformats.org/officeDocument/2006/relationships/font" Target="fonts/PlusJakartaSans-regular.fntdata"/><Relationship Id="rId31" Type="http://schemas.openxmlformats.org/officeDocument/2006/relationships/slide" Target="slides/slide23.xml"/><Relationship Id="rId75" Type="http://schemas.openxmlformats.org/officeDocument/2006/relationships/font" Target="fonts/PlusJakartaSans-boldItalic.fntdata"/><Relationship Id="rId30" Type="http://schemas.openxmlformats.org/officeDocument/2006/relationships/slide" Target="slides/slide22.xml"/><Relationship Id="rId74" Type="http://schemas.openxmlformats.org/officeDocument/2006/relationships/font" Target="fonts/PlusJakartaSans-italic.fntdata"/><Relationship Id="rId33" Type="http://schemas.openxmlformats.org/officeDocument/2006/relationships/slide" Target="slides/slide25.xml"/><Relationship Id="rId77" Type="http://schemas.openxmlformats.org/officeDocument/2006/relationships/font" Target="fonts/InterMedium-bold.fntdata"/><Relationship Id="rId32" Type="http://schemas.openxmlformats.org/officeDocument/2006/relationships/slide" Target="slides/slide24.xml"/><Relationship Id="rId76" Type="http://schemas.openxmlformats.org/officeDocument/2006/relationships/font" Target="fonts/InterMedium-regular.fntdata"/><Relationship Id="rId35" Type="http://schemas.openxmlformats.org/officeDocument/2006/relationships/slide" Target="slides/slide27.xml"/><Relationship Id="rId79" Type="http://schemas.openxmlformats.org/officeDocument/2006/relationships/font" Target="fonts/InterMedium-boldItalic.fntdata"/><Relationship Id="rId34" Type="http://schemas.openxmlformats.org/officeDocument/2006/relationships/slide" Target="slides/slide26.xml"/><Relationship Id="rId78" Type="http://schemas.openxmlformats.org/officeDocument/2006/relationships/font" Target="fonts/InterMedium-italic.fntdata"/><Relationship Id="rId71" Type="http://schemas.openxmlformats.org/officeDocument/2006/relationships/font" Target="fonts/Inter-boldItalic.fntdata"/><Relationship Id="rId70" Type="http://schemas.openxmlformats.org/officeDocument/2006/relationships/font" Target="fonts/Inter-italic.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InterLight-italic.fntdata"/><Relationship Id="rId61" Type="http://schemas.openxmlformats.org/officeDocument/2006/relationships/font" Target="fonts/InterLight-bold.fntdata"/><Relationship Id="rId20" Type="http://schemas.openxmlformats.org/officeDocument/2006/relationships/slide" Target="slides/slide12.xml"/><Relationship Id="rId64" Type="http://schemas.openxmlformats.org/officeDocument/2006/relationships/font" Target="fonts/Roboto-regular.fntdata"/><Relationship Id="rId63" Type="http://schemas.openxmlformats.org/officeDocument/2006/relationships/font" Target="fonts/InterLight-boldItalic.fntdata"/><Relationship Id="rId22" Type="http://schemas.openxmlformats.org/officeDocument/2006/relationships/slide" Target="slides/slide14.xml"/><Relationship Id="rId66" Type="http://schemas.openxmlformats.org/officeDocument/2006/relationships/font" Target="fonts/Roboto-italic.fntdata"/><Relationship Id="rId21" Type="http://schemas.openxmlformats.org/officeDocument/2006/relationships/slide" Target="slides/slide13.xml"/><Relationship Id="rId65" Type="http://schemas.openxmlformats.org/officeDocument/2006/relationships/font" Target="fonts/Roboto-bold.fntdata"/><Relationship Id="rId24" Type="http://schemas.openxmlformats.org/officeDocument/2006/relationships/slide" Target="slides/slide16.xml"/><Relationship Id="rId68" Type="http://schemas.openxmlformats.org/officeDocument/2006/relationships/font" Target="fonts/Inter-regular.fntdata"/><Relationship Id="rId23" Type="http://schemas.openxmlformats.org/officeDocument/2006/relationships/slide" Target="slides/slide15.xml"/><Relationship Id="rId67" Type="http://schemas.openxmlformats.org/officeDocument/2006/relationships/font" Target="fonts/Roboto-boldItalic.fntdata"/><Relationship Id="rId60" Type="http://schemas.openxmlformats.org/officeDocument/2006/relationships/font" Target="fonts/InterLight-regular.fntdata"/><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Inter-bold.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b654da4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b654da4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bab1a3233_25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fbab1a3233_25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1f7fcdb2bbcce9d1_51_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h1f7fcdb2bbcce9d1_51_6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
              <a:t>Idee der Identity Federation umgesetzt: Keycloak prüft die Nutzer nicht selbst, sondern leitet weiter an bwIDM </a:t>
            </a:r>
            <a:endParaRPr/>
          </a:p>
          <a:p>
            <a:pPr indent="-298450" lvl="0" marL="457200" rtl="0" algn="l">
              <a:spcBef>
                <a:spcPts val="0"/>
              </a:spcBef>
              <a:spcAft>
                <a:spcPts val="0"/>
              </a:spcAft>
              <a:buSzPts val="1100"/>
              <a:buChar char="-"/>
            </a:pPr>
            <a:r>
              <a:rPr lang="en"/>
              <a:t>Moodle -&gt; App Store: Moodle startet App-Store als externes Tool per LTI. Dabei wird auch die Kursrolle (Trainer, Studierende, Admin, etc. ) übergeben</a:t>
            </a:r>
            <a:endParaRPr/>
          </a:p>
          <a:p>
            <a:pPr indent="-298450" lvl="0" marL="457200" rtl="0" algn="l">
              <a:spcBef>
                <a:spcPts val="0"/>
              </a:spcBef>
              <a:spcAft>
                <a:spcPts val="0"/>
              </a:spcAft>
              <a:buSzPts val="1100"/>
              <a:buChar char="-"/>
            </a:pPr>
            <a:r>
              <a:rPr lang="en"/>
              <a:t>Self-Service-UI -&gt; App Store: Login Flow über Keycloack, das an bwIDM weitergibt</a:t>
            </a:r>
            <a:endParaRPr/>
          </a:p>
          <a:p>
            <a:pPr indent="-298450" lvl="0" marL="457200" rtl="0" algn="l">
              <a:spcBef>
                <a:spcPts val="0"/>
              </a:spcBef>
              <a:spcAft>
                <a:spcPts val="0"/>
              </a:spcAft>
              <a:buSzPts val="1100"/>
              <a:buChar char="-"/>
            </a:pPr>
            <a:r>
              <a:rPr lang="en"/>
              <a:t>Moodle als maßgebliche Quelle für Rolle, Rolle kann nur hochgestuft werden, nicht zurückgesetzt (by Design Entscheidung um zu verhindern, dass bspw. Dozierende zu wenig Nutzungsrechte haben</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OAuth 2.0</a:t>
            </a:r>
            <a:r>
              <a:rPr lang="en">
                <a:solidFill>
                  <a:schemeClr val="dk1"/>
                </a:solidFill>
              </a:rPr>
              <a:t> → primär Autorisierung („Darf diese Anwendung auf X zugreifen?“)</a:t>
            </a:r>
            <a:endParaRPr>
              <a:solidFill>
                <a:schemeClr val="dk1"/>
              </a:solidFill>
            </a:endParaRPr>
          </a:p>
          <a:p>
            <a:pPr indent="0" lvl="0" marL="0" rtl="0" algn="l">
              <a:spcBef>
                <a:spcPts val="0"/>
              </a:spcBef>
              <a:spcAft>
                <a:spcPts val="0"/>
              </a:spcAft>
              <a:buNone/>
            </a:pPr>
            <a:r>
              <a:rPr b="1" lang="en">
                <a:solidFill>
                  <a:schemeClr val="dk1"/>
                </a:solidFill>
              </a:rPr>
              <a:t>OpenID Connect</a:t>
            </a:r>
            <a:r>
              <a:rPr lang="en">
                <a:solidFill>
                  <a:schemeClr val="dk1"/>
                </a:solidFill>
              </a:rPr>
              <a:t> → baut auf OAuth 2.0 auf und liefert zusätzlich eine standardisierte Identität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Nutzer gibt Passwort ein</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Keycloak: "DHBW-Account? Den kenne ich nicht selbst —</a:t>
            </a:r>
            <a:endParaRPr>
              <a:solidFill>
                <a:schemeClr val="dk1"/>
              </a:solidFill>
            </a:endParaRPr>
          </a:p>
          <a:p>
            <a:pPr indent="0" lvl="0" marL="0" rtl="0" algn="l">
              <a:spcBef>
                <a:spcPts val="0"/>
              </a:spcBef>
              <a:spcAft>
                <a:spcPts val="0"/>
              </a:spcAft>
              <a:buNone/>
            </a:pPr>
            <a:r>
              <a:rPr lang="en">
                <a:solidFill>
                  <a:schemeClr val="dk1"/>
                </a:solidFill>
              </a:rPr>
              <a:t>           ich schicke dich zu bwIDM weiter"</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bwIDM prüft Passwort (der DHBW-Login)</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bwIDM sagt Keycloak: "Ja, der ist gültig, hier sind Name + E-Mail"</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Keycloak vertraut bwIDM und stellt Token aus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150" name="Google Shape;150;h1f7fcdb2bbcce9d1_51_6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bab1a3233_25_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3fbab1a3233_25_6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t/>
            </a:r>
            <a:endParaRPr>
              <a:solidFill>
                <a:schemeClr val="dk1"/>
              </a:solidFill>
            </a:endParaRPr>
          </a:p>
          <a:p>
            <a:pPr indent="0" lvl="0" marL="0" rtl="0" algn="l">
              <a:spcBef>
                <a:spcPts val="0"/>
              </a:spcBef>
              <a:spcAft>
                <a:spcPts val="0"/>
              </a:spcAft>
              <a:buNone/>
            </a:pPr>
            <a:r>
              <a:rPr lang="en"/>
              <a:t>(für finale Abgabe)</a:t>
            </a:r>
            <a:endParaRPr/>
          </a:p>
        </p:txBody>
      </p:sp>
      <p:sp>
        <p:nvSpPr>
          <p:cNvPr id="177" name="Google Shape;177;g3fbab1a3233_25_6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bb22c0bfe_49_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fbb22c0bfe_49_3: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fbb22c0bfe_49_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bb22c0bfe_2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fbb22c0bfe_2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bab1a3233_66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fbab1a3233_66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GHCR: - Speicherung / Bereitstellung der gebauten Container Images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Staging und Production-Deployment als Github Actions Workflows definiert -&gt; Jobs auf Self Hosted Runner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Terraform: Was soll in Open Stack existieren? Terraform liefert Adresse der VM zurück</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Open-Stack Infrastruktur: Welche VM existiert, welches netzwerk verwendet, welche Security-Groups gelten und welches Storage eingebunden?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Ansible: Wie soll diese VM eingerichtet sein? </a:t>
            </a:r>
            <a:endParaRPr/>
          </a:p>
          <a:p>
            <a:pPr indent="-298450" lvl="0" marL="457200" rtl="0" algn="l">
              <a:spcBef>
                <a:spcPts val="0"/>
              </a:spcBef>
              <a:spcAft>
                <a:spcPts val="0"/>
              </a:spcAft>
              <a:buSzPts val="1100"/>
              <a:buChar char="-"/>
            </a:pPr>
            <a:r>
              <a:rPr lang="en"/>
              <a:t>Konfiguration auf der VM selbst: Images aus GHCR ziehen, Dateien kopieren, Docker und Storage einrichten, Docker Compose Start, Datenbankmigration</a:t>
            </a:r>
            <a:endParaRPr/>
          </a:p>
          <a:p>
            <a:pPr indent="-298450" lvl="0" marL="457200" rtl="0" algn="l">
              <a:spcBef>
                <a:spcPts val="0"/>
              </a:spcBef>
              <a:spcAft>
                <a:spcPts val="0"/>
              </a:spcAft>
              <a:buSzPts val="1100"/>
              <a:buChar char="-"/>
            </a:pPr>
            <a:r>
              <a:rPr lang="en"/>
              <a:t>Deployed </a:t>
            </a:r>
            <a:r>
              <a:rPr lang="en"/>
              <a:t>darauf</a:t>
            </a:r>
            <a:r>
              <a:rPr lang="en"/>
              <a:t> Anwendung</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Danach getrennt Staging-VM und Production-VM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Moodle, Apps: - eigene CIs, gehören nicht zum dargestellten Deploymentpfad des Kern-App-Stores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17" name="Google Shape;217;g3fbab1a3233_66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fbab1a3233_9_5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3fbab1a3233_9_5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Schwachstellen: Beispielsweise npm audit, pip-audit für Abhängigkeiten, Trivy für Konfiguration/Dateien, Sicherheitslücken; TLS = Transport Layer Security (Protokoll hinter HTTPS, Kommunikation zwischen Browser und Server verschlüsselt + Server über Zertifikat ausweisen)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Drift: Abweichung tatsächlicher Zustand und vorgesehener Zustand (Staging und Production)</a:t>
            </a:r>
            <a:endParaRPr/>
          </a:p>
        </p:txBody>
      </p:sp>
      <p:sp>
        <p:nvSpPr>
          <p:cNvPr id="276" name="Google Shape;276;g3fbab1a3233_9_5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bab1a3233_9_7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fbab1a3233_9_7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fbab1a3233_9_7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bb22c0bfe_23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fbb22c0bfe_23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fbb22c0bfe_23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fbb22c0bfe_23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Wichtig als </a:t>
            </a:r>
            <a:r>
              <a:rPr lang="en">
                <a:solidFill>
                  <a:schemeClr val="dk1"/>
                </a:solidFill>
              </a:rPr>
              <a:t>QS Maßnahme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fbb22c0bfe_23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fbb22c0bfe_23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Sicherstellung, dass Moodle Integration steht</a:t>
            </a:r>
            <a:endParaRPr/>
          </a:p>
          <a:p>
            <a:pPr indent="0" lvl="0" marL="0" rtl="0" algn="l">
              <a:spcBef>
                <a:spcPts val="0"/>
              </a:spcBef>
              <a:spcAft>
                <a:spcPts val="0"/>
              </a:spcAft>
              <a:buNone/>
            </a:pPr>
            <a:r>
              <a:rPr lang="en"/>
              <a:t>3 unabhängige Systeme</a:t>
            </a:r>
            <a:endParaRPr/>
          </a:p>
          <a:p>
            <a:pPr indent="0" lvl="0" marL="0" rtl="0" algn="l">
              <a:spcBef>
                <a:spcPts val="0"/>
              </a:spcBef>
              <a:spcAft>
                <a:spcPts val="0"/>
              </a:spcAft>
              <a:buNone/>
            </a:pPr>
            <a:r>
              <a:rPr b="1" lang="en">
                <a:solidFill>
                  <a:schemeClr val="dk1"/>
                </a:solidFill>
              </a:rPr>
              <a:t>Wichtig als </a:t>
            </a:r>
            <a:r>
              <a:rPr lang="en">
                <a:solidFill>
                  <a:schemeClr val="dk1"/>
                </a:solidFill>
              </a:rPr>
              <a:t>QS Maßnahme</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fbb22c0bfe_23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fbb22c0bfe_23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Anknüpfen neues Team</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fbb22c0bfe_23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fbb22c0bfe_23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fbb22c0bfe_23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fbb22c0bfe_23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fbb22c0bfe_138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g3fbb22c0bfe_138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fbb22c0bfe_138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3fbb22c0bfe_138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fbb22c0bfe_138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g3fbb22c0bfe_138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fbb22c0bfe_138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g3fbb22c0bfe_138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480dfab10b921a9f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480dfab10b921a9f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fbb22c0bfe_138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g3fbb22c0bfe_138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fbb22c0bfe_138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g3fbb22c0bfe_138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fbb22c0bfe_138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3fbb22c0bfe_138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fbb22c0bfe_138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g3fbb22c0bfe_138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fbb22c0bfe_138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g3fbb22c0bfe_138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bb22c0bfe_138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g3fbb22c0bfe_138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fbb22c0bfe_13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
              <a:t>●ROTER FADEN EINSTIEG</a:t>
            </a:r>
            <a:endParaRPr/>
          </a:p>
          <a:p>
            <a:pPr indent="0" lvl="0" marL="12700" rtl="0" algn="l">
              <a:lnSpc>
                <a:spcPct val="115000"/>
              </a:lnSpc>
              <a:spcBef>
                <a:spcPts val="0"/>
              </a:spcBef>
              <a:spcAft>
                <a:spcPts val="0"/>
              </a:spcAft>
              <a:buClr>
                <a:schemeClr val="dk1"/>
              </a:buClr>
              <a:buSzPts val="1100"/>
              <a:buFont typeface="Arial"/>
              <a:buNone/>
            </a:pPr>
            <a:r>
              <a:rPr lang="en"/>
              <a:t>●• Ausgangssituation: Wir wollen, dass ein Agent eine Spezifikation bekommt und eigenständig bis zum Deployment liefert — qualitätsgesichert, ohne Degradierung der Codebasis</a:t>
            </a:r>
            <a:endParaRPr/>
          </a:p>
          <a:p>
            <a:pPr indent="0" lvl="0" marL="12700" rtl="0" algn="l">
              <a:lnSpc>
                <a:spcPct val="115000"/>
              </a:lnSpc>
              <a:spcBef>
                <a:spcPts val="0"/>
              </a:spcBef>
              <a:spcAft>
                <a:spcPts val="0"/>
              </a:spcAft>
              <a:buClr>
                <a:schemeClr val="dk1"/>
              </a:buClr>
              <a:buSzPts val="1100"/>
              <a:buFont typeface="Arial"/>
              <a:buNone/>
            </a:pPr>
            <a:r>
              <a:rPr lang="en"/>
              <a:t>●• Die vier Werkzeuge (Entwickeln, Debuggen, Qualität sichern, Deployen) sind nicht optional — ohne sie läuft kein Agent zuverlässig</a:t>
            </a:r>
            <a:endParaRPr/>
          </a:p>
          <a:p>
            <a:pPr indent="0" lvl="0" marL="12700" rtl="0" algn="l">
              <a:lnSpc>
                <a:spcPct val="115000"/>
              </a:lnSpc>
              <a:spcBef>
                <a:spcPts val="0"/>
              </a:spcBef>
              <a:spcAft>
                <a:spcPts val="0"/>
              </a:spcAft>
              <a:buClr>
                <a:schemeClr val="dk1"/>
              </a:buClr>
              <a:buSzPts val="1100"/>
              <a:buFont typeface="Arial"/>
              <a:buNone/>
            </a:pPr>
            <a:r>
              <a:rPr lang="en"/>
              <a:t>●• Überleitung: Was ist eigentlich ein Harness? Daher kommen diese Werkzeuge.</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●DESIGNENTSCHEIDUNG</a:t>
            </a:r>
            <a:endParaRPr/>
          </a:p>
          <a:p>
            <a:pPr indent="0" lvl="0" marL="12700" rtl="0" algn="l">
              <a:lnSpc>
                <a:spcPct val="115000"/>
              </a:lnSpc>
              <a:spcBef>
                <a:spcPts val="0"/>
              </a:spcBef>
              <a:spcAft>
                <a:spcPts val="0"/>
              </a:spcAft>
              <a:buClr>
                <a:schemeClr val="dk1"/>
              </a:buClr>
              <a:buSzPts val="1100"/>
              <a:buFont typeface="Arial"/>
              <a:buNone/>
            </a:pPr>
            <a:r>
              <a:rPr lang="en"/>
              <a:t>●→ "Spezifikation rein, geprüfte Lieferung raus" ist das Versprechen — das Harness ist der Mechanismus, der es einlöst</a:t>
            </a:r>
            <a:endParaRPr/>
          </a:p>
          <a:p>
            <a:pPr indent="0" lvl="0" marL="0" rtl="0" algn="l">
              <a:spcBef>
                <a:spcPts val="0"/>
              </a:spcBef>
              <a:spcAft>
                <a:spcPts val="0"/>
              </a:spcAft>
              <a:buNone/>
            </a:pPr>
            <a:r>
              <a:t/>
            </a:r>
            <a:endParaRPr/>
          </a:p>
        </p:txBody>
      </p:sp>
      <p:sp>
        <p:nvSpPr>
          <p:cNvPr id="538" name="Google Shape;538;g3fbb22c0bfe_13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fbb22c0bfe_13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
              <a:t>●KERNFORMEL</a:t>
            </a:r>
            <a:endParaRPr/>
          </a:p>
          <a:p>
            <a:pPr indent="0" lvl="0" marL="12700" rtl="0" algn="l">
              <a:lnSpc>
                <a:spcPct val="115000"/>
              </a:lnSpc>
              <a:spcBef>
                <a:spcPts val="0"/>
              </a:spcBef>
              <a:spcAft>
                <a:spcPts val="0"/>
              </a:spcAft>
              <a:buClr>
                <a:schemeClr val="dk1"/>
              </a:buClr>
              <a:buSzPts val="1100"/>
              <a:buFont typeface="Arial"/>
              <a:buNone/>
            </a:pPr>
            <a:r>
              <a:rPr lang="en"/>
              <a:t>●• Agent = Modell + Harness — Quelle: LangChain, B. Böckeler (martinfowler.com), R. Lopopolo (OpenAI)</a:t>
            </a:r>
            <a:endParaRPr/>
          </a:p>
          <a:p>
            <a:pPr indent="0" lvl="0" marL="12700" rtl="0" algn="l">
              <a:lnSpc>
                <a:spcPct val="115000"/>
              </a:lnSpc>
              <a:spcBef>
                <a:spcPts val="0"/>
              </a:spcBef>
              <a:spcAft>
                <a:spcPts val="0"/>
              </a:spcAft>
              <a:buClr>
                <a:schemeClr val="dk1"/>
              </a:buClr>
              <a:buSzPts val="1100"/>
              <a:buFont typeface="Arial"/>
              <a:buNone/>
            </a:pPr>
            <a:r>
              <a:rPr lang="en"/>
              <a:t>●• Das Modell liefert Intelligenz — aber Intelligenz ohne Kontext und Grenzen produziert inkonsistente Ergebnisse</a:t>
            </a:r>
            <a:endParaRPr/>
          </a:p>
          <a:p>
            <a:pPr indent="0" lvl="0" marL="12700" rtl="0" algn="l">
              <a:lnSpc>
                <a:spcPct val="115000"/>
              </a:lnSpc>
              <a:spcBef>
                <a:spcPts val="0"/>
              </a:spcBef>
              <a:spcAft>
                <a:spcPts val="0"/>
              </a:spcAft>
              <a:buClr>
                <a:schemeClr val="dk1"/>
              </a:buClr>
              <a:buSzPts val="1100"/>
              <a:buFont typeface="Arial"/>
              <a:buNone/>
            </a:pPr>
            <a:r>
              <a:rPr lang="en"/>
              <a:t>●• Harness = alles außer dem Modell: Kontext, Tools, Regeln</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●ZWEI RICHTUNGEN</a:t>
            </a:r>
            <a:endParaRPr/>
          </a:p>
          <a:p>
            <a:pPr indent="0" lvl="0" marL="12700" rtl="0" algn="l">
              <a:lnSpc>
                <a:spcPct val="115000"/>
              </a:lnSpc>
              <a:spcBef>
                <a:spcPts val="0"/>
              </a:spcBef>
              <a:spcAft>
                <a:spcPts val="0"/>
              </a:spcAft>
              <a:buClr>
                <a:schemeClr val="dk1"/>
              </a:buClr>
              <a:buSzPts val="1100"/>
              <a:buFont typeface="Arial"/>
              <a:buNone/>
            </a:pPr>
            <a:r>
              <a:rPr lang="en"/>
              <a:t>●• Feedforward (Guides): steuern VOR der Handlung — Arbeitsabläufe, Wissen, Systemkontext vorgeben</a:t>
            </a:r>
            <a:endParaRPr/>
          </a:p>
          <a:p>
            <a:pPr indent="0" lvl="0" marL="12700" rtl="0" algn="l">
              <a:lnSpc>
                <a:spcPct val="115000"/>
              </a:lnSpc>
              <a:spcBef>
                <a:spcPts val="0"/>
              </a:spcBef>
              <a:spcAft>
                <a:spcPts val="0"/>
              </a:spcAft>
              <a:buClr>
                <a:schemeClr val="dk1"/>
              </a:buClr>
              <a:buSzPts val="1100"/>
              <a:buFont typeface="Arial"/>
              <a:buNone/>
            </a:pPr>
            <a:r>
              <a:rPr lang="en"/>
              <a:t>●• Feedback (Sensoren): prüfen NACH der Handlung — CI-Gates, Linter, Tests lassen den Agenten sich selbst korrigieren</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●DESIGNENTSCHEIDUNG</a:t>
            </a:r>
            <a:endParaRPr/>
          </a:p>
          <a:p>
            <a:pPr indent="0" lvl="0" marL="12700" rtl="0" algn="l">
              <a:lnSpc>
                <a:spcPct val="115000"/>
              </a:lnSpc>
              <a:spcBef>
                <a:spcPts val="0"/>
              </a:spcBef>
              <a:spcAft>
                <a:spcPts val="0"/>
              </a:spcAft>
              <a:buClr>
                <a:schemeClr val="dk1"/>
              </a:buClr>
              <a:buSzPts val="1100"/>
              <a:buFont typeface="Arial"/>
              <a:buNone/>
            </a:pPr>
            <a:r>
              <a:rPr lang="en"/>
              <a:t>●→ Ohne Feedforward rät der Agent Architektur. Ohne Feedback merkt er Fehler nicht. Beide Richtungen sind Pflicht.</a:t>
            </a:r>
            <a:endParaRPr/>
          </a:p>
          <a:p>
            <a:pPr indent="0" lvl="0" marL="0" rtl="0" algn="l">
              <a:spcBef>
                <a:spcPts val="0"/>
              </a:spcBef>
              <a:spcAft>
                <a:spcPts val="0"/>
              </a:spcAft>
              <a:buNone/>
            </a:pPr>
            <a:r>
              <a:t/>
            </a:r>
            <a:endParaRPr/>
          </a:p>
        </p:txBody>
      </p:sp>
      <p:sp>
        <p:nvSpPr>
          <p:cNvPr id="560" name="Google Shape;560;g3fbb22c0bfe_13_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fbb22c0bfe_13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
              <a:t>●UNSER HARNESS: VIER EBENEN</a:t>
            </a:r>
            <a:endParaRPr/>
          </a:p>
          <a:p>
            <a:pPr indent="0" lvl="0" marL="12700" rtl="0" algn="l">
              <a:lnSpc>
                <a:spcPct val="115000"/>
              </a:lnSpc>
              <a:spcBef>
                <a:spcPts val="0"/>
              </a:spcBef>
              <a:spcAft>
                <a:spcPts val="0"/>
              </a:spcAft>
              <a:buClr>
                <a:schemeClr val="dk1"/>
              </a:buClr>
              <a:buSzPts val="1100"/>
              <a:buFont typeface="Arial"/>
              <a:buNone/>
            </a:pPr>
            <a:r>
              <a:rPr lang="en"/>
              <a:t>●• 01 WISSEN — Kontext vor Handlung: CLAUDE.md, claude_docs/ (geschachtelt pro Repo), HANDOVER.md, Graphify (cross-repo), OpenAPI</a:t>
            </a:r>
            <a:endParaRPr/>
          </a:p>
          <a:p>
            <a:pPr indent="0" lvl="0" marL="12700" rtl="0" algn="l">
              <a:lnSpc>
                <a:spcPct val="115000"/>
              </a:lnSpc>
              <a:spcBef>
                <a:spcPts val="0"/>
              </a:spcBef>
              <a:spcAft>
                <a:spcPts val="0"/>
              </a:spcAft>
              <a:buClr>
                <a:schemeClr val="dk1"/>
              </a:buClr>
              <a:buSzPts val="1100"/>
              <a:buFont typeface="Arial"/>
              <a:buNone/>
            </a:pPr>
            <a:r>
              <a:rPr lang="en"/>
              <a:t>●  → Designentscheidung: kein flaches architecture.md, weil FastAPI + Alembic + Celery + Keycloak zu verschieden sind — separate Unterordner statt Vermischung</a:t>
            </a:r>
            <a:endParaRPr/>
          </a:p>
          <a:p>
            <a:pPr indent="0" lvl="0" marL="12700" rtl="0" algn="l">
              <a:lnSpc>
                <a:spcPct val="115000"/>
              </a:lnSpc>
              <a:spcBef>
                <a:spcPts val="0"/>
              </a:spcBef>
              <a:spcAft>
                <a:spcPts val="0"/>
              </a:spcAft>
              <a:buClr>
                <a:schemeClr val="dk1"/>
              </a:buClr>
              <a:buSzPts val="1100"/>
              <a:buFont typeface="Arial"/>
              <a:buNone/>
            </a:pPr>
            <a:r>
              <a:rPr lang="en"/>
              <a:t>●• 02 SKILLS — Standardisierte Arbeitsabläufe: Brainstorming, TDD, Code Review, ship-feature, Ops-Skills</a:t>
            </a:r>
            <a:endParaRPr/>
          </a:p>
          <a:p>
            <a:pPr indent="0" lvl="0" marL="12700" rtl="0" algn="l">
              <a:lnSpc>
                <a:spcPct val="115000"/>
              </a:lnSpc>
              <a:spcBef>
                <a:spcPts val="0"/>
              </a:spcBef>
              <a:spcAft>
                <a:spcPts val="0"/>
              </a:spcAft>
              <a:buClr>
                <a:schemeClr val="dk1"/>
              </a:buClr>
              <a:buSzPts val="1100"/>
              <a:buFont typeface="Arial"/>
              <a:buNone/>
            </a:pPr>
            <a:r>
              <a:rPr lang="en"/>
              <a:t>●  → Designentscheidung: Skills als Markdown-Dateien, nicht als Code — wartungsarm, versionierbar</a:t>
            </a:r>
            <a:endParaRPr/>
          </a:p>
          <a:p>
            <a:pPr indent="0" lvl="0" marL="12700" rtl="0" algn="l">
              <a:lnSpc>
                <a:spcPct val="115000"/>
              </a:lnSpc>
              <a:spcBef>
                <a:spcPts val="0"/>
              </a:spcBef>
              <a:spcAft>
                <a:spcPts val="0"/>
              </a:spcAft>
              <a:buClr>
                <a:schemeClr val="dk1"/>
              </a:buClr>
              <a:buSzPts val="1100"/>
              <a:buFont typeface="Arial"/>
              <a:buNone/>
            </a:pPr>
            <a:r>
              <a:rPr lang="en"/>
              <a:t>●• 03 TOOLS — Kontrollierter Zugriff auf Systeme: GitHub MCP, podman-mcp, python-openstackmcp</a:t>
            </a:r>
            <a:endParaRPr/>
          </a:p>
          <a:p>
            <a:pPr indent="0" lvl="0" marL="12700" rtl="0" algn="l">
              <a:lnSpc>
                <a:spcPct val="115000"/>
              </a:lnSpc>
              <a:spcBef>
                <a:spcPts val="0"/>
              </a:spcBef>
              <a:spcAft>
                <a:spcPts val="0"/>
              </a:spcAft>
              <a:buClr>
                <a:schemeClr val="dk1"/>
              </a:buClr>
              <a:buSzPts val="1100"/>
              <a:buFont typeface="Arial"/>
              <a:buNone/>
            </a:pPr>
            <a:r>
              <a:rPr lang="en"/>
              <a:t>●  → Designentscheidung: keine eigenen MCP-Server bauen — drei bestehende MCPs decken alles ab</a:t>
            </a:r>
            <a:endParaRPr/>
          </a:p>
          <a:p>
            <a:pPr indent="0" lvl="0" marL="12700" rtl="0" algn="l">
              <a:lnSpc>
                <a:spcPct val="115000"/>
              </a:lnSpc>
              <a:spcBef>
                <a:spcPts val="0"/>
              </a:spcBef>
              <a:spcAft>
                <a:spcPts val="0"/>
              </a:spcAft>
              <a:buClr>
                <a:schemeClr val="dk1"/>
              </a:buClr>
              <a:buSzPts val="1100"/>
              <a:buFont typeface="Arial"/>
              <a:buNone/>
            </a:pPr>
            <a:r>
              <a:rPr lang="en"/>
              <a:t>●• 04 KONTROLLEN — Grenzen für irreversible Aktionen: Branch Protection, CI Gates, PreToolUse-Hooks, HITL</a:t>
            </a:r>
            <a:endParaRPr/>
          </a:p>
          <a:p>
            <a:pPr indent="0" lvl="0" marL="12700" rtl="0" algn="l">
              <a:lnSpc>
                <a:spcPct val="115000"/>
              </a:lnSpc>
              <a:spcBef>
                <a:spcPts val="0"/>
              </a:spcBef>
              <a:spcAft>
                <a:spcPts val="0"/>
              </a:spcAft>
              <a:buClr>
                <a:schemeClr val="dk1"/>
              </a:buClr>
              <a:buSzPts val="1100"/>
              <a:buFont typeface="Arial"/>
              <a:buNone/>
            </a:pPr>
            <a:r>
              <a:rPr lang="en"/>
              <a:t>●  → Designentscheidung: durchgesetzte Regeln statt Konventionen — Branch Protection macht direct push technisch unmöglich</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●ÜBERLEITUNG</a:t>
            </a:r>
            <a:endParaRPr/>
          </a:p>
          <a:p>
            <a:pPr indent="0" lvl="0" marL="12700" rtl="0" algn="l">
              <a:lnSpc>
                <a:spcPct val="115000"/>
              </a:lnSpc>
              <a:spcBef>
                <a:spcPts val="0"/>
              </a:spcBef>
              <a:spcAft>
                <a:spcPts val="0"/>
              </a:spcAft>
              <a:buClr>
                <a:schemeClr val="dk1"/>
              </a:buClr>
              <a:buSzPts val="1100"/>
              <a:buFont typeface="Arial"/>
              <a:buNone/>
            </a:pPr>
            <a:r>
              <a:rPr lang="en"/>
              <a:t>●→ Wie sehen die Prozesse aus, die diese vier Ebenen zusammenbringen?</a:t>
            </a:r>
            <a:endParaRPr/>
          </a:p>
          <a:p>
            <a:pPr indent="0" lvl="0" marL="0" rtl="0" algn="l">
              <a:spcBef>
                <a:spcPts val="0"/>
              </a:spcBef>
              <a:spcAft>
                <a:spcPts val="0"/>
              </a:spcAft>
              <a:buNone/>
            </a:pPr>
            <a:r>
              <a:t/>
            </a:r>
            <a:endParaRPr/>
          </a:p>
        </p:txBody>
      </p:sp>
      <p:sp>
        <p:nvSpPr>
          <p:cNvPr id="590" name="Google Shape;590;g3fbb22c0bfe_13_1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fbb22c0bfe_13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
              <a:t>●ZWEI PROZESSE, EIN FLUSS</a:t>
            </a:r>
            <a:endParaRPr/>
          </a:p>
          <a:p>
            <a:pPr indent="0" lvl="0" marL="12700" rtl="0" algn="l">
              <a:lnSpc>
                <a:spcPct val="115000"/>
              </a:lnSpc>
              <a:spcBef>
                <a:spcPts val="0"/>
              </a:spcBef>
              <a:spcAft>
                <a:spcPts val="0"/>
              </a:spcAft>
              <a:buClr>
                <a:schemeClr val="dk1"/>
              </a:buClr>
              <a:buSzPts val="1100"/>
              <a:buFont typeface="Arial"/>
              <a:buNone/>
            </a:pPr>
            <a:r>
              <a:rPr lang="en"/>
              <a:t>●• Prozess 1 (Issue Creation): Vom Wunsch zur Spezifikation — klärt WAS gebaut wird</a:t>
            </a:r>
            <a:endParaRPr/>
          </a:p>
          <a:p>
            <a:pPr indent="0" lvl="0" marL="12700" rtl="0" algn="l">
              <a:lnSpc>
                <a:spcPct val="115000"/>
              </a:lnSpc>
              <a:spcBef>
                <a:spcPts val="0"/>
              </a:spcBef>
              <a:spcAft>
                <a:spcPts val="0"/>
              </a:spcAft>
              <a:buClr>
                <a:schemeClr val="dk1"/>
              </a:buClr>
              <a:buSzPts val="1100"/>
              <a:buFont typeface="Arial"/>
              <a:buNone/>
            </a:pPr>
            <a:r>
              <a:rPr lang="en"/>
              <a:t>●• Prozess 2 (Development): Von der Spezifikation zur Staging-Deployment — klärt WIE es geprüft in den Einsatz kommt</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●ISSUE CREATION — SCHRITTE</a:t>
            </a:r>
            <a:endParaRPr/>
          </a:p>
          <a:p>
            <a:pPr indent="0" lvl="0" marL="12700" rtl="0" algn="l">
              <a:lnSpc>
                <a:spcPct val="115000"/>
              </a:lnSpc>
              <a:spcBef>
                <a:spcPts val="0"/>
              </a:spcBef>
              <a:spcAft>
                <a:spcPts val="0"/>
              </a:spcAft>
              <a:buClr>
                <a:schemeClr val="dk1"/>
              </a:buClr>
              <a:buSzPts val="1100"/>
              <a:buFont typeface="Arial"/>
              <a:buNone/>
            </a:pPr>
            <a:r>
              <a:rPr lang="en"/>
              <a:t>●1. MENSCH: Formuliert die Anforderung (freie Form — kein Template nötig)</a:t>
            </a:r>
            <a:endParaRPr/>
          </a:p>
          <a:p>
            <a:pPr indent="0" lvl="0" marL="12700" rtl="0" algn="l">
              <a:lnSpc>
                <a:spcPct val="115000"/>
              </a:lnSpc>
              <a:spcBef>
                <a:spcPts val="0"/>
              </a:spcBef>
              <a:spcAft>
                <a:spcPts val="0"/>
              </a:spcAft>
              <a:buClr>
                <a:schemeClr val="dk1"/>
              </a:buClr>
              <a:buSzPts val="1100"/>
              <a:buFont typeface="Arial"/>
              <a:buNone/>
            </a:pPr>
            <a:r>
              <a:rPr lang="en"/>
              <a:t>●2. AGENT: Klarifizieren — liest HANDOVER.md + claude_docs/ BEVOR er Fragen stellt</a:t>
            </a:r>
            <a:endParaRPr/>
          </a:p>
          <a:p>
            <a:pPr indent="0" lvl="0" marL="12700" rtl="0" algn="l">
              <a:lnSpc>
                <a:spcPct val="115000"/>
              </a:lnSpc>
              <a:spcBef>
                <a:spcPts val="0"/>
              </a:spcBef>
              <a:spcAft>
                <a:spcPts val="0"/>
              </a:spcAft>
              <a:buClr>
                <a:schemeClr val="dk1"/>
              </a:buClr>
              <a:buSzPts val="1100"/>
              <a:buFont typeface="Arial"/>
              <a:buNone/>
            </a:pPr>
            <a:r>
              <a:rPr lang="en"/>
              <a:t>●3. MENSCH: Antwortet auf Rückfragen</a:t>
            </a:r>
            <a:endParaRPr/>
          </a:p>
          <a:p>
            <a:pPr indent="0" lvl="0" marL="12700" rtl="0" algn="l">
              <a:lnSpc>
                <a:spcPct val="115000"/>
              </a:lnSpc>
              <a:spcBef>
                <a:spcPts val="0"/>
              </a:spcBef>
              <a:spcAft>
                <a:spcPts val="0"/>
              </a:spcAft>
              <a:buClr>
                <a:schemeClr val="dk1"/>
              </a:buClr>
              <a:buSzPts val="1100"/>
              <a:buFont typeface="Arial"/>
              <a:buNone/>
            </a:pPr>
            <a:r>
              <a:rPr lang="en"/>
              <a:t>●4. AGENT: Brainstorming — nutzt Graphify für Cross-Repo-Abhängigkeiten + OpenAPI für echte Contracts</a:t>
            </a:r>
            <a:endParaRPr/>
          </a:p>
          <a:p>
            <a:pPr indent="0" lvl="0" marL="12700" rtl="0" algn="l">
              <a:lnSpc>
                <a:spcPct val="115000"/>
              </a:lnSpc>
              <a:spcBef>
                <a:spcPts val="0"/>
              </a:spcBef>
              <a:spcAft>
                <a:spcPts val="0"/>
              </a:spcAft>
              <a:buClr>
                <a:schemeClr val="dk1"/>
              </a:buClr>
              <a:buSzPts val="1100"/>
              <a:buFont typeface="Arial"/>
              <a:buNone/>
            </a:pPr>
            <a:r>
              <a:rPr lang="en"/>
              <a:t>●5. AGENT: Erstellt Design Spec + Implementation Spec</a:t>
            </a:r>
            <a:endParaRPr/>
          </a:p>
          <a:p>
            <a:pPr indent="0" lvl="0" marL="12700" rtl="0" algn="l">
              <a:lnSpc>
                <a:spcPct val="115000"/>
              </a:lnSpc>
              <a:spcBef>
                <a:spcPts val="0"/>
              </a:spcBef>
              <a:spcAft>
                <a:spcPts val="0"/>
              </a:spcAft>
              <a:buClr>
                <a:schemeClr val="dk1"/>
              </a:buClr>
              <a:buSzPts val="1100"/>
              <a:buFont typeface="Arial"/>
              <a:buNone/>
            </a:pPr>
            <a:r>
              <a:rPr lang="en"/>
              <a:t>●6. MENSCH: Freigabe — HITL-Checkpoint #1</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●DESIGNENTSCHEIDUNG</a:t>
            </a:r>
            <a:endParaRPr/>
          </a:p>
          <a:p>
            <a:pPr indent="0" lvl="0" marL="12700" rtl="0" algn="l">
              <a:lnSpc>
                <a:spcPct val="115000"/>
              </a:lnSpc>
              <a:spcBef>
                <a:spcPts val="0"/>
              </a:spcBef>
              <a:spcAft>
                <a:spcPts val="0"/>
              </a:spcAft>
              <a:buClr>
                <a:schemeClr val="dk1"/>
              </a:buClr>
              <a:buSzPts val="1100"/>
              <a:buFont typeface="Arial"/>
              <a:buNone/>
            </a:pPr>
            <a:r>
              <a:rPr lang="en"/>
              <a:t>●→ Der Agent fragt erst nach dem Lesen, nicht davor — sichert Kontext, verhindert Architektur-Raterei</a:t>
            </a:r>
            <a:endParaRPr/>
          </a:p>
          <a:p>
            <a:pPr indent="0" lvl="0" marL="0" rtl="0" algn="l">
              <a:spcBef>
                <a:spcPts val="0"/>
              </a:spcBef>
              <a:spcAft>
                <a:spcPts val="0"/>
              </a:spcAft>
              <a:buNone/>
            </a:pPr>
            <a:r>
              <a:t/>
            </a:r>
            <a:endParaRPr/>
          </a:p>
        </p:txBody>
      </p:sp>
      <p:sp>
        <p:nvSpPr>
          <p:cNvPr id="618" name="Google Shape;618;g3fbb22c0bfe_13_1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fbb22c0bfe_13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
              <a:t>●PROZESS 1 IM DETAIL — WERKZEUGE PRO SCHRITT</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●SCHRITT 2+3 — KLARIFIZIEREN &amp; ANTWORTEN</a:t>
            </a:r>
            <a:endParaRPr/>
          </a:p>
          <a:p>
            <a:pPr indent="0" lvl="0" marL="12700" rtl="0" algn="l">
              <a:lnSpc>
                <a:spcPct val="115000"/>
              </a:lnSpc>
              <a:spcBef>
                <a:spcPts val="0"/>
              </a:spcBef>
              <a:spcAft>
                <a:spcPts val="0"/>
              </a:spcAft>
              <a:buClr>
                <a:schemeClr val="dk1"/>
              </a:buClr>
              <a:buSzPts val="1100"/>
              <a:buFont typeface="Arial"/>
              <a:buNone/>
            </a:pPr>
            <a:r>
              <a:rPr lang="en"/>
              <a:t>●• HANDOVER.md: aktueller Stand, bekannte Grenzen, Fallstricke — kein Durchsuchen der Git-Historie</a:t>
            </a:r>
            <a:endParaRPr/>
          </a:p>
          <a:p>
            <a:pPr indent="0" lvl="0" marL="12700" rtl="0" algn="l">
              <a:lnSpc>
                <a:spcPct val="115000"/>
              </a:lnSpc>
              <a:spcBef>
                <a:spcPts val="0"/>
              </a:spcBef>
              <a:spcAft>
                <a:spcPts val="0"/>
              </a:spcAft>
              <a:buClr>
                <a:schemeClr val="dk1"/>
              </a:buClr>
              <a:buSzPts val="1100"/>
              <a:buFont typeface="Arial"/>
              <a:buNone/>
            </a:pPr>
            <a:r>
              <a:rPr lang="en"/>
              <a:t>●• claude_docs/: geschachtelt (architecture/, decisions/, debugging/, log/) — jede Domäne separat lesbar</a:t>
            </a:r>
            <a:endParaRPr/>
          </a:p>
          <a:p>
            <a:pPr indent="0" lvl="0" marL="12700" rtl="0" algn="l">
              <a:lnSpc>
                <a:spcPct val="115000"/>
              </a:lnSpc>
              <a:spcBef>
                <a:spcPts val="0"/>
              </a:spcBef>
              <a:spcAft>
                <a:spcPts val="0"/>
              </a:spcAft>
              <a:buClr>
                <a:schemeClr val="dk1"/>
              </a:buClr>
              <a:buSzPts val="1100"/>
              <a:buFont typeface="Arial"/>
              <a:buNone/>
            </a:pPr>
            <a:r>
              <a:rPr lang="en"/>
              <a:t>●→ Designentscheidung: HANDOVER.md als "frischer Start"-Dokument — der Agent bekommt den Kontext explizit, rät ihn nicht aus Commits</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●SCHRITT 4+5 — BRAINSTORMING &amp; SPECS</a:t>
            </a:r>
            <a:endParaRPr/>
          </a:p>
          <a:p>
            <a:pPr indent="0" lvl="0" marL="12700" rtl="0" algn="l">
              <a:lnSpc>
                <a:spcPct val="115000"/>
              </a:lnSpc>
              <a:spcBef>
                <a:spcPts val="0"/>
              </a:spcBef>
              <a:spcAft>
                <a:spcPts val="0"/>
              </a:spcAft>
              <a:buClr>
                <a:schemeClr val="dk1"/>
              </a:buClr>
              <a:buSzPts val="1100"/>
              <a:buFont typeface="Arial"/>
              <a:buNone/>
            </a:pPr>
            <a:r>
              <a:rPr lang="en"/>
              <a:t>●• Graphify: cross-repo-graph.json zeigt Abhängigkeiten zwischen allen 6 Repos — kein manuelles "was ruft was auf?"</a:t>
            </a:r>
            <a:endParaRPr/>
          </a:p>
          <a:p>
            <a:pPr indent="0" lvl="0" marL="12700" rtl="0" algn="l">
              <a:lnSpc>
                <a:spcPct val="115000"/>
              </a:lnSpc>
              <a:spcBef>
                <a:spcPts val="0"/>
              </a:spcBef>
              <a:spcAft>
                <a:spcPts val="0"/>
              </a:spcAft>
              <a:buClr>
                <a:schemeClr val="dk1"/>
              </a:buClr>
              <a:buSzPts val="1100"/>
              <a:buFont typeface="Arial"/>
              <a:buNone/>
            </a:pPr>
            <a:r>
              <a:rPr lang="en"/>
              <a:t>●• OpenAPI: echter Contract zwischen backend/frontend/worker — nicht das, was jemand meint, dass er ist</a:t>
            </a:r>
            <a:endParaRPr/>
          </a:p>
          <a:p>
            <a:pPr indent="0" lvl="0" marL="12700" rtl="0" algn="l">
              <a:lnSpc>
                <a:spcPct val="115000"/>
              </a:lnSpc>
              <a:spcBef>
                <a:spcPts val="0"/>
              </a:spcBef>
              <a:spcAft>
                <a:spcPts val="0"/>
              </a:spcAft>
              <a:buClr>
                <a:schemeClr val="dk1"/>
              </a:buClr>
              <a:buSzPts val="1100"/>
              <a:buFont typeface="Arial"/>
              <a:buNone/>
            </a:pPr>
            <a:r>
              <a:rPr lang="en"/>
              <a:t>●• Output: Design Spec (Optionen, Tradeoffs) + Implementation Spec (konkreter Plan)</a:t>
            </a:r>
            <a:endParaRPr/>
          </a:p>
          <a:p>
            <a:pPr indent="0" lvl="0" marL="12700" rtl="0" algn="l">
              <a:lnSpc>
                <a:spcPct val="115000"/>
              </a:lnSpc>
              <a:spcBef>
                <a:spcPts val="0"/>
              </a:spcBef>
              <a:spcAft>
                <a:spcPts val="0"/>
              </a:spcAft>
              <a:buClr>
                <a:schemeClr val="dk1"/>
              </a:buClr>
              <a:buSzPts val="1100"/>
              <a:buFont typeface="Arial"/>
              <a:buNone/>
            </a:pPr>
            <a:r>
              <a:rPr lang="en"/>
              <a:t>●→ Designentscheidung: Graphify merge-graphs — 6 lokale Graphen zu einem, CI-aktuell bei jedem Push auf main</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●SCHRITT 1+3+6 — MENSCHLICHE PUNKTE (HITL)</a:t>
            </a:r>
            <a:endParaRPr/>
          </a:p>
          <a:p>
            <a:pPr indent="0" lvl="0" marL="12700" rtl="0" algn="l">
              <a:lnSpc>
                <a:spcPct val="115000"/>
              </a:lnSpc>
              <a:spcBef>
                <a:spcPts val="0"/>
              </a:spcBef>
              <a:spcAft>
                <a:spcPts val="0"/>
              </a:spcAft>
              <a:buClr>
                <a:schemeClr val="dk1"/>
              </a:buClr>
              <a:buSzPts val="1100"/>
              <a:buFont typeface="Arial"/>
              <a:buNone/>
            </a:pPr>
            <a:r>
              <a:rPr lang="en"/>
              <a:t>●• Mensch formuliert, antwortet, gibt frei — kein Schritt dazwischen automatisiert</a:t>
            </a:r>
            <a:endParaRPr/>
          </a:p>
          <a:p>
            <a:pPr indent="0" lvl="0" marL="12700" rtl="0" algn="l">
              <a:lnSpc>
                <a:spcPct val="115000"/>
              </a:lnSpc>
              <a:spcBef>
                <a:spcPts val="0"/>
              </a:spcBef>
              <a:spcAft>
                <a:spcPts val="0"/>
              </a:spcAft>
              <a:buClr>
                <a:schemeClr val="dk1"/>
              </a:buClr>
              <a:buSzPts val="1100"/>
              <a:buFont typeface="Arial"/>
              <a:buNone/>
            </a:pPr>
            <a:r>
              <a:rPr lang="en"/>
              <a:t>●• Erst nach Freigabe startet Prozess 2</a:t>
            </a:r>
            <a:endParaRPr/>
          </a:p>
          <a:p>
            <a:pPr indent="0" lvl="0" marL="12700" rtl="0" algn="l">
              <a:lnSpc>
                <a:spcPct val="115000"/>
              </a:lnSpc>
              <a:spcBef>
                <a:spcPts val="0"/>
              </a:spcBef>
              <a:spcAft>
                <a:spcPts val="0"/>
              </a:spcAft>
              <a:buClr>
                <a:schemeClr val="dk1"/>
              </a:buClr>
              <a:buSzPts val="1100"/>
              <a:buFont typeface="Arial"/>
              <a:buNone/>
            </a:pPr>
            <a:r>
              <a:rPr lang="en"/>
              <a:t>●→ Designentscheidung: Freigabe VOR der Umsetzung ist Checkpoint #1 — danach läuft der Agent bis Staging durch</a:t>
            </a:r>
            <a:endParaRPr/>
          </a:p>
          <a:p>
            <a:pPr indent="0" lvl="0" marL="0" rtl="0" algn="l">
              <a:spcBef>
                <a:spcPts val="0"/>
              </a:spcBef>
              <a:spcAft>
                <a:spcPts val="0"/>
              </a:spcAft>
              <a:buNone/>
            </a:pPr>
            <a:r>
              <a:t/>
            </a:r>
            <a:endParaRPr/>
          </a:p>
        </p:txBody>
      </p:sp>
      <p:sp>
        <p:nvSpPr>
          <p:cNvPr id="655" name="Google Shape;655;g3fbb22c0bfe_13_1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bb22c0bfe_13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
              <a:t>●PROZESS 2 — DEVELOPMENT &amp; PROD</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●SCHRITTE 1–9</a:t>
            </a:r>
            <a:endParaRPr/>
          </a:p>
          <a:p>
            <a:pPr indent="0" lvl="0" marL="12700" rtl="0" algn="l">
              <a:lnSpc>
                <a:spcPct val="115000"/>
              </a:lnSpc>
              <a:spcBef>
                <a:spcPts val="0"/>
              </a:spcBef>
              <a:spcAft>
                <a:spcPts val="0"/>
              </a:spcAft>
              <a:buClr>
                <a:schemeClr val="dk1"/>
              </a:buClr>
              <a:buSzPts val="1100"/>
              <a:buFont typeface="Arial"/>
              <a:buNone/>
            </a:pPr>
            <a:r>
              <a:rPr lang="en"/>
              <a:t>●1. Issue #X: Startpunkt — vollständige Spec aus Prozess 1</a:t>
            </a:r>
            <a:endParaRPr/>
          </a:p>
          <a:p>
            <a:pPr indent="0" lvl="0" marL="12700" rtl="0" algn="l">
              <a:lnSpc>
                <a:spcPct val="115000"/>
              </a:lnSpc>
              <a:spcBef>
                <a:spcPts val="0"/>
              </a:spcBef>
              <a:spcAft>
                <a:spcPts val="0"/>
              </a:spcAft>
              <a:buClr>
                <a:schemeClr val="dk1"/>
              </a:buClr>
              <a:buSzPts val="1100"/>
              <a:buFont typeface="Arial"/>
              <a:buNone/>
            </a:pPr>
            <a:r>
              <a:rPr lang="en"/>
              <a:t>●2. Branch: Agent legt Branch an, liest claude_docs/ für Kontext</a:t>
            </a:r>
            <a:endParaRPr/>
          </a:p>
          <a:p>
            <a:pPr indent="0" lvl="0" marL="12700" rtl="0" algn="l">
              <a:lnSpc>
                <a:spcPct val="115000"/>
              </a:lnSpc>
              <a:spcBef>
                <a:spcPts val="0"/>
              </a:spcBef>
              <a:spcAft>
                <a:spcPts val="0"/>
              </a:spcAft>
              <a:buClr>
                <a:schemeClr val="dk1"/>
              </a:buClr>
              <a:buSzPts val="1100"/>
              <a:buFont typeface="Arial"/>
              <a:buNone/>
            </a:pPr>
            <a:r>
              <a:rPr lang="en"/>
              <a:t>●3. TDD: Test rot → minimal implementieren → grün → Refactor (via /tdd-Skill, verlinkt auf Superpowers)</a:t>
            </a:r>
            <a:endParaRPr/>
          </a:p>
          <a:p>
            <a:pPr indent="0" lvl="0" marL="12700" rtl="0" algn="l">
              <a:lnSpc>
                <a:spcPct val="115000"/>
              </a:lnSpc>
              <a:spcBef>
                <a:spcPts val="0"/>
              </a:spcBef>
              <a:spcAft>
                <a:spcPts val="0"/>
              </a:spcAft>
              <a:buClr>
                <a:schemeClr val="dk1"/>
              </a:buClr>
              <a:buSzPts val="1100"/>
              <a:buFont typeface="Arial"/>
              <a:buNone/>
            </a:pPr>
            <a:r>
              <a:rPr lang="en"/>
              <a:t>●4. PR: Agent öffnet PR</a:t>
            </a:r>
            <a:endParaRPr/>
          </a:p>
          <a:p>
            <a:pPr indent="0" lvl="0" marL="12700" rtl="0" algn="l">
              <a:lnSpc>
                <a:spcPct val="115000"/>
              </a:lnSpc>
              <a:spcBef>
                <a:spcPts val="0"/>
              </a:spcBef>
              <a:spcAft>
                <a:spcPts val="0"/>
              </a:spcAft>
              <a:buClr>
                <a:schemeClr val="dk1"/>
              </a:buClr>
              <a:buSzPts val="1100"/>
              <a:buFont typeface="Arial"/>
              <a:buNone/>
            </a:pPr>
            <a:r>
              <a:rPr lang="en"/>
              <a:t>●5. CI-Gate: Lint + Test + Security + Build — Required-Status-Checks, TECHNISCH ERZWUNGEN durch Branch Protection</a:t>
            </a:r>
            <a:endParaRPr/>
          </a:p>
          <a:p>
            <a:pPr indent="0" lvl="0" marL="12700" rtl="0" algn="l">
              <a:lnSpc>
                <a:spcPct val="115000"/>
              </a:lnSpc>
              <a:spcBef>
                <a:spcPts val="0"/>
              </a:spcBef>
              <a:spcAft>
                <a:spcPts val="0"/>
              </a:spcAft>
              <a:buClr>
                <a:schemeClr val="dk1"/>
              </a:buClr>
              <a:buSzPts val="1100"/>
              <a:buFont typeface="Arial"/>
              <a:buNone/>
            </a:pPr>
            <a:r>
              <a:rPr lang="en"/>
              <a:t>●6. Merge: ── MENSCHLICHE FREIGABE ── Checkpoint #2</a:t>
            </a:r>
            <a:endParaRPr/>
          </a:p>
          <a:p>
            <a:pPr indent="0" lvl="0" marL="12700" rtl="0" algn="l">
              <a:lnSpc>
                <a:spcPct val="115000"/>
              </a:lnSpc>
              <a:spcBef>
                <a:spcPts val="0"/>
              </a:spcBef>
              <a:spcAft>
                <a:spcPts val="0"/>
              </a:spcAft>
              <a:buClr>
                <a:schemeClr val="dk1"/>
              </a:buClr>
              <a:buSzPts val="1100"/>
              <a:buFont typeface="Arial"/>
              <a:buNone/>
            </a:pPr>
            <a:r>
              <a:rPr lang="en"/>
              <a:t>●7. Staging: automatisch bei Push auf main (staging.yml — läuft schon heute)</a:t>
            </a:r>
            <a:endParaRPr/>
          </a:p>
          <a:p>
            <a:pPr indent="0" lvl="0" marL="12700" rtl="0" algn="l">
              <a:lnSpc>
                <a:spcPct val="115000"/>
              </a:lnSpc>
              <a:spcBef>
                <a:spcPts val="0"/>
              </a:spcBef>
              <a:spcAft>
                <a:spcPts val="0"/>
              </a:spcAft>
              <a:buClr>
                <a:schemeClr val="dk1"/>
              </a:buClr>
              <a:buSzPts val="1100"/>
              <a:buFont typeface="Arial"/>
              <a:buNone/>
            </a:pPr>
            <a:r>
              <a:rPr lang="en"/>
              <a:t>●8. Verify: /diagnose-production → podman-mcp (Container-Logs, Health) + github-mcp (Workflow-Status)</a:t>
            </a:r>
            <a:endParaRPr/>
          </a:p>
          <a:p>
            <a:pPr indent="0" lvl="0" marL="12700" rtl="0" algn="l">
              <a:lnSpc>
                <a:spcPct val="115000"/>
              </a:lnSpc>
              <a:spcBef>
                <a:spcPts val="0"/>
              </a:spcBef>
              <a:spcAft>
                <a:spcPts val="0"/>
              </a:spcAft>
              <a:buClr>
                <a:schemeClr val="dk1"/>
              </a:buClr>
              <a:buSzPts val="1100"/>
              <a:buFont typeface="Arial"/>
              <a:buNone/>
            </a:pPr>
            <a:r>
              <a:rPr lang="en"/>
              <a:t>●9. Prod: ── MENSCHLICHE FREIGABE ── Checkpoint #3 (Prod hat keinen Auto-Trigger — bewusst)</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●DESIGNENTSCHEIDUNGEN</a:t>
            </a:r>
            <a:endParaRPr/>
          </a:p>
          <a:p>
            <a:pPr indent="0" lvl="0" marL="12700" rtl="0" algn="l">
              <a:lnSpc>
                <a:spcPct val="115000"/>
              </a:lnSpc>
              <a:spcBef>
                <a:spcPts val="0"/>
              </a:spcBef>
              <a:spcAft>
                <a:spcPts val="0"/>
              </a:spcAft>
              <a:buClr>
                <a:schemeClr val="dk1"/>
              </a:buClr>
              <a:buSzPts val="1100"/>
              <a:buFont typeface="Arial"/>
              <a:buNone/>
            </a:pPr>
            <a:r>
              <a:rPr lang="en"/>
              <a:t>●→ Nur 2 menschliche Freigabepunkte (Merge + Prod) — mehr wäre Handarbeit unter neuem Namen</a:t>
            </a:r>
            <a:endParaRPr/>
          </a:p>
          <a:p>
            <a:pPr indent="0" lvl="0" marL="12700" rtl="0" algn="l">
              <a:lnSpc>
                <a:spcPct val="115000"/>
              </a:lnSpc>
              <a:spcBef>
                <a:spcPts val="0"/>
              </a:spcBef>
              <a:spcAft>
                <a:spcPts val="0"/>
              </a:spcAft>
              <a:buClr>
                <a:schemeClr val="dk1"/>
              </a:buClr>
              <a:buSzPts val="1100"/>
              <a:buFont typeface="Arial"/>
              <a:buNone/>
            </a:pPr>
            <a:r>
              <a:rPr lang="en"/>
              <a:t>●→ CI-Gate ist keine Konvention, sondern technisch erzwungen — kein Code landet auf main ohne grüne Tests</a:t>
            </a:r>
            <a:endParaRPr/>
          </a:p>
          <a:p>
            <a:pPr indent="0" lvl="0" marL="12700" rtl="0" algn="l">
              <a:lnSpc>
                <a:spcPct val="115000"/>
              </a:lnSpc>
              <a:spcBef>
                <a:spcPts val="0"/>
              </a:spcBef>
              <a:spcAft>
                <a:spcPts val="0"/>
              </a:spcAft>
              <a:buClr>
                <a:schemeClr val="dk1"/>
              </a:buClr>
              <a:buSzPts val="1100"/>
              <a:buFont typeface="Arial"/>
              <a:buNone/>
            </a:pPr>
            <a:r>
              <a:rPr lang="en"/>
              <a:t>●→ Staging-Deployment ist keine neue Automatisierung — läuft bereits, kein zusätzlicher Aufwand</a:t>
            </a:r>
            <a:endParaRPr/>
          </a:p>
          <a:p>
            <a:pPr indent="0" lvl="0" marL="0" rtl="0" algn="l">
              <a:spcBef>
                <a:spcPts val="0"/>
              </a:spcBef>
              <a:spcAft>
                <a:spcPts val="0"/>
              </a:spcAft>
              <a:buNone/>
            </a:pPr>
            <a:r>
              <a:t/>
            </a:r>
            <a:endParaRPr/>
          </a:p>
        </p:txBody>
      </p:sp>
      <p:sp>
        <p:nvSpPr>
          <p:cNvPr id="686" name="Google Shape;686;g3fbb22c0bfe_13_2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fba000c1e0_18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
              <a:t>●PROZESS 1 IM DETAIL — WERKZEUGE PRO SCHRITT</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●SCHRITT 2+3 — KLARIFIZIEREN &amp; ANTWORTEN</a:t>
            </a:r>
            <a:endParaRPr/>
          </a:p>
          <a:p>
            <a:pPr indent="0" lvl="0" marL="12700" rtl="0" algn="l">
              <a:lnSpc>
                <a:spcPct val="115000"/>
              </a:lnSpc>
              <a:spcBef>
                <a:spcPts val="0"/>
              </a:spcBef>
              <a:spcAft>
                <a:spcPts val="0"/>
              </a:spcAft>
              <a:buClr>
                <a:schemeClr val="dk1"/>
              </a:buClr>
              <a:buSzPts val="1100"/>
              <a:buFont typeface="Arial"/>
              <a:buNone/>
            </a:pPr>
            <a:r>
              <a:rPr lang="en"/>
              <a:t>●• HANDOVER.md: aktueller Stand, bekannte Grenzen, Fallstricke — kein Durchsuchen der Git-Historie</a:t>
            </a:r>
            <a:endParaRPr/>
          </a:p>
          <a:p>
            <a:pPr indent="0" lvl="0" marL="12700" rtl="0" algn="l">
              <a:lnSpc>
                <a:spcPct val="115000"/>
              </a:lnSpc>
              <a:spcBef>
                <a:spcPts val="0"/>
              </a:spcBef>
              <a:spcAft>
                <a:spcPts val="0"/>
              </a:spcAft>
              <a:buClr>
                <a:schemeClr val="dk1"/>
              </a:buClr>
              <a:buSzPts val="1100"/>
              <a:buFont typeface="Arial"/>
              <a:buNone/>
            </a:pPr>
            <a:r>
              <a:rPr lang="en"/>
              <a:t>●• claude_docs/: geschachtelt (architecture/, decisions/, debugging/, log/) — jede Domäne separat lesbar</a:t>
            </a:r>
            <a:endParaRPr/>
          </a:p>
          <a:p>
            <a:pPr indent="0" lvl="0" marL="12700" rtl="0" algn="l">
              <a:lnSpc>
                <a:spcPct val="115000"/>
              </a:lnSpc>
              <a:spcBef>
                <a:spcPts val="0"/>
              </a:spcBef>
              <a:spcAft>
                <a:spcPts val="0"/>
              </a:spcAft>
              <a:buClr>
                <a:schemeClr val="dk1"/>
              </a:buClr>
              <a:buSzPts val="1100"/>
              <a:buFont typeface="Arial"/>
              <a:buNone/>
            </a:pPr>
            <a:r>
              <a:rPr lang="en"/>
              <a:t>●→ Designentscheidung: HANDOVER.md als "frischer Start"-Dokument — der Agent bekommt den Kontext explizit, rät ihn nicht aus Commits</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●SCHRITT 4+5 — BRAINSTORMING &amp; SPECS</a:t>
            </a:r>
            <a:endParaRPr/>
          </a:p>
          <a:p>
            <a:pPr indent="0" lvl="0" marL="12700" rtl="0" algn="l">
              <a:lnSpc>
                <a:spcPct val="115000"/>
              </a:lnSpc>
              <a:spcBef>
                <a:spcPts val="0"/>
              </a:spcBef>
              <a:spcAft>
                <a:spcPts val="0"/>
              </a:spcAft>
              <a:buClr>
                <a:schemeClr val="dk1"/>
              </a:buClr>
              <a:buSzPts val="1100"/>
              <a:buFont typeface="Arial"/>
              <a:buNone/>
            </a:pPr>
            <a:r>
              <a:rPr lang="en"/>
              <a:t>●• Graphify: cross-repo-graph.json zeigt Abhängigkeiten zwischen allen 6 Repos — kein manuelles "was ruft was auf?"</a:t>
            </a:r>
            <a:endParaRPr/>
          </a:p>
          <a:p>
            <a:pPr indent="0" lvl="0" marL="12700" rtl="0" algn="l">
              <a:lnSpc>
                <a:spcPct val="115000"/>
              </a:lnSpc>
              <a:spcBef>
                <a:spcPts val="0"/>
              </a:spcBef>
              <a:spcAft>
                <a:spcPts val="0"/>
              </a:spcAft>
              <a:buClr>
                <a:schemeClr val="dk1"/>
              </a:buClr>
              <a:buSzPts val="1100"/>
              <a:buFont typeface="Arial"/>
              <a:buNone/>
            </a:pPr>
            <a:r>
              <a:rPr lang="en"/>
              <a:t>●• OpenAPI: echter Contract zwischen backend/frontend/worker — nicht das, was jemand meint, dass er ist</a:t>
            </a:r>
            <a:endParaRPr/>
          </a:p>
          <a:p>
            <a:pPr indent="0" lvl="0" marL="12700" rtl="0" algn="l">
              <a:lnSpc>
                <a:spcPct val="115000"/>
              </a:lnSpc>
              <a:spcBef>
                <a:spcPts val="0"/>
              </a:spcBef>
              <a:spcAft>
                <a:spcPts val="0"/>
              </a:spcAft>
              <a:buClr>
                <a:schemeClr val="dk1"/>
              </a:buClr>
              <a:buSzPts val="1100"/>
              <a:buFont typeface="Arial"/>
              <a:buNone/>
            </a:pPr>
            <a:r>
              <a:rPr lang="en"/>
              <a:t>●• Output: Design Spec (Optionen, Tradeoffs) + Implementation Spec (konkreter Plan)</a:t>
            </a:r>
            <a:endParaRPr/>
          </a:p>
          <a:p>
            <a:pPr indent="0" lvl="0" marL="12700" rtl="0" algn="l">
              <a:lnSpc>
                <a:spcPct val="115000"/>
              </a:lnSpc>
              <a:spcBef>
                <a:spcPts val="0"/>
              </a:spcBef>
              <a:spcAft>
                <a:spcPts val="0"/>
              </a:spcAft>
              <a:buClr>
                <a:schemeClr val="dk1"/>
              </a:buClr>
              <a:buSzPts val="1100"/>
              <a:buFont typeface="Arial"/>
              <a:buNone/>
            </a:pPr>
            <a:r>
              <a:rPr lang="en"/>
              <a:t>●→ Designentscheidung: Graphify merge-graphs — 6 lokale Graphen zu einem, CI-aktuell bei jedem Push auf main</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●SCHRITT 1+3+6 — MENSCHLICHE PUNKTE (HITL)</a:t>
            </a:r>
            <a:endParaRPr/>
          </a:p>
          <a:p>
            <a:pPr indent="0" lvl="0" marL="12700" rtl="0" algn="l">
              <a:lnSpc>
                <a:spcPct val="115000"/>
              </a:lnSpc>
              <a:spcBef>
                <a:spcPts val="0"/>
              </a:spcBef>
              <a:spcAft>
                <a:spcPts val="0"/>
              </a:spcAft>
              <a:buClr>
                <a:schemeClr val="dk1"/>
              </a:buClr>
              <a:buSzPts val="1100"/>
              <a:buFont typeface="Arial"/>
              <a:buNone/>
            </a:pPr>
            <a:r>
              <a:rPr lang="en"/>
              <a:t>●• Mensch formuliert, antwortet, gibt frei — kein Schritt dazwischen automatisiert</a:t>
            </a:r>
            <a:endParaRPr/>
          </a:p>
          <a:p>
            <a:pPr indent="0" lvl="0" marL="12700" rtl="0" algn="l">
              <a:lnSpc>
                <a:spcPct val="115000"/>
              </a:lnSpc>
              <a:spcBef>
                <a:spcPts val="0"/>
              </a:spcBef>
              <a:spcAft>
                <a:spcPts val="0"/>
              </a:spcAft>
              <a:buClr>
                <a:schemeClr val="dk1"/>
              </a:buClr>
              <a:buSzPts val="1100"/>
              <a:buFont typeface="Arial"/>
              <a:buNone/>
            </a:pPr>
            <a:r>
              <a:rPr lang="en"/>
              <a:t>●• Erst nach Freigabe startet Prozess 2</a:t>
            </a:r>
            <a:endParaRPr/>
          </a:p>
          <a:p>
            <a:pPr indent="0" lvl="0" marL="12700" rtl="0" algn="l">
              <a:lnSpc>
                <a:spcPct val="115000"/>
              </a:lnSpc>
              <a:spcBef>
                <a:spcPts val="0"/>
              </a:spcBef>
              <a:spcAft>
                <a:spcPts val="0"/>
              </a:spcAft>
              <a:buClr>
                <a:schemeClr val="dk1"/>
              </a:buClr>
              <a:buSzPts val="1100"/>
              <a:buFont typeface="Arial"/>
              <a:buNone/>
            </a:pPr>
            <a:r>
              <a:rPr lang="en"/>
              <a:t>●→ Designentscheidung: Freigabe VOR der Umsetzung ist Checkpoint #1 — danach läuft der Agent bis Staging durch</a:t>
            </a:r>
            <a:endParaRPr/>
          </a:p>
          <a:p>
            <a:pPr indent="0" lvl="0" marL="0" rtl="0" algn="l">
              <a:spcBef>
                <a:spcPts val="0"/>
              </a:spcBef>
              <a:spcAft>
                <a:spcPts val="0"/>
              </a:spcAft>
              <a:buNone/>
            </a:pPr>
            <a:r>
              <a:t/>
            </a:r>
            <a:endParaRPr/>
          </a:p>
        </p:txBody>
      </p:sp>
      <p:sp>
        <p:nvSpPr>
          <p:cNvPr id="738" name="Google Shape;738;g3fba000c1e0_18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fba000c1e0_18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3fba000c1e0_18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fba000c1e0_18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fba000c1e0_18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fba000c1e0_18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fba000c1e0_18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fba000c1e0_18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3fba000c1e0_18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fbb22c0bfe_31_23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g3fbb22c0bfe_31_23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Die tiefste Grenze unserer Kette. TDD stellt sicher, dass Tests existieren und grün sind. Nicht, dass sie das Richtige prüfen. Weil Code und Tests aus derselben Quelle stammen, prüft der Agent letztlich seine eigene Interpretation der Anforderung. Die Coverage-Schwelle hilft dagegen nicht: sie misst ausgeführte Zeilen, nicht geprüftes Verhalten, und 80 Prozent lassen sich mit Tests erreichen, die kaum etwas behaupten. Sobald eine Kennzahl zum Ziel wird, optimiert ein Agent sehr zuverlässig auf genau sie. Unsere Konsequenz ist nicht, die Schwelle abzuschaffen, sie fängt den Fall ab, dass gar nicht getestet wurde, sondern sie richtig einzuordnen: die eigentliche Prüfung liegt in Prozess 1, wo ein Mensch die Spezifikation und die Testkriterien freigibt. Der nächste ehrliche Schritt wäre Mutationstesting, weil es prüft, ob ein Test überhaupt fehlschlagen kann.</a:t>
            </a:r>
            <a:endParaRPr/>
          </a:p>
        </p:txBody>
      </p:sp>
      <p:sp>
        <p:nvSpPr>
          <p:cNvPr id="852" name="Google Shape;852;g3fbb22c0bfe_31_23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fbb22c0bfe_31_21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6" name="Google Shape;876;g3fbb22c0bfe_31_21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Kernaussage des Kritikteils: Eine Anweisung im Prompt ist eine Bitte, das Modell befolgt sie meistens, aber nicht garantiert. Wer sich darauf verlässt, hat keine Qualitätssicherung, sondern eine Hoffnung. Deshalb steht jeder weichen Anweisung eine harte Prüfung im CI gegenüber; der Agent darf scheitern, er darf nur nicht unbemerkt scheitern. Dazu die Entscheidung gegen Hooks im Entwicklungslauf: ein Hook würde jeden Tool-Aufruf abfangen und wäre deterministisch, aber die Regeln müssten pro Repo und Sprache doppelt gepflegt werden, und ein fehlerhafter Hook legt die Session lahm. Weil ein unsauberer Commit reversibel ist, nehmen wir das späte Feedback in Kauf. Ehrlich dazusagen: späteres Feedback heißt mehr Durchläufe und damit mehr Token, wenn das messbar weh tut, wäre ein Pre-Commit-Hook der nächste Schritt. Hooks lehnen wir nicht grundsätzlich ab, nur für reversible Fehler.</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Zentrale Frage: </a:t>
            </a:r>
            <a:r>
              <a:rPr b="1" lang="en">
                <a:solidFill>
                  <a:schemeClr val="dk1"/>
                </a:solidFill>
              </a:rPr>
              <a:t>Woran erkennt man, dass der Agent „qualitätsgesichert“ gearbeitet hat, ohne dass die Codebasis degradiert?</a:t>
            </a: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Goodhart's Law.</a:t>
            </a:r>
            <a:r>
              <a:rPr lang="en">
                <a:solidFill>
                  <a:schemeClr val="dk1"/>
                </a:solidFill>
              </a:rPr>
              <a:t> „Sobald eine Kennzahl zum Ziel wird, hört sie auf, eine gute Kennzahl zu sein.“ </a:t>
            </a:r>
            <a:endParaRPr/>
          </a:p>
        </p:txBody>
      </p:sp>
      <p:sp>
        <p:nvSpPr>
          <p:cNvPr id="877" name="Google Shape;877;g3fbb22c0bfe_31_21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fbb22c0bfe_31_25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g3fbb22c0bfe_31_25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 name="Google Shape;902;g3fbb22c0bfe_31_25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fbb22c0bfe_31_28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0" name="Google Shape;930;g3fbb22c0bfe_31_28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1" name="Google Shape;931;g3fbb22c0bfe_31_28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fbb22c0bfe_138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3fbb22c0bfe_138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fbb22c0bfe_138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g3fbb22c0bfe_138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fbab1a3233_3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g3fbab1a3233_37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f8e3511e4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g3f8e3511e41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f8e3511e4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9925"/>
              </a:lnSpc>
              <a:spcBef>
                <a:spcPts val="0"/>
              </a:spcBef>
              <a:spcAft>
                <a:spcPts val="0"/>
              </a:spcAft>
              <a:buClr>
                <a:schemeClr val="dk1"/>
              </a:buClr>
              <a:buFont typeface="Arial"/>
              <a:buNone/>
            </a:pPr>
            <a:r>
              <a:t/>
            </a:r>
            <a:endParaRPr/>
          </a:p>
        </p:txBody>
      </p:sp>
      <p:sp>
        <p:nvSpPr>
          <p:cNvPr id="1008" name="Google Shape;1008;g3f8e3511e41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fbab1a3233_2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9925"/>
              </a:lnSpc>
              <a:spcBef>
                <a:spcPts val="0"/>
              </a:spcBef>
              <a:spcAft>
                <a:spcPts val="0"/>
              </a:spcAft>
              <a:buClr>
                <a:schemeClr val="dk1"/>
              </a:buClr>
              <a:buFont typeface="Arial"/>
              <a:buNone/>
            </a:pPr>
            <a:r>
              <a:t/>
            </a:r>
            <a:endParaRPr/>
          </a:p>
        </p:txBody>
      </p:sp>
      <p:sp>
        <p:nvSpPr>
          <p:cNvPr id="1023" name="Google Shape;1023;g3fbab1a3233_29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f8e3511e41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9925"/>
              </a:lnSpc>
              <a:spcBef>
                <a:spcPts val="0"/>
              </a:spcBef>
              <a:spcAft>
                <a:spcPts val="0"/>
              </a:spcAft>
              <a:buClr>
                <a:schemeClr val="dk1"/>
              </a:buClr>
              <a:buFont typeface="Arial"/>
              <a:buNone/>
            </a:pPr>
            <a:r>
              <a:t/>
            </a:r>
            <a:endParaRPr/>
          </a:p>
        </p:txBody>
      </p:sp>
      <p:sp>
        <p:nvSpPr>
          <p:cNvPr id="1038" name="Google Shape;1038;g3f8e3511e41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f8e3511e4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9925"/>
              </a:lnSpc>
              <a:spcBef>
                <a:spcPts val="0"/>
              </a:spcBef>
              <a:spcAft>
                <a:spcPts val="0"/>
              </a:spcAft>
              <a:buClr>
                <a:schemeClr val="dk1"/>
              </a:buClr>
              <a:buFont typeface="Arial"/>
              <a:buNone/>
            </a:pPr>
            <a:r>
              <a:t/>
            </a:r>
            <a:endParaRPr/>
          </a:p>
        </p:txBody>
      </p:sp>
      <p:sp>
        <p:nvSpPr>
          <p:cNvPr id="1053" name="Google Shape;1053;g3f8e3511e41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f8e3511e41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9925"/>
              </a:lnSpc>
              <a:spcBef>
                <a:spcPts val="0"/>
              </a:spcBef>
              <a:spcAft>
                <a:spcPts val="0"/>
              </a:spcAft>
              <a:buClr>
                <a:schemeClr val="dk1"/>
              </a:buClr>
              <a:buFont typeface="Arial"/>
              <a:buNone/>
            </a:pPr>
            <a:r>
              <a:t/>
            </a:r>
            <a:endParaRPr/>
          </a:p>
        </p:txBody>
      </p:sp>
      <p:sp>
        <p:nvSpPr>
          <p:cNvPr id="1068" name="Google Shape;1068;g3f8e3511e41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fbab1a3233_29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g3fbab1a3233_29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17"/>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7"/>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2" name="Google Shape;62;p17"/>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3" name="Shape 63"/>
        <p:cNvGrpSpPr/>
        <p:nvPr/>
      </p:nvGrpSpPr>
      <p:grpSpPr>
        <a:xfrm>
          <a:off x="0" y="0"/>
          <a:ext cx="0" cy="0"/>
          <a:chOff x="0" y="0"/>
          <a:chExt cx="0" cy="0"/>
        </a:xfrm>
      </p:grpSpPr>
      <p:sp>
        <p:nvSpPr>
          <p:cNvPr id="64" name="Google Shape;64;p18"/>
          <p:cNvSpPr txBox="1"/>
          <p:nvPr>
            <p:ph type="ctrTitle"/>
          </p:nvPr>
        </p:nvSpPr>
        <p:spPr>
          <a:xfrm>
            <a:off x="514350" y="1597819"/>
            <a:ext cx="5829300"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5" name="Google Shape;65;p18"/>
          <p:cNvSpPr txBox="1"/>
          <p:nvPr>
            <p:ph idx="1" type="subTitle"/>
          </p:nvPr>
        </p:nvSpPr>
        <p:spPr>
          <a:xfrm>
            <a:off x="1028700" y="2914650"/>
            <a:ext cx="4800600"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6" name="Google Shape;66;p18"/>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8"/>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8"/>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9" name="Shape 69"/>
        <p:cNvGrpSpPr/>
        <p:nvPr/>
      </p:nvGrpSpPr>
      <p:grpSpPr>
        <a:xfrm>
          <a:off x="0" y="0"/>
          <a:ext cx="0" cy="0"/>
          <a:chOff x="0" y="0"/>
          <a:chExt cx="0" cy="0"/>
        </a:xfrm>
      </p:grpSpPr>
      <p:sp>
        <p:nvSpPr>
          <p:cNvPr id="70" name="Google Shape;70;p19"/>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1" name="Google Shape;71;p19"/>
          <p:cNvSpPr txBox="1"/>
          <p:nvPr>
            <p:ph idx="1" type="body"/>
          </p:nvPr>
        </p:nvSpPr>
        <p:spPr>
          <a:xfrm>
            <a:off x="342900" y="1200150"/>
            <a:ext cx="6172200"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2" name="Google Shape;72;p19"/>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9"/>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4" name="Google Shape;74;p19"/>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5" name="Shape 75"/>
        <p:cNvGrpSpPr/>
        <p:nvPr/>
      </p:nvGrpSpPr>
      <p:grpSpPr>
        <a:xfrm>
          <a:off x="0" y="0"/>
          <a:ext cx="0" cy="0"/>
          <a:chOff x="0" y="0"/>
          <a:chExt cx="0" cy="0"/>
        </a:xfrm>
      </p:grpSpPr>
      <p:sp>
        <p:nvSpPr>
          <p:cNvPr id="76" name="Google Shape;76;p20"/>
          <p:cNvSpPr txBox="1"/>
          <p:nvPr>
            <p:ph type="title"/>
          </p:nvPr>
        </p:nvSpPr>
        <p:spPr>
          <a:xfrm>
            <a:off x="541735" y="3305175"/>
            <a:ext cx="5829300"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7" name="Google Shape;77;p20"/>
          <p:cNvSpPr txBox="1"/>
          <p:nvPr>
            <p:ph idx="1" type="body"/>
          </p:nvPr>
        </p:nvSpPr>
        <p:spPr>
          <a:xfrm>
            <a:off x="541735" y="2180035"/>
            <a:ext cx="5829300"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8" name="Google Shape;78;p20"/>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20"/>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20"/>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1" name="Shape 81"/>
        <p:cNvGrpSpPr/>
        <p:nvPr/>
      </p:nvGrpSpPr>
      <p:grpSpPr>
        <a:xfrm>
          <a:off x="0" y="0"/>
          <a:ext cx="0" cy="0"/>
          <a:chOff x="0" y="0"/>
          <a:chExt cx="0" cy="0"/>
        </a:xfrm>
      </p:grpSpPr>
      <p:sp>
        <p:nvSpPr>
          <p:cNvPr id="82" name="Google Shape;82;p21"/>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21"/>
          <p:cNvSpPr txBox="1"/>
          <p:nvPr>
            <p:ph idx="1" type="body"/>
          </p:nvPr>
        </p:nvSpPr>
        <p:spPr>
          <a:xfrm>
            <a:off x="342900" y="1200150"/>
            <a:ext cx="3028950"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4" name="Google Shape;84;p21"/>
          <p:cNvSpPr txBox="1"/>
          <p:nvPr>
            <p:ph idx="2" type="body"/>
          </p:nvPr>
        </p:nvSpPr>
        <p:spPr>
          <a:xfrm>
            <a:off x="3486150" y="1200150"/>
            <a:ext cx="3028950"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5" name="Google Shape;85;p21"/>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6" name="Google Shape;86;p21"/>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7" name="Google Shape;87;p21"/>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8" name="Shape 88"/>
        <p:cNvGrpSpPr/>
        <p:nvPr/>
      </p:nvGrpSpPr>
      <p:grpSpPr>
        <a:xfrm>
          <a:off x="0" y="0"/>
          <a:ext cx="0" cy="0"/>
          <a:chOff x="0" y="0"/>
          <a:chExt cx="0" cy="0"/>
        </a:xfrm>
      </p:grpSpPr>
      <p:sp>
        <p:nvSpPr>
          <p:cNvPr id="89" name="Google Shape;89;p22"/>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0" name="Google Shape;90;p22"/>
          <p:cNvSpPr txBox="1"/>
          <p:nvPr>
            <p:ph idx="1" type="body"/>
          </p:nvPr>
        </p:nvSpPr>
        <p:spPr>
          <a:xfrm>
            <a:off x="342900" y="1151335"/>
            <a:ext cx="3030141"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1" name="Google Shape;91;p22"/>
          <p:cNvSpPr txBox="1"/>
          <p:nvPr>
            <p:ph idx="2" type="body"/>
          </p:nvPr>
        </p:nvSpPr>
        <p:spPr>
          <a:xfrm>
            <a:off x="342900" y="1631156"/>
            <a:ext cx="3030141"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2" name="Google Shape;92;p22"/>
          <p:cNvSpPr txBox="1"/>
          <p:nvPr>
            <p:ph idx="3" type="body"/>
          </p:nvPr>
        </p:nvSpPr>
        <p:spPr>
          <a:xfrm>
            <a:off x="3483769" y="1151335"/>
            <a:ext cx="3031331"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3" name="Google Shape;93;p22"/>
          <p:cNvSpPr txBox="1"/>
          <p:nvPr>
            <p:ph idx="4" type="body"/>
          </p:nvPr>
        </p:nvSpPr>
        <p:spPr>
          <a:xfrm>
            <a:off x="3483769" y="1631156"/>
            <a:ext cx="3031331"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4" name="Google Shape;94;p22"/>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22"/>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6" name="Google Shape;96;p22"/>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7" name="Shape 97"/>
        <p:cNvGrpSpPr/>
        <p:nvPr/>
      </p:nvGrpSpPr>
      <p:grpSpPr>
        <a:xfrm>
          <a:off x="0" y="0"/>
          <a:ext cx="0" cy="0"/>
          <a:chOff x="0" y="0"/>
          <a:chExt cx="0" cy="0"/>
        </a:xfrm>
      </p:grpSpPr>
      <p:sp>
        <p:nvSpPr>
          <p:cNvPr id="98" name="Google Shape;98;p23"/>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9" name="Google Shape;99;p23"/>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23"/>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23"/>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2" name="Shape 102"/>
        <p:cNvGrpSpPr/>
        <p:nvPr/>
      </p:nvGrpSpPr>
      <p:grpSpPr>
        <a:xfrm>
          <a:off x="0" y="0"/>
          <a:ext cx="0" cy="0"/>
          <a:chOff x="0" y="0"/>
          <a:chExt cx="0" cy="0"/>
        </a:xfrm>
      </p:grpSpPr>
      <p:sp>
        <p:nvSpPr>
          <p:cNvPr id="103" name="Google Shape;103;p24"/>
          <p:cNvSpPr txBox="1"/>
          <p:nvPr>
            <p:ph type="title"/>
          </p:nvPr>
        </p:nvSpPr>
        <p:spPr>
          <a:xfrm>
            <a:off x="342900" y="204788"/>
            <a:ext cx="225623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p24"/>
          <p:cNvSpPr txBox="1"/>
          <p:nvPr>
            <p:ph idx="1" type="body"/>
          </p:nvPr>
        </p:nvSpPr>
        <p:spPr>
          <a:xfrm>
            <a:off x="2681287" y="204788"/>
            <a:ext cx="3833813"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5" name="Google Shape;105;p24"/>
          <p:cNvSpPr txBox="1"/>
          <p:nvPr>
            <p:ph idx="2" type="body"/>
          </p:nvPr>
        </p:nvSpPr>
        <p:spPr>
          <a:xfrm>
            <a:off x="342900" y="1076325"/>
            <a:ext cx="225623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6" name="Google Shape;106;p24"/>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7" name="Google Shape;107;p24"/>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8" name="Google Shape;108;p24"/>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9" name="Shape 109"/>
        <p:cNvGrpSpPr/>
        <p:nvPr/>
      </p:nvGrpSpPr>
      <p:grpSpPr>
        <a:xfrm>
          <a:off x="0" y="0"/>
          <a:ext cx="0" cy="0"/>
          <a:chOff x="0" y="0"/>
          <a:chExt cx="0" cy="0"/>
        </a:xfrm>
      </p:grpSpPr>
      <p:sp>
        <p:nvSpPr>
          <p:cNvPr id="110" name="Google Shape;110;p25"/>
          <p:cNvSpPr txBox="1"/>
          <p:nvPr>
            <p:ph type="title"/>
          </p:nvPr>
        </p:nvSpPr>
        <p:spPr>
          <a:xfrm>
            <a:off x="1344216" y="3600450"/>
            <a:ext cx="411480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1" name="Google Shape;111;p25"/>
          <p:cNvSpPr/>
          <p:nvPr>
            <p:ph idx="2" type="pic"/>
          </p:nvPr>
        </p:nvSpPr>
        <p:spPr>
          <a:xfrm>
            <a:off x="1344216" y="459581"/>
            <a:ext cx="4114800" cy="3086100"/>
          </a:xfrm>
          <a:prstGeom prst="rect">
            <a:avLst/>
          </a:prstGeom>
          <a:noFill/>
          <a:ln>
            <a:noFill/>
          </a:ln>
        </p:spPr>
      </p:sp>
      <p:sp>
        <p:nvSpPr>
          <p:cNvPr id="112" name="Google Shape;112;p25"/>
          <p:cNvSpPr txBox="1"/>
          <p:nvPr>
            <p:ph idx="1" type="body"/>
          </p:nvPr>
        </p:nvSpPr>
        <p:spPr>
          <a:xfrm>
            <a:off x="1344216" y="4025503"/>
            <a:ext cx="411480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3" name="Google Shape;113;p25"/>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4" name="Google Shape;114;p25"/>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5" name="Google Shape;115;p25"/>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6" name="Shape 116"/>
        <p:cNvGrpSpPr/>
        <p:nvPr/>
      </p:nvGrpSpPr>
      <p:grpSpPr>
        <a:xfrm>
          <a:off x="0" y="0"/>
          <a:ext cx="0" cy="0"/>
          <a:chOff x="0" y="0"/>
          <a:chExt cx="0" cy="0"/>
        </a:xfrm>
      </p:grpSpPr>
      <p:sp>
        <p:nvSpPr>
          <p:cNvPr id="117" name="Google Shape;117;p26"/>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8" name="Google Shape;118;p26"/>
          <p:cNvSpPr txBox="1"/>
          <p:nvPr>
            <p:ph idx="1" type="body"/>
          </p:nvPr>
        </p:nvSpPr>
        <p:spPr>
          <a:xfrm rot="5400000">
            <a:off x="1731764" y="-188714"/>
            <a:ext cx="3394472" cy="61722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9" name="Google Shape;119;p26"/>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0" name="Google Shape;120;p26"/>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1" name="Google Shape;121;p26"/>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2" name="Shape 122"/>
        <p:cNvGrpSpPr/>
        <p:nvPr/>
      </p:nvGrpSpPr>
      <p:grpSpPr>
        <a:xfrm>
          <a:off x="0" y="0"/>
          <a:ext cx="0" cy="0"/>
          <a:chOff x="0" y="0"/>
          <a:chExt cx="0" cy="0"/>
        </a:xfrm>
      </p:grpSpPr>
      <p:sp>
        <p:nvSpPr>
          <p:cNvPr id="123" name="Google Shape;123;p27"/>
          <p:cNvSpPr txBox="1"/>
          <p:nvPr>
            <p:ph type="title"/>
          </p:nvPr>
        </p:nvSpPr>
        <p:spPr>
          <a:xfrm rot="5400000">
            <a:off x="3549253" y="1628775"/>
            <a:ext cx="4388644" cy="15430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4" name="Google Shape;124;p27"/>
          <p:cNvSpPr txBox="1"/>
          <p:nvPr>
            <p:ph idx="1" type="body"/>
          </p:nvPr>
        </p:nvSpPr>
        <p:spPr>
          <a:xfrm rot="5400000">
            <a:off x="406003" y="142875"/>
            <a:ext cx="4388644" cy="451485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5" name="Google Shape;125;p27"/>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6" name="Google Shape;126;p27"/>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7" name="Google Shape;127;p27"/>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8" name="Shape 1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4.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3.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spd="med">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0" r:id="rId1"/>
  </p:sldLayoutIdLst>
  <p:transition spd="med">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6"/>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5" name="Google Shape;55;p16"/>
          <p:cNvSpPr txBox="1"/>
          <p:nvPr>
            <p:ph idx="1" type="body"/>
          </p:nvPr>
        </p:nvSpPr>
        <p:spPr>
          <a:xfrm>
            <a:off x="342900" y="1200150"/>
            <a:ext cx="6172200"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6" name="Google Shape;56;p16"/>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7" name="Google Shape;57;p16"/>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8" name="Google Shape;58;p16"/>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spd="med">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20.png"/><Relationship Id="rId6"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6.png"/><Relationship Id="rId7" Type="http://schemas.openxmlformats.org/officeDocument/2006/relationships/image" Target="../media/image13.png"/><Relationship Id="rId8"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9"/>
          <p:cNvSpPr/>
          <p:nvPr/>
        </p:nvSpPr>
        <p:spPr>
          <a:xfrm>
            <a:off x="672750" y="1843550"/>
            <a:ext cx="7739700" cy="2447400"/>
          </a:xfrm>
          <a:prstGeom prst="roundRect">
            <a:avLst>
              <a:gd fmla="val 7664" name="adj"/>
            </a:avLst>
          </a:prstGeom>
          <a:solidFill>
            <a:schemeClr val="lt2"/>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highlight>
                <a:schemeClr val="lt2"/>
              </a:highlight>
              <a:latin typeface="Calibri"/>
              <a:ea typeface="Calibri"/>
              <a:cs typeface="Calibri"/>
              <a:sym typeface="Calibri"/>
            </a:endParaRPr>
          </a:p>
        </p:txBody>
      </p:sp>
      <p:sp>
        <p:nvSpPr>
          <p:cNvPr id="134" name="Google Shape;134;p2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rgbClr val="2C2C2C"/>
                </a:solidFill>
              </a:rPr>
              <a:t>Projektkonzeption Teil 2</a:t>
            </a:r>
            <a:endParaRPr>
              <a:solidFill>
                <a:srgbClr val="2C2C2C"/>
              </a:solidFill>
            </a:endParaRPr>
          </a:p>
        </p:txBody>
      </p:sp>
      <p:sp>
        <p:nvSpPr>
          <p:cNvPr id="135" name="Google Shape;135;p29"/>
          <p:cNvSpPr txBox="1"/>
          <p:nvPr>
            <p:ph idx="1" type="subTitle"/>
          </p:nvPr>
        </p:nvSpPr>
        <p:spPr>
          <a:xfrm>
            <a:off x="311700" y="2834125"/>
            <a:ext cx="8520600" cy="114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sz="2300"/>
          </a:p>
          <a:p>
            <a:pPr indent="0" lvl="0" marL="0" rtl="0" algn="ctr">
              <a:spcBef>
                <a:spcPts val="0"/>
              </a:spcBef>
              <a:spcAft>
                <a:spcPts val="0"/>
              </a:spcAft>
              <a:buNone/>
            </a:pPr>
            <a:r>
              <a:rPr lang="en" sz="2300"/>
              <a:t>Christina, Daniel, Lea, Lorenzo, </a:t>
            </a:r>
            <a:endParaRPr sz="2300"/>
          </a:p>
          <a:p>
            <a:pPr indent="0" lvl="0" marL="0" rtl="0" algn="ctr">
              <a:spcBef>
                <a:spcPts val="0"/>
              </a:spcBef>
              <a:spcAft>
                <a:spcPts val="0"/>
              </a:spcAft>
              <a:buNone/>
            </a:pPr>
            <a:r>
              <a:rPr lang="en" sz="2300"/>
              <a:t>Lukas, Nhi, Andre, Victor, Max</a:t>
            </a:r>
            <a:endParaRPr sz="2300"/>
          </a:p>
        </p:txBody>
      </p:sp>
      <p:pic>
        <p:nvPicPr>
          <p:cNvPr id="136" name="Google Shape;136;p29"/>
          <p:cNvPicPr preferRelativeResize="0"/>
          <p:nvPr/>
        </p:nvPicPr>
        <p:blipFill>
          <a:blip r:embed="rId3">
            <a:alphaModFix/>
          </a:blip>
          <a:stretch>
            <a:fillRect/>
          </a:stretch>
        </p:blipFill>
        <p:spPr>
          <a:xfrm>
            <a:off x="7252838" y="0"/>
            <a:ext cx="1891175" cy="1431150"/>
          </a:xfrm>
          <a:prstGeom prst="rect">
            <a:avLst/>
          </a:prstGeom>
          <a:noFill/>
          <a:ln>
            <a:noFill/>
          </a:ln>
        </p:spPr>
      </p:pic>
      <p:sp>
        <p:nvSpPr>
          <p:cNvPr id="137" name="Google Shape;137;p29"/>
          <p:cNvSpPr txBox="1"/>
          <p:nvPr/>
        </p:nvSpPr>
        <p:spPr>
          <a:xfrm>
            <a:off x="351825" y="4539400"/>
            <a:ext cx="3739500" cy="4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2</a:t>
            </a:r>
            <a:r>
              <a:rPr lang="en" sz="1800">
                <a:solidFill>
                  <a:schemeClr val="dk2"/>
                </a:solidFill>
              </a:rPr>
              <a:t>1.09.2026</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0"/>
          <p:cNvSpPr/>
          <p:nvPr/>
        </p:nvSpPr>
        <p:spPr>
          <a:xfrm>
            <a:off x="672750" y="696001"/>
            <a:ext cx="7739700" cy="3594900"/>
          </a:xfrm>
          <a:prstGeom prst="roundRect">
            <a:avLst>
              <a:gd fmla="val 7664" name="adj"/>
            </a:avLst>
          </a:prstGeom>
          <a:solidFill>
            <a:schemeClr val="lt2"/>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highlight>
                <a:schemeClr val="lt2"/>
              </a:highlight>
              <a:latin typeface="Calibri"/>
              <a:ea typeface="Calibri"/>
              <a:cs typeface="Calibri"/>
              <a:sym typeface="Calibri"/>
            </a:endParaRPr>
          </a:p>
        </p:txBody>
      </p:sp>
      <p:sp>
        <p:nvSpPr>
          <p:cNvPr id="143" name="Google Shape;143;p30"/>
          <p:cNvSpPr txBox="1"/>
          <p:nvPr>
            <p:ph type="title"/>
          </p:nvPr>
        </p:nvSpPr>
        <p:spPr>
          <a:xfrm>
            <a:off x="719950" y="791176"/>
            <a:ext cx="8520600" cy="62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820">
                <a:latin typeface="Inter"/>
                <a:ea typeface="Inter"/>
                <a:cs typeface="Inter"/>
                <a:sym typeface="Inter"/>
              </a:rPr>
              <a:t>Agenda</a:t>
            </a:r>
            <a:endParaRPr b="1" sz="2820">
              <a:latin typeface="Inter"/>
              <a:ea typeface="Inter"/>
              <a:cs typeface="Inter"/>
              <a:sym typeface="Inter"/>
            </a:endParaRPr>
          </a:p>
        </p:txBody>
      </p:sp>
      <p:sp>
        <p:nvSpPr>
          <p:cNvPr id="144" name="Google Shape;144;p30"/>
          <p:cNvSpPr txBox="1"/>
          <p:nvPr>
            <p:ph idx="1" type="body"/>
          </p:nvPr>
        </p:nvSpPr>
        <p:spPr>
          <a:xfrm>
            <a:off x="833125" y="1367450"/>
            <a:ext cx="6944100" cy="2193600"/>
          </a:xfrm>
          <a:prstGeom prst="rect">
            <a:avLst/>
          </a:prstGeom>
        </p:spPr>
        <p:txBody>
          <a:bodyPr anchorCtr="0" anchor="t" bIns="91425" lIns="91425" spcFirstLastPara="1" rIns="91425" wrap="square" tIns="91425">
            <a:noAutofit/>
          </a:bodyPr>
          <a:lstStyle/>
          <a:p>
            <a:pPr indent="-361950" lvl="0" marL="457200" rtl="0" algn="l">
              <a:lnSpc>
                <a:spcPct val="115000"/>
              </a:lnSpc>
              <a:spcBef>
                <a:spcPts val="0"/>
              </a:spcBef>
              <a:spcAft>
                <a:spcPts val="0"/>
              </a:spcAft>
              <a:buClr>
                <a:schemeClr val="dk1"/>
              </a:buClr>
              <a:buSzPts val="2100"/>
              <a:buFont typeface="Inter Medium"/>
              <a:buAutoNum type="arabicPeriod"/>
            </a:pPr>
            <a:r>
              <a:rPr lang="en" sz="2100">
                <a:solidFill>
                  <a:schemeClr val="dk1"/>
                </a:solidFill>
                <a:latin typeface="Inter Medium"/>
                <a:ea typeface="Inter Medium"/>
                <a:cs typeface="Inter Medium"/>
                <a:sym typeface="Inter Medium"/>
              </a:rPr>
              <a:t>Aktueller Entwicklungsstand</a:t>
            </a:r>
            <a:endParaRPr sz="2100">
              <a:solidFill>
                <a:schemeClr val="dk1"/>
              </a:solidFill>
              <a:latin typeface="Inter Medium"/>
              <a:ea typeface="Inter Medium"/>
              <a:cs typeface="Inter Medium"/>
              <a:sym typeface="Inter Medium"/>
            </a:endParaRPr>
          </a:p>
          <a:p>
            <a:pPr indent="-361950" lvl="0" marL="457200" rtl="0" algn="l">
              <a:lnSpc>
                <a:spcPct val="115000"/>
              </a:lnSpc>
              <a:spcBef>
                <a:spcPts val="0"/>
              </a:spcBef>
              <a:spcAft>
                <a:spcPts val="0"/>
              </a:spcAft>
              <a:buClr>
                <a:schemeClr val="dk1"/>
              </a:buClr>
              <a:buSzPts val="2100"/>
              <a:buFont typeface="Inter Medium"/>
              <a:buAutoNum type="arabicPeriod"/>
            </a:pPr>
            <a:r>
              <a:rPr lang="en" sz="2100">
                <a:solidFill>
                  <a:schemeClr val="dk1"/>
                </a:solidFill>
                <a:latin typeface="Inter Medium"/>
                <a:ea typeface="Inter Medium"/>
                <a:cs typeface="Inter Medium"/>
                <a:sym typeface="Inter Medium"/>
              </a:rPr>
              <a:t>Deploymentprozess des App Stores</a:t>
            </a:r>
            <a:endParaRPr sz="2100">
              <a:solidFill>
                <a:schemeClr val="dk1"/>
              </a:solidFill>
              <a:latin typeface="Inter Medium"/>
              <a:ea typeface="Inter Medium"/>
              <a:cs typeface="Inter Medium"/>
              <a:sym typeface="Inter Medium"/>
            </a:endParaRPr>
          </a:p>
          <a:p>
            <a:pPr indent="-361950" lvl="0" marL="457200" rtl="0" algn="l">
              <a:lnSpc>
                <a:spcPct val="115000"/>
              </a:lnSpc>
              <a:spcBef>
                <a:spcPts val="0"/>
              </a:spcBef>
              <a:spcAft>
                <a:spcPts val="0"/>
              </a:spcAft>
              <a:buClr>
                <a:schemeClr val="dk1"/>
              </a:buClr>
              <a:buSzPts val="2100"/>
              <a:buFont typeface="Inter Medium"/>
              <a:buAutoNum type="arabicPeriod"/>
            </a:pPr>
            <a:r>
              <a:rPr lang="en" sz="2100">
                <a:solidFill>
                  <a:schemeClr val="dk1"/>
                </a:solidFill>
                <a:latin typeface="Inter Medium"/>
                <a:ea typeface="Inter Medium"/>
                <a:cs typeface="Inter Medium"/>
                <a:sym typeface="Inter Medium"/>
              </a:rPr>
              <a:t>Überarbeitete QS &amp; aktualisierte Architektur</a:t>
            </a:r>
            <a:endParaRPr sz="2100">
              <a:solidFill>
                <a:schemeClr val="dk1"/>
              </a:solidFill>
              <a:latin typeface="Inter Medium"/>
              <a:ea typeface="Inter Medium"/>
              <a:cs typeface="Inter Medium"/>
              <a:sym typeface="Inter Medium"/>
            </a:endParaRPr>
          </a:p>
          <a:p>
            <a:pPr indent="-361950" lvl="0" marL="457200" rtl="0" algn="l">
              <a:lnSpc>
                <a:spcPct val="115000"/>
              </a:lnSpc>
              <a:spcBef>
                <a:spcPts val="0"/>
              </a:spcBef>
              <a:spcAft>
                <a:spcPts val="0"/>
              </a:spcAft>
              <a:buClr>
                <a:schemeClr val="dk1"/>
              </a:buClr>
              <a:buSzPts val="2100"/>
              <a:buFont typeface="Inter Medium"/>
              <a:buAutoNum type="arabicPeriod"/>
            </a:pPr>
            <a:r>
              <a:rPr lang="en" sz="2100">
                <a:solidFill>
                  <a:schemeClr val="dk1"/>
                </a:solidFill>
                <a:latin typeface="Inter Medium"/>
                <a:ea typeface="Inter Medium"/>
                <a:cs typeface="Inter Medium"/>
                <a:sym typeface="Inter Medium"/>
              </a:rPr>
              <a:t>User Stories</a:t>
            </a:r>
            <a:endParaRPr sz="2100">
              <a:solidFill>
                <a:schemeClr val="dk1"/>
              </a:solidFill>
              <a:latin typeface="Inter Medium"/>
              <a:ea typeface="Inter Medium"/>
              <a:cs typeface="Inter Medium"/>
              <a:sym typeface="Inter Medium"/>
            </a:endParaRPr>
          </a:p>
          <a:p>
            <a:pPr indent="-361950" lvl="0" marL="457200" rtl="0" algn="l">
              <a:lnSpc>
                <a:spcPct val="115000"/>
              </a:lnSpc>
              <a:spcBef>
                <a:spcPts val="0"/>
              </a:spcBef>
              <a:spcAft>
                <a:spcPts val="0"/>
              </a:spcAft>
              <a:buClr>
                <a:schemeClr val="dk1"/>
              </a:buClr>
              <a:buSzPts val="2100"/>
              <a:buFont typeface="Inter Medium"/>
              <a:buAutoNum type="arabicPeriod"/>
            </a:pPr>
            <a:r>
              <a:rPr lang="en" sz="2100">
                <a:solidFill>
                  <a:schemeClr val="dk1"/>
                </a:solidFill>
                <a:latin typeface="Inter Medium"/>
                <a:ea typeface="Inter Medium"/>
                <a:cs typeface="Inter Medium"/>
                <a:sym typeface="Inter Medium"/>
              </a:rPr>
              <a:t>Harness Engineering</a:t>
            </a:r>
            <a:endParaRPr sz="2100">
              <a:solidFill>
                <a:schemeClr val="dk1"/>
              </a:solidFill>
              <a:latin typeface="Inter Medium"/>
              <a:ea typeface="Inter Medium"/>
              <a:cs typeface="Inter Medium"/>
              <a:sym typeface="Inter Medium"/>
            </a:endParaRPr>
          </a:p>
          <a:p>
            <a:pPr indent="-336550" lvl="1" marL="914400" rtl="0" algn="l">
              <a:lnSpc>
                <a:spcPct val="115000"/>
              </a:lnSpc>
              <a:spcBef>
                <a:spcPts val="0"/>
              </a:spcBef>
              <a:spcAft>
                <a:spcPts val="0"/>
              </a:spcAft>
              <a:buClr>
                <a:schemeClr val="dk1"/>
              </a:buClr>
              <a:buSzPts val="1700"/>
              <a:buFont typeface="Inter Medium"/>
              <a:buAutoNum type="alphaLcPeriod"/>
            </a:pPr>
            <a:r>
              <a:rPr lang="en" sz="1700">
                <a:solidFill>
                  <a:schemeClr val="dk1"/>
                </a:solidFill>
                <a:latin typeface="Inter"/>
                <a:ea typeface="Inter"/>
                <a:cs typeface="Inter"/>
                <a:sym typeface="Inter"/>
              </a:rPr>
              <a:t>Was ist Harness</a:t>
            </a:r>
            <a:endParaRPr sz="1700">
              <a:solidFill>
                <a:schemeClr val="dk1"/>
              </a:solidFill>
              <a:latin typeface="Inter"/>
              <a:ea typeface="Inter"/>
              <a:cs typeface="Inter"/>
              <a:sym typeface="Inter"/>
            </a:endParaRPr>
          </a:p>
          <a:p>
            <a:pPr indent="-336550" lvl="1" marL="914400" rtl="0" algn="l">
              <a:lnSpc>
                <a:spcPct val="115000"/>
              </a:lnSpc>
              <a:spcBef>
                <a:spcPts val="0"/>
              </a:spcBef>
              <a:spcAft>
                <a:spcPts val="0"/>
              </a:spcAft>
              <a:buClr>
                <a:schemeClr val="dk1"/>
              </a:buClr>
              <a:buSzPts val="1700"/>
              <a:buFont typeface="Inter Medium"/>
              <a:buAutoNum type="alphaLcPeriod"/>
            </a:pPr>
            <a:r>
              <a:rPr lang="en" sz="1700">
                <a:solidFill>
                  <a:schemeClr val="dk1"/>
                </a:solidFill>
                <a:latin typeface="Inter"/>
                <a:ea typeface="Inter"/>
                <a:cs typeface="Inter"/>
                <a:sym typeface="Inter"/>
              </a:rPr>
              <a:t>Prozesse &amp; Bausteine</a:t>
            </a:r>
            <a:endParaRPr sz="1700">
              <a:solidFill>
                <a:schemeClr val="dk1"/>
              </a:solidFill>
              <a:latin typeface="Inter"/>
              <a:ea typeface="Inter"/>
              <a:cs typeface="Inter"/>
              <a:sym typeface="Inter"/>
            </a:endParaRPr>
          </a:p>
          <a:p>
            <a:pPr indent="-336550" lvl="1" marL="914400" rtl="0" algn="l">
              <a:lnSpc>
                <a:spcPct val="115000"/>
              </a:lnSpc>
              <a:spcBef>
                <a:spcPts val="0"/>
              </a:spcBef>
              <a:spcAft>
                <a:spcPts val="0"/>
              </a:spcAft>
              <a:buClr>
                <a:schemeClr val="dk1"/>
              </a:buClr>
              <a:buSzPts val="1700"/>
              <a:buFont typeface="Inter Medium"/>
              <a:buAutoNum type="alphaLcPeriod"/>
            </a:pPr>
            <a:r>
              <a:rPr lang="en" sz="1700">
                <a:solidFill>
                  <a:schemeClr val="dk1"/>
                </a:solidFill>
                <a:latin typeface="Inter"/>
                <a:ea typeface="Inter"/>
                <a:cs typeface="Inter"/>
                <a:sym typeface="Inter"/>
              </a:rPr>
              <a:t>Entscheidungen &amp; Kritik</a:t>
            </a:r>
            <a:endParaRPr sz="1700">
              <a:solidFill>
                <a:schemeClr val="dk1"/>
              </a:solidFill>
              <a:latin typeface="Inter"/>
              <a:ea typeface="Inter"/>
              <a:cs typeface="Inter"/>
              <a:sym typeface="Inter"/>
            </a:endParaRPr>
          </a:p>
          <a:p>
            <a:pPr indent="0" lvl="0" marL="914400" rtl="0" algn="l">
              <a:spcBef>
                <a:spcPts val="0"/>
              </a:spcBef>
              <a:spcAft>
                <a:spcPts val="1200"/>
              </a:spcAft>
              <a:buNone/>
            </a:pPr>
            <a:r>
              <a:t/>
            </a:r>
            <a:endParaRPr sz="2100">
              <a:solidFill>
                <a:srgbClr val="2C2C2C"/>
              </a:solidFill>
              <a:latin typeface="Inter Medium"/>
              <a:ea typeface="Inter Medium"/>
              <a:cs typeface="Inter Medium"/>
              <a:sym typeface="Inter Medium"/>
            </a:endParaRPr>
          </a:p>
        </p:txBody>
      </p:sp>
      <p:pic>
        <p:nvPicPr>
          <p:cNvPr id="145" name="Google Shape;145;p30"/>
          <p:cNvPicPr preferRelativeResize="0"/>
          <p:nvPr/>
        </p:nvPicPr>
        <p:blipFill>
          <a:blip r:embed="rId3">
            <a:alphaModFix/>
          </a:blip>
          <a:stretch>
            <a:fillRect/>
          </a:stretch>
        </p:blipFill>
        <p:spPr>
          <a:xfrm>
            <a:off x="8318658" y="0"/>
            <a:ext cx="825343" cy="624600"/>
          </a:xfrm>
          <a:prstGeom prst="rect">
            <a:avLst/>
          </a:prstGeom>
          <a:noFill/>
          <a:ln>
            <a:noFill/>
          </a:ln>
        </p:spPr>
      </p:pic>
      <p:sp>
        <p:nvSpPr>
          <p:cNvPr id="146" name="Google Shape;146;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31"/>
          <p:cNvSpPr txBox="1"/>
          <p:nvPr/>
        </p:nvSpPr>
        <p:spPr>
          <a:xfrm>
            <a:off x="457200" y="1387810"/>
            <a:ext cx="8229600" cy="64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3D2E"/>
              </a:buClr>
              <a:buSzPts val="3000"/>
              <a:buFont typeface="Arial"/>
              <a:buNone/>
            </a:pPr>
            <a:r>
              <a:rPr b="1" i="0" lang="en" sz="3000" u="none" cap="none" strike="noStrike">
                <a:solidFill>
                  <a:schemeClr val="dk1"/>
                </a:solidFill>
                <a:latin typeface="Arial"/>
                <a:ea typeface="Arial"/>
                <a:cs typeface="Arial"/>
                <a:sym typeface="Arial"/>
              </a:rPr>
              <a:t>Identity</a:t>
            </a:r>
            <a:r>
              <a:rPr b="1" lang="en" sz="3000">
                <a:solidFill>
                  <a:schemeClr val="dk1"/>
                </a:solidFill>
              </a:rPr>
              <a:t> Provider</a:t>
            </a:r>
            <a:endParaRPr b="0" i="0" sz="3000" u="none" cap="none" strike="noStrike">
              <a:solidFill>
                <a:schemeClr val="dk1"/>
              </a:solidFill>
              <a:latin typeface="Calibri"/>
              <a:ea typeface="Calibri"/>
              <a:cs typeface="Calibri"/>
              <a:sym typeface="Calibri"/>
            </a:endParaRPr>
          </a:p>
        </p:txBody>
      </p:sp>
      <p:sp>
        <p:nvSpPr>
          <p:cNvPr id="153" name="Google Shape;153;p31"/>
          <p:cNvSpPr txBox="1"/>
          <p:nvPr/>
        </p:nvSpPr>
        <p:spPr>
          <a:xfrm>
            <a:off x="640080" y="1188720"/>
            <a:ext cx="274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62"/>
              </a:buClr>
              <a:buSzPts val="1100"/>
              <a:buFont typeface="Arial"/>
              <a:buNone/>
            </a:pPr>
            <a:r>
              <a:rPr b="1" i="0" lang="en" sz="1100" u="none" cap="none" strike="noStrike">
                <a:solidFill>
                  <a:srgbClr val="5B6B62"/>
                </a:solidFill>
                <a:latin typeface="Arial"/>
                <a:ea typeface="Arial"/>
                <a:cs typeface="Arial"/>
                <a:sym typeface="Arial"/>
              </a:rPr>
              <a:t>Weg</a:t>
            </a:r>
            <a:endParaRPr b="0" i="0" sz="1100" u="none" cap="none" strike="noStrike">
              <a:solidFill>
                <a:schemeClr val="dk1"/>
              </a:solidFill>
              <a:latin typeface="Calibri"/>
              <a:ea typeface="Calibri"/>
              <a:cs typeface="Calibri"/>
              <a:sym typeface="Calibri"/>
            </a:endParaRPr>
          </a:p>
        </p:txBody>
      </p:sp>
      <p:sp>
        <p:nvSpPr>
          <p:cNvPr id="154" name="Google Shape;154;p31"/>
          <p:cNvSpPr txBox="1"/>
          <p:nvPr/>
        </p:nvSpPr>
        <p:spPr>
          <a:xfrm>
            <a:off x="3429000" y="1188720"/>
            <a:ext cx="2560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62"/>
              </a:buClr>
              <a:buSzPts val="1100"/>
              <a:buFont typeface="Arial"/>
              <a:buNone/>
            </a:pPr>
            <a:r>
              <a:rPr b="1" i="0" lang="en" sz="1100" u="none" cap="none" strike="noStrike">
                <a:solidFill>
                  <a:srgbClr val="5B6B62"/>
                </a:solidFill>
                <a:latin typeface="Arial"/>
                <a:ea typeface="Arial"/>
                <a:cs typeface="Arial"/>
                <a:sym typeface="Arial"/>
              </a:rPr>
              <a:t>Identity Provider</a:t>
            </a:r>
            <a:endParaRPr b="0" i="0" sz="1100" u="none" cap="none" strike="noStrike">
              <a:solidFill>
                <a:schemeClr val="dk1"/>
              </a:solidFill>
              <a:latin typeface="Calibri"/>
              <a:ea typeface="Calibri"/>
              <a:cs typeface="Calibri"/>
              <a:sym typeface="Calibri"/>
            </a:endParaRPr>
          </a:p>
        </p:txBody>
      </p:sp>
      <p:sp>
        <p:nvSpPr>
          <p:cNvPr id="155" name="Google Shape;155;p31"/>
          <p:cNvSpPr txBox="1"/>
          <p:nvPr/>
        </p:nvSpPr>
        <p:spPr>
          <a:xfrm>
            <a:off x="6309360" y="1188720"/>
            <a:ext cx="21945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62"/>
              </a:buClr>
              <a:buSzPts val="1100"/>
              <a:buFont typeface="Arial"/>
              <a:buNone/>
            </a:pPr>
            <a:r>
              <a:rPr b="1" i="0" lang="en" sz="1100" u="none" cap="none" strike="noStrike">
                <a:solidFill>
                  <a:srgbClr val="5B6B62"/>
                </a:solidFill>
                <a:latin typeface="Arial"/>
                <a:ea typeface="Arial"/>
                <a:cs typeface="Arial"/>
                <a:sym typeface="Arial"/>
              </a:rPr>
              <a:t>Mechanismus</a:t>
            </a:r>
            <a:endParaRPr b="0" i="0" sz="1100" u="none" cap="none" strike="noStrike">
              <a:solidFill>
                <a:schemeClr val="dk1"/>
              </a:solidFill>
              <a:latin typeface="Calibri"/>
              <a:ea typeface="Calibri"/>
              <a:cs typeface="Calibri"/>
              <a:sym typeface="Calibri"/>
            </a:endParaRPr>
          </a:p>
        </p:txBody>
      </p:sp>
      <p:sp>
        <p:nvSpPr>
          <p:cNvPr id="156" name="Google Shape;156;p31"/>
          <p:cNvSpPr/>
          <p:nvPr/>
        </p:nvSpPr>
        <p:spPr>
          <a:xfrm>
            <a:off x="457200" y="2869165"/>
            <a:ext cx="8229600" cy="640200"/>
          </a:xfrm>
          <a:prstGeom prst="roundRect">
            <a:avLst>
              <a:gd fmla="val 17143" name="adj"/>
            </a:avLst>
          </a:prstGeom>
          <a:solidFill>
            <a:srgbClr val="C8DAF7"/>
          </a:solidFill>
          <a:ln cap="flat" cmpd="sng" w="12700">
            <a:solidFill>
              <a:srgbClr val="EEF6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4C2F4"/>
              </a:solidFill>
            </a:endParaRPr>
          </a:p>
        </p:txBody>
      </p:sp>
      <p:sp>
        <p:nvSpPr>
          <p:cNvPr id="157" name="Google Shape;157;p31"/>
          <p:cNvSpPr txBox="1"/>
          <p:nvPr/>
        </p:nvSpPr>
        <p:spPr>
          <a:xfrm>
            <a:off x="640080" y="2869165"/>
            <a:ext cx="27432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D2E"/>
              </a:buClr>
              <a:buSzPts val="1400"/>
              <a:buFont typeface="Arial"/>
              <a:buNone/>
            </a:pPr>
            <a:r>
              <a:rPr b="1" i="0" lang="en" sz="1400" u="none" cap="none" strike="noStrike">
                <a:solidFill>
                  <a:srgbClr val="0F3D2E"/>
                </a:solidFill>
                <a:latin typeface="Arial"/>
                <a:ea typeface="Arial"/>
                <a:cs typeface="Arial"/>
                <a:sym typeface="Arial"/>
              </a:rPr>
              <a:t>Self-Service-UI → App-Store</a:t>
            </a:r>
            <a:endParaRPr b="0" i="0" sz="1400" u="none" cap="none" strike="noStrike">
              <a:solidFill>
                <a:schemeClr val="dk1"/>
              </a:solidFill>
              <a:latin typeface="Calibri"/>
              <a:ea typeface="Calibri"/>
              <a:cs typeface="Calibri"/>
              <a:sym typeface="Calibri"/>
            </a:endParaRPr>
          </a:p>
        </p:txBody>
      </p:sp>
      <p:sp>
        <p:nvSpPr>
          <p:cNvPr id="158" name="Google Shape;158;p31"/>
          <p:cNvSpPr txBox="1"/>
          <p:nvPr/>
        </p:nvSpPr>
        <p:spPr>
          <a:xfrm>
            <a:off x="3429000" y="2869165"/>
            <a:ext cx="26517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24"/>
              </a:buClr>
              <a:buSzPts val="1300"/>
              <a:buFont typeface="Arial"/>
              <a:buNone/>
            </a:pPr>
            <a:r>
              <a:rPr b="0" i="0" lang="en" sz="1300" u="none" cap="none" strike="noStrike">
                <a:solidFill>
                  <a:srgbClr val="1F2A24"/>
                </a:solidFill>
                <a:latin typeface="Arial"/>
                <a:ea typeface="Arial"/>
                <a:cs typeface="Arial"/>
                <a:sym typeface="Arial"/>
              </a:rPr>
              <a:t>DHBW Keycloak (</a:t>
            </a:r>
            <a:r>
              <a:rPr b="0" i="0" lang="en" sz="1300" u="none" cap="none" strike="noStrike">
                <a:solidFill>
                  <a:srgbClr val="1F2A24"/>
                </a:solidFill>
                <a:latin typeface="Arial"/>
                <a:ea typeface="Arial"/>
                <a:cs typeface="Arial"/>
                <a:sym typeface="Arial"/>
              </a:rPr>
              <a:t>oauth2-proxy</a:t>
            </a:r>
            <a:r>
              <a:rPr b="0" i="0" lang="en" sz="1300" u="none" cap="none" strike="noStrike">
                <a:solidFill>
                  <a:srgbClr val="1F2A24"/>
                </a:solidFill>
                <a:latin typeface="Arial"/>
                <a:ea typeface="Arial"/>
                <a:cs typeface="Arial"/>
                <a:sym typeface="Arial"/>
              </a:rPr>
              <a:t>)</a:t>
            </a:r>
            <a:endParaRPr b="0" i="0" sz="1300" u="none" cap="none" strike="noStrike">
              <a:solidFill>
                <a:schemeClr val="dk1"/>
              </a:solidFill>
              <a:latin typeface="Calibri"/>
              <a:ea typeface="Calibri"/>
              <a:cs typeface="Calibri"/>
              <a:sym typeface="Calibri"/>
            </a:endParaRPr>
          </a:p>
        </p:txBody>
      </p:sp>
      <p:sp>
        <p:nvSpPr>
          <p:cNvPr id="159" name="Google Shape;159;p31"/>
          <p:cNvSpPr txBox="1"/>
          <p:nvPr/>
        </p:nvSpPr>
        <p:spPr>
          <a:xfrm>
            <a:off x="6309360" y="3033757"/>
            <a:ext cx="2103000" cy="310800"/>
          </a:xfrm>
          <a:prstGeom prst="rect">
            <a:avLst/>
          </a:prstGeom>
          <a:solidFill>
            <a:srgbClr val="5B9BF0"/>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SSO-Bridge</a:t>
            </a:r>
            <a:endParaRPr b="0" i="0" sz="1200" u="none" cap="none" strike="noStrike">
              <a:solidFill>
                <a:schemeClr val="dk1"/>
              </a:solidFill>
              <a:latin typeface="Calibri"/>
              <a:ea typeface="Calibri"/>
              <a:cs typeface="Calibri"/>
              <a:sym typeface="Calibri"/>
            </a:endParaRPr>
          </a:p>
        </p:txBody>
      </p:sp>
      <p:sp>
        <p:nvSpPr>
          <p:cNvPr id="160" name="Google Shape;160;p31"/>
          <p:cNvSpPr/>
          <p:nvPr/>
        </p:nvSpPr>
        <p:spPr>
          <a:xfrm>
            <a:off x="457200" y="2167010"/>
            <a:ext cx="8229600" cy="640200"/>
          </a:xfrm>
          <a:prstGeom prst="roundRect">
            <a:avLst>
              <a:gd fmla="val 17143" name="adj"/>
            </a:avLst>
          </a:prstGeom>
          <a:solidFill>
            <a:srgbClr val="C9DAF8"/>
          </a:solidFill>
          <a:ln cap="flat" cmpd="sng" w="12700">
            <a:solidFill>
              <a:srgbClr val="EEF6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1"/>
          <p:cNvSpPr txBox="1"/>
          <p:nvPr/>
        </p:nvSpPr>
        <p:spPr>
          <a:xfrm>
            <a:off x="640080" y="2167010"/>
            <a:ext cx="27432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D2E"/>
              </a:buClr>
              <a:buSzPts val="1400"/>
              <a:buFont typeface="Arial"/>
              <a:buNone/>
            </a:pPr>
            <a:r>
              <a:rPr b="1" i="0" lang="en" sz="1400" u="none" cap="none" strike="noStrike">
                <a:solidFill>
                  <a:srgbClr val="0F3D2E"/>
                </a:solidFill>
                <a:latin typeface="Arial"/>
                <a:ea typeface="Arial"/>
                <a:cs typeface="Arial"/>
                <a:sym typeface="Arial"/>
              </a:rPr>
              <a:t>Moodle → App-Store</a:t>
            </a:r>
            <a:endParaRPr b="0" i="0" sz="1400" u="none" cap="none" strike="noStrike">
              <a:solidFill>
                <a:schemeClr val="dk1"/>
              </a:solidFill>
              <a:latin typeface="Calibri"/>
              <a:ea typeface="Calibri"/>
              <a:cs typeface="Calibri"/>
              <a:sym typeface="Calibri"/>
            </a:endParaRPr>
          </a:p>
        </p:txBody>
      </p:sp>
      <p:sp>
        <p:nvSpPr>
          <p:cNvPr id="162" name="Google Shape;162;p31"/>
          <p:cNvSpPr txBox="1"/>
          <p:nvPr/>
        </p:nvSpPr>
        <p:spPr>
          <a:xfrm>
            <a:off x="3429000" y="2167010"/>
            <a:ext cx="26517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24"/>
              </a:buClr>
              <a:buSzPts val="1300"/>
              <a:buFont typeface="Arial"/>
              <a:buNone/>
            </a:pPr>
            <a:r>
              <a:rPr b="0" i="0" lang="en" sz="1300" u="none" cap="none" strike="noStrike">
                <a:solidFill>
                  <a:srgbClr val="1F2A24"/>
                </a:solidFill>
                <a:latin typeface="Arial"/>
                <a:ea typeface="Arial"/>
                <a:cs typeface="Arial"/>
                <a:sym typeface="Arial"/>
              </a:rPr>
              <a:t>Moodle als LTI-Platform</a:t>
            </a:r>
            <a:endParaRPr b="0" i="0" sz="1300" u="none" cap="none" strike="noStrike">
              <a:solidFill>
                <a:schemeClr val="dk1"/>
              </a:solidFill>
              <a:latin typeface="Calibri"/>
              <a:ea typeface="Calibri"/>
              <a:cs typeface="Calibri"/>
              <a:sym typeface="Calibri"/>
            </a:endParaRPr>
          </a:p>
        </p:txBody>
      </p:sp>
      <p:sp>
        <p:nvSpPr>
          <p:cNvPr id="163" name="Google Shape;163;p31"/>
          <p:cNvSpPr txBox="1"/>
          <p:nvPr/>
        </p:nvSpPr>
        <p:spPr>
          <a:xfrm>
            <a:off x="6309360" y="2331602"/>
            <a:ext cx="2103000" cy="310800"/>
          </a:xfrm>
          <a:prstGeom prst="rect">
            <a:avLst/>
          </a:prstGeom>
          <a:solidFill>
            <a:srgbClr val="5B9BF0"/>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LTI-1.3-Token</a:t>
            </a:r>
            <a:endParaRPr b="0" i="0" sz="1200" u="none" cap="none" strike="noStrike">
              <a:solidFill>
                <a:schemeClr val="dk1"/>
              </a:solidFill>
              <a:latin typeface="Calibri"/>
              <a:ea typeface="Calibri"/>
              <a:cs typeface="Calibri"/>
              <a:sym typeface="Calibri"/>
            </a:endParaRPr>
          </a:p>
        </p:txBody>
      </p:sp>
      <p:sp>
        <p:nvSpPr>
          <p:cNvPr id="164" name="Google Shape;164;p31"/>
          <p:cNvSpPr/>
          <p:nvPr/>
        </p:nvSpPr>
        <p:spPr>
          <a:xfrm>
            <a:off x="457200" y="1451930"/>
            <a:ext cx="8229600" cy="640200"/>
          </a:xfrm>
          <a:prstGeom prst="roundRect">
            <a:avLst>
              <a:gd fmla="val 17143" name="adj"/>
            </a:avLst>
          </a:prstGeom>
          <a:solidFill>
            <a:srgbClr val="C9DAF8"/>
          </a:solidFill>
          <a:ln cap="flat" cmpd="sng" w="12700">
            <a:solidFill>
              <a:srgbClr val="EEF6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1"/>
          <p:cNvSpPr txBox="1"/>
          <p:nvPr/>
        </p:nvSpPr>
        <p:spPr>
          <a:xfrm>
            <a:off x="640080" y="1451930"/>
            <a:ext cx="27432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D2E"/>
              </a:buClr>
              <a:buSzPts val="1400"/>
              <a:buFont typeface="Arial"/>
              <a:buNone/>
            </a:pPr>
            <a:r>
              <a:rPr b="1" i="0" lang="en" sz="1400" u="none" cap="none" strike="noStrike">
                <a:solidFill>
                  <a:srgbClr val="0F3D2E"/>
                </a:solidFill>
                <a:latin typeface="Arial"/>
                <a:ea typeface="Arial"/>
                <a:cs typeface="Arial"/>
                <a:sym typeface="Arial"/>
              </a:rPr>
              <a:t>Direktzugang App-Store</a:t>
            </a:r>
            <a:endParaRPr b="0" i="0" sz="1400" u="none" cap="none" strike="noStrike">
              <a:solidFill>
                <a:schemeClr val="dk1"/>
              </a:solidFill>
              <a:latin typeface="Calibri"/>
              <a:ea typeface="Calibri"/>
              <a:cs typeface="Calibri"/>
              <a:sym typeface="Calibri"/>
            </a:endParaRPr>
          </a:p>
        </p:txBody>
      </p:sp>
      <p:sp>
        <p:nvSpPr>
          <p:cNvPr id="166" name="Google Shape;166;p31"/>
          <p:cNvSpPr txBox="1"/>
          <p:nvPr/>
        </p:nvSpPr>
        <p:spPr>
          <a:xfrm>
            <a:off x="3429000" y="1451930"/>
            <a:ext cx="26517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24"/>
              </a:buClr>
              <a:buSzPts val="1300"/>
              <a:buFont typeface="Arial"/>
              <a:buNone/>
            </a:pPr>
            <a:r>
              <a:rPr b="0" i="0" lang="en" sz="1300" u="none" cap="none" strike="noStrike">
                <a:solidFill>
                  <a:srgbClr val="1F2A24"/>
                </a:solidFill>
                <a:latin typeface="Arial"/>
                <a:ea typeface="Arial"/>
                <a:cs typeface="Arial"/>
                <a:sym typeface="Arial"/>
              </a:rPr>
              <a:t>App-Store Keycloak</a:t>
            </a:r>
            <a:endParaRPr b="0" i="0" sz="1300" u="none" cap="none" strike="noStrike">
              <a:solidFill>
                <a:schemeClr val="dk1"/>
              </a:solidFill>
              <a:latin typeface="Calibri"/>
              <a:ea typeface="Calibri"/>
              <a:cs typeface="Calibri"/>
              <a:sym typeface="Calibri"/>
            </a:endParaRPr>
          </a:p>
        </p:txBody>
      </p:sp>
      <p:sp>
        <p:nvSpPr>
          <p:cNvPr id="167" name="Google Shape;167;p31"/>
          <p:cNvSpPr txBox="1"/>
          <p:nvPr/>
        </p:nvSpPr>
        <p:spPr>
          <a:xfrm>
            <a:off x="6309360" y="1616522"/>
            <a:ext cx="2103000" cy="310800"/>
          </a:xfrm>
          <a:prstGeom prst="rect">
            <a:avLst/>
          </a:prstGeom>
          <a:solidFill>
            <a:srgbClr val="5B9BF0"/>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OIDC</a:t>
            </a:r>
            <a:endParaRPr b="0" i="0" sz="1200" u="none" cap="none" strike="noStrike">
              <a:solidFill>
                <a:schemeClr val="dk1"/>
              </a:solidFill>
              <a:latin typeface="Calibri"/>
              <a:ea typeface="Calibri"/>
              <a:cs typeface="Calibri"/>
              <a:sym typeface="Calibri"/>
            </a:endParaRPr>
          </a:p>
        </p:txBody>
      </p:sp>
      <p:sp>
        <p:nvSpPr>
          <p:cNvPr id="168" name="Google Shape;168;p31"/>
          <p:cNvSpPr/>
          <p:nvPr/>
        </p:nvSpPr>
        <p:spPr>
          <a:xfrm>
            <a:off x="457200" y="3749040"/>
            <a:ext cx="8229600" cy="502800"/>
          </a:xfrm>
          <a:prstGeom prst="roundRect">
            <a:avLst>
              <a:gd fmla="val 21818" name="adj"/>
            </a:avLst>
          </a:prstGeom>
          <a:solidFill>
            <a:srgbClr val="5B9B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1"/>
          <p:cNvSpPr txBox="1"/>
          <p:nvPr/>
        </p:nvSpPr>
        <p:spPr>
          <a:xfrm>
            <a:off x="640080" y="3749040"/>
            <a:ext cx="78638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
                <a:solidFill>
                  <a:srgbClr val="FFFFFF"/>
                </a:solidFill>
              </a:rPr>
              <a:t>Immer SSO als </a:t>
            </a:r>
            <a:r>
              <a:rPr b="1" i="0" lang="en" u="none" cap="none" strike="noStrike">
                <a:solidFill>
                  <a:srgbClr val="FFFFFF"/>
                </a:solidFill>
                <a:latin typeface="Arial"/>
                <a:ea typeface="Arial"/>
                <a:cs typeface="Arial"/>
                <a:sym typeface="Arial"/>
              </a:rPr>
              <a:t>E-Mail-Identität</a:t>
            </a:r>
            <a:endParaRPr b="0" i="0" u="none" cap="none" strike="noStrike">
              <a:solidFill>
                <a:schemeClr val="dk1"/>
              </a:solidFill>
              <a:latin typeface="Calibri"/>
              <a:ea typeface="Calibri"/>
              <a:cs typeface="Calibri"/>
              <a:sym typeface="Calibri"/>
            </a:endParaRPr>
          </a:p>
        </p:txBody>
      </p:sp>
      <p:pic>
        <p:nvPicPr>
          <p:cNvPr id="170" name="Google Shape;170;p31"/>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171" name="Google Shape;171;p31"/>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Lea Dennhardt</a:t>
            </a:r>
            <a:endParaRPr sz="1100"/>
          </a:p>
        </p:txBody>
      </p:sp>
      <p:sp>
        <p:nvSpPr>
          <p:cNvPr id="172" name="Google Shape;172;p31"/>
          <p:cNvSpPr txBox="1"/>
          <p:nvPr/>
        </p:nvSpPr>
        <p:spPr>
          <a:xfrm>
            <a:off x="8034650"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3</a:t>
            </a:r>
            <a:endParaRPr sz="1100"/>
          </a:p>
        </p:txBody>
      </p:sp>
      <p:sp>
        <p:nvSpPr>
          <p:cNvPr id="173" name="Google Shape;173;p31"/>
          <p:cNvSpPr txBox="1"/>
          <p:nvPr/>
        </p:nvSpPr>
        <p:spPr>
          <a:xfrm>
            <a:off x="457200" y="365760"/>
            <a:ext cx="8229600" cy="64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3D2E"/>
              </a:buClr>
              <a:buSzPts val="3000"/>
              <a:buFont typeface="Arial"/>
              <a:buNone/>
            </a:pPr>
            <a:r>
              <a:rPr b="1" lang="en" sz="3000">
                <a:solidFill>
                  <a:schemeClr val="dk1"/>
                </a:solidFill>
              </a:rPr>
              <a:t>Identity Provider</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78" name="Shape 178"/>
        <p:cNvGrpSpPr/>
        <p:nvPr/>
      </p:nvGrpSpPr>
      <p:grpSpPr>
        <a:xfrm>
          <a:off x="0" y="0"/>
          <a:ext cx="0" cy="0"/>
          <a:chOff x="0" y="0"/>
          <a:chExt cx="0" cy="0"/>
        </a:xfrm>
      </p:grpSpPr>
      <p:pic>
        <p:nvPicPr>
          <p:cNvPr id="179" name="Google Shape;179;p32"/>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180" name="Google Shape;180;p32"/>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Lea Dennhardt</a:t>
            </a:r>
            <a:endParaRPr sz="1100"/>
          </a:p>
        </p:txBody>
      </p:sp>
      <p:sp>
        <p:nvSpPr>
          <p:cNvPr id="181" name="Google Shape;181;p32"/>
          <p:cNvSpPr txBox="1"/>
          <p:nvPr/>
        </p:nvSpPr>
        <p:spPr>
          <a:xfrm>
            <a:off x="457200" y="365760"/>
            <a:ext cx="8229600" cy="64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3D2E"/>
              </a:buClr>
              <a:buSzPts val="3000"/>
              <a:buFont typeface="Arial"/>
              <a:buNone/>
            </a:pPr>
            <a:r>
              <a:rPr b="1" lang="en" sz="3000">
                <a:solidFill>
                  <a:schemeClr val="dk1"/>
                </a:solidFill>
              </a:rPr>
              <a:t>Identity Provider Ergänzung</a:t>
            </a:r>
            <a:endParaRPr b="0" i="0" sz="3000" u="none" cap="none" strike="noStrike">
              <a:solidFill>
                <a:schemeClr val="dk1"/>
              </a:solidFill>
              <a:latin typeface="Calibri"/>
              <a:ea typeface="Calibri"/>
              <a:cs typeface="Calibri"/>
              <a:sym typeface="Calibri"/>
            </a:endParaRPr>
          </a:p>
        </p:txBody>
      </p:sp>
      <p:pic>
        <p:nvPicPr>
          <p:cNvPr id="182" name="Google Shape;182;p32"/>
          <p:cNvPicPr preferRelativeResize="0"/>
          <p:nvPr/>
        </p:nvPicPr>
        <p:blipFill rotWithShape="1">
          <a:blip r:embed="rId4">
            <a:alphaModFix/>
          </a:blip>
          <a:srcRect b="0" l="0" r="0" t="17232"/>
          <a:stretch/>
        </p:blipFill>
        <p:spPr>
          <a:xfrm>
            <a:off x="1108375" y="1071550"/>
            <a:ext cx="6927245" cy="354136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33"/>
          <p:cNvSpPr txBox="1"/>
          <p:nvPr/>
        </p:nvSpPr>
        <p:spPr>
          <a:xfrm>
            <a:off x="411480" y="205740"/>
            <a:ext cx="65151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000"/>
              <a:buFont typeface="Cambria"/>
              <a:buNone/>
            </a:pPr>
            <a:r>
              <a:rPr b="1" lang="en" sz="2200">
                <a:solidFill>
                  <a:srgbClr val="1A1A2E"/>
                </a:solidFill>
              </a:rPr>
              <a:t>Refactoring</a:t>
            </a:r>
            <a:endParaRPr i="0" sz="2200" u="none" cap="none" strike="noStrike">
              <a:solidFill>
                <a:schemeClr val="dk1"/>
              </a:solidFill>
            </a:endParaRPr>
          </a:p>
        </p:txBody>
      </p:sp>
      <p:sp>
        <p:nvSpPr>
          <p:cNvPr id="189" name="Google Shape;189;p33"/>
          <p:cNvSpPr/>
          <p:nvPr/>
        </p:nvSpPr>
        <p:spPr>
          <a:xfrm>
            <a:off x="560013" y="881380"/>
            <a:ext cx="3840600" cy="590700"/>
          </a:xfrm>
          <a:prstGeom prst="roundRect">
            <a:avLst>
              <a:gd fmla="val 9091" name="adj"/>
            </a:avLst>
          </a:prstGeom>
          <a:solidFill>
            <a:srgbClr val="C8DAF7"/>
          </a:solidFill>
          <a:ln cap="flat" cmpd="sng" w="19050">
            <a:solidFill>
              <a:srgbClr val="C8DA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0" name="Google Shape;190;p33"/>
          <p:cNvSpPr txBox="1"/>
          <p:nvPr/>
        </p:nvSpPr>
        <p:spPr>
          <a:xfrm>
            <a:off x="560013" y="881380"/>
            <a:ext cx="3840600" cy="590700"/>
          </a:xfrm>
          <a:prstGeom prst="rect">
            <a:avLst/>
          </a:prstGeom>
          <a:solidFill>
            <a:srgbClr val="C8DAF7"/>
          </a:solidFill>
          <a:ln cap="flat" cmpd="sng" w="9525">
            <a:solidFill>
              <a:srgbClr val="C8DAF7"/>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lang="en" sz="1600">
                <a:solidFill>
                  <a:srgbClr val="1A1A2E"/>
                </a:solidFill>
              </a:rPr>
              <a:t>Auslagerung der Business-Logik</a:t>
            </a:r>
            <a:endParaRPr i="0" sz="1600" u="none" cap="none" strike="noStrike">
              <a:solidFill>
                <a:schemeClr val="dk1"/>
              </a:solidFill>
            </a:endParaRPr>
          </a:p>
        </p:txBody>
      </p:sp>
      <p:sp>
        <p:nvSpPr>
          <p:cNvPr id="191" name="Google Shape;191;p33"/>
          <p:cNvSpPr/>
          <p:nvPr/>
        </p:nvSpPr>
        <p:spPr>
          <a:xfrm>
            <a:off x="560013" y="1847345"/>
            <a:ext cx="3840600" cy="590700"/>
          </a:xfrm>
          <a:prstGeom prst="roundRect">
            <a:avLst>
              <a:gd fmla="val 9091" name="adj"/>
            </a:avLst>
          </a:prstGeom>
          <a:solidFill>
            <a:srgbClr val="C8DAF7"/>
          </a:solidFill>
          <a:ln cap="flat" cmpd="sng" w="19050">
            <a:solidFill>
              <a:srgbClr val="C8DA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33"/>
          <p:cNvSpPr txBox="1"/>
          <p:nvPr/>
        </p:nvSpPr>
        <p:spPr>
          <a:xfrm>
            <a:off x="560013" y="1847345"/>
            <a:ext cx="3840600" cy="590700"/>
          </a:xfrm>
          <a:prstGeom prst="rect">
            <a:avLst/>
          </a:prstGeom>
          <a:solidFill>
            <a:srgbClr val="C8DAF7"/>
          </a:solidFill>
          <a:ln cap="flat" cmpd="sng" w="9525">
            <a:solidFill>
              <a:srgbClr val="C8DAF7"/>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lang="en" sz="1600">
                <a:solidFill>
                  <a:srgbClr val="1A1A2E"/>
                </a:solidFill>
              </a:rPr>
              <a:t>Widersprechende “Owner View”</a:t>
            </a:r>
            <a:endParaRPr i="0" sz="1600" u="none" cap="none" strike="noStrike">
              <a:solidFill>
                <a:schemeClr val="dk1"/>
              </a:solidFill>
            </a:endParaRPr>
          </a:p>
        </p:txBody>
      </p:sp>
      <p:sp>
        <p:nvSpPr>
          <p:cNvPr id="193" name="Google Shape;193;p33"/>
          <p:cNvSpPr/>
          <p:nvPr/>
        </p:nvSpPr>
        <p:spPr>
          <a:xfrm>
            <a:off x="4743375" y="3779309"/>
            <a:ext cx="3840600" cy="590700"/>
          </a:xfrm>
          <a:prstGeom prst="roundRect">
            <a:avLst>
              <a:gd fmla="val 9091" name="adj"/>
            </a:avLst>
          </a:prstGeom>
          <a:solidFill>
            <a:srgbClr val="C8DAF7"/>
          </a:solidFill>
          <a:ln cap="flat" cmpd="sng" w="19050">
            <a:solidFill>
              <a:srgbClr val="C8DA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4" name="Google Shape;194;p33"/>
          <p:cNvSpPr txBox="1"/>
          <p:nvPr/>
        </p:nvSpPr>
        <p:spPr>
          <a:xfrm>
            <a:off x="4743375" y="3779309"/>
            <a:ext cx="3840600" cy="590700"/>
          </a:xfrm>
          <a:prstGeom prst="rect">
            <a:avLst/>
          </a:prstGeom>
          <a:solidFill>
            <a:srgbClr val="C8DAF7"/>
          </a:solidFill>
          <a:ln cap="flat" cmpd="sng" w="9525">
            <a:solidFill>
              <a:srgbClr val="C8DAF7"/>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lang="en" sz="1600">
                <a:solidFill>
                  <a:srgbClr val="1A1A2E"/>
                </a:solidFill>
              </a:rPr>
              <a:t>Fehlender Linter im Frontend</a:t>
            </a:r>
            <a:endParaRPr i="0" sz="1600" u="none" cap="none" strike="noStrike">
              <a:solidFill>
                <a:schemeClr val="dk1"/>
              </a:solidFill>
            </a:endParaRPr>
          </a:p>
        </p:txBody>
      </p:sp>
      <p:sp>
        <p:nvSpPr>
          <p:cNvPr id="195" name="Google Shape;195;p33"/>
          <p:cNvSpPr/>
          <p:nvPr/>
        </p:nvSpPr>
        <p:spPr>
          <a:xfrm>
            <a:off x="4743387" y="2813330"/>
            <a:ext cx="3840600" cy="590700"/>
          </a:xfrm>
          <a:prstGeom prst="roundRect">
            <a:avLst>
              <a:gd fmla="val 9091" name="adj"/>
            </a:avLst>
          </a:prstGeom>
          <a:solidFill>
            <a:srgbClr val="C8DAF7"/>
          </a:solidFill>
          <a:ln cap="flat" cmpd="sng" w="19050">
            <a:solidFill>
              <a:srgbClr val="C8DA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33"/>
          <p:cNvSpPr txBox="1"/>
          <p:nvPr/>
        </p:nvSpPr>
        <p:spPr>
          <a:xfrm>
            <a:off x="4743387" y="2813330"/>
            <a:ext cx="3840600" cy="590700"/>
          </a:xfrm>
          <a:prstGeom prst="rect">
            <a:avLst/>
          </a:prstGeom>
          <a:solidFill>
            <a:srgbClr val="C8DAF7"/>
          </a:solidFill>
          <a:ln cap="flat" cmpd="sng" w="9525">
            <a:solidFill>
              <a:srgbClr val="C8DAF7"/>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lang="en" sz="1600">
                <a:solidFill>
                  <a:srgbClr val="1A1A2E"/>
                </a:solidFill>
              </a:rPr>
              <a:t>Duplikationen</a:t>
            </a:r>
            <a:endParaRPr i="0" sz="1600" u="none" cap="none" strike="noStrike">
              <a:solidFill>
                <a:schemeClr val="dk1"/>
              </a:solidFill>
            </a:endParaRPr>
          </a:p>
        </p:txBody>
      </p:sp>
      <p:sp>
        <p:nvSpPr>
          <p:cNvPr id="197" name="Google Shape;197;p33"/>
          <p:cNvSpPr/>
          <p:nvPr/>
        </p:nvSpPr>
        <p:spPr>
          <a:xfrm>
            <a:off x="4743387" y="1847345"/>
            <a:ext cx="3840600" cy="590700"/>
          </a:xfrm>
          <a:prstGeom prst="roundRect">
            <a:avLst>
              <a:gd fmla="val 9091" name="adj"/>
            </a:avLst>
          </a:prstGeom>
          <a:solidFill>
            <a:srgbClr val="C8DAF7"/>
          </a:solidFill>
          <a:ln cap="flat" cmpd="sng" w="19050">
            <a:solidFill>
              <a:srgbClr val="C8DA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 name="Google Shape;198;p33"/>
          <p:cNvSpPr txBox="1"/>
          <p:nvPr/>
        </p:nvSpPr>
        <p:spPr>
          <a:xfrm>
            <a:off x="4743387" y="1847345"/>
            <a:ext cx="3840600" cy="590700"/>
          </a:xfrm>
          <a:prstGeom prst="rect">
            <a:avLst/>
          </a:prstGeom>
          <a:solidFill>
            <a:srgbClr val="C8DAF7"/>
          </a:solidFill>
          <a:ln cap="flat" cmpd="sng" w="9525">
            <a:solidFill>
              <a:srgbClr val="C8DAF7"/>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lang="en" sz="1600">
                <a:solidFill>
                  <a:srgbClr val="1A1A2E"/>
                </a:solidFill>
              </a:rPr>
              <a:t>Nicht benutzte API-Routes</a:t>
            </a:r>
            <a:endParaRPr i="0" sz="1600" u="none" cap="none" strike="noStrike">
              <a:solidFill>
                <a:schemeClr val="dk1"/>
              </a:solidFill>
            </a:endParaRPr>
          </a:p>
        </p:txBody>
      </p:sp>
      <p:sp>
        <p:nvSpPr>
          <p:cNvPr id="199" name="Google Shape;199;p33"/>
          <p:cNvSpPr/>
          <p:nvPr/>
        </p:nvSpPr>
        <p:spPr>
          <a:xfrm>
            <a:off x="4743375" y="881384"/>
            <a:ext cx="3840600" cy="590700"/>
          </a:xfrm>
          <a:prstGeom prst="roundRect">
            <a:avLst>
              <a:gd fmla="val 9091" name="adj"/>
            </a:avLst>
          </a:prstGeom>
          <a:solidFill>
            <a:srgbClr val="C8DAF7"/>
          </a:solidFill>
          <a:ln cap="flat" cmpd="sng" w="19050">
            <a:solidFill>
              <a:srgbClr val="C8DA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0" name="Google Shape;200;p33"/>
          <p:cNvSpPr txBox="1"/>
          <p:nvPr/>
        </p:nvSpPr>
        <p:spPr>
          <a:xfrm>
            <a:off x="4743375" y="881384"/>
            <a:ext cx="3840600" cy="590700"/>
          </a:xfrm>
          <a:prstGeom prst="rect">
            <a:avLst/>
          </a:prstGeom>
          <a:solidFill>
            <a:srgbClr val="C8DAF7"/>
          </a:solidFill>
          <a:ln cap="flat" cmpd="sng" w="9525">
            <a:solidFill>
              <a:srgbClr val="C8DAF7"/>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lang="en" sz="1600">
                <a:solidFill>
                  <a:srgbClr val="1A1A2E"/>
                </a:solidFill>
              </a:rPr>
              <a:t>Fehlende API-Routes</a:t>
            </a:r>
            <a:endParaRPr i="0" sz="1600" u="none" cap="none" strike="noStrike">
              <a:solidFill>
                <a:schemeClr val="dk1"/>
              </a:solidFill>
            </a:endParaRPr>
          </a:p>
        </p:txBody>
      </p:sp>
      <p:pic>
        <p:nvPicPr>
          <p:cNvPr id="201" name="Google Shape;201;p33"/>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202" name="Google Shape;202;p33"/>
          <p:cNvSpPr/>
          <p:nvPr/>
        </p:nvSpPr>
        <p:spPr>
          <a:xfrm>
            <a:off x="560025" y="3779309"/>
            <a:ext cx="3840600" cy="590700"/>
          </a:xfrm>
          <a:prstGeom prst="roundRect">
            <a:avLst>
              <a:gd fmla="val 9091" name="adj"/>
            </a:avLst>
          </a:prstGeom>
          <a:solidFill>
            <a:srgbClr val="C8DAF7"/>
          </a:solidFill>
          <a:ln cap="flat" cmpd="sng" w="19050">
            <a:solidFill>
              <a:srgbClr val="C8DA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3" name="Google Shape;203;p33"/>
          <p:cNvSpPr txBox="1"/>
          <p:nvPr/>
        </p:nvSpPr>
        <p:spPr>
          <a:xfrm>
            <a:off x="560025" y="3779309"/>
            <a:ext cx="3840600" cy="590700"/>
          </a:xfrm>
          <a:prstGeom prst="rect">
            <a:avLst/>
          </a:prstGeom>
          <a:solidFill>
            <a:srgbClr val="C8DAF7"/>
          </a:solidFill>
          <a:ln cap="flat" cmpd="sng" w="9525">
            <a:solidFill>
              <a:srgbClr val="C8DAF7"/>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lang="en" sz="1600">
                <a:solidFill>
                  <a:srgbClr val="1A1A2E"/>
                </a:solidFill>
              </a:rPr>
              <a:t>Frontend Tests</a:t>
            </a:r>
            <a:endParaRPr i="0" sz="1600" u="none" cap="none" strike="noStrike">
              <a:solidFill>
                <a:schemeClr val="dk1"/>
              </a:solidFill>
            </a:endParaRPr>
          </a:p>
        </p:txBody>
      </p:sp>
      <p:sp>
        <p:nvSpPr>
          <p:cNvPr id="204" name="Google Shape;204;p33"/>
          <p:cNvSpPr/>
          <p:nvPr/>
        </p:nvSpPr>
        <p:spPr>
          <a:xfrm>
            <a:off x="560025" y="2813334"/>
            <a:ext cx="3840600" cy="590700"/>
          </a:xfrm>
          <a:prstGeom prst="roundRect">
            <a:avLst>
              <a:gd fmla="val 9091" name="adj"/>
            </a:avLst>
          </a:prstGeom>
          <a:solidFill>
            <a:srgbClr val="C8DAF7"/>
          </a:solidFill>
          <a:ln cap="flat" cmpd="sng" w="19050">
            <a:solidFill>
              <a:srgbClr val="C8DA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5" name="Google Shape;205;p33"/>
          <p:cNvSpPr txBox="1"/>
          <p:nvPr/>
        </p:nvSpPr>
        <p:spPr>
          <a:xfrm>
            <a:off x="560025" y="2813334"/>
            <a:ext cx="3840600" cy="590700"/>
          </a:xfrm>
          <a:prstGeom prst="rect">
            <a:avLst/>
          </a:prstGeom>
          <a:solidFill>
            <a:srgbClr val="C8DAF7"/>
          </a:solidFill>
          <a:ln cap="flat" cmpd="sng" w="9525">
            <a:solidFill>
              <a:srgbClr val="C8DAF7"/>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lang="en" sz="1600">
                <a:solidFill>
                  <a:srgbClr val="1A1A2E"/>
                </a:solidFill>
              </a:rPr>
              <a:t>Packer Inkonsistenz</a:t>
            </a:r>
            <a:endParaRPr i="0" sz="1600" u="none" cap="none" strike="noStrike">
              <a:solidFill>
                <a:schemeClr val="dk1"/>
              </a:solidFill>
            </a:endParaRPr>
          </a:p>
        </p:txBody>
      </p:sp>
      <p:sp>
        <p:nvSpPr>
          <p:cNvPr id="206" name="Google Shape;206;p33"/>
          <p:cNvSpPr txBox="1"/>
          <p:nvPr>
            <p:ph idx="4294967295"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3"/>
          <p:cNvSpPr txBox="1"/>
          <p:nvPr/>
        </p:nvSpPr>
        <p:spPr>
          <a:xfrm>
            <a:off x="560025" y="4667575"/>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rgbClr val="434343"/>
                </a:solidFill>
                <a:latin typeface="Inter Light"/>
                <a:ea typeface="Inter Light"/>
                <a:cs typeface="Inter Light"/>
                <a:sym typeface="Inter Light"/>
              </a:rPr>
              <a:t>Andre Maxinger</a:t>
            </a:r>
            <a:endParaRPr sz="1300">
              <a:latin typeface="Inter Light"/>
              <a:ea typeface="Inter Light"/>
              <a:cs typeface="Inter Light"/>
              <a:sym typeface="Inter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AFC"/>
        </a:solidFill>
      </p:bgPr>
    </p:bg>
    <p:spTree>
      <p:nvGrpSpPr>
        <p:cNvPr id="211" name="Shape 211"/>
        <p:cNvGrpSpPr/>
        <p:nvPr/>
      </p:nvGrpSpPr>
      <p:grpSpPr>
        <a:xfrm>
          <a:off x="0" y="0"/>
          <a:ext cx="0" cy="0"/>
          <a:chOff x="0" y="0"/>
          <a:chExt cx="0" cy="0"/>
        </a:xfrm>
      </p:grpSpPr>
      <p:pic>
        <p:nvPicPr>
          <p:cNvPr id="212" name="Google Shape;212;p34" title="LTILaunch.png"/>
          <p:cNvPicPr preferRelativeResize="0"/>
          <p:nvPr/>
        </p:nvPicPr>
        <p:blipFill>
          <a:blip r:embed="rId3">
            <a:alphaModFix/>
          </a:blip>
          <a:stretch>
            <a:fillRect/>
          </a:stretch>
        </p:blipFill>
        <p:spPr>
          <a:xfrm>
            <a:off x="3128925" y="0"/>
            <a:ext cx="2886151" cy="5462902"/>
          </a:xfrm>
          <a:prstGeom prst="rect">
            <a:avLst/>
          </a:prstGeom>
          <a:noFill/>
          <a:ln>
            <a:noFill/>
          </a:ln>
        </p:spPr>
      </p:pic>
      <p:sp>
        <p:nvSpPr>
          <p:cNvPr id="213" name="Google Shape;213;p34"/>
          <p:cNvSpPr txBox="1"/>
          <p:nvPr/>
        </p:nvSpPr>
        <p:spPr>
          <a:xfrm>
            <a:off x="226650" y="275915"/>
            <a:ext cx="6515100" cy="937500"/>
          </a:xfrm>
          <a:prstGeom prst="rect">
            <a:avLst/>
          </a:prstGeom>
          <a:noFill/>
          <a:ln>
            <a:noFill/>
          </a:ln>
        </p:spPr>
        <p:txBody>
          <a:bodyPr anchorCtr="0" anchor="t" bIns="0" lIns="0" spcFirstLastPara="1" rIns="0" wrap="square" tIns="0">
            <a:noAutofit/>
          </a:bodyPr>
          <a:lstStyle/>
          <a:p>
            <a:pPr indent="0" lvl="0" marL="0" rtl="0" algn="l">
              <a:lnSpc>
                <a:spcPct val="138000"/>
              </a:lnSpc>
              <a:spcBef>
                <a:spcPts val="0"/>
              </a:spcBef>
              <a:spcAft>
                <a:spcPts val="0"/>
              </a:spcAft>
              <a:buClr>
                <a:schemeClr val="dk1"/>
              </a:buClr>
              <a:buSzPts val="1100"/>
              <a:buFont typeface="Arial"/>
              <a:buNone/>
            </a:pPr>
            <a:r>
              <a:rPr b="1" lang="en" sz="1800">
                <a:solidFill>
                  <a:schemeClr val="dk1"/>
                </a:solidFill>
                <a:latin typeface="Roboto"/>
                <a:ea typeface="Roboto"/>
                <a:cs typeface="Roboto"/>
                <a:sym typeface="Roboto"/>
              </a:rPr>
              <a:t>Ablauf des LTI-1.3-Launch </a:t>
            </a:r>
            <a:endParaRPr b="1" sz="1800">
              <a:solidFill>
                <a:schemeClr val="dk1"/>
              </a:solidFill>
              <a:latin typeface="Roboto"/>
              <a:ea typeface="Roboto"/>
              <a:cs typeface="Roboto"/>
              <a:sym typeface="Roboto"/>
            </a:endParaRPr>
          </a:p>
          <a:p>
            <a:pPr indent="0" lvl="0" marL="0" rtl="0" algn="l">
              <a:lnSpc>
                <a:spcPct val="138000"/>
              </a:lnSpc>
              <a:spcBef>
                <a:spcPts val="0"/>
              </a:spcBef>
              <a:spcAft>
                <a:spcPts val="0"/>
              </a:spcAft>
              <a:buClr>
                <a:schemeClr val="dk1"/>
              </a:buClr>
              <a:buSzPts val="1100"/>
              <a:buFont typeface="Arial"/>
              <a:buNone/>
            </a:pPr>
            <a:r>
              <a:rPr b="1" lang="en" sz="1800">
                <a:solidFill>
                  <a:schemeClr val="dk1"/>
                </a:solidFill>
                <a:latin typeface="Roboto"/>
                <a:ea typeface="Roboto"/>
                <a:cs typeface="Roboto"/>
                <a:sym typeface="Roboto"/>
              </a:rPr>
              <a:t>aus Moodle</a:t>
            </a:r>
            <a:endParaRPr b="1" sz="1800">
              <a:solidFill>
                <a:schemeClr val="dk1"/>
              </a:solidFill>
              <a:latin typeface="Roboto"/>
              <a:ea typeface="Roboto"/>
              <a:cs typeface="Roboto"/>
              <a:sym typeface="Roboto"/>
            </a:endParaRPr>
          </a:p>
          <a:p>
            <a:pPr indent="0" lvl="0" marL="0" rtl="0" algn="l">
              <a:spcBef>
                <a:spcPts val="0"/>
              </a:spcBef>
              <a:spcAft>
                <a:spcPts val="0"/>
              </a:spcAft>
              <a:buClr>
                <a:srgbClr val="1A1A2E"/>
              </a:buClr>
              <a:buSzPts val="2000"/>
              <a:buFont typeface="Cambria"/>
              <a:buNone/>
            </a:pPr>
            <a:r>
              <a:t/>
            </a:r>
            <a:endParaRPr b="1" sz="2200">
              <a:solidFill>
                <a:srgbClr val="1A1A2E"/>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sp>
        <p:nvSpPr>
          <p:cNvPr id="219" name="Google Shape;219;p35"/>
          <p:cNvSpPr txBox="1"/>
          <p:nvPr/>
        </p:nvSpPr>
        <p:spPr>
          <a:xfrm>
            <a:off x="411480" y="205740"/>
            <a:ext cx="651510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000"/>
              <a:buFont typeface="Cambria"/>
              <a:buNone/>
            </a:pPr>
            <a:r>
              <a:rPr b="1" i="0" lang="en" sz="2200" u="none" cap="none" strike="noStrike">
                <a:solidFill>
                  <a:srgbClr val="1A1A2E"/>
                </a:solidFill>
              </a:rPr>
              <a:t>Deploymentprozess des App-Stores</a:t>
            </a:r>
            <a:endParaRPr i="0" sz="2200" u="none" cap="none" strike="noStrike">
              <a:solidFill>
                <a:schemeClr val="dk1"/>
              </a:solidFill>
            </a:endParaRPr>
          </a:p>
        </p:txBody>
      </p:sp>
      <p:sp>
        <p:nvSpPr>
          <p:cNvPr id="220" name="Google Shape;220;p35"/>
          <p:cNvSpPr/>
          <p:nvPr/>
        </p:nvSpPr>
        <p:spPr>
          <a:xfrm>
            <a:off x="754386" y="720150"/>
            <a:ext cx="2400300" cy="415200"/>
          </a:xfrm>
          <a:prstGeom prst="roundRect">
            <a:avLst>
              <a:gd fmla="val 10870" name="adj"/>
            </a:avLst>
          </a:prstGeom>
          <a:solidFill>
            <a:srgbClr val="065A8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1" name="Google Shape;221;p35"/>
          <p:cNvSpPr txBox="1"/>
          <p:nvPr/>
        </p:nvSpPr>
        <p:spPr>
          <a:xfrm>
            <a:off x="754386" y="720150"/>
            <a:ext cx="2400300" cy="4152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1600" u="none" cap="none" strike="noStrike">
                <a:solidFill>
                  <a:schemeClr val="dk1"/>
                </a:solidFill>
              </a:rPr>
              <a:t>Backend-CI</a:t>
            </a:r>
            <a:endParaRPr i="0" sz="1600" u="none" cap="none" strike="noStrike">
              <a:solidFill>
                <a:schemeClr val="dk1"/>
              </a:solidFill>
            </a:endParaRPr>
          </a:p>
        </p:txBody>
      </p:sp>
      <p:sp>
        <p:nvSpPr>
          <p:cNvPr id="222" name="Google Shape;222;p35"/>
          <p:cNvSpPr/>
          <p:nvPr/>
        </p:nvSpPr>
        <p:spPr>
          <a:xfrm>
            <a:off x="3360424" y="720150"/>
            <a:ext cx="2400300" cy="415200"/>
          </a:xfrm>
          <a:prstGeom prst="roundRect">
            <a:avLst>
              <a:gd fmla="val 10870" name="adj"/>
            </a:avLst>
          </a:prstGeom>
          <a:solidFill>
            <a:srgbClr val="065A8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3" name="Google Shape;223;p35"/>
          <p:cNvSpPr txBox="1"/>
          <p:nvPr/>
        </p:nvSpPr>
        <p:spPr>
          <a:xfrm>
            <a:off x="3360424" y="720150"/>
            <a:ext cx="2400300" cy="4152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1600" u="none" cap="none" strike="noStrike">
                <a:solidFill>
                  <a:schemeClr val="dk1"/>
                </a:solidFill>
              </a:rPr>
              <a:t>Frontend-CI</a:t>
            </a:r>
            <a:endParaRPr i="0" sz="1600" u="none" cap="none" strike="noStrike">
              <a:solidFill>
                <a:schemeClr val="dk1"/>
              </a:solidFill>
            </a:endParaRPr>
          </a:p>
        </p:txBody>
      </p:sp>
      <p:sp>
        <p:nvSpPr>
          <p:cNvPr id="224" name="Google Shape;224;p35"/>
          <p:cNvSpPr/>
          <p:nvPr/>
        </p:nvSpPr>
        <p:spPr>
          <a:xfrm>
            <a:off x="5966461" y="720150"/>
            <a:ext cx="2400300" cy="415200"/>
          </a:xfrm>
          <a:prstGeom prst="roundRect">
            <a:avLst>
              <a:gd fmla="val 10870" name="adj"/>
            </a:avLst>
          </a:prstGeom>
          <a:solidFill>
            <a:srgbClr val="065A8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5" name="Google Shape;225;p35"/>
          <p:cNvSpPr txBox="1"/>
          <p:nvPr/>
        </p:nvSpPr>
        <p:spPr>
          <a:xfrm>
            <a:off x="5966461" y="720150"/>
            <a:ext cx="2400300" cy="4152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1600" u="none" cap="none" strike="noStrike">
                <a:solidFill>
                  <a:schemeClr val="dk1"/>
                </a:solidFill>
              </a:rPr>
              <a:t>Worker-CI</a:t>
            </a:r>
            <a:endParaRPr i="0" sz="1600" u="none" cap="none" strike="noStrike">
              <a:solidFill>
                <a:schemeClr val="dk1"/>
              </a:solidFill>
            </a:endParaRPr>
          </a:p>
        </p:txBody>
      </p:sp>
      <p:cxnSp>
        <p:nvCxnSpPr>
          <p:cNvPr id="226" name="Google Shape;226;p35"/>
          <p:cNvCxnSpPr/>
          <p:nvPr/>
        </p:nvCxnSpPr>
        <p:spPr>
          <a:xfrm>
            <a:off x="1200159" y="1152698"/>
            <a:ext cx="0" cy="131400"/>
          </a:xfrm>
          <a:prstGeom prst="straightConnector1">
            <a:avLst/>
          </a:prstGeom>
          <a:noFill/>
          <a:ln cap="flat" cmpd="sng" w="19050">
            <a:solidFill>
              <a:srgbClr val="5A6478"/>
            </a:solidFill>
            <a:prstDash val="solid"/>
            <a:round/>
            <a:headEnd len="sm" w="sm" type="none"/>
            <a:tailEnd len="sm" w="sm" type="none"/>
          </a:ln>
        </p:spPr>
      </p:cxnSp>
      <p:cxnSp>
        <p:nvCxnSpPr>
          <p:cNvPr id="227" name="Google Shape;227;p35"/>
          <p:cNvCxnSpPr/>
          <p:nvPr/>
        </p:nvCxnSpPr>
        <p:spPr>
          <a:xfrm>
            <a:off x="4560572" y="1135094"/>
            <a:ext cx="0" cy="126000"/>
          </a:xfrm>
          <a:prstGeom prst="straightConnector1">
            <a:avLst/>
          </a:prstGeom>
          <a:noFill/>
          <a:ln cap="flat" cmpd="sng" w="19050">
            <a:solidFill>
              <a:srgbClr val="5A6478"/>
            </a:solidFill>
            <a:prstDash val="solid"/>
            <a:round/>
            <a:headEnd len="sm" w="sm" type="none"/>
            <a:tailEnd len="sm" w="sm" type="none"/>
          </a:ln>
        </p:spPr>
      </p:cxnSp>
      <p:cxnSp>
        <p:nvCxnSpPr>
          <p:cNvPr id="228" name="Google Shape;228;p35"/>
          <p:cNvCxnSpPr/>
          <p:nvPr/>
        </p:nvCxnSpPr>
        <p:spPr>
          <a:xfrm>
            <a:off x="7920989" y="1135094"/>
            <a:ext cx="0" cy="126000"/>
          </a:xfrm>
          <a:prstGeom prst="straightConnector1">
            <a:avLst/>
          </a:prstGeom>
          <a:noFill/>
          <a:ln cap="flat" cmpd="sng" w="19050">
            <a:solidFill>
              <a:srgbClr val="5A6478"/>
            </a:solidFill>
            <a:prstDash val="solid"/>
            <a:round/>
            <a:headEnd len="sm" w="sm" type="none"/>
            <a:tailEnd len="sm" w="sm" type="none"/>
          </a:ln>
        </p:spPr>
      </p:cxnSp>
      <p:cxnSp>
        <p:nvCxnSpPr>
          <p:cNvPr id="229" name="Google Shape;229;p35"/>
          <p:cNvCxnSpPr/>
          <p:nvPr/>
        </p:nvCxnSpPr>
        <p:spPr>
          <a:xfrm>
            <a:off x="1200131" y="1225299"/>
            <a:ext cx="6720900" cy="0"/>
          </a:xfrm>
          <a:prstGeom prst="straightConnector1">
            <a:avLst/>
          </a:prstGeom>
          <a:noFill/>
          <a:ln cap="flat" cmpd="sng" w="19050">
            <a:solidFill>
              <a:srgbClr val="5A6478"/>
            </a:solidFill>
            <a:prstDash val="solid"/>
            <a:round/>
            <a:headEnd len="sm" w="sm" type="none"/>
            <a:tailEnd len="sm" w="sm" type="none"/>
          </a:ln>
        </p:spPr>
      </p:cxnSp>
      <p:sp>
        <p:nvSpPr>
          <p:cNvPr id="230" name="Google Shape;230;p35"/>
          <p:cNvSpPr/>
          <p:nvPr/>
        </p:nvSpPr>
        <p:spPr>
          <a:xfrm rot="10800000">
            <a:off x="4505636" y="1225027"/>
            <a:ext cx="109800" cy="144600"/>
          </a:xfrm>
          <a:prstGeom prst="triangle">
            <a:avLst>
              <a:gd fmla="val 50000" name="adj"/>
            </a:avLst>
          </a:prstGeom>
          <a:solidFill>
            <a:srgbClr val="5A647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1" name="Google Shape;231;p35"/>
          <p:cNvSpPr/>
          <p:nvPr/>
        </p:nvSpPr>
        <p:spPr>
          <a:xfrm>
            <a:off x="3531873" y="1333545"/>
            <a:ext cx="2057400" cy="342900"/>
          </a:xfrm>
          <a:prstGeom prst="roundRect">
            <a:avLst>
              <a:gd fmla="val 13158" name="adj"/>
            </a:avLst>
          </a:prstGeom>
          <a:solidFill>
            <a:srgbClr val="21295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35"/>
          <p:cNvSpPr txBox="1"/>
          <p:nvPr/>
        </p:nvSpPr>
        <p:spPr>
          <a:xfrm>
            <a:off x="3531873" y="1333545"/>
            <a:ext cx="2057400" cy="342900"/>
          </a:xfrm>
          <a:prstGeom prst="rect">
            <a:avLst/>
          </a:prstGeom>
          <a:solidFill>
            <a:srgbClr val="5B9BF0"/>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 sz="1600" u="none" cap="none" strike="noStrike">
                <a:solidFill>
                  <a:schemeClr val="dk1"/>
                </a:solidFill>
              </a:rPr>
              <a:t>GHCR </a:t>
            </a:r>
            <a:endParaRPr i="0" sz="1600" u="none" cap="none" strike="noStrike">
              <a:solidFill>
                <a:schemeClr val="dk1"/>
              </a:solidFill>
            </a:endParaRPr>
          </a:p>
        </p:txBody>
      </p:sp>
      <p:cxnSp>
        <p:nvCxnSpPr>
          <p:cNvPr id="233" name="Google Shape;233;p35"/>
          <p:cNvCxnSpPr/>
          <p:nvPr/>
        </p:nvCxnSpPr>
        <p:spPr>
          <a:xfrm>
            <a:off x="4560572" y="1730448"/>
            <a:ext cx="0" cy="144600"/>
          </a:xfrm>
          <a:prstGeom prst="straightConnector1">
            <a:avLst/>
          </a:prstGeom>
          <a:noFill/>
          <a:ln cap="flat" cmpd="sng" w="19050">
            <a:solidFill>
              <a:srgbClr val="5A6478"/>
            </a:solidFill>
            <a:prstDash val="solid"/>
            <a:round/>
            <a:headEnd len="sm" w="sm" type="none"/>
            <a:tailEnd len="sm" w="sm" type="none"/>
          </a:ln>
        </p:spPr>
      </p:cxnSp>
      <p:cxnSp>
        <p:nvCxnSpPr>
          <p:cNvPr id="234" name="Google Shape;234;p35"/>
          <p:cNvCxnSpPr/>
          <p:nvPr/>
        </p:nvCxnSpPr>
        <p:spPr>
          <a:xfrm>
            <a:off x="2434595" y="1874776"/>
            <a:ext cx="2126100" cy="0"/>
          </a:xfrm>
          <a:prstGeom prst="straightConnector1">
            <a:avLst/>
          </a:prstGeom>
          <a:noFill/>
          <a:ln cap="flat" cmpd="sng" w="19050">
            <a:solidFill>
              <a:srgbClr val="5A6478"/>
            </a:solidFill>
            <a:prstDash val="solid"/>
            <a:round/>
            <a:headEnd len="sm" w="sm" type="none"/>
            <a:tailEnd len="sm" w="sm" type="none"/>
          </a:ln>
        </p:spPr>
      </p:cxnSp>
      <p:cxnSp>
        <p:nvCxnSpPr>
          <p:cNvPr id="235" name="Google Shape;235;p35"/>
          <p:cNvCxnSpPr/>
          <p:nvPr/>
        </p:nvCxnSpPr>
        <p:spPr>
          <a:xfrm>
            <a:off x="4560572" y="1874776"/>
            <a:ext cx="2126100" cy="0"/>
          </a:xfrm>
          <a:prstGeom prst="straightConnector1">
            <a:avLst/>
          </a:prstGeom>
          <a:noFill/>
          <a:ln cap="flat" cmpd="sng" w="19050">
            <a:solidFill>
              <a:srgbClr val="5A6478"/>
            </a:solidFill>
            <a:prstDash val="solid"/>
            <a:round/>
            <a:headEnd len="sm" w="sm" type="none"/>
            <a:tailEnd len="sm" w="sm" type="none"/>
          </a:ln>
        </p:spPr>
      </p:cxnSp>
      <p:sp>
        <p:nvSpPr>
          <p:cNvPr id="236" name="Google Shape;236;p35"/>
          <p:cNvSpPr/>
          <p:nvPr/>
        </p:nvSpPr>
        <p:spPr>
          <a:xfrm rot="10800000">
            <a:off x="2379659" y="1874504"/>
            <a:ext cx="109800" cy="144600"/>
          </a:xfrm>
          <a:prstGeom prst="triangle">
            <a:avLst>
              <a:gd fmla="val 50000" name="adj"/>
            </a:avLst>
          </a:prstGeom>
          <a:solidFill>
            <a:srgbClr val="5A647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35"/>
          <p:cNvSpPr/>
          <p:nvPr/>
        </p:nvSpPr>
        <p:spPr>
          <a:xfrm rot="10800000">
            <a:off x="6631614" y="1874504"/>
            <a:ext cx="109800" cy="144600"/>
          </a:xfrm>
          <a:prstGeom prst="triangle">
            <a:avLst>
              <a:gd fmla="val 50000" name="adj"/>
            </a:avLst>
          </a:prstGeom>
          <a:solidFill>
            <a:srgbClr val="5A647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8" name="Google Shape;238;p35"/>
          <p:cNvSpPr/>
          <p:nvPr/>
        </p:nvSpPr>
        <p:spPr>
          <a:xfrm>
            <a:off x="1988825" y="2019104"/>
            <a:ext cx="960000" cy="234900"/>
          </a:xfrm>
          <a:prstGeom prst="roundRect">
            <a:avLst>
              <a:gd fmla="val 50000" name="adj"/>
            </a:avLst>
          </a:prstGeom>
          <a:solidFill>
            <a:srgbClr val="1C729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9" name="Google Shape;239;p35"/>
          <p:cNvSpPr txBox="1"/>
          <p:nvPr/>
        </p:nvSpPr>
        <p:spPr>
          <a:xfrm>
            <a:off x="1988822" y="2019107"/>
            <a:ext cx="960000" cy="23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 sz="1600" u="none" cap="none" strike="noStrike">
                <a:solidFill>
                  <a:srgbClr val="FFFFFF"/>
                </a:solidFill>
                <a:latin typeface="Calibri"/>
                <a:ea typeface="Calibri"/>
                <a:cs typeface="Calibri"/>
                <a:sym typeface="Calibri"/>
              </a:rPr>
              <a:t>dev</a:t>
            </a:r>
            <a:endParaRPr b="0" i="0" sz="1600" u="none" cap="none" strike="noStrike">
              <a:solidFill>
                <a:schemeClr val="dk1"/>
              </a:solidFill>
              <a:latin typeface="Calibri"/>
              <a:ea typeface="Calibri"/>
              <a:cs typeface="Calibri"/>
              <a:sym typeface="Calibri"/>
            </a:endParaRPr>
          </a:p>
        </p:txBody>
      </p:sp>
      <p:sp>
        <p:nvSpPr>
          <p:cNvPr id="240" name="Google Shape;240;p35"/>
          <p:cNvSpPr/>
          <p:nvPr/>
        </p:nvSpPr>
        <p:spPr>
          <a:xfrm>
            <a:off x="6172201" y="2019104"/>
            <a:ext cx="960000" cy="234900"/>
          </a:xfrm>
          <a:prstGeom prst="roundRect">
            <a:avLst>
              <a:gd fmla="val 50000" name="adj"/>
            </a:avLst>
          </a:prstGeom>
          <a:solidFill>
            <a:srgbClr val="065A8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1" name="Google Shape;241;p35"/>
          <p:cNvSpPr txBox="1"/>
          <p:nvPr/>
        </p:nvSpPr>
        <p:spPr>
          <a:xfrm>
            <a:off x="6172201" y="2019104"/>
            <a:ext cx="960000" cy="23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main</a:t>
            </a:r>
            <a:endParaRPr b="0" i="0" sz="800" u="none" cap="none" strike="noStrike">
              <a:solidFill>
                <a:schemeClr val="dk1"/>
              </a:solidFill>
              <a:latin typeface="Calibri"/>
              <a:ea typeface="Calibri"/>
              <a:cs typeface="Calibri"/>
              <a:sym typeface="Calibri"/>
            </a:endParaRPr>
          </a:p>
        </p:txBody>
      </p:sp>
      <p:sp>
        <p:nvSpPr>
          <p:cNvPr id="242" name="Google Shape;242;p35"/>
          <p:cNvSpPr/>
          <p:nvPr/>
        </p:nvSpPr>
        <p:spPr>
          <a:xfrm>
            <a:off x="548647" y="2379925"/>
            <a:ext cx="3840600" cy="450900"/>
          </a:xfrm>
          <a:prstGeom prst="roundRect">
            <a:avLst>
              <a:gd fmla="val 10000" name="adj"/>
            </a:avLst>
          </a:prstGeom>
          <a:solidFill>
            <a:srgbClr val="C8DA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3" name="Google Shape;243;p35"/>
          <p:cNvSpPr txBox="1"/>
          <p:nvPr/>
        </p:nvSpPr>
        <p:spPr>
          <a:xfrm>
            <a:off x="548647" y="2490722"/>
            <a:ext cx="3840600" cy="2523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1600" u="none" cap="none" strike="noStrike">
                <a:solidFill>
                  <a:schemeClr val="dk1"/>
                </a:solidFill>
              </a:rPr>
              <a:t>Staging-</a:t>
            </a:r>
            <a:r>
              <a:rPr b="1" lang="en" sz="1600">
                <a:solidFill>
                  <a:schemeClr val="dk1"/>
                </a:solidFill>
              </a:rPr>
              <a:t>Deployment</a:t>
            </a:r>
            <a:endParaRPr i="0" sz="1600" u="none" cap="none" strike="noStrike">
              <a:solidFill>
                <a:schemeClr val="dk1"/>
              </a:solidFill>
            </a:endParaRPr>
          </a:p>
        </p:txBody>
      </p:sp>
      <p:sp>
        <p:nvSpPr>
          <p:cNvPr id="244" name="Google Shape;244;p35"/>
          <p:cNvSpPr/>
          <p:nvPr/>
        </p:nvSpPr>
        <p:spPr>
          <a:xfrm>
            <a:off x="4732022" y="2379925"/>
            <a:ext cx="3840600" cy="450900"/>
          </a:xfrm>
          <a:prstGeom prst="roundRect">
            <a:avLst>
              <a:gd fmla="val 10000" name="adj"/>
            </a:avLst>
          </a:prstGeom>
          <a:solidFill>
            <a:srgbClr val="C8DAF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5" name="Google Shape;245;p35"/>
          <p:cNvSpPr txBox="1"/>
          <p:nvPr/>
        </p:nvSpPr>
        <p:spPr>
          <a:xfrm>
            <a:off x="4732022" y="2477845"/>
            <a:ext cx="3840600" cy="2523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1600" u="none" cap="none" strike="noStrike">
                <a:solidFill>
                  <a:schemeClr val="dk1"/>
                </a:solidFill>
              </a:rPr>
              <a:t>Production-</a:t>
            </a:r>
            <a:r>
              <a:rPr b="1" lang="en" sz="1600">
                <a:solidFill>
                  <a:schemeClr val="dk1"/>
                </a:solidFill>
              </a:rPr>
              <a:t>Deployment</a:t>
            </a:r>
            <a:endParaRPr i="0" sz="1600" u="none" cap="none" strike="noStrike">
              <a:solidFill>
                <a:schemeClr val="dk1"/>
              </a:solidFill>
            </a:endParaRPr>
          </a:p>
        </p:txBody>
      </p:sp>
      <p:cxnSp>
        <p:nvCxnSpPr>
          <p:cNvPr id="246" name="Google Shape;246;p35"/>
          <p:cNvCxnSpPr/>
          <p:nvPr/>
        </p:nvCxnSpPr>
        <p:spPr>
          <a:xfrm>
            <a:off x="2468885" y="2830951"/>
            <a:ext cx="0" cy="72300"/>
          </a:xfrm>
          <a:prstGeom prst="straightConnector1">
            <a:avLst/>
          </a:prstGeom>
          <a:noFill/>
          <a:ln cap="flat" cmpd="sng" w="19050">
            <a:solidFill>
              <a:srgbClr val="5A6478"/>
            </a:solidFill>
            <a:prstDash val="solid"/>
            <a:round/>
            <a:headEnd len="sm" w="sm" type="none"/>
            <a:tailEnd len="sm" w="sm" type="none"/>
          </a:ln>
        </p:spPr>
      </p:cxnSp>
      <p:cxnSp>
        <p:nvCxnSpPr>
          <p:cNvPr id="247" name="Google Shape;247;p35"/>
          <p:cNvCxnSpPr/>
          <p:nvPr/>
        </p:nvCxnSpPr>
        <p:spPr>
          <a:xfrm>
            <a:off x="6652260" y="2830951"/>
            <a:ext cx="0" cy="72300"/>
          </a:xfrm>
          <a:prstGeom prst="straightConnector1">
            <a:avLst/>
          </a:prstGeom>
          <a:noFill/>
          <a:ln cap="flat" cmpd="sng" w="19050">
            <a:solidFill>
              <a:srgbClr val="5A6478"/>
            </a:solidFill>
            <a:prstDash val="solid"/>
            <a:round/>
            <a:headEnd len="sm" w="sm" type="none"/>
            <a:tailEnd len="sm" w="sm" type="none"/>
          </a:ln>
        </p:spPr>
      </p:cxnSp>
      <p:cxnSp>
        <p:nvCxnSpPr>
          <p:cNvPr id="248" name="Google Shape;248;p35"/>
          <p:cNvCxnSpPr/>
          <p:nvPr/>
        </p:nvCxnSpPr>
        <p:spPr>
          <a:xfrm>
            <a:off x="2468885" y="2903115"/>
            <a:ext cx="4183500" cy="0"/>
          </a:xfrm>
          <a:prstGeom prst="straightConnector1">
            <a:avLst/>
          </a:prstGeom>
          <a:noFill/>
          <a:ln cap="flat" cmpd="sng" w="19050">
            <a:solidFill>
              <a:srgbClr val="5A6478"/>
            </a:solidFill>
            <a:prstDash val="solid"/>
            <a:round/>
            <a:headEnd len="sm" w="sm" type="none"/>
            <a:tailEnd len="sm" w="sm" type="none"/>
          </a:ln>
        </p:spPr>
      </p:cxnSp>
      <p:sp>
        <p:nvSpPr>
          <p:cNvPr id="249" name="Google Shape;249;p35"/>
          <p:cNvSpPr/>
          <p:nvPr/>
        </p:nvSpPr>
        <p:spPr>
          <a:xfrm rot="10800000">
            <a:off x="4505636" y="2902843"/>
            <a:ext cx="109800" cy="144600"/>
          </a:xfrm>
          <a:prstGeom prst="triangle">
            <a:avLst>
              <a:gd fmla="val 51445" name="adj"/>
            </a:avLst>
          </a:prstGeom>
          <a:solidFill>
            <a:srgbClr val="5A647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0" name="Google Shape;250;p35"/>
          <p:cNvSpPr/>
          <p:nvPr/>
        </p:nvSpPr>
        <p:spPr>
          <a:xfrm>
            <a:off x="3051823" y="2996861"/>
            <a:ext cx="3017400" cy="610200"/>
          </a:xfrm>
          <a:prstGeom prst="roundRect">
            <a:avLst>
              <a:gd fmla="val 10417" name="adj"/>
            </a:avLst>
          </a:prstGeom>
          <a:solidFill>
            <a:srgbClr val="5B9BF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35"/>
          <p:cNvSpPr txBox="1"/>
          <p:nvPr/>
        </p:nvSpPr>
        <p:spPr>
          <a:xfrm>
            <a:off x="3000473" y="3092371"/>
            <a:ext cx="3120300" cy="415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1600" u="none" cap="none" strike="noStrike">
                <a:solidFill>
                  <a:schemeClr val="dk1"/>
                </a:solidFill>
              </a:rPr>
              <a:t>Self-Hosted Runner</a:t>
            </a:r>
            <a:endParaRPr b="1" i="0" sz="1600" u="none" cap="none" strike="noStrike">
              <a:solidFill>
                <a:schemeClr val="dk1"/>
              </a:solidFill>
            </a:endParaRPr>
          </a:p>
          <a:p>
            <a:pPr indent="0" lvl="0" marL="0" marR="0" rtl="0" algn="ctr">
              <a:spcBef>
                <a:spcPts val="0"/>
              </a:spcBef>
              <a:spcAft>
                <a:spcPts val="0"/>
              </a:spcAft>
              <a:buClr>
                <a:srgbClr val="FFFFFF"/>
              </a:buClr>
              <a:buSzPts val="900"/>
              <a:buFont typeface="Calibri"/>
              <a:buNone/>
            </a:pPr>
            <a:r>
              <a:rPr b="1" lang="en" sz="1600">
                <a:solidFill>
                  <a:schemeClr val="dk1"/>
                </a:solidFill>
              </a:rPr>
              <a:t>(eigene VM)</a:t>
            </a:r>
            <a:endParaRPr b="1" sz="1600">
              <a:solidFill>
                <a:schemeClr val="dk1"/>
              </a:solidFill>
            </a:endParaRPr>
          </a:p>
        </p:txBody>
      </p:sp>
      <p:cxnSp>
        <p:nvCxnSpPr>
          <p:cNvPr id="252" name="Google Shape;252;p35"/>
          <p:cNvCxnSpPr>
            <a:stCxn id="250" idx="2"/>
          </p:cNvCxnSpPr>
          <p:nvPr/>
        </p:nvCxnSpPr>
        <p:spPr>
          <a:xfrm>
            <a:off x="4560523" y="3607061"/>
            <a:ext cx="0" cy="90000"/>
          </a:xfrm>
          <a:prstGeom prst="straightConnector1">
            <a:avLst/>
          </a:prstGeom>
          <a:noFill/>
          <a:ln cap="flat" cmpd="sng" w="19050">
            <a:solidFill>
              <a:srgbClr val="5A6478"/>
            </a:solidFill>
            <a:prstDash val="solid"/>
            <a:round/>
            <a:headEnd len="sm" w="sm" type="none"/>
            <a:tailEnd len="sm" w="sm" type="none"/>
          </a:ln>
        </p:spPr>
      </p:cxnSp>
      <p:cxnSp>
        <p:nvCxnSpPr>
          <p:cNvPr id="253" name="Google Shape;253;p35"/>
          <p:cNvCxnSpPr/>
          <p:nvPr/>
        </p:nvCxnSpPr>
        <p:spPr>
          <a:xfrm>
            <a:off x="2434595" y="3696921"/>
            <a:ext cx="2126100" cy="0"/>
          </a:xfrm>
          <a:prstGeom prst="straightConnector1">
            <a:avLst/>
          </a:prstGeom>
          <a:noFill/>
          <a:ln cap="flat" cmpd="sng" w="19050">
            <a:solidFill>
              <a:srgbClr val="5A6478"/>
            </a:solidFill>
            <a:prstDash val="solid"/>
            <a:round/>
            <a:headEnd len="sm" w="sm" type="none"/>
            <a:tailEnd len="sm" w="sm" type="none"/>
          </a:ln>
        </p:spPr>
      </p:cxnSp>
      <p:cxnSp>
        <p:nvCxnSpPr>
          <p:cNvPr id="254" name="Google Shape;254;p35"/>
          <p:cNvCxnSpPr/>
          <p:nvPr/>
        </p:nvCxnSpPr>
        <p:spPr>
          <a:xfrm>
            <a:off x="4560572" y="3696921"/>
            <a:ext cx="2126100" cy="0"/>
          </a:xfrm>
          <a:prstGeom prst="straightConnector1">
            <a:avLst/>
          </a:prstGeom>
          <a:noFill/>
          <a:ln cap="flat" cmpd="sng" w="19050">
            <a:solidFill>
              <a:srgbClr val="5A6478"/>
            </a:solidFill>
            <a:prstDash val="solid"/>
            <a:round/>
            <a:headEnd len="sm" w="sm" type="none"/>
            <a:tailEnd len="sm" w="sm" type="none"/>
          </a:ln>
        </p:spPr>
      </p:cxnSp>
      <p:sp>
        <p:nvSpPr>
          <p:cNvPr id="255" name="Google Shape;255;p35"/>
          <p:cNvSpPr/>
          <p:nvPr/>
        </p:nvSpPr>
        <p:spPr>
          <a:xfrm rot="10800000">
            <a:off x="2379659" y="3696649"/>
            <a:ext cx="109800" cy="144600"/>
          </a:xfrm>
          <a:prstGeom prst="triangle">
            <a:avLst>
              <a:gd fmla="val 50000" name="adj"/>
            </a:avLst>
          </a:prstGeom>
          <a:solidFill>
            <a:srgbClr val="5A647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6" name="Google Shape;256;p35"/>
          <p:cNvSpPr/>
          <p:nvPr/>
        </p:nvSpPr>
        <p:spPr>
          <a:xfrm rot="10800000">
            <a:off x="6631614" y="3696649"/>
            <a:ext cx="109800" cy="144600"/>
          </a:xfrm>
          <a:prstGeom prst="triangle">
            <a:avLst>
              <a:gd fmla="val 50000" name="adj"/>
            </a:avLst>
          </a:prstGeom>
          <a:solidFill>
            <a:srgbClr val="5A647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35"/>
          <p:cNvSpPr/>
          <p:nvPr/>
        </p:nvSpPr>
        <p:spPr>
          <a:xfrm>
            <a:off x="548647" y="3823208"/>
            <a:ext cx="3840600" cy="415200"/>
          </a:xfrm>
          <a:prstGeom prst="roundRect">
            <a:avLst>
              <a:gd fmla="val 10870" name="adj"/>
            </a:avLst>
          </a:prstGeom>
          <a:solidFill>
            <a:srgbClr val="1C729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8" name="Google Shape;258;p35"/>
          <p:cNvSpPr txBox="1"/>
          <p:nvPr/>
        </p:nvSpPr>
        <p:spPr>
          <a:xfrm>
            <a:off x="548647" y="3823208"/>
            <a:ext cx="3840600" cy="4152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1600" u="none" cap="none" strike="noStrike">
                <a:solidFill>
                  <a:schemeClr val="dk1"/>
                </a:solidFill>
              </a:rPr>
              <a:t>Terraform → Ansible</a:t>
            </a:r>
            <a:endParaRPr i="0" sz="1600" u="none" cap="none" strike="noStrike">
              <a:solidFill>
                <a:schemeClr val="dk1"/>
              </a:solidFill>
            </a:endParaRPr>
          </a:p>
        </p:txBody>
      </p:sp>
      <p:sp>
        <p:nvSpPr>
          <p:cNvPr id="259" name="Google Shape;259;p35"/>
          <p:cNvSpPr/>
          <p:nvPr/>
        </p:nvSpPr>
        <p:spPr>
          <a:xfrm rot="10800000">
            <a:off x="2420891" y="4251970"/>
            <a:ext cx="96000" cy="126000"/>
          </a:xfrm>
          <a:prstGeom prst="triangle">
            <a:avLst>
              <a:gd fmla="val 50000" name="adj"/>
            </a:avLst>
          </a:prstGeom>
          <a:solidFill>
            <a:srgbClr val="5A647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p35"/>
          <p:cNvSpPr/>
          <p:nvPr/>
        </p:nvSpPr>
        <p:spPr>
          <a:xfrm>
            <a:off x="548647" y="4346398"/>
            <a:ext cx="3840600" cy="415200"/>
          </a:xfrm>
          <a:prstGeom prst="roundRect">
            <a:avLst>
              <a:gd fmla="val 10870" name="adj"/>
            </a:avLst>
          </a:prstGeom>
          <a:solidFill>
            <a:srgbClr val="1C729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1" name="Google Shape;261;p35"/>
          <p:cNvSpPr txBox="1"/>
          <p:nvPr/>
        </p:nvSpPr>
        <p:spPr>
          <a:xfrm>
            <a:off x="548647" y="4346398"/>
            <a:ext cx="3840600" cy="4152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1600" u="none" cap="none" strike="noStrike">
                <a:solidFill>
                  <a:schemeClr val="dk1"/>
                </a:solidFill>
              </a:rPr>
              <a:t>Staging-VM </a:t>
            </a:r>
            <a:endParaRPr i="0" sz="1600" u="none" cap="none" strike="noStrike">
              <a:solidFill>
                <a:schemeClr val="dk1"/>
              </a:solidFill>
            </a:endParaRPr>
          </a:p>
        </p:txBody>
      </p:sp>
      <p:sp>
        <p:nvSpPr>
          <p:cNvPr id="262" name="Google Shape;262;p35"/>
          <p:cNvSpPr/>
          <p:nvPr/>
        </p:nvSpPr>
        <p:spPr>
          <a:xfrm>
            <a:off x="4732022" y="3823208"/>
            <a:ext cx="3840600" cy="415200"/>
          </a:xfrm>
          <a:prstGeom prst="roundRect">
            <a:avLst>
              <a:gd fmla="val 10870" name="adj"/>
            </a:avLst>
          </a:prstGeom>
          <a:solidFill>
            <a:srgbClr val="065A8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3" name="Google Shape;263;p35"/>
          <p:cNvSpPr txBox="1"/>
          <p:nvPr/>
        </p:nvSpPr>
        <p:spPr>
          <a:xfrm>
            <a:off x="4732022" y="3823208"/>
            <a:ext cx="3840600" cy="4152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1600" u="none" cap="none" strike="noStrike">
                <a:solidFill>
                  <a:schemeClr val="dk1"/>
                </a:solidFill>
              </a:rPr>
              <a:t>Terraform → Ansible</a:t>
            </a:r>
            <a:endParaRPr i="0" sz="1600" u="none" cap="none" strike="noStrike">
              <a:solidFill>
                <a:schemeClr val="dk1"/>
              </a:solidFill>
            </a:endParaRPr>
          </a:p>
        </p:txBody>
      </p:sp>
      <p:sp>
        <p:nvSpPr>
          <p:cNvPr id="264" name="Google Shape;264;p35"/>
          <p:cNvSpPr/>
          <p:nvPr/>
        </p:nvSpPr>
        <p:spPr>
          <a:xfrm rot="10800000">
            <a:off x="6604266" y="4251970"/>
            <a:ext cx="96000" cy="126000"/>
          </a:xfrm>
          <a:prstGeom prst="triangle">
            <a:avLst>
              <a:gd fmla="val 50000" name="adj"/>
            </a:avLst>
          </a:prstGeom>
          <a:solidFill>
            <a:srgbClr val="5A647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35"/>
          <p:cNvSpPr/>
          <p:nvPr/>
        </p:nvSpPr>
        <p:spPr>
          <a:xfrm>
            <a:off x="4732022" y="4346398"/>
            <a:ext cx="3840600" cy="415200"/>
          </a:xfrm>
          <a:prstGeom prst="roundRect">
            <a:avLst>
              <a:gd fmla="val 10870" name="adj"/>
            </a:avLst>
          </a:prstGeom>
          <a:solidFill>
            <a:srgbClr val="065A8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6" name="Google Shape;266;p35"/>
          <p:cNvSpPr txBox="1"/>
          <p:nvPr/>
        </p:nvSpPr>
        <p:spPr>
          <a:xfrm>
            <a:off x="4732022" y="4346398"/>
            <a:ext cx="3840600" cy="4152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1600" u="none" cap="none" strike="noStrike">
                <a:solidFill>
                  <a:schemeClr val="dk1"/>
                </a:solidFill>
              </a:rPr>
              <a:t>Production-VM</a:t>
            </a:r>
            <a:endParaRPr i="0" sz="1600" u="none" cap="none" strike="noStrike">
              <a:solidFill>
                <a:schemeClr val="dk1"/>
              </a:solidFill>
            </a:endParaRPr>
          </a:p>
        </p:txBody>
      </p:sp>
      <p:sp>
        <p:nvSpPr>
          <p:cNvPr id="267" name="Google Shape;267;p35"/>
          <p:cNvSpPr/>
          <p:nvPr/>
        </p:nvSpPr>
        <p:spPr>
          <a:xfrm>
            <a:off x="2054963" y="2113500"/>
            <a:ext cx="891900" cy="192000"/>
          </a:xfrm>
          <a:prstGeom prst="roundRect">
            <a:avLst>
              <a:gd fmla="val 50000" name="adj"/>
            </a:avLst>
          </a:prstGeom>
          <a:solidFill>
            <a:srgbClr val="1C7293"/>
          </a:solidFill>
          <a:ln>
            <a:noFill/>
          </a:ln>
        </p:spPr>
        <p:txBody>
          <a:bodyPr anchorCtr="0" anchor="ctr" bIns="63700" lIns="63700" spcFirstLastPara="1" rIns="63700" wrap="square" tIns="63700">
            <a:noAutofit/>
          </a:bodyPr>
          <a:lstStyle/>
          <a:p>
            <a:pPr indent="0" lvl="0" marL="0" rtl="0" algn="l">
              <a:spcBef>
                <a:spcPts val="0"/>
              </a:spcBef>
              <a:spcAft>
                <a:spcPts val="0"/>
              </a:spcAft>
              <a:buNone/>
            </a:pPr>
            <a:r>
              <a:t/>
            </a:r>
            <a:endParaRPr/>
          </a:p>
        </p:txBody>
      </p:sp>
      <p:sp>
        <p:nvSpPr>
          <p:cNvPr id="268" name="Google Shape;268;p35"/>
          <p:cNvSpPr txBox="1"/>
          <p:nvPr/>
        </p:nvSpPr>
        <p:spPr>
          <a:xfrm>
            <a:off x="1294297" y="2011267"/>
            <a:ext cx="2349300" cy="3195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43"/>
              <a:buFont typeface="Calibri"/>
              <a:buNone/>
            </a:pPr>
            <a:r>
              <a:rPr b="1" i="0" lang="en" sz="1686" u="none" cap="none" strike="noStrike">
                <a:solidFill>
                  <a:schemeClr val="dk1"/>
                </a:solidFill>
              </a:rPr>
              <a:t>dev-Deployment</a:t>
            </a:r>
            <a:r>
              <a:rPr b="1" lang="en" sz="1686">
                <a:solidFill>
                  <a:schemeClr val="dk1"/>
                </a:solidFill>
              </a:rPr>
              <a:t>p</a:t>
            </a:r>
            <a:r>
              <a:rPr b="1" i="0" lang="en" sz="1686" u="none" cap="none" strike="noStrike">
                <a:solidFill>
                  <a:schemeClr val="dk1"/>
                </a:solidFill>
              </a:rPr>
              <a:t>fad</a:t>
            </a:r>
            <a:endParaRPr i="0" sz="1686" u="none" cap="none" strike="noStrike">
              <a:solidFill>
                <a:schemeClr val="dk1"/>
              </a:solidFill>
            </a:endParaRPr>
          </a:p>
        </p:txBody>
      </p:sp>
      <p:sp>
        <p:nvSpPr>
          <p:cNvPr id="269" name="Google Shape;269;p35"/>
          <p:cNvSpPr txBox="1"/>
          <p:nvPr/>
        </p:nvSpPr>
        <p:spPr>
          <a:xfrm>
            <a:off x="5511872" y="1985707"/>
            <a:ext cx="2349300" cy="3195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43"/>
              <a:buFont typeface="Calibri"/>
              <a:buNone/>
            </a:pPr>
            <a:r>
              <a:rPr b="1" lang="en" sz="1686">
                <a:solidFill>
                  <a:schemeClr val="dk1"/>
                </a:solidFill>
              </a:rPr>
              <a:t>main</a:t>
            </a:r>
            <a:r>
              <a:rPr b="1" i="0" lang="en" sz="1686" u="none" cap="none" strike="noStrike">
                <a:solidFill>
                  <a:schemeClr val="dk1"/>
                </a:solidFill>
              </a:rPr>
              <a:t>-Deployment</a:t>
            </a:r>
            <a:r>
              <a:rPr b="1" lang="en" sz="1686">
                <a:solidFill>
                  <a:schemeClr val="dk1"/>
                </a:solidFill>
              </a:rPr>
              <a:t>p</a:t>
            </a:r>
            <a:r>
              <a:rPr b="1" i="0" lang="en" sz="1686" u="none" cap="none" strike="noStrike">
                <a:solidFill>
                  <a:schemeClr val="dk1"/>
                </a:solidFill>
              </a:rPr>
              <a:t>fad</a:t>
            </a:r>
            <a:endParaRPr i="0" sz="1686" u="none" cap="none" strike="noStrike">
              <a:solidFill>
                <a:schemeClr val="dk1"/>
              </a:solidFill>
            </a:endParaRPr>
          </a:p>
        </p:txBody>
      </p:sp>
      <p:pic>
        <p:nvPicPr>
          <p:cNvPr id="270" name="Google Shape;270;p35"/>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271" name="Google Shape;271;p35"/>
          <p:cNvSpPr txBox="1"/>
          <p:nvPr/>
        </p:nvSpPr>
        <p:spPr>
          <a:xfrm>
            <a:off x="411479" y="4856759"/>
            <a:ext cx="2400300" cy="184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200">
                <a:solidFill>
                  <a:schemeClr val="dk2"/>
                </a:solidFill>
              </a:rPr>
              <a:t>Lorenzo Negri</a:t>
            </a:r>
            <a:endParaRPr sz="1200">
              <a:solidFill>
                <a:schemeClr val="dk2"/>
              </a:solidFill>
            </a:endParaRPr>
          </a:p>
        </p:txBody>
      </p:sp>
      <p:sp>
        <p:nvSpPr>
          <p:cNvPr id="272" name="Google Shape;272;p35"/>
          <p:cNvSpPr txBox="1"/>
          <p:nvPr/>
        </p:nvSpPr>
        <p:spPr>
          <a:xfrm>
            <a:off x="8583950" y="4843861"/>
            <a:ext cx="342900" cy="210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800"/>
              <a:buFont typeface="Calibri"/>
              <a:buNone/>
            </a:pPr>
            <a:r>
              <a:rPr lang="en" sz="1600">
                <a:solidFill>
                  <a:srgbClr val="5A6478"/>
                </a:solidFill>
              </a:rPr>
              <a:t>8</a:t>
            </a:r>
            <a:endParaRPr i="0" sz="1600" u="none" cap="none" strike="noStrike">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36"/>
          <p:cNvSpPr txBox="1"/>
          <p:nvPr/>
        </p:nvSpPr>
        <p:spPr>
          <a:xfrm>
            <a:off x="411480" y="240030"/>
            <a:ext cx="829818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000"/>
              <a:buFont typeface="Cambria"/>
              <a:buNone/>
            </a:pPr>
            <a:r>
              <a:rPr b="1" i="0" lang="en" sz="2200" u="none" cap="none" strike="noStrike">
                <a:solidFill>
                  <a:srgbClr val="1A1A2E"/>
                </a:solidFill>
              </a:rPr>
              <a:t>Qualitätsbeiträge des Deploymentprozesses</a:t>
            </a:r>
            <a:endParaRPr i="0" sz="2200" u="none" cap="none" strike="noStrike">
              <a:solidFill>
                <a:schemeClr val="dk1"/>
              </a:solidFill>
            </a:endParaRPr>
          </a:p>
        </p:txBody>
      </p:sp>
      <p:graphicFrame>
        <p:nvGraphicFramePr>
          <p:cNvPr id="279" name="Google Shape;279;p36"/>
          <p:cNvGraphicFramePr/>
          <p:nvPr/>
        </p:nvGraphicFramePr>
        <p:xfrm>
          <a:off x="411480" y="788670"/>
          <a:ext cx="3000000" cy="3000000"/>
        </p:xfrm>
        <a:graphic>
          <a:graphicData uri="http://schemas.openxmlformats.org/drawingml/2006/table">
            <a:tbl>
              <a:tblPr>
                <a:noFill/>
                <a:tableStyleId>{5E4208A0-CE58-4DB5-A663-28A193160D85}</a:tableStyleId>
              </a:tblPr>
              <a:tblGrid>
                <a:gridCol w="1988800"/>
                <a:gridCol w="2263125"/>
                <a:gridCol w="4046200"/>
              </a:tblGrid>
              <a:tr h="652600">
                <a:tc>
                  <a:txBody>
                    <a:bodyPr/>
                    <a:lstStyle/>
                    <a:p>
                      <a:pPr indent="0" lvl="0" marL="0" marR="0" rtl="0" algn="l">
                        <a:spcBef>
                          <a:spcPts val="0"/>
                        </a:spcBef>
                        <a:spcAft>
                          <a:spcPts val="0"/>
                        </a:spcAft>
                        <a:buClr>
                          <a:srgbClr val="FFFFFF"/>
                        </a:buClr>
                        <a:buSzPts val="1000"/>
                        <a:buFont typeface="Calibri"/>
                        <a:buNone/>
                      </a:pPr>
                      <a:r>
                        <a:rPr b="1" lang="en" sz="1600" u="none" cap="none" strike="noStrike">
                          <a:solidFill>
                            <a:schemeClr val="dk1"/>
                          </a:solidFill>
                        </a:rPr>
                        <a:t>Qualitätsziel</a:t>
                      </a:r>
                      <a:endParaRPr sz="1600" u="none" cap="none" strike="noStrike">
                        <a:solidFill>
                          <a:schemeClr val="dk1"/>
                        </a:solidFill>
                      </a:endParaRPr>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8DAF7"/>
                    </a:solidFill>
                  </a:tcPr>
                </a:tc>
                <a:tc>
                  <a:txBody>
                    <a:bodyPr/>
                    <a:lstStyle/>
                    <a:p>
                      <a:pPr indent="0" lvl="0" marL="0" marR="0" rtl="0" algn="l">
                        <a:spcBef>
                          <a:spcPts val="0"/>
                        </a:spcBef>
                        <a:spcAft>
                          <a:spcPts val="0"/>
                        </a:spcAft>
                        <a:buClr>
                          <a:srgbClr val="FFFFFF"/>
                        </a:buClr>
                        <a:buSzPts val="1000"/>
                        <a:buFont typeface="Calibri"/>
                        <a:buNone/>
                      </a:pPr>
                      <a:r>
                        <a:rPr b="1" lang="en" sz="1600" u="none" cap="none" strike="noStrike">
                          <a:solidFill>
                            <a:schemeClr val="dk1"/>
                          </a:solidFill>
                        </a:rPr>
                        <a:t>Prozessmaßnahme</a:t>
                      </a:r>
                      <a:endParaRPr sz="1600" u="none" cap="none" strike="noStrike">
                        <a:solidFill>
                          <a:schemeClr val="dk1"/>
                        </a:solidFill>
                      </a:endParaRPr>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8DAF7"/>
                    </a:solidFill>
                  </a:tcPr>
                </a:tc>
                <a:tc>
                  <a:txBody>
                    <a:bodyPr/>
                    <a:lstStyle/>
                    <a:p>
                      <a:pPr indent="0" lvl="0" marL="0" marR="0" rtl="0" algn="l">
                        <a:spcBef>
                          <a:spcPts val="0"/>
                        </a:spcBef>
                        <a:spcAft>
                          <a:spcPts val="0"/>
                        </a:spcAft>
                        <a:buClr>
                          <a:srgbClr val="FFFFFF"/>
                        </a:buClr>
                        <a:buSzPts val="1000"/>
                        <a:buFont typeface="Calibri"/>
                        <a:buNone/>
                      </a:pPr>
                      <a:r>
                        <a:rPr b="1" lang="en" sz="1600">
                          <a:solidFill>
                            <a:schemeClr val="dk1"/>
                          </a:solidFill>
                        </a:rPr>
                        <a:t>Beitrag / reduziertes Risiko</a:t>
                      </a:r>
                      <a:endParaRPr sz="1600" u="none" cap="none" strike="noStrike">
                        <a:solidFill>
                          <a:schemeClr val="dk1"/>
                        </a:solidFill>
                      </a:endParaRPr>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8DAF7"/>
                    </a:solidFill>
                  </a:tcPr>
                </a:tc>
              </a:tr>
              <a:tr h="913675">
                <a:tc>
                  <a:txBody>
                    <a:bodyPr/>
                    <a:lstStyle/>
                    <a:p>
                      <a:pPr indent="0" lvl="0" marL="0" marR="0" rtl="0" algn="l">
                        <a:spcBef>
                          <a:spcPts val="0"/>
                        </a:spcBef>
                        <a:spcAft>
                          <a:spcPts val="0"/>
                        </a:spcAft>
                        <a:buClr>
                          <a:srgbClr val="1A1A2E"/>
                        </a:buClr>
                        <a:buSzPts val="900"/>
                        <a:buFont typeface="Calibri"/>
                        <a:buNone/>
                      </a:pPr>
                      <a:r>
                        <a:rPr b="1" lang="en" sz="1600" u="none" cap="none" strike="noStrike">
                          <a:solidFill>
                            <a:srgbClr val="1A1A2E"/>
                          </a:solidFill>
                        </a:rPr>
                        <a:t>Zuverlässigkeit</a:t>
                      </a:r>
                      <a:endParaRPr sz="1600" u="none" cap="none" strike="noStrike"/>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1C7293"/>
                        </a:buClr>
                        <a:buSzPts val="900"/>
                        <a:buFont typeface="Calibri"/>
                        <a:buNone/>
                      </a:pPr>
                      <a:r>
                        <a:rPr b="1" lang="en" sz="1600" u="none" cap="none" strike="noStrike">
                          <a:solidFill>
                            <a:schemeClr val="dk1"/>
                          </a:solidFill>
                        </a:rPr>
                        <a:t>Tests + getrenntes Staging</a:t>
                      </a:r>
                      <a:endParaRPr sz="1600" u="none" cap="none" strike="noStrike">
                        <a:solidFill>
                          <a:schemeClr val="dk1"/>
                        </a:solidFill>
                      </a:endParaRPr>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5A6478"/>
                        </a:buClr>
                        <a:buSzPts val="900"/>
                        <a:buFont typeface="Calibri"/>
                        <a:buNone/>
                      </a:pPr>
                      <a:r>
                        <a:rPr b="1" lang="en" sz="1600" u="none" cap="none" strike="noStrike">
                          <a:solidFill>
                            <a:schemeClr val="dk1"/>
                          </a:solidFill>
                        </a:rPr>
                        <a:t>Fehler </a:t>
                      </a:r>
                      <a:r>
                        <a:rPr b="1" lang="en" sz="1600">
                          <a:solidFill>
                            <a:schemeClr val="dk1"/>
                          </a:solidFill>
                        </a:rPr>
                        <a:t>frühzeitig</a:t>
                      </a:r>
                      <a:r>
                        <a:rPr b="1" lang="en" sz="1600" u="none" cap="none" strike="noStrike">
                          <a:solidFill>
                            <a:schemeClr val="dk1"/>
                          </a:solidFill>
                        </a:rPr>
                        <a:t> erkennen</a:t>
                      </a:r>
                      <a:endParaRPr b="1" sz="1600" u="none" cap="none" strike="noStrike">
                        <a:solidFill>
                          <a:schemeClr val="dk1"/>
                        </a:solidFill>
                      </a:endParaRPr>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652600">
                <a:tc>
                  <a:txBody>
                    <a:bodyPr/>
                    <a:lstStyle/>
                    <a:p>
                      <a:pPr indent="0" lvl="0" marL="0" marR="0" rtl="0" algn="l">
                        <a:spcBef>
                          <a:spcPts val="0"/>
                        </a:spcBef>
                        <a:spcAft>
                          <a:spcPts val="0"/>
                        </a:spcAft>
                        <a:buClr>
                          <a:srgbClr val="1A1A2E"/>
                        </a:buClr>
                        <a:buSzPts val="900"/>
                        <a:buFont typeface="Calibri"/>
                        <a:buNone/>
                      </a:pPr>
                      <a:r>
                        <a:rPr b="1" lang="en" sz="1600" u="none" cap="none" strike="noStrike">
                          <a:solidFill>
                            <a:srgbClr val="1A1A2E"/>
                          </a:solidFill>
                        </a:rPr>
                        <a:t>Sicherheit</a:t>
                      </a:r>
                      <a:endParaRPr sz="1600" u="none" cap="none" strike="noStrike"/>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7293"/>
                        </a:buClr>
                        <a:buSzPts val="900"/>
                        <a:buFont typeface="Calibri"/>
                        <a:buNone/>
                      </a:pPr>
                      <a:r>
                        <a:rPr b="1" lang="en" sz="1600" u="none" cap="none" strike="noStrike">
                          <a:solidFill>
                            <a:schemeClr val="dk1"/>
                          </a:solidFill>
                        </a:rPr>
                        <a:t>Security-Scans + TLS</a:t>
                      </a:r>
                      <a:endParaRPr sz="1600" u="none" cap="none" strike="noStrike">
                        <a:solidFill>
                          <a:schemeClr val="dk1"/>
                        </a:solidFill>
                      </a:endParaRPr>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A6478"/>
                        </a:buClr>
                        <a:buSzPts val="900"/>
                        <a:buFont typeface="Calibri"/>
                        <a:buNone/>
                      </a:pPr>
                      <a:r>
                        <a:rPr b="1" lang="en" sz="1600" u="none" cap="none" strike="noStrike">
                          <a:solidFill>
                            <a:schemeClr val="dk1"/>
                          </a:solidFill>
                        </a:rPr>
                        <a:t>Schwachstellen erkennen &amp; </a:t>
                      </a:r>
                      <a:r>
                        <a:rPr b="1" lang="en" sz="1600">
                          <a:solidFill>
                            <a:schemeClr val="dk1"/>
                          </a:solidFill>
                        </a:rPr>
                        <a:t>Kommunikation absichern</a:t>
                      </a:r>
                      <a:endParaRPr b="1" sz="1600" u="none" cap="none" strike="noStrike">
                        <a:solidFill>
                          <a:schemeClr val="dk1"/>
                        </a:solidFill>
                      </a:endParaRPr>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913675">
                <a:tc>
                  <a:txBody>
                    <a:bodyPr/>
                    <a:lstStyle/>
                    <a:p>
                      <a:pPr indent="0" lvl="0" marL="0" marR="0" rtl="0" algn="l">
                        <a:spcBef>
                          <a:spcPts val="0"/>
                        </a:spcBef>
                        <a:spcAft>
                          <a:spcPts val="0"/>
                        </a:spcAft>
                        <a:buClr>
                          <a:srgbClr val="1A1A2E"/>
                        </a:buClr>
                        <a:buSzPts val="900"/>
                        <a:buFont typeface="Calibri"/>
                        <a:buNone/>
                      </a:pPr>
                      <a:r>
                        <a:rPr b="1" lang="en" sz="1600" u="none" cap="none" strike="noStrike">
                          <a:solidFill>
                            <a:srgbClr val="1A1A2E"/>
                          </a:solidFill>
                        </a:rPr>
                        <a:t>Reproduzier-</a:t>
                      </a:r>
                      <a:endParaRPr b="1" sz="1600" u="none" cap="none" strike="noStrike">
                        <a:solidFill>
                          <a:srgbClr val="1A1A2E"/>
                        </a:solidFill>
                      </a:endParaRPr>
                    </a:p>
                    <a:p>
                      <a:pPr indent="0" lvl="0" marL="0" marR="0" rtl="0" algn="l">
                        <a:spcBef>
                          <a:spcPts val="0"/>
                        </a:spcBef>
                        <a:spcAft>
                          <a:spcPts val="0"/>
                        </a:spcAft>
                        <a:buClr>
                          <a:srgbClr val="1A1A2E"/>
                        </a:buClr>
                        <a:buSzPts val="900"/>
                        <a:buFont typeface="Calibri"/>
                        <a:buNone/>
                      </a:pPr>
                      <a:r>
                        <a:rPr b="1" lang="en" sz="1600" u="none" cap="none" strike="noStrike">
                          <a:solidFill>
                            <a:srgbClr val="1A1A2E"/>
                          </a:solidFill>
                        </a:rPr>
                        <a:t>barkeit</a:t>
                      </a:r>
                      <a:endParaRPr sz="1600" u="none" cap="none" strike="noStrike"/>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1C7293"/>
                        </a:buClr>
                        <a:buSzPts val="900"/>
                        <a:buFont typeface="Calibri"/>
                        <a:buNone/>
                      </a:pPr>
                      <a:r>
                        <a:rPr b="1" lang="en" sz="1600" u="none" cap="none" strike="noStrike">
                          <a:solidFill>
                            <a:schemeClr val="dk1"/>
                          </a:solidFill>
                        </a:rPr>
                        <a:t>Terraform + Ansible</a:t>
                      </a:r>
                      <a:endParaRPr sz="1600" u="none" cap="none" strike="noStrike">
                        <a:solidFill>
                          <a:schemeClr val="dk1"/>
                        </a:solidFill>
                      </a:endParaRPr>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5A6478"/>
                        </a:buClr>
                        <a:buSzPts val="900"/>
                        <a:buFont typeface="Calibri"/>
                        <a:buNone/>
                      </a:pPr>
                      <a:r>
                        <a:rPr b="1" lang="en" sz="1600" u="none" cap="none" strike="noStrike">
                          <a:solidFill>
                            <a:schemeClr val="dk1"/>
                          </a:solidFill>
                        </a:rPr>
                        <a:t>Manuelle Konfigurationsfehler &amp; Drift </a:t>
                      </a:r>
                      <a:r>
                        <a:rPr b="1" lang="en" sz="1600">
                          <a:solidFill>
                            <a:schemeClr val="dk1"/>
                          </a:solidFill>
                        </a:rPr>
                        <a:t>reduzieren</a:t>
                      </a:r>
                      <a:endParaRPr b="1" sz="1600" u="none" cap="none" strike="noStrike">
                        <a:solidFill>
                          <a:schemeClr val="dk1"/>
                        </a:solidFill>
                      </a:endParaRPr>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913675">
                <a:tc>
                  <a:txBody>
                    <a:bodyPr/>
                    <a:lstStyle/>
                    <a:p>
                      <a:pPr indent="0" lvl="0" marL="0" marR="0" rtl="0" algn="l">
                        <a:spcBef>
                          <a:spcPts val="0"/>
                        </a:spcBef>
                        <a:spcAft>
                          <a:spcPts val="0"/>
                        </a:spcAft>
                        <a:buClr>
                          <a:srgbClr val="1A1A2E"/>
                        </a:buClr>
                        <a:buSzPts val="900"/>
                        <a:buFont typeface="Calibri"/>
                        <a:buNone/>
                      </a:pPr>
                      <a:r>
                        <a:rPr b="1" lang="en" sz="1600" u="none" cap="none" strike="noStrike">
                          <a:solidFill>
                            <a:srgbClr val="1A1A2E"/>
                          </a:solidFill>
                        </a:rPr>
                        <a:t>Nachvollzieh-</a:t>
                      </a:r>
                      <a:endParaRPr b="1" sz="1600" u="none" cap="none" strike="noStrike">
                        <a:solidFill>
                          <a:srgbClr val="1A1A2E"/>
                        </a:solidFill>
                      </a:endParaRPr>
                    </a:p>
                    <a:p>
                      <a:pPr indent="0" lvl="0" marL="0" marR="0" rtl="0" algn="l">
                        <a:spcBef>
                          <a:spcPts val="0"/>
                        </a:spcBef>
                        <a:spcAft>
                          <a:spcPts val="0"/>
                        </a:spcAft>
                        <a:buClr>
                          <a:srgbClr val="1A1A2E"/>
                        </a:buClr>
                        <a:buSzPts val="900"/>
                        <a:buFont typeface="Calibri"/>
                        <a:buNone/>
                      </a:pPr>
                      <a:r>
                        <a:rPr b="1" lang="en" sz="1600" u="none" cap="none" strike="noStrike">
                          <a:solidFill>
                            <a:srgbClr val="1A1A2E"/>
                          </a:solidFill>
                        </a:rPr>
                        <a:t>barkeit</a:t>
                      </a:r>
                      <a:endParaRPr sz="1600" u="none" cap="none" strike="noStrike"/>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7293"/>
                        </a:buClr>
                        <a:buSzPts val="900"/>
                        <a:buFont typeface="Calibri"/>
                        <a:buNone/>
                      </a:pPr>
                      <a:r>
                        <a:rPr b="1" lang="en" sz="1600" u="none" cap="none" strike="noStrike">
                          <a:solidFill>
                            <a:schemeClr val="dk1"/>
                          </a:solidFill>
                        </a:rPr>
                        <a:t>GitHub Actions + GHCR</a:t>
                      </a:r>
                      <a:endParaRPr sz="1600" u="none" cap="none" strike="noStrike">
                        <a:solidFill>
                          <a:schemeClr val="dk1"/>
                        </a:solidFill>
                      </a:endParaRPr>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A6478"/>
                        </a:buClr>
                        <a:buSzPts val="900"/>
                        <a:buFont typeface="Calibri"/>
                        <a:buNone/>
                      </a:pPr>
                      <a:r>
                        <a:rPr b="1" lang="en" sz="1600" u="none" cap="none" strike="noStrike">
                          <a:solidFill>
                            <a:schemeClr val="dk1"/>
                          </a:solidFill>
                        </a:rPr>
                        <a:t>Workflow-Läufe und </a:t>
                      </a:r>
                      <a:r>
                        <a:rPr b="1" lang="en" sz="1600">
                          <a:solidFill>
                            <a:schemeClr val="dk1"/>
                          </a:solidFill>
                        </a:rPr>
                        <a:t>veröffentlichte I</a:t>
                      </a:r>
                      <a:r>
                        <a:rPr b="1" lang="en" sz="1600" u="none" cap="none" strike="noStrike">
                          <a:solidFill>
                            <a:schemeClr val="dk1"/>
                          </a:solidFill>
                        </a:rPr>
                        <a:t>mage</a:t>
                      </a:r>
                      <a:r>
                        <a:rPr b="1" lang="en" sz="1600">
                          <a:solidFill>
                            <a:schemeClr val="dk1"/>
                          </a:solidFill>
                        </a:rPr>
                        <a:t>s nachvollziehen</a:t>
                      </a:r>
                      <a:endParaRPr b="1" sz="1600" u="none" cap="none" strike="noStrike">
                        <a:solidFill>
                          <a:schemeClr val="dk1"/>
                        </a:solidFill>
                      </a:endParaRPr>
                    </a:p>
                  </a:txBody>
                  <a:tcPr marT="54875" marB="54875" marR="102875" marL="102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cxnSp>
        <p:nvCxnSpPr>
          <p:cNvPr id="280" name="Google Shape;280;p36"/>
          <p:cNvCxnSpPr/>
          <p:nvPr/>
        </p:nvCxnSpPr>
        <p:spPr>
          <a:xfrm flipH="1">
            <a:off x="2202125" y="805525"/>
            <a:ext cx="7500" cy="39315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36"/>
          <p:cNvCxnSpPr/>
          <p:nvPr/>
        </p:nvCxnSpPr>
        <p:spPr>
          <a:xfrm>
            <a:off x="4618800" y="805525"/>
            <a:ext cx="7500" cy="3872400"/>
          </a:xfrm>
          <a:prstGeom prst="straightConnector1">
            <a:avLst/>
          </a:prstGeom>
          <a:noFill/>
          <a:ln cap="flat" cmpd="sng" w="9525">
            <a:solidFill>
              <a:schemeClr val="dk2"/>
            </a:solidFill>
            <a:prstDash val="solid"/>
            <a:round/>
            <a:headEnd len="med" w="med" type="none"/>
            <a:tailEnd len="med" w="med" type="none"/>
          </a:ln>
        </p:spPr>
      </p:cxnSp>
      <p:pic>
        <p:nvPicPr>
          <p:cNvPr id="282" name="Google Shape;282;p36"/>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283" name="Google Shape;283;p36"/>
          <p:cNvSpPr txBox="1"/>
          <p:nvPr/>
        </p:nvSpPr>
        <p:spPr>
          <a:xfrm>
            <a:off x="8583950" y="4843861"/>
            <a:ext cx="342900" cy="210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800"/>
              <a:buFont typeface="Calibri"/>
              <a:buNone/>
            </a:pPr>
            <a:r>
              <a:rPr lang="en" sz="1600">
                <a:solidFill>
                  <a:srgbClr val="5A6478"/>
                </a:solidFill>
              </a:rPr>
              <a:t>9</a:t>
            </a:r>
            <a:endParaRPr i="0" sz="1600" u="none" cap="none" strike="noStrike">
              <a:solidFill>
                <a:schemeClr val="dk1"/>
              </a:solidFill>
            </a:endParaRPr>
          </a:p>
        </p:txBody>
      </p:sp>
      <p:sp>
        <p:nvSpPr>
          <p:cNvPr id="284" name="Google Shape;284;p36"/>
          <p:cNvSpPr txBox="1"/>
          <p:nvPr/>
        </p:nvSpPr>
        <p:spPr>
          <a:xfrm>
            <a:off x="411479" y="4856759"/>
            <a:ext cx="2400300" cy="184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200">
                <a:solidFill>
                  <a:schemeClr val="dk2"/>
                </a:solidFill>
              </a:rPr>
              <a:t>Lorenzo Negri</a:t>
            </a:r>
            <a:endParaRPr sz="12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37"/>
          <p:cNvSpPr txBox="1"/>
          <p:nvPr/>
        </p:nvSpPr>
        <p:spPr>
          <a:xfrm>
            <a:off x="411480" y="205740"/>
            <a:ext cx="651510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000"/>
              <a:buFont typeface="Cambria"/>
              <a:buNone/>
            </a:pPr>
            <a:r>
              <a:rPr b="1" lang="en" sz="2200">
                <a:solidFill>
                  <a:srgbClr val="1A1A2E"/>
                </a:solidFill>
              </a:rPr>
              <a:t>Zwei getrennte Umgebungen</a:t>
            </a:r>
            <a:endParaRPr i="0" sz="2200" u="none" cap="none" strike="noStrike">
              <a:solidFill>
                <a:schemeClr val="dk1"/>
              </a:solidFill>
            </a:endParaRPr>
          </a:p>
        </p:txBody>
      </p:sp>
      <p:sp>
        <p:nvSpPr>
          <p:cNvPr id="291" name="Google Shape;291;p37"/>
          <p:cNvSpPr/>
          <p:nvPr/>
        </p:nvSpPr>
        <p:spPr>
          <a:xfrm>
            <a:off x="3531875" y="829399"/>
            <a:ext cx="2057400" cy="585000"/>
          </a:xfrm>
          <a:prstGeom prst="roundRect">
            <a:avLst>
              <a:gd fmla="val 10000" name="adj"/>
            </a:avLst>
          </a:prstGeom>
          <a:solidFill>
            <a:srgbClr val="21295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2" name="Google Shape;292;p37"/>
          <p:cNvSpPr txBox="1"/>
          <p:nvPr/>
        </p:nvSpPr>
        <p:spPr>
          <a:xfrm>
            <a:off x="3531880" y="770950"/>
            <a:ext cx="2057400" cy="643500"/>
          </a:xfrm>
          <a:prstGeom prst="rect">
            <a:avLst/>
          </a:prstGeom>
          <a:solidFill>
            <a:srgbClr val="5B9BF0"/>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600" u="none" cap="none" strike="noStrike">
                <a:solidFill>
                  <a:schemeClr val="dk1"/>
                </a:solidFill>
              </a:rPr>
              <a:t>App-Store</a:t>
            </a:r>
            <a:endParaRPr i="0" sz="1600" u="none" cap="none" strike="noStrike">
              <a:solidFill>
                <a:schemeClr val="dk1"/>
              </a:solidFill>
            </a:endParaRPr>
          </a:p>
        </p:txBody>
      </p:sp>
      <p:cxnSp>
        <p:nvCxnSpPr>
          <p:cNvPr id="293" name="Google Shape;293;p37"/>
          <p:cNvCxnSpPr/>
          <p:nvPr/>
        </p:nvCxnSpPr>
        <p:spPr>
          <a:xfrm>
            <a:off x="4560570" y="1501534"/>
            <a:ext cx="0" cy="139800"/>
          </a:xfrm>
          <a:prstGeom prst="straightConnector1">
            <a:avLst/>
          </a:prstGeom>
          <a:noFill/>
          <a:ln cap="flat" cmpd="sng" w="19050">
            <a:solidFill>
              <a:srgbClr val="5A6478"/>
            </a:solidFill>
            <a:prstDash val="solid"/>
            <a:round/>
            <a:headEnd len="sm" w="sm" type="none"/>
            <a:tailEnd len="sm" w="sm" type="none"/>
          </a:ln>
        </p:spPr>
      </p:cxnSp>
      <p:cxnSp>
        <p:nvCxnSpPr>
          <p:cNvPr id="294" name="Google Shape;294;p37"/>
          <p:cNvCxnSpPr/>
          <p:nvPr/>
        </p:nvCxnSpPr>
        <p:spPr>
          <a:xfrm>
            <a:off x="2434590" y="1641386"/>
            <a:ext cx="2126100" cy="0"/>
          </a:xfrm>
          <a:prstGeom prst="straightConnector1">
            <a:avLst/>
          </a:prstGeom>
          <a:noFill/>
          <a:ln cap="flat" cmpd="sng" w="19050">
            <a:solidFill>
              <a:srgbClr val="5A6478"/>
            </a:solidFill>
            <a:prstDash val="solid"/>
            <a:round/>
            <a:headEnd len="sm" w="sm" type="none"/>
            <a:tailEnd len="sm" w="sm" type="none"/>
          </a:ln>
        </p:spPr>
      </p:cxnSp>
      <p:cxnSp>
        <p:nvCxnSpPr>
          <p:cNvPr id="295" name="Google Shape;295;p37"/>
          <p:cNvCxnSpPr/>
          <p:nvPr/>
        </p:nvCxnSpPr>
        <p:spPr>
          <a:xfrm>
            <a:off x="4560570" y="1641386"/>
            <a:ext cx="2126100" cy="0"/>
          </a:xfrm>
          <a:prstGeom prst="straightConnector1">
            <a:avLst/>
          </a:prstGeom>
          <a:noFill/>
          <a:ln cap="flat" cmpd="sng" w="19050">
            <a:solidFill>
              <a:srgbClr val="5A6478"/>
            </a:solidFill>
            <a:prstDash val="solid"/>
            <a:round/>
            <a:headEnd len="sm" w="sm" type="none"/>
            <a:tailEnd len="sm" w="sm" type="none"/>
          </a:ln>
        </p:spPr>
      </p:cxnSp>
      <p:sp>
        <p:nvSpPr>
          <p:cNvPr id="296" name="Google Shape;296;p37"/>
          <p:cNvSpPr/>
          <p:nvPr/>
        </p:nvSpPr>
        <p:spPr>
          <a:xfrm rot="10800000">
            <a:off x="2379662" y="1641102"/>
            <a:ext cx="109800" cy="172200"/>
          </a:xfrm>
          <a:prstGeom prst="triangle">
            <a:avLst>
              <a:gd fmla="val 50000" name="adj"/>
            </a:avLst>
          </a:prstGeom>
          <a:solidFill>
            <a:srgbClr val="5A647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7" name="Google Shape;297;p37"/>
          <p:cNvSpPr/>
          <p:nvPr/>
        </p:nvSpPr>
        <p:spPr>
          <a:xfrm rot="10800000">
            <a:off x="6631617" y="1641102"/>
            <a:ext cx="109800" cy="172200"/>
          </a:xfrm>
          <a:prstGeom prst="triangle">
            <a:avLst>
              <a:gd fmla="val 50000" name="adj"/>
            </a:avLst>
          </a:prstGeom>
          <a:solidFill>
            <a:srgbClr val="5A647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8" name="Google Shape;298;p37"/>
          <p:cNvSpPr/>
          <p:nvPr/>
        </p:nvSpPr>
        <p:spPr>
          <a:xfrm>
            <a:off x="548650" y="1899261"/>
            <a:ext cx="3840600" cy="537300"/>
          </a:xfrm>
          <a:prstGeom prst="roundRect">
            <a:avLst>
              <a:gd fmla="val 10000" name="adj"/>
            </a:avLst>
          </a:prstGeom>
          <a:solidFill>
            <a:srgbClr val="1C729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9" name="Google Shape;299;p37"/>
          <p:cNvSpPr txBox="1"/>
          <p:nvPr/>
        </p:nvSpPr>
        <p:spPr>
          <a:xfrm>
            <a:off x="548650" y="1899261"/>
            <a:ext cx="3840600" cy="5373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 sz="1600">
                <a:solidFill>
                  <a:schemeClr val="dk1"/>
                </a:solidFill>
              </a:rPr>
              <a:t>Staging</a:t>
            </a:r>
            <a:endParaRPr i="0" sz="1600" u="none" cap="none" strike="noStrike">
              <a:solidFill>
                <a:schemeClr val="dk1"/>
              </a:solidFill>
            </a:endParaRPr>
          </a:p>
        </p:txBody>
      </p:sp>
      <p:sp>
        <p:nvSpPr>
          <p:cNvPr id="300" name="Google Shape;300;p37"/>
          <p:cNvSpPr/>
          <p:nvPr/>
        </p:nvSpPr>
        <p:spPr>
          <a:xfrm>
            <a:off x="4732025" y="1899261"/>
            <a:ext cx="3840600" cy="537300"/>
          </a:xfrm>
          <a:prstGeom prst="roundRect">
            <a:avLst>
              <a:gd fmla="val 10000" name="adj"/>
            </a:avLst>
          </a:prstGeom>
          <a:solidFill>
            <a:srgbClr val="065A8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1" name="Google Shape;301;p37"/>
          <p:cNvSpPr txBox="1"/>
          <p:nvPr/>
        </p:nvSpPr>
        <p:spPr>
          <a:xfrm>
            <a:off x="4732025" y="1899261"/>
            <a:ext cx="3840600" cy="537300"/>
          </a:xfrm>
          <a:prstGeom prst="rect">
            <a:avLst/>
          </a:prstGeom>
          <a:solidFill>
            <a:srgbClr val="C8DAF7"/>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 sz="1600">
                <a:solidFill>
                  <a:schemeClr val="dk1"/>
                </a:solidFill>
              </a:rPr>
              <a:t>Production</a:t>
            </a:r>
            <a:endParaRPr i="0" sz="1600" u="none" cap="none" strike="noStrike">
              <a:solidFill>
                <a:schemeClr val="dk1"/>
              </a:solidFill>
            </a:endParaRPr>
          </a:p>
        </p:txBody>
      </p:sp>
      <p:sp>
        <p:nvSpPr>
          <p:cNvPr id="302" name="Google Shape;302;p37"/>
          <p:cNvSpPr/>
          <p:nvPr/>
        </p:nvSpPr>
        <p:spPr>
          <a:xfrm>
            <a:off x="548650" y="2597676"/>
            <a:ext cx="3840600" cy="590700"/>
          </a:xfrm>
          <a:prstGeom prst="roundRect">
            <a:avLst>
              <a:gd fmla="val 9091" name="adj"/>
            </a:avLst>
          </a:prstGeom>
          <a:solidFill>
            <a:srgbClr val="EFF4F7"/>
          </a:solidFill>
          <a:ln cap="flat" cmpd="sng" w="19050">
            <a:solidFill>
              <a:srgbClr val="1C729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3" name="Google Shape;303;p37"/>
          <p:cNvSpPr txBox="1"/>
          <p:nvPr/>
        </p:nvSpPr>
        <p:spPr>
          <a:xfrm>
            <a:off x="548650" y="2597676"/>
            <a:ext cx="3840600" cy="59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i="0" lang="en" sz="1600" u="none" cap="none" strike="noStrike">
                <a:solidFill>
                  <a:srgbClr val="1A1A2E"/>
                </a:solidFill>
              </a:rPr>
              <a:t>Eigene OpenStack-VM</a:t>
            </a:r>
            <a:endParaRPr i="0" sz="1600" u="none" cap="none" strike="noStrike">
              <a:solidFill>
                <a:schemeClr val="dk1"/>
              </a:solidFill>
            </a:endParaRPr>
          </a:p>
        </p:txBody>
      </p:sp>
      <p:sp>
        <p:nvSpPr>
          <p:cNvPr id="304" name="Google Shape;304;p37"/>
          <p:cNvSpPr/>
          <p:nvPr/>
        </p:nvSpPr>
        <p:spPr>
          <a:xfrm>
            <a:off x="548650" y="3349816"/>
            <a:ext cx="3840600" cy="590700"/>
          </a:xfrm>
          <a:prstGeom prst="roundRect">
            <a:avLst>
              <a:gd fmla="val 9091" name="adj"/>
            </a:avLst>
          </a:prstGeom>
          <a:solidFill>
            <a:srgbClr val="EFF4F7"/>
          </a:solidFill>
          <a:ln cap="flat" cmpd="sng" w="19050">
            <a:solidFill>
              <a:srgbClr val="1C729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5" name="Google Shape;305;p37"/>
          <p:cNvSpPr txBox="1"/>
          <p:nvPr/>
        </p:nvSpPr>
        <p:spPr>
          <a:xfrm>
            <a:off x="548650" y="3349816"/>
            <a:ext cx="3840600" cy="59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i="0" lang="en" sz="1600" u="none" cap="none" strike="noStrike">
                <a:solidFill>
                  <a:srgbClr val="1A1A2E"/>
                </a:solidFill>
              </a:rPr>
              <a:t>Eigene URL / Domain</a:t>
            </a:r>
            <a:endParaRPr i="0" sz="1600" u="none" cap="none" strike="noStrike">
              <a:solidFill>
                <a:schemeClr val="dk1"/>
              </a:solidFill>
            </a:endParaRPr>
          </a:p>
        </p:txBody>
      </p:sp>
      <p:sp>
        <p:nvSpPr>
          <p:cNvPr id="306" name="Google Shape;306;p37"/>
          <p:cNvSpPr/>
          <p:nvPr/>
        </p:nvSpPr>
        <p:spPr>
          <a:xfrm>
            <a:off x="548650" y="4101955"/>
            <a:ext cx="3840600" cy="590700"/>
          </a:xfrm>
          <a:prstGeom prst="roundRect">
            <a:avLst>
              <a:gd fmla="val 9091" name="adj"/>
            </a:avLst>
          </a:prstGeom>
          <a:solidFill>
            <a:srgbClr val="EFF4F7"/>
          </a:solidFill>
          <a:ln cap="flat" cmpd="sng" w="19050">
            <a:solidFill>
              <a:srgbClr val="1C729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7" name="Google Shape;307;p37"/>
          <p:cNvSpPr txBox="1"/>
          <p:nvPr/>
        </p:nvSpPr>
        <p:spPr>
          <a:xfrm>
            <a:off x="548650" y="4101955"/>
            <a:ext cx="3840600" cy="59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i="0" lang="en" sz="1600" u="none" cap="none" strike="noStrike">
                <a:solidFill>
                  <a:srgbClr val="1A1A2E"/>
                </a:solidFill>
              </a:rPr>
              <a:t>Technische Prüfung</a:t>
            </a:r>
            <a:endParaRPr i="0" sz="1600" u="none" cap="none" strike="noStrike">
              <a:solidFill>
                <a:schemeClr val="dk1"/>
              </a:solidFill>
            </a:endParaRPr>
          </a:p>
        </p:txBody>
      </p:sp>
      <p:sp>
        <p:nvSpPr>
          <p:cNvPr id="308" name="Google Shape;308;p37"/>
          <p:cNvSpPr/>
          <p:nvPr/>
        </p:nvSpPr>
        <p:spPr>
          <a:xfrm>
            <a:off x="4732025" y="2597676"/>
            <a:ext cx="3840600" cy="590700"/>
          </a:xfrm>
          <a:prstGeom prst="roundRect">
            <a:avLst>
              <a:gd fmla="val 9091" name="adj"/>
            </a:avLst>
          </a:prstGeom>
          <a:solidFill>
            <a:srgbClr val="EFF4F7"/>
          </a:solidFill>
          <a:ln cap="flat" cmpd="sng" w="19050">
            <a:solidFill>
              <a:srgbClr val="065A8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9" name="Google Shape;309;p37"/>
          <p:cNvSpPr txBox="1"/>
          <p:nvPr/>
        </p:nvSpPr>
        <p:spPr>
          <a:xfrm>
            <a:off x="4732025" y="2597676"/>
            <a:ext cx="3840600" cy="59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i="0" lang="en" sz="1600" u="none" cap="none" strike="noStrike">
                <a:solidFill>
                  <a:srgbClr val="1A1A2E"/>
                </a:solidFill>
              </a:rPr>
              <a:t>Eigene OpenStack-VM</a:t>
            </a:r>
            <a:endParaRPr i="0" sz="1600" u="none" cap="none" strike="noStrike">
              <a:solidFill>
                <a:schemeClr val="dk1"/>
              </a:solidFill>
            </a:endParaRPr>
          </a:p>
        </p:txBody>
      </p:sp>
      <p:sp>
        <p:nvSpPr>
          <p:cNvPr id="310" name="Google Shape;310;p37"/>
          <p:cNvSpPr/>
          <p:nvPr/>
        </p:nvSpPr>
        <p:spPr>
          <a:xfrm>
            <a:off x="4732025" y="3349816"/>
            <a:ext cx="3840600" cy="590700"/>
          </a:xfrm>
          <a:prstGeom prst="roundRect">
            <a:avLst>
              <a:gd fmla="val 9091" name="adj"/>
            </a:avLst>
          </a:prstGeom>
          <a:solidFill>
            <a:srgbClr val="EFF4F7"/>
          </a:solidFill>
          <a:ln cap="flat" cmpd="sng" w="19050">
            <a:solidFill>
              <a:srgbClr val="065A8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1" name="Google Shape;311;p37"/>
          <p:cNvSpPr txBox="1"/>
          <p:nvPr/>
        </p:nvSpPr>
        <p:spPr>
          <a:xfrm>
            <a:off x="4732025" y="3349816"/>
            <a:ext cx="3840600" cy="59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i="0" lang="en" sz="1600" u="none" cap="none" strike="noStrike">
                <a:solidFill>
                  <a:srgbClr val="1A1A2E"/>
                </a:solidFill>
              </a:rPr>
              <a:t>Eigene URL / Domain</a:t>
            </a:r>
            <a:endParaRPr i="0" sz="1600" u="none" cap="none" strike="noStrike">
              <a:solidFill>
                <a:schemeClr val="dk1"/>
              </a:solidFill>
            </a:endParaRPr>
          </a:p>
        </p:txBody>
      </p:sp>
      <p:sp>
        <p:nvSpPr>
          <p:cNvPr id="312" name="Google Shape;312;p37"/>
          <p:cNvSpPr/>
          <p:nvPr/>
        </p:nvSpPr>
        <p:spPr>
          <a:xfrm>
            <a:off x="4732025" y="4101955"/>
            <a:ext cx="3840600" cy="590700"/>
          </a:xfrm>
          <a:prstGeom prst="roundRect">
            <a:avLst>
              <a:gd fmla="val 9091" name="adj"/>
            </a:avLst>
          </a:prstGeom>
          <a:solidFill>
            <a:srgbClr val="EFF4F7"/>
          </a:solidFill>
          <a:ln cap="flat" cmpd="sng" w="19050">
            <a:solidFill>
              <a:srgbClr val="065A8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3" name="Google Shape;313;p37"/>
          <p:cNvSpPr txBox="1"/>
          <p:nvPr/>
        </p:nvSpPr>
        <p:spPr>
          <a:xfrm>
            <a:off x="4732025" y="4101955"/>
            <a:ext cx="3840600" cy="59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Calibri"/>
              <a:buNone/>
            </a:pPr>
            <a:r>
              <a:rPr b="1" i="0" lang="en" sz="1600" u="none" cap="none" strike="noStrike">
                <a:solidFill>
                  <a:srgbClr val="1A1A2E"/>
                </a:solidFill>
              </a:rPr>
              <a:t>Produktiver Betrieb</a:t>
            </a:r>
            <a:endParaRPr i="0" sz="1600" u="none" cap="none" strike="noStrike">
              <a:solidFill>
                <a:schemeClr val="dk1"/>
              </a:solidFill>
            </a:endParaRPr>
          </a:p>
        </p:txBody>
      </p:sp>
      <p:pic>
        <p:nvPicPr>
          <p:cNvPr id="314" name="Google Shape;314;p37"/>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315" name="Google Shape;315;p37"/>
          <p:cNvSpPr txBox="1"/>
          <p:nvPr/>
        </p:nvSpPr>
        <p:spPr>
          <a:xfrm>
            <a:off x="8650450" y="4856761"/>
            <a:ext cx="342900" cy="210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478"/>
              </a:buClr>
              <a:buSzPts val="800"/>
              <a:buFont typeface="Calibri"/>
              <a:buNone/>
            </a:pPr>
            <a:r>
              <a:rPr lang="en" sz="1600">
                <a:solidFill>
                  <a:srgbClr val="5A6478"/>
                </a:solidFill>
              </a:rPr>
              <a:t>10</a:t>
            </a:r>
            <a:endParaRPr i="0" sz="1600" u="none" cap="none" strike="noStrike">
              <a:solidFill>
                <a:schemeClr val="dk1"/>
              </a:solidFill>
            </a:endParaRPr>
          </a:p>
        </p:txBody>
      </p:sp>
      <p:sp>
        <p:nvSpPr>
          <p:cNvPr id="316" name="Google Shape;316;p37"/>
          <p:cNvSpPr txBox="1"/>
          <p:nvPr/>
        </p:nvSpPr>
        <p:spPr>
          <a:xfrm>
            <a:off x="411479" y="4856759"/>
            <a:ext cx="2400300" cy="184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200">
                <a:solidFill>
                  <a:schemeClr val="dk2"/>
                </a:solidFill>
              </a:rPr>
              <a:t>Lorenzo Negri</a:t>
            </a:r>
            <a:endParaRPr sz="12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AFC"/>
        </a:solidFill>
      </p:bgPr>
    </p:bg>
    <p:spTree>
      <p:nvGrpSpPr>
        <p:cNvPr id="320" name="Shape 320"/>
        <p:cNvGrpSpPr/>
        <p:nvPr/>
      </p:nvGrpSpPr>
      <p:grpSpPr>
        <a:xfrm>
          <a:off x="0" y="0"/>
          <a:ext cx="0" cy="0"/>
          <a:chOff x="0" y="0"/>
          <a:chExt cx="0" cy="0"/>
        </a:xfrm>
      </p:grpSpPr>
      <p:pic>
        <p:nvPicPr>
          <p:cNvPr id="321" name="Google Shape;321;p38"/>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322" name="Google Shape;32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p38"/>
          <p:cNvSpPr txBox="1"/>
          <p:nvPr/>
        </p:nvSpPr>
        <p:spPr>
          <a:xfrm>
            <a:off x="411480" y="205740"/>
            <a:ext cx="65151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000"/>
              <a:buFont typeface="Cambria"/>
              <a:buNone/>
            </a:pPr>
            <a:r>
              <a:rPr b="1" lang="en" sz="2200">
                <a:solidFill>
                  <a:srgbClr val="1A1A2E"/>
                </a:solidFill>
              </a:rPr>
              <a:t>QS-Prozesse</a:t>
            </a:r>
            <a:endParaRPr i="0" sz="2200" u="none" cap="none" strike="noStrike">
              <a:solidFill>
                <a:schemeClr val="dk1"/>
              </a:solidFill>
            </a:endParaRPr>
          </a:p>
        </p:txBody>
      </p:sp>
      <p:sp>
        <p:nvSpPr>
          <p:cNvPr id="324" name="Google Shape;324;p38"/>
          <p:cNvSpPr/>
          <p:nvPr/>
        </p:nvSpPr>
        <p:spPr>
          <a:xfrm>
            <a:off x="226600" y="739000"/>
            <a:ext cx="2699700" cy="386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5" name="Google Shape;325;p38"/>
          <p:cNvSpPr txBox="1"/>
          <p:nvPr/>
        </p:nvSpPr>
        <p:spPr>
          <a:xfrm>
            <a:off x="226600" y="896675"/>
            <a:ext cx="269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 Definition of Done</a:t>
            </a:r>
            <a:endParaRPr b="1" sz="1800">
              <a:solidFill>
                <a:schemeClr val="dk2"/>
              </a:solidFill>
            </a:endParaRPr>
          </a:p>
        </p:txBody>
      </p:sp>
      <p:sp>
        <p:nvSpPr>
          <p:cNvPr id="326" name="Google Shape;326;p38"/>
          <p:cNvSpPr/>
          <p:nvPr/>
        </p:nvSpPr>
        <p:spPr>
          <a:xfrm>
            <a:off x="3273975" y="738875"/>
            <a:ext cx="2699700" cy="386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7" name="Google Shape;327;p38"/>
          <p:cNvSpPr txBox="1"/>
          <p:nvPr/>
        </p:nvSpPr>
        <p:spPr>
          <a:xfrm>
            <a:off x="3274025" y="896675"/>
            <a:ext cx="269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P9: Moodle-Integration</a:t>
            </a:r>
            <a:endParaRPr b="1" sz="1800">
              <a:solidFill>
                <a:schemeClr val="dk2"/>
              </a:solidFill>
            </a:endParaRPr>
          </a:p>
        </p:txBody>
      </p:sp>
      <p:sp>
        <p:nvSpPr>
          <p:cNvPr id="328" name="Google Shape;328;p38"/>
          <p:cNvSpPr/>
          <p:nvPr/>
        </p:nvSpPr>
        <p:spPr>
          <a:xfrm>
            <a:off x="6321350" y="738875"/>
            <a:ext cx="2699700" cy="386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38"/>
          <p:cNvSpPr txBox="1"/>
          <p:nvPr/>
        </p:nvSpPr>
        <p:spPr>
          <a:xfrm>
            <a:off x="6321450" y="797500"/>
            <a:ext cx="2699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P12: Dokumentations-</a:t>
            </a:r>
            <a:br>
              <a:rPr b="1" lang="en" sz="1800">
                <a:solidFill>
                  <a:schemeClr val="dk2"/>
                </a:solidFill>
              </a:rPr>
            </a:br>
            <a:r>
              <a:rPr b="1" lang="en" sz="1800">
                <a:solidFill>
                  <a:schemeClr val="dk2"/>
                </a:solidFill>
              </a:rPr>
              <a:t>pflege</a:t>
            </a:r>
            <a:endParaRPr b="1" sz="1800">
              <a:solidFill>
                <a:schemeClr val="dk2"/>
              </a:solidFill>
            </a:endParaRPr>
          </a:p>
        </p:txBody>
      </p:sp>
      <p:sp>
        <p:nvSpPr>
          <p:cNvPr id="330" name="Google Shape;330;p38"/>
          <p:cNvSpPr txBox="1"/>
          <p:nvPr/>
        </p:nvSpPr>
        <p:spPr>
          <a:xfrm>
            <a:off x="226400" y="1536400"/>
            <a:ext cx="27000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rPr>
              <a:t>Risiko:</a:t>
            </a:r>
            <a:endParaRPr b="1" sz="1500">
              <a:solidFill>
                <a:schemeClr val="dk2"/>
              </a:solidFill>
            </a:endParaRPr>
          </a:p>
          <a:p>
            <a:pPr indent="0" lvl="0" marL="0" rtl="0" algn="l">
              <a:spcBef>
                <a:spcPts val="0"/>
              </a:spcBef>
              <a:spcAft>
                <a:spcPts val="0"/>
              </a:spcAft>
              <a:buNone/>
            </a:pPr>
            <a:r>
              <a:rPr lang="en" sz="1500">
                <a:solidFill>
                  <a:schemeClr val="dk2"/>
                </a:solidFill>
              </a:rPr>
              <a:t>Unterschiedliche Auffassungen von “fertig”</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331" name="Google Shape;331;p38"/>
          <p:cNvSpPr txBox="1"/>
          <p:nvPr/>
        </p:nvSpPr>
        <p:spPr>
          <a:xfrm>
            <a:off x="3273875" y="1536400"/>
            <a:ext cx="27000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rPr>
              <a:t>Risiko:</a:t>
            </a:r>
            <a:endParaRPr b="1" sz="1500">
              <a:solidFill>
                <a:schemeClr val="dk2"/>
              </a:solidFill>
            </a:endParaRPr>
          </a:p>
          <a:p>
            <a:pPr indent="0" lvl="0" marL="0" rtl="0" algn="l">
              <a:spcBef>
                <a:spcPts val="0"/>
              </a:spcBef>
              <a:spcAft>
                <a:spcPts val="0"/>
              </a:spcAft>
              <a:buNone/>
            </a:pPr>
            <a:r>
              <a:rPr lang="en" sz="1500">
                <a:solidFill>
                  <a:schemeClr val="dk2"/>
                </a:solidFill>
              </a:rPr>
              <a:t>Anmeldung über Moodle schlägt fehl / falsche Rolle</a:t>
            </a:r>
            <a:endParaRPr sz="1500">
              <a:solidFill>
                <a:schemeClr val="dk2"/>
              </a:solidFill>
            </a:endParaRPr>
          </a:p>
        </p:txBody>
      </p:sp>
      <p:sp>
        <p:nvSpPr>
          <p:cNvPr id="332" name="Google Shape;332;p38"/>
          <p:cNvSpPr txBox="1"/>
          <p:nvPr/>
        </p:nvSpPr>
        <p:spPr>
          <a:xfrm>
            <a:off x="6321450" y="1536400"/>
            <a:ext cx="27000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rPr>
              <a:t>Risiko:</a:t>
            </a:r>
            <a:endParaRPr b="1" sz="1500">
              <a:solidFill>
                <a:schemeClr val="dk2"/>
              </a:solidFill>
            </a:endParaRPr>
          </a:p>
          <a:p>
            <a:pPr indent="0" lvl="0" marL="0" rtl="0" algn="l">
              <a:spcBef>
                <a:spcPts val="0"/>
              </a:spcBef>
              <a:spcAft>
                <a:spcPts val="0"/>
              </a:spcAft>
              <a:buNone/>
            </a:pPr>
            <a:r>
              <a:rPr lang="en" sz="1500">
                <a:solidFill>
                  <a:schemeClr val="dk2"/>
                </a:solidFill>
              </a:rPr>
              <a:t>Doku weicht vom System ab</a:t>
            </a:r>
            <a:endParaRPr sz="1500">
              <a:solidFill>
                <a:schemeClr val="dk2"/>
              </a:solidFill>
            </a:endParaRPr>
          </a:p>
        </p:txBody>
      </p:sp>
      <p:sp>
        <p:nvSpPr>
          <p:cNvPr id="333" name="Google Shape;333;p38"/>
          <p:cNvSpPr txBox="1"/>
          <p:nvPr/>
        </p:nvSpPr>
        <p:spPr>
          <a:xfrm>
            <a:off x="226300" y="2433800"/>
            <a:ext cx="27000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rPr>
              <a:t>Wann:</a:t>
            </a:r>
            <a:endParaRPr b="1" sz="1500">
              <a:solidFill>
                <a:schemeClr val="dk2"/>
              </a:solidFill>
            </a:endParaRPr>
          </a:p>
          <a:p>
            <a:pPr indent="0" lvl="0" marL="0" rtl="0" algn="l">
              <a:spcBef>
                <a:spcPts val="0"/>
              </a:spcBef>
              <a:spcAft>
                <a:spcPts val="0"/>
              </a:spcAft>
              <a:buNone/>
            </a:pPr>
            <a:r>
              <a:rPr lang="en" sz="1500">
                <a:solidFill>
                  <a:schemeClr val="dk2"/>
                </a:solidFill>
              </a:rPr>
              <a:t>Bevor User-Story als fertig markiert wird</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334" name="Google Shape;334;p38"/>
          <p:cNvSpPr txBox="1"/>
          <p:nvPr/>
        </p:nvSpPr>
        <p:spPr>
          <a:xfrm>
            <a:off x="226300" y="3331200"/>
            <a:ext cx="27000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rPr>
              <a:t>Kriterium:</a:t>
            </a:r>
            <a:endParaRPr b="1" sz="1500">
              <a:solidFill>
                <a:schemeClr val="dk2"/>
              </a:solidFill>
            </a:endParaRPr>
          </a:p>
          <a:p>
            <a:pPr indent="0" lvl="0" marL="0" rtl="0" algn="l">
              <a:spcBef>
                <a:spcPts val="0"/>
              </a:spcBef>
              <a:spcAft>
                <a:spcPts val="0"/>
              </a:spcAft>
              <a:buNone/>
            </a:pPr>
            <a:r>
              <a:rPr lang="en" sz="1500">
                <a:solidFill>
                  <a:schemeClr val="dk2"/>
                </a:solidFill>
              </a:rPr>
              <a:t>Alle DoD-Vorraussetzungen erfüllt</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335" name="Google Shape;335;p38"/>
          <p:cNvSpPr txBox="1"/>
          <p:nvPr/>
        </p:nvSpPr>
        <p:spPr>
          <a:xfrm>
            <a:off x="3273825" y="2552025"/>
            <a:ext cx="27000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rPr>
              <a:t>Wann:</a:t>
            </a:r>
            <a:endParaRPr b="1" sz="1500">
              <a:solidFill>
                <a:schemeClr val="dk2"/>
              </a:solidFill>
            </a:endParaRPr>
          </a:p>
          <a:p>
            <a:pPr indent="0" lvl="0" marL="0" rtl="0" algn="l">
              <a:spcBef>
                <a:spcPts val="0"/>
              </a:spcBef>
              <a:spcAft>
                <a:spcPts val="0"/>
              </a:spcAft>
              <a:buNone/>
            </a:pPr>
            <a:r>
              <a:rPr lang="en" sz="1500">
                <a:solidFill>
                  <a:schemeClr val="dk2"/>
                </a:solidFill>
              </a:rPr>
              <a:t>Bei Änderung der Anbindung</a:t>
            </a:r>
            <a:endParaRPr sz="1500">
              <a:solidFill>
                <a:schemeClr val="dk2"/>
              </a:solidFill>
            </a:endParaRPr>
          </a:p>
        </p:txBody>
      </p:sp>
      <p:sp>
        <p:nvSpPr>
          <p:cNvPr id="336" name="Google Shape;336;p38"/>
          <p:cNvSpPr txBox="1"/>
          <p:nvPr/>
        </p:nvSpPr>
        <p:spPr>
          <a:xfrm>
            <a:off x="3273825" y="3444200"/>
            <a:ext cx="27000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rPr>
              <a:t>Kriterium:</a:t>
            </a:r>
            <a:endParaRPr b="1" sz="1500">
              <a:solidFill>
                <a:schemeClr val="dk2"/>
              </a:solidFill>
            </a:endParaRPr>
          </a:p>
          <a:p>
            <a:pPr indent="0" lvl="0" marL="0" rtl="0" algn="l">
              <a:spcBef>
                <a:spcPts val="0"/>
              </a:spcBef>
              <a:spcAft>
                <a:spcPts val="0"/>
              </a:spcAft>
              <a:buNone/>
            </a:pPr>
            <a:r>
              <a:rPr lang="en" sz="1500">
                <a:solidFill>
                  <a:schemeClr val="dk2"/>
                </a:solidFill>
              </a:rPr>
              <a:t>Korrekte Anmeldung für Dozierende und Studenten</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337" name="Google Shape;337;p38"/>
          <p:cNvSpPr txBox="1"/>
          <p:nvPr/>
        </p:nvSpPr>
        <p:spPr>
          <a:xfrm>
            <a:off x="6321350" y="2433788"/>
            <a:ext cx="27000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rPr>
              <a:t>Wann:</a:t>
            </a:r>
            <a:endParaRPr b="1" sz="1500">
              <a:solidFill>
                <a:schemeClr val="dk2"/>
              </a:solidFill>
            </a:endParaRPr>
          </a:p>
          <a:p>
            <a:pPr indent="0" lvl="0" marL="0" rtl="0" algn="l">
              <a:spcBef>
                <a:spcPts val="0"/>
              </a:spcBef>
              <a:spcAft>
                <a:spcPts val="0"/>
              </a:spcAft>
              <a:buNone/>
            </a:pPr>
            <a:r>
              <a:rPr lang="en" sz="1500">
                <a:solidFill>
                  <a:schemeClr val="dk2"/>
                </a:solidFill>
              </a:rPr>
              <a:t>Bei Änderungen an Setup, Ports oder Deployment</a:t>
            </a:r>
            <a:endParaRPr sz="1500">
              <a:solidFill>
                <a:schemeClr val="dk2"/>
              </a:solidFill>
            </a:endParaRPr>
          </a:p>
        </p:txBody>
      </p:sp>
      <p:sp>
        <p:nvSpPr>
          <p:cNvPr id="338" name="Google Shape;338;p38"/>
          <p:cNvSpPr txBox="1"/>
          <p:nvPr/>
        </p:nvSpPr>
        <p:spPr>
          <a:xfrm>
            <a:off x="6321350" y="3518625"/>
            <a:ext cx="27000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rPr>
              <a:t>Kriterium:</a:t>
            </a:r>
            <a:endParaRPr b="1" sz="1500">
              <a:solidFill>
                <a:schemeClr val="dk2"/>
              </a:solidFill>
            </a:endParaRPr>
          </a:p>
          <a:p>
            <a:pPr indent="0" lvl="0" marL="0" rtl="0" algn="l">
              <a:spcBef>
                <a:spcPts val="0"/>
              </a:spcBef>
              <a:spcAft>
                <a:spcPts val="0"/>
              </a:spcAft>
              <a:buNone/>
            </a:pPr>
            <a:r>
              <a:rPr lang="en" sz="1500">
                <a:solidFill>
                  <a:schemeClr val="dk2"/>
                </a:solidFill>
              </a:rPr>
              <a:t>Doku beschreibt den tatsächlichen aktuellen Stand</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42" name="Shape 342"/>
        <p:cNvGrpSpPr/>
        <p:nvPr/>
      </p:nvGrpSpPr>
      <p:grpSpPr>
        <a:xfrm>
          <a:off x="0" y="0"/>
          <a:ext cx="0" cy="0"/>
          <a:chOff x="0" y="0"/>
          <a:chExt cx="0" cy="0"/>
        </a:xfrm>
      </p:grpSpPr>
      <p:pic>
        <p:nvPicPr>
          <p:cNvPr id="343" name="Google Shape;343;p39"/>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344" name="Google Shape;34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5" name="Google Shape;345;p39"/>
          <p:cNvSpPr/>
          <p:nvPr/>
        </p:nvSpPr>
        <p:spPr>
          <a:xfrm>
            <a:off x="226600" y="653179"/>
            <a:ext cx="8474100" cy="4019100"/>
          </a:xfrm>
          <a:prstGeom prst="roundRect">
            <a:avLst>
              <a:gd fmla="val 331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p39"/>
          <p:cNvSpPr txBox="1"/>
          <p:nvPr/>
        </p:nvSpPr>
        <p:spPr>
          <a:xfrm>
            <a:off x="226600" y="737925"/>
            <a:ext cx="269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P1: Definition of Done</a:t>
            </a:r>
            <a:endParaRPr b="1" sz="1800">
              <a:solidFill>
                <a:schemeClr val="dk1"/>
              </a:solidFill>
            </a:endParaRPr>
          </a:p>
        </p:txBody>
      </p:sp>
      <p:sp>
        <p:nvSpPr>
          <p:cNvPr id="347" name="Google Shape;347;p39"/>
          <p:cNvSpPr txBox="1"/>
          <p:nvPr/>
        </p:nvSpPr>
        <p:spPr>
          <a:xfrm>
            <a:off x="411475" y="1199627"/>
            <a:ext cx="39042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Warum:</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Unterschiedliches Verständnis von “fertig”, Nacharbeit, Konflikte</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sp>
        <p:nvSpPr>
          <p:cNvPr id="348" name="Google Shape;348;p39"/>
          <p:cNvSpPr txBox="1"/>
          <p:nvPr/>
        </p:nvSpPr>
        <p:spPr>
          <a:xfrm>
            <a:off x="411475" y="2796329"/>
            <a:ext cx="46248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Wann:</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Review bei Abschluss einer User-Story</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sp>
        <p:nvSpPr>
          <p:cNvPr id="349" name="Google Shape;349;p39"/>
          <p:cNvSpPr txBox="1"/>
          <p:nvPr/>
        </p:nvSpPr>
        <p:spPr>
          <a:xfrm>
            <a:off x="411475" y="1969577"/>
            <a:ext cx="39042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Wer:</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Definition durch QS-Beauftragte</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Ausführung von allen Teammitgliedern</a:t>
            </a:r>
            <a:endParaRPr sz="1500">
              <a:solidFill>
                <a:schemeClr val="dk1"/>
              </a:solidFill>
            </a:endParaRPr>
          </a:p>
        </p:txBody>
      </p:sp>
      <p:sp>
        <p:nvSpPr>
          <p:cNvPr id="350" name="Google Shape;350;p39"/>
          <p:cNvSpPr txBox="1"/>
          <p:nvPr/>
        </p:nvSpPr>
        <p:spPr>
          <a:xfrm>
            <a:off x="4572000" y="1131977"/>
            <a:ext cx="41604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Was:</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DoD-Checkliste im Repo</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Abgehakte DoD im Issue</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sp>
        <p:nvSpPr>
          <p:cNvPr id="351" name="Google Shape;351;p39"/>
          <p:cNvSpPr txBox="1"/>
          <p:nvPr/>
        </p:nvSpPr>
        <p:spPr>
          <a:xfrm>
            <a:off x="4572000" y="1969577"/>
            <a:ext cx="39042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Wie:</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Checkliste im PR-Template, Merge nur bei vollständiger Abhakung </a:t>
            </a:r>
            <a:endParaRPr sz="1500">
              <a:solidFill>
                <a:schemeClr val="dk1"/>
              </a:solidFill>
            </a:endParaRPr>
          </a:p>
        </p:txBody>
      </p:sp>
      <p:sp>
        <p:nvSpPr>
          <p:cNvPr id="352" name="Google Shape;352;p39"/>
          <p:cNvSpPr/>
          <p:nvPr/>
        </p:nvSpPr>
        <p:spPr>
          <a:xfrm>
            <a:off x="485950" y="3617356"/>
            <a:ext cx="7955400" cy="904200"/>
          </a:xfrm>
          <a:prstGeom prst="roundRect">
            <a:avLst>
              <a:gd fmla="val 17224"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39"/>
          <p:cNvSpPr txBox="1"/>
          <p:nvPr/>
        </p:nvSpPr>
        <p:spPr>
          <a:xfrm>
            <a:off x="616450" y="3617356"/>
            <a:ext cx="78249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Gut genug als Qualitätsmaßnahme weil:</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Fehler werden vor “Done” gefunden</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Gutes Aufwand/Nutzen-Verhältnis</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sp>
        <p:nvSpPr>
          <p:cNvPr id="354" name="Google Shape;354;p39"/>
          <p:cNvSpPr txBox="1"/>
          <p:nvPr/>
        </p:nvSpPr>
        <p:spPr>
          <a:xfrm>
            <a:off x="226605" y="194792"/>
            <a:ext cx="65151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000"/>
              <a:buFont typeface="Cambria"/>
              <a:buNone/>
            </a:pPr>
            <a:r>
              <a:rPr b="1" lang="en" sz="2200">
                <a:solidFill>
                  <a:srgbClr val="1A1A2E"/>
                </a:solidFill>
              </a:rPr>
              <a:t>QS-Prozesse</a:t>
            </a:r>
            <a:endParaRPr i="0" sz="2200" u="none" cap="none" strike="noStrike">
              <a:solidFill>
                <a:schemeClr val="dk1"/>
              </a:solidFill>
            </a:endParaRPr>
          </a:p>
        </p:txBody>
      </p:sp>
      <p:sp>
        <p:nvSpPr>
          <p:cNvPr id="355" name="Google Shape;355;p39"/>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Daniel Brecht</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59" name="Shape 359"/>
        <p:cNvGrpSpPr/>
        <p:nvPr/>
      </p:nvGrpSpPr>
      <p:grpSpPr>
        <a:xfrm>
          <a:off x="0" y="0"/>
          <a:ext cx="0" cy="0"/>
          <a:chOff x="0" y="0"/>
          <a:chExt cx="0" cy="0"/>
        </a:xfrm>
      </p:grpSpPr>
      <p:pic>
        <p:nvPicPr>
          <p:cNvPr id="360" name="Google Shape;360;p40"/>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361" name="Google Shape;36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2" name="Google Shape;362;p40"/>
          <p:cNvSpPr txBox="1"/>
          <p:nvPr/>
        </p:nvSpPr>
        <p:spPr>
          <a:xfrm>
            <a:off x="226605" y="161947"/>
            <a:ext cx="65151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000"/>
              <a:buFont typeface="Cambria"/>
              <a:buNone/>
            </a:pPr>
            <a:r>
              <a:rPr b="1" lang="en" sz="2200">
                <a:solidFill>
                  <a:srgbClr val="1A1A2E"/>
                </a:solidFill>
              </a:rPr>
              <a:t>QS-Prozesse</a:t>
            </a:r>
            <a:endParaRPr i="0" sz="2200" u="none" cap="none" strike="noStrike">
              <a:solidFill>
                <a:schemeClr val="dk1"/>
              </a:solidFill>
            </a:endParaRPr>
          </a:p>
        </p:txBody>
      </p:sp>
      <p:sp>
        <p:nvSpPr>
          <p:cNvPr id="363" name="Google Shape;363;p40"/>
          <p:cNvSpPr/>
          <p:nvPr/>
        </p:nvSpPr>
        <p:spPr>
          <a:xfrm>
            <a:off x="226600" y="587485"/>
            <a:ext cx="8474100" cy="3988800"/>
          </a:xfrm>
          <a:prstGeom prst="roundRect">
            <a:avLst>
              <a:gd fmla="val 331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4" name="Google Shape;364;p40"/>
          <p:cNvSpPr txBox="1"/>
          <p:nvPr/>
        </p:nvSpPr>
        <p:spPr>
          <a:xfrm>
            <a:off x="226600" y="672235"/>
            <a:ext cx="269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P9: Moodle-Integration</a:t>
            </a:r>
            <a:endParaRPr b="1" sz="1800">
              <a:solidFill>
                <a:schemeClr val="dk1"/>
              </a:solidFill>
            </a:endParaRPr>
          </a:p>
        </p:txBody>
      </p:sp>
      <p:sp>
        <p:nvSpPr>
          <p:cNvPr id="365" name="Google Shape;365;p40"/>
          <p:cNvSpPr txBox="1"/>
          <p:nvPr/>
        </p:nvSpPr>
        <p:spPr>
          <a:xfrm>
            <a:off x="411475" y="1133934"/>
            <a:ext cx="43905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Warum:</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Drei Systeme (Moodle, LTI, Keycloak),</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Schnittstellen nicht durch Unit-Tests testbar</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sp>
        <p:nvSpPr>
          <p:cNvPr id="366" name="Google Shape;366;p40"/>
          <p:cNvSpPr txBox="1"/>
          <p:nvPr/>
        </p:nvSpPr>
        <p:spPr>
          <a:xfrm>
            <a:off x="411475" y="2599262"/>
            <a:ext cx="39042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Wann:</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Bei Änderung an LTI-Anbindung, Moodle-Stand, Keycloak-Konfiguration </a:t>
            </a:r>
            <a:endParaRPr sz="1500">
              <a:solidFill>
                <a:schemeClr val="dk1"/>
              </a:solidFill>
            </a:endParaRPr>
          </a:p>
        </p:txBody>
      </p:sp>
      <p:sp>
        <p:nvSpPr>
          <p:cNvPr id="367" name="Google Shape;367;p40"/>
          <p:cNvSpPr txBox="1"/>
          <p:nvPr/>
        </p:nvSpPr>
        <p:spPr>
          <a:xfrm>
            <a:off x="411475" y="1903887"/>
            <a:ext cx="39042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Wer:</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Zuständig: Backend &amp; Frontend Team</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sp>
        <p:nvSpPr>
          <p:cNvPr id="368" name="Google Shape;368;p40"/>
          <p:cNvSpPr txBox="1"/>
          <p:nvPr/>
        </p:nvSpPr>
        <p:spPr>
          <a:xfrm>
            <a:off x="4801925" y="1066287"/>
            <a:ext cx="41604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Was:</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Protokoll mit Moodle- und LTI-Version</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sp>
        <p:nvSpPr>
          <p:cNvPr id="369" name="Google Shape;369;p40"/>
          <p:cNvSpPr txBox="1"/>
          <p:nvPr/>
        </p:nvSpPr>
        <p:spPr>
          <a:xfrm>
            <a:off x="4801925" y="1903887"/>
            <a:ext cx="39042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Wie:</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Schritte manuell, in einer Sitzung, in fester Reihenfolge </a:t>
            </a:r>
            <a:endParaRPr sz="1500">
              <a:solidFill>
                <a:schemeClr val="dk1"/>
              </a:solidFill>
            </a:endParaRPr>
          </a:p>
        </p:txBody>
      </p:sp>
      <p:sp>
        <p:nvSpPr>
          <p:cNvPr id="370" name="Google Shape;370;p40"/>
          <p:cNvSpPr/>
          <p:nvPr/>
        </p:nvSpPr>
        <p:spPr>
          <a:xfrm>
            <a:off x="485950" y="3529782"/>
            <a:ext cx="7955400" cy="882300"/>
          </a:xfrm>
          <a:prstGeom prst="roundRect">
            <a:avLst>
              <a:gd fmla="val 17224"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40"/>
          <p:cNvSpPr txBox="1"/>
          <p:nvPr/>
        </p:nvSpPr>
        <p:spPr>
          <a:xfrm>
            <a:off x="616450" y="3529783"/>
            <a:ext cx="7824900" cy="8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Gut genug als Qualitätsmaßnahme weil:</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Prüfung gegen real betriebenen Stand, nicht gegen Mock</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Prüfung der korrekten Rollenzuordnung</a:t>
            </a:r>
            <a:endParaRPr sz="1500">
              <a:solidFill>
                <a:schemeClr val="dk1"/>
              </a:solidFill>
            </a:endParaRPr>
          </a:p>
        </p:txBody>
      </p:sp>
      <p:sp>
        <p:nvSpPr>
          <p:cNvPr id="372" name="Google Shape;372;p40"/>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Daniel Brecht</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76" name="Shape 376"/>
        <p:cNvGrpSpPr/>
        <p:nvPr/>
      </p:nvGrpSpPr>
      <p:grpSpPr>
        <a:xfrm>
          <a:off x="0" y="0"/>
          <a:ext cx="0" cy="0"/>
          <a:chOff x="0" y="0"/>
          <a:chExt cx="0" cy="0"/>
        </a:xfrm>
      </p:grpSpPr>
      <p:pic>
        <p:nvPicPr>
          <p:cNvPr id="377" name="Google Shape;377;p41"/>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378" name="Google Shape;378;p41"/>
          <p:cNvSpPr txBox="1"/>
          <p:nvPr/>
        </p:nvSpPr>
        <p:spPr>
          <a:xfrm>
            <a:off x="226605" y="107206"/>
            <a:ext cx="65151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000"/>
              <a:buFont typeface="Cambria"/>
              <a:buNone/>
            </a:pPr>
            <a:r>
              <a:rPr b="1" lang="en" sz="2200">
                <a:solidFill>
                  <a:srgbClr val="1A1A2E"/>
                </a:solidFill>
              </a:rPr>
              <a:t>QS-Prozesse</a:t>
            </a:r>
            <a:endParaRPr i="0" sz="2200" u="none" cap="none" strike="noStrike">
              <a:solidFill>
                <a:schemeClr val="dk1"/>
              </a:solidFill>
            </a:endParaRPr>
          </a:p>
        </p:txBody>
      </p:sp>
      <p:sp>
        <p:nvSpPr>
          <p:cNvPr id="379" name="Google Shape;379;p41"/>
          <p:cNvSpPr/>
          <p:nvPr/>
        </p:nvSpPr>
        <p:spPr>
          <a:xfrm>
            <a:off x="226600" y="565591"/>
            <a:ext cx="8474100" cy="4065600"/>
          </a:xfrm>
          <a:prstGeom prst="roundRect">
            <a:avLst>
              <a:gd fmla="val 331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41"/>
          <p:cNvSpPr txBox="1"/>
          <p:nvPr/>
        </p:nvSpPr>
        <p:spPr>
          <a:xfrm>
            <a:off x="226600" y="650341"/>
            <a:ext cx="3233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P12: Dokumentationspflege</a:t>
            </a:r>
            <a:endParaRPr b="1" sz="1800">
              <a:solidFill>
                <a:schemeClr val="dk1"/>
              </a:solidFill>
            </a:endParaRPr>
          </a:p>
          <a:p>
            <a:pPr indent="0" lvl="0" marL="0" rtl="0" algn="l">
              <a:spcBef>
                <a:spcPts val="0"/>
              </a:spcBef>
              <a:spcAft>
                <a:spcPts val="0"/>
              </a:spcAft>
              <a:buNone/>
            </a:pPr>
            <a:r>
              <a:t/>
            </a:r>
            <a:endParaRPr b="1" sz="1800">
              <a:solidFill>
                <a:schemeClr val="dk1"/>
              </a:solidFill>
            </a:endParaRPr>
          </a:p>
        </p:txBody>
      </p:sp>
      <p:sp>
        <p:nvSpPr>
          <p:cNvPr id="381" name="Google Shape;381;p41"/>
          <p:cNvSpPr txBox="1"/>
          <p:nvPr/>
        </p:nvSpPr>
        <p:spPr>
          <a:xfrm>
            <a:off x="356734" y="1112041"/>
            <a:ext cx="38145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Warum:</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Bessere Wartbarkeit</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Missstände in Doku früher erkennen </a:t>
            </a:r>
            <a:endParaRPr sz="1500">
              <a:solidFill>
                <a:schemeClr val="dk1"/>
              </a:solidFill>
            </a:endParaRPr>
          </a:p>
        </p:txBody>
      </p:sp>
      <p:sp>
        <p:nvSpPr>
          <p:cNvPr id="382" name="Google Shape;382;p41"/>
          <p:cNvSpPr txBox="1"/>
          <p:nvPr/>
        </p:nvSpPr>
        <p:spPr>
          <a:xfrm>
            <a:off x="356734" y="2719591"/>
            <a:ext cx="82893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Wann:</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Ereignisgesteuert: bei Änderung an Setup, Ports, Compose-Konfiguration, Deployment, …</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Periodisch: Gesamtabgleich alle zwei Wochen </a:t>
            </a:r>
            <a:endParaRPr sz="1500">
              <a:solidFill>
                <a:schemeClr val="dk1"/>
              </a:solidFill>
            </a:endParaRPr>
          </a:p>
        </p:txBody>
      </p:sp>
      <p:sp>
        <p:nvSpPr>
          <p:cNvPr id="383" name="Google Shape;383;p41"/>
          <p:cNvSpPr txBox="1"/>
          <p:nvPr/>
        </p:nvSpPr>
        <p:spPr>
          <a:xfrm>
            <a:off x="356734" y="1907241"/>
            <a:ext cx="44715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Wer:</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Pflege: Autor der Pull Request</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Periodischer Abgleich durch QS-Beauftragte</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sp>
        <p:nvSpPr>
          <p:cNvPr id="384" name="Google Shape;384;p41"/>
          <p:cNvSpPr txBox="1"/>
          <p:nvPr/>
        </p:nvSpPr>
        <p:spPr>
          <a:xfrm>
            <a:off x="4637690" y="923959"/>
            <a:ext cx="41604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Was:</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Doku-Abschnitt in Pull Request </a:t>
            </a:r>
            <a:endParaRPr sz="1500">
              <a:solidFill>
                <a:schemeClr val="dk1"/>
              </a:solidFill>
            </a:endParaRPr>
          </a:p>
        </p:txBody>
      </p:sp>
      <p:sp>
        <p:nvSpPr>
          <p:cNvPr id="385" name="Google Shape;385;p41"/>
          <p:cNvSpPr txBox="1"/>
          <p:nvPr/>
        </p:nvSpPr>
        <p:spPr>
          <a:xfrm>
            <a:off x="4637690" y="1575435"/>
            <a:ext cx="4160400" cy="13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Wie:</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Pull-Request nennt betroffene Zeile der Doku, </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Codeänderung und Dokupflege in selber Pull-Request</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sp>
        <p:nvSpPr>
          <p:cNvPr id="386" name="Google Shape;386;p41"/>
          <p:cNvSpPr/>
          <p:nvPr/>
        </p:nvSpPr>
        <p:spPr>
          <a:xfrm>
            <a:off x="485950" y="3584517"/>
            <a:ext cx="7955400" cy="893400"/>
          </a:xfrm>
          <a:prstGeom prst="roundRect">
            <a:avLst>
              <a:gd fmla="val 17224"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41"/>
          <p:cNvSpPr txBox="1"/>
          <p:nvPr/>
        </p:nvSpPr>
        <p:spPr>
          <a:xfrm>
            <a:off x="616450" y="3595466"/>
            <a:ext cx="7824900" cy="8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Gut genug als Qualitätsmaßnahme weil:</a:t>
            </a:r>
            <a:endParaRPr b="1"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Pull-Request verhindert Abweichung der Doku</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Unmittelbare Pflege → ohne Wissensverlust</a:t>
            </a:r>
            <a:endParaRPr sz="1500">
              <a:solidFill>
                <a:schemeClr val="dk1"/>
              </a:solidFill>
            </a:endParaRPr>
          </a:p>
        </p:txBody>
      </p:sp>
      <p:sp>
        <p:nvSpPr>
          <p:cNvPr id="388" name="Google Shape;388;p41"/>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Daniel Brecht</a:t>
            </a:r>
            <a:endParaRPr sz="1100"/>
          </a:p>
        </p:txBody>
      </p:sp>
      <p:sp>
        <p:nvSpPr>
          <p:cNvPr id="389" name="Google Shape;389;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93" name="Shape 393"/>
        <p:cNvGrpSpPr/>
        <p:nvPr/>
      </p:nvGrpSpPr>
      <p:grpSpPr>
        <a:xfrm>
          <a:off x="0" y="0"/>
          <a:ext cx="0" cy="0"/>
          <a:chOff x="0" y="0"/>
          <a:chExt cx="0" cy="0"/>
        </a:xfrm>
      </p:grpSpPr>
      <p:sp>
        <p:nvSpPr>
          <p:cNvPr id="394" name="Google Shape;394;p42"/>
          <p:cNvSpPr txBox="1"/>
          <p:nvPr/>
        </p:nvSpPr>
        <p:spPr>
          <a:xfrm>
            <a:off x="226650" y="275922"/>
            <a:ext cx="6515100" cy="662700"/>
          </a:xfrm>
          <a:prstGeom prst="rect">
            <a:avLst/>
          </a:prstGeom>
          <a:noFill/>
          <a:ln>
            <a:noFill/>
          </a:ln>
        </p:spPr>
        <p:txBody>
          <a:bodyPr anchorCtr="0" anchor="t" bIns="0" lIns="0" spcFirstLastPara="1" rIns="0" wrap="square" tIns="0">
            <a:noAutofit/>
          </a:bodyPr>
          <a:lstStyle/>
          <a:p>
            <a:pPr indent="0" lvl="0" marL="0" rtl="0" algn="l">
              <a:lnSpc>
                <a:spcPct val="138000"/>
              </a:lnSpc>
              <a:spcBef>
                <a:spcPts val="0"/>
              </a:spcBef>
              <a:spcAft>
                <a:spcPts val="0"/>
              </a:spcAft>
              <a:buClr>
                <a:schemeClr val="dk1"/>
              </a:buClr>
              <a:buSzPts val="1100"/>
              <a:buFont typeface="Arial"/>
              <a:buNone/>
            </a:pPr>
            <a:r>
              <a:rPr b="1" lang="en" sz="2300">
                <a:solidFill>
                  <a:schemeClr val="dk1"/>
                </a:solidFill>
                <a:latin typeface="Roboto"/>
                <a:ea typeface="Roboto"/>
                <a:cs typeface="Roboto"/>
                <a:sym typeface="Roboto"/>
              </a:rPr>
              <a:t>Authentifizierung und Identitätsauflösung</a:t>
            </a:r>
            <a:endParaRPr b="1" sz="23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rgbClr val="1A1A2E"/>
              </a:buClr>
              <a:buSzPts val="2000"/>
              <a:buFont typeface="Cambria"/>
              <a:buNone/>
            </a:pPr>
            <a:r>
              <a:t/>
            </a:r>
            <a:endParaRPr b="1" sz="2700">
              <a:solidFill>
                <a:srgbClr val="1A1A2E"/>
              </a:solidFill>
            </a:endParaRPr>
          </a:p>
        </p:txBody>
      </p:sp>
      <p:pic>
        <p:nvPicPr>
          <p:cNvPr id="395" name="Google Shape;395;p42" title="KontextLR (1).png"/>
          <p:cNvPicPr preferRelativeResize="0"/>
          <p:nvPr/>
        </p:nvPicPr>
        <p:blipFill>
          <a:blip r:embed="rId3">
            <a:alphaModFix/>
          </a:blip>
          <a:stretch>
            <a:fillRect/>
          </a:stretch>
        </p:blipFill>
        <p:spPr>
          <a:xfrm>
            <a:off x="-218225" y="1404325"/>
            <a:ext cx="9580452" cy="3082776"/>
          </a:xfrm>
          <a:prstGeom prst="rect">
            <a:avLst/>
          </a:prstGeom>
          <a:noFill/>
          <a:ln>
            <a:noFill/>
          </a:ln>
        </p:spPr>
      </p:pic>
      <p:sp>
        <p:nvSpPr>
          <p:cNvPr id="396" name="Google Shape;396;p42"/>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Daniel Brecht</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00" name="Shape 400"/>
        <p:cNvGrpSpPr/>
        <p:nvPr/>
      </p:nvGrpSpPr>
      <p:grpSpPr>
        <a:xfrm>
          <a:off x="0" y="0"/>
          <a:ext cx="0" cy="0"/>
          <a:chOff x="0" y="0"/>
          <a:chExt cx="0" cy="0"/>
        </a:xfrm>
      </p:grpSpPr>
      <p:sp>
        <p:nvSpPr>
          <p:cNvPr id="401" name="Google Shape;401;p43"/>
          <p:cNvSpPr txBox="1"/>
          <p:nvPr/>
        </p:nvSpPr>
        <p:spPr>
          <a:xfrm>
            <a:off x="226650" y="275922"/>
            <a:ext cx="6515100" cy="66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2300">
                <a:solidFill>
                  <a:schemeClr val="dk1"/>
                </a:solidFill>
              </a:rPr>
              <a:t>Aufbau und Deployment-Pfad</a:t>
            </a:r>
            <a:endParaRPr b="1" sz="2300">
              <a:solidFill>
                <a:schemeClr val="dk1"/>
              </a:solidFill>
            </a:endParaRPr>
          </a:p>
          <a:p>
            <a:pPr indent="0" lvl="0" marL="0" rtl="0" algn="l">
              <a:spcBef>
                <a:spcPts val="0"/>
              </a:spcBef>
              <a:spcAft>
                <a:spcPts val="0"/>
              </a:spcAft>
              <a:buClr>
                <a:srgbClr val="1A1A2E"/>
              </a:buClr>
              <a:buSzPts val="2000"/>
              <a:buFont typeface="Cambria"/>
              <a:buNone/>
            </a:pPr>
            <a:r>
              <a:t/>
            </a:r>
            <a:endParaRPr b="1" sz="2700">
              <a:solidFill>
                <a:srgbClr val="1A1A2E"/>
              </a:solidFill>
            </a:endParaRPr>
          </a:p>
        </p:txBody>
      </p:sp>
      <p:sp>
        <p:nvSpPr>
          <p:cNvPr id="402" name="Google Shape;402;p43"/>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Daniel Brecht</a:t>
            </a:r>
            <a:endParaRPr sz="1100"/>
          </a:p>
        </p:txBody>
      </p:sp>
      <p:pic>
        <p:nvPicPr>
          <p:cNvPr id="403" name="Google Shape;403;p43" title="ContainerLR (1).png"/>
          <p:cNvPicPr preferRelativeResize="0"/>
          <p:nvPr/>
        </p:nvPicPr>
        <p:blipFill>
          <a:blip r:embed="rId3">
            <a:alphaModFix/>
          </a:blip>
          <a:stretch>
            <a:fillRect/>
          </a:stretch>
        </p:blipFill>
        <p:spPr>
          <a:xfrm>
            <a:off x="0" y="1506888"/>
            <a:ext cx="9144003" cy="212971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07" name="Shape 407"/>
        <p:cNvGrpSpPr/>
        <p:nvPr/>
      </p:nvGrpSpPr>
      <p:grpSpPr>
        <a:xfrm>
          <a:off x="0" y="0"/>
          <a:ext cx="0" cy="0"/>
          <a:chOff x="0" y="0"/>
          <a:chExt cx="0" cy="0"/>
        </a:xfrm>
      </p:grpSpPr>
      <p:sp>
        <p:nvSpPr>
          <p:cNvPr id="408" name="Google Shape;408;p44"/>
          <p:cNvSpPr/>
          <p:nvPr/>
        </p:nvSpPr>
        <p:spPr>
          <a:xfrm>
            <a:off x="457150" y="891347"/>
            <a:ext cx="7909800" cy="37719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09" name="Google Shape;409;p44"/>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Student</a:t>
            </a:r>
            <a:endParaRPr sz="2000">
              <a:solidFill>
                <a:schemeClr val="dk1"/>
              </a:solidFill>
            </a:endParaRPr>
          </a:p>
        </p:txBody>
      </p:sp>
      <p:sp>
        <p:nvSpPr>
          <p:cNvPr id="410" name="Google Shape;410;p44"/>
          <p:cNvSpPr txBox="1"/>
          <p:nvPr/>
        </p:nvSpPr>
        <p:spPr>
          <a:xfrm>
            <a:off x="603856" y="1010075"/>
            <a:ext cx="7391100" cy="2925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1900">
                <a:solidFill>
                  <a:schemeClr val="dk1"/>
                </a:solidFill>
                <a:latin typeface="Inter"/>
                <a:ea typeface="Inter"/>
                <a:cs typeface="Inter"/>
                <a:sym typeface="Inter"/>
              </a:rPr>
              <a:t>Statusanzeige für Studierenden</a:t>
            </a:r>
            <a:endParaRPr b="1" sz="1900">
              <a:solidFill>
                <a:schemeClr val="dk1"/>
              </a:solidFill>
              <a:latin typeface="Inter"/>
              <a:ea typeface="Inter"/>
              <a:cs typeface="Inter"/>
              <a:sym typeface="Inter"/>
            </a:endParaRPr>
          </a:p>
        </p:txBody>
      </p:sp>
      <p:sp>
        <p:nvSpPr>
          <p:cNvPr id="411" name="Google Shape;411;p44"/>
          <p:cNvSpPr txBox="1"/>
          <p:nvPr/>
        </p:nvSpPr>
        <p:spPr>
          <a:xfrm>
            <a:off x="650275" y="30288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b="1" sz="2000">
              <a:solidFill>
                <a:schemeClr val="dk1"/>
              </a:solidFill>
              <a:latin typeface="Inter"/>
              <a:ea typeface="Inter"/>
              <a:cs typeface="Inter"/>
              <a:sym typeface="Inter"/>
            </a:endParaRPr>
          </a:p>
        </p:txBody>
      </p:sp>
      <p:sp>
        <p:nvSpPr>
          <p:cNvPr id="412" name="Google Shape;41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3" name="Google Shape;413;p44"/>
          <p:cNvSpPr txBox="1"/>
          <p:nvPr/>
        </p:nvSpPr>
        <p:spPr>
          <a:xfrm>
            <a:off x="603850" y="1384625"/>
            <a:ext cx="7723500" cy="3140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2000">
                <a:solidFill>
                  <a:srgbClr val="1F1F1F"/>
                </a:solidFill>
                <a:latin typeface="Inter"/>
                <a:ea typeface="Inter"/>
                <a:cs typeface="Inter"/>
                <a:sym typeface="Inter"/>
              </a:rPr>
              <a:t>Story:</a:t>
            </a:r>
            <a:r>
              <a:rPr lang="en" sz="2000">
                <a:solidFill>
                  <a:srgbClr val="1F1F1F"/>
                </a:solidFill>
                <a:latin typeface="Inter"/>
                <a:ea typeface="Inter"/>
                <a:cs typeface="Inter"/>
                <a:sym typeface="Inter"/>
              </a:rPr>
              <a:t> Als Studierender möchte ich über den Status meiner angeforderten Arbeitsumgebung informiert werden, um genau zu wissen, wann ich mit der Bearbeitung meiner Aufgaben beginnen kann. </a:t>
            </a:r>
            <a:endParaRPr sz="2000">
              <a:solidFill>
                <a:srgbClr val="1F1F1F"/>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b="1" sz="2000">
              <a:solidFill>
                <a:srgbClr val="1F1F1F"/>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rPr b="1" lang="en" sz="2000">
                <a:solidFill>
                  <a:srgbClr val="1F1F1F"/>
                </a:solidFill>
                <a:latin typeface="Inter"/>
                <a:ea typeface="Inter"/>
                <a:cs typeface="Inter"/>
                <a:sym typeface="Inter"/>
              </a:rPr>
              <a:t>Akzeptanzkriterien:</a:t>
            </a:r>
            <a:endParaRPr b="1" sz="2000">
              <a:solidFill>
                <a:srgbClr val="1F1F1F"/>
              </a:solidFill>
              <a:latin typeface="Inter"/>
              <a:ea typeface="Inter"/>
              <a:cs typeface="Inter"/>
              <a:sym typeface="Inter"/>
            </a:endParaRPr>
          </a:p>
          <a:p>
            <a:pPr indent="-355600" lvl="0" marL="457200" rtl="0" algn="l">
              <a:lnSpc>
                <a:spcPct val="115000"/>
              </a:lnSpc>
              <a:spcBef>
                <a:spcPts val="0"/>
              </a:spcBef>
              <a:spcAft>
                <a:spcPts val="0"/>
              </a:spcAft>
              <a:buClr>
                <a:srgbClr val="1F1F1F"/>
              </a:buClr>
              <a:buSzPts val="2000"/>
              <a:buFont typeface="Inter"/>
              <a:buChar char="●"/>
            </a:pPr>
            <a:r>
              <a:rPr lang="en" sz="2000">
                <a:solidFill>
                  <a:srgbClr val="1F1F1F"/>
                </a:solidFill>
                <a:latin typeface="Inter"/>
                <a:ea typeface="Inter"/>
                <a:cs typeface="Inter"/>
                <a:sym typeface="Inter"/>
              </a:rPr>
              <a:t>Eine Status-Anzeige (z.B. "Wird vorbereitet...", "Bereit") ändert sich dynamisch nach dem Start-Klick.</a:t>
            </a:r>
            <a:endParaRPr sz="20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t/>
            </a:r>
            <a:endParaRPr b="1" sz="2000">
              <a:solidFill>
                <a:srgbClr val="1F1F1F"/>
              </a:solidFill>
              <a:latin typeface="Inter"/>
              <a:ea typeface="Inter"/>
              <a:cs typeface="Inter"/>
              <a:sym typeface="Inter"/>
            </a:endParaRPr>
          </a:p>
        </p:txBody>
      </p:sp>
      <p:pic>
        <p:nvPicPr>
          <p:cNvPr id="414" name="Google Shape;414;p44"/>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415" name="Google Shape;415;p44"/>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Nhi Duong</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19" name="Shape 419"/>
        <p:cNvGrpSpPr/>
        <p:nvPr/>
      </p:nvGrpSpPr>
      <p:grpSpPr>
        <a:xfrm>
          <a:off x="0" y="0"/>
          <a:ext cx="0" cy="0"/>
          <a:chOff x="0" y="0"/>
          <a:chExt cx="0" cy="0"/>
        </a:xfrm>
      </p:grpSpPr>
      <p:sp>
        <p:nvSpPr>
          <p:cNvPr id="420" name="Google Shape;420;p45"/>
          <p:cNvSpPr/>
          <p:nvPr/>
        </p:nvSpPr>
        <p:spPr>
          <a:xfrm>
            <a:off x="457150" y="891347"/>
            <a:ext cx="7909800" cy="37719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21" name="Google Shape;421;p45"/>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Allgemeiner Dozent</a:t>
            </a:r>
            <a:endParaRPr sz="2000">
              <a:solidFill>
                <a:schemeClr val="dk1"/>
              </a:solidFill>
            </a:endParaRPr>
          </a:p>
        </p:txBody>
      </p:sp>
      <p:sp>
        <p:nvSpPr>
          <p:cNvPr id="422" name="Google Shape;422;p45"/>
          <p:cNvSpPr txBox="1"/>
          <p:nvPr/>
        </p:nvSpPr>
        <p:spPr>
          <a:xfrm>
            <a:off x="603856" y="1010075"/>
            <a:ext cx="7391100" cy="2925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1900">
                <a:solidFill>
                  <a:schemeClr val="dk1"/>
                </a:solidFill>
                <a:latin typeface="Inter"/>
                <a:ea typeface="Inter"/>
                <a:cs typeface="Inter"/>
                <a:sym typeface="Inter"/>
              </a:rPr>
              <a:t>Moodle Integration</a:t>
            </a:r>
            <a:endParaRPr b="1" sz="1900">
              <a:solidFill>
                <a:schemeClr val="dk1"/>
              </a:solidFill>
              <a:latin typeface="Inter"/>
              <a:ea typeface="Inter"/>
              <a:cs typeface="Inter"/>
              <a:sym typeface="Inter"/>
            </a:endParaRPr>
          </a:p>
        </p:txBody>
      </p:sp>
      <p:sp>
        <p:nvSpPr>
          <p:cNvPr id="423" name="Google Shape;423;p45"/>
          <p:cNvSpPr txBox="1"/>
          <p:nvPr/>
        </p:nvSpPr>
        <p:spPr>
          <a:xfrm>
            <a:off x="650275" y="30288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b="1" sz="2000">
              <a:solidFill>
                <a:schemeClr val="dk1"/>
              </a:solidFill>
              <a:latin typeface="Inter"/>
              <a:ea typeface="Inter"/>
              <a:cs typeface="Inter"/>
              <a:sym typeface="Inter"/>
            </a:endParaRPr>
          </a:p>
        </p:txBody>
      </p:sp>
      <p:sp>
        <p:nvSpPr>
          <p:cNvPr id="424" name="Google Shape;42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45"/>
          <p:cNvSpPr txBox="1"/>
          <p:nvPr/>
        </p:nvSpPr>
        <p:spPr>
          <a:xfrm>
            <a:off x="603850" y="1384625"/>
            <a:ext cx="7723500" cy="2925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2100">
                <a:solidFill>
                  <a:srgbClr val="1F1F1F"/>
                </a:solidFill>
                <a:latin typeface="Inter"/>
                <a:ea typeface="Inter"/>
                <a:cs typeface="Inter"/>
                <a:sym typeface="Inter"/>
              </a:rPr>
              <a:t>Story:</a:t>
            </a:r>
            <a:r>
              <a:rPr lang="en" sz="2100">
                <a:solidFill>
                  <a:srgbClr val="1F1F1F"/>
                </a:solidFill>
                <a:latin typeface="Inter"/>
                <a:ea typeface="Inter"/>
                <a:cs typeface="Inter"/>
                <a:sym typeface="Inter"/>
              </a:rPr>
              <a:t> Als Dozent möchte ich den AppStore direkt aus Moodle heraus ohne erneute Anmeldung nutzen können, um nahtlos zwischen den Systemen wechseln zu können. </a:t>
            </a:r>
            <a:endParaRPr sz="2100">
              <a:solidFill>
                <a:srgbClr val="1F1F1F"/>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b="1" sz="2100">
              <a:solidFill>
                <a:srgbClr val="1F1F1F"/>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rPr b="1" lang="en" sz="2100">
                <a:solidFill>
                  <a:srgbClr val="1F1F1F"/>
                </a:solidFill>
                <a:latin typeface="Inter"/>
                <a:ea typeface="Inter"/>
                <a:cs typeface="Inter"/>
                <a:sym typeface="Inter"/>
              </a:rPr>
              <a:t>Akzeptanzkriterien:</a:t>
            </a:r>
            <a:endParaRPr b="1" sz="2100">
              <a:solidFill>
                <a:srgbClr val="1F1F1F"/>
              </a:solidFill>
              <a:latin typeface="Inter"/>
              <a:ea typeface="Inter"/>
              <a:cs typeface="Inter"/>
              <a:sym typeface="Inter"/>
            </a:endParaRPr>
          </a:p>
          <a:p>
            <a:pPr indent="-361950" lvl="0" marL="457200" rtl="0" algn="l">
              <a:lnSpc>
                <a:spcPct val="115000"/>
              </a:lnSpc>
              <a:spcBef>
                <a:spcPts val="0"/>
              </a:spcBef>
              <a:spcAft>
                <a:spcPts val="0"/>
              </a:spcAft>
              <a:buClr>
                <a:srgbClr val="1F1F1F"/>
              </a:buClr>
              <a:buSzPts val="2100"/>
              <a:buFont typeface="Inter"/>
              <a:buChar char="●"/>
            </a:pPr>
            <a:r>
              <a:rPr lang="en" sz="2100">
                <a:solidFill>
                  <a:srgbClr val="1F1F1F"/>
                </a:solidFill>
                <a:latin typeface="Inter"/>
                <a:ea typeface="Inter"/>
                <a:cs typeface="Inter"/>
                <a:sym typeface="Inter"/>
              </a:rPr>
              <a:t>Eine Single-Sign-On-Integration mit dem zentralen Hochschul-Identity-Provider ist implementiert (geplant OIDC).</a:t>
            </a:r>
            <a:endParaRPr b="1" sz="2100">
              <a:solidFill>
                <a:srgbClr val="1F1F1F"/>
              </a:solidFill>
              <a:latin typeface="Inter"/>
              <a:ea typeface="Inter"/>
              <a:cs typeface="Inter"/>
              <a:sym typeface="Inter"/>
            </a:endParaRPr>
          </a:p>
        </p:txBody>
      </p:sp>
      <p:pic>
        <p:nvPicPr>
          <p:cNvPr id="426" name="Google Shape;426;p45"/>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427" name="Google Shape;427;p45"/>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Nhi Duong</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31" name="Shape 431"/>
        <p:cNvGrpSpPr/>
        <p:nvPr/>
      </p:nvGrpSpPr>
      <p:grpSpPr>
        <a:xfrm>
          <a:off x="0" y="0"/>
          <a:ext cx="0" cy="0"/>
          <a:chOff x="0" y="0"/>
          <a:chExt cx="0" cy="0"/>
        </a:xfrm>
      </p:grpSpPr>
      <p:sp>
        <p:nvSpPr>
          <p:cNvPr id="432" name="Google Shape;432;p46"/>
          <p:cNvSpPr/>
          <p:nvPr/>
        </p:nvSpPr>
        <p:spPr>
          <a:xfrm>
            <a:off x="457150" y="891347"/>
            <a:ext cx="7909800" cy="37719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33" name="Google Shape;433;p46"/>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Allgemeiner Dozent</a:t>
            </a:r>
            <a:endParaRPr sz="2000">
              <a:solidFill>
                <a:schemeClr val="dk1"/>
              </a:solidFill>
            </a:endParaRPr>
          </a:p>
        </p:txBody>
      </p:sp>
      <p:sp>
        <p:nvSpPr>
          <p:cNvPr id="434" name="Google Shape;434;p46"/>
          <p:cNvSpPr txBox="1"/>
          <p:nvPr/>
        </p:nvSpPr>
        <p:spPr>
          <a:xfrm>
            <a:off x="603856" y="1010075"/>
            <a:ext cx="7391100" cy="2925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1900">
                <a:solidFill>
                  <a:schemeClr val="dk1"/>
                </a:solidFill>
                <a:latin typeface="Inter"/>
                <a:ea typeface="Inter"/>
                <a:cs typeface="Inter"/>
                <a:sym typeface="Inter"/>
              </a:rPr>
              <a:t>Rollenverteilung</a:t>
            </a:r>
            <a:endParaRPr b="1" sz="1900">
              <a:solidFill>
                <a:schemeClr val="dk1"/>
              </a:solidFill>
              <a:latin typeface="Inter"/>
              <a:ea typeface="Inter"/>
              <a:cs typeface="Inter"/>
              <a:sym typeface="Inter"/>
            </a:endParaRPr>
          </a:p>
        </p:txBody>
      </p:sp>
      <p:sp>
        <p:nvSpPr>
          <p:cNvPr id="435" name="Google Shape;435;p46"/>
          <p:cNvSpPr txBox="1"/>
          <p:nvPr/>
        </p:nvSpPr>
        <p:spPr>
          <a:xfrm>
            <a:off x="650275" y="30288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b="1" sz="2000">
              <a:solidFill>
                <a:schemeClr val="dk1"/>
              </a:solidFill>
              <a:latin typeface="Inter"/>
              <a:ea typeface="Inter"/>
              <a:cs typeface="Inter"/>
              <a:sym typeface="Inter"/>
            </a:endParaRPr>
          </a:p>
        </p:txBody>
      </p:sp>
      <p:sp>
        <p:nvSpPr>
          <p:cNvPr id="436" name="Google Shape;436;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7" name="Google Shape;437;p46"/>
          <p:cNvSpPr txBox="1"/>
          <p:nvPr/>
        </p:nvSpPr>
        <p:spPr>
          <a:xfrm>
            <a:off x="603850" y="1384625"/>
            <a:ext cx="7723500" cy="2982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1900">
                <a:solidFill>
                  <a:srgbClr val="1F1F1F"/>
                </a:solidFill>
                <a:latin typeface="Inter"/>
                <a:ea typeface="Inter"/>
                <a:cs typeface="Inter"/>
                <a:sym typeface="Inter"/>
              </a:rPr>
              <a:t>Story:</a:t>
            </a:r>
            <a:r>
              <a:rPr lang="en" sz="1900">
                <a:solidFill>
                  <a:srgbClr val="1F1F1F"/>
                </a:solidFill>
                <a:latin typeface="Inter"/>
                <a:ea typeface="Inter"/>
                <a:cs typeface="Inter"/>
                <a:sym typeface="Inter"/>
              </a:rPr>
              <a:t> Als Administrator möchte ich durch Nutzerrollen steuern, wer Ressourcen anlegen darf, um unkontrollierten Ressourcenmissbrauch zu verhindern. </a:t>
            </a:r>
            <a:endParaRPr sz="19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t/>
            </a:r>
            <a:endParaRPr b="1" sz="19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rPr b="1" lang="en" sz="1900">
                <a:solidFill>
                  <a:srgbClr val="1F1F1F"/>
                </a:solidFill>
                <a:latin typeface="Inter"/>
                <a:ea typeface="Inter"/>
                <a:cs typeface="Inter"/>
                <a:sym typeface="Inter"/>
              </a:rPr>
              <a:t>Akzeptanzkriterien:</a:t>
            </a:r>
            <a:endParaRPr sz="1900">
              <a:solidFill>
                <a:srgbClr val="1F1F1F"/>
              </a:solidFill>
              <a:latin typeface="Inter"/>
              <a:ea typeface="Inter"/>
              <a:cs typeface="Inter"/>
              <a:sym typeface="Inter"/>
            </a:endParaRPr>
          </a:p>
          <a:p>
            <a:pPr indent="-349250" lvl="0" marL="457200" rtl="0" algn="l">
              <a:lnSpc>
                <a:spcPct val="115000"/>
              </a:lnSpc>
              <a:spcBef>
                <a:spcPts val="0"/>
              </a:spcBef>
              <a:spcAft>
                <a:spcPts val="0"/>
              </a:spcAft>
              <a:buClr>
                <a:srgbClr val="1F1F1F"/>
              </a:buClr>
              <a:buSzPts val="1900"/>
              <a:buFont typeface="Inter"/>
              <a:buChar char="●"/>
            </a:pPr>
            <a:r>
              <a:rPr lang="en" sz="1900">
                <a:solidFill>
                  <a:srgbClr val="1F1F1F"/>
                </a:solidFill>
                <a:latin typeface="Inter"/>
                <a:ea typeface="Inter"/>
                <a:cs typeface="Inter"/>
                <a:sym typeface="Inter"/>
              </a:rPr>
              <a:t>Das System unterscheidet strikt zwischen Dozenten- und Studenten-Accounts.</a:t>
            </a:r>
            <a:endParaRPr sz="1900">
              <a:solidFill>
                <a:srgbClr val="1F1F1F"/>
              </a:solidFill>
              <a:latin typeface="Inter"/>
              <a:ea typeface="Inter"/>
              <a:cs typeface="Inter"/>
              <a:sym typeface="Inter"/>
            </a:endParaRPr>
          </a:p>
          <a:p>
            <a:pPr indent="-349250" lvl="0" marL="457200" rtl="0" algn="l">
              <a:lnSpc>
                <a:spcPct val="115000"/>
              </a:lnSpc>
              <a:spcBef>
                <a:spcPts val="0"/>
              </a:spcBef>
              <a:spcAft>
                <a:spcPts val="0"/>
              </a:spcAft>
              <a:buClr>
                <a:srgbClr val="1F1F1F"/>
              </a:buClr>
              <a:buSzPts val="1900"/>
              <a:buFont typeface="Inter"/>
              <a:buChar char="●"/>
            </a:pPr>
            <a:r>
              <a:rPr lang="en" sz="1900">
                <a:solidFill>
                  <a:srgbClr val="1F1F1F"/>
                </a:solidFill>
                <a:latin typeface="Inter"/>
                <a:ea typeface="Inter"/>
                <a:cs typeface="Inter"/>
                <a:sym typeface="Inter"/>
              </a:rPr>
              <a:t>Studierende haben keine Berechtigung und keine sichtbaren Buttons, um eigene VMs aus dem Katalog zu generieren.</a:t>
            </a:r>
            <a:endParaRPr b="1" sz="1900">
              <a:solidFill>
                <a:srgbClr val="1F1F1F"/>
              </a:solidFill>
              <a:latin typeface="Inter"/>
              <a:ea typeface="Inter"/>
              <a:cs typeface="Inter"/>
              <a:sym typeface="Inter"/>
            </a:endParaRPr>
          </a:p>
        </p:txBody>
      </p:sp>
      <p:pic>
        <p:nvPicPr>
          <p:cNvPr id="438" name="Google Shape;438;p46"/>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439" name="Google Shape;439;p46"/>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Nhi Duong</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43" name="Shape 443"/>
        <p:cNvGrpSpPr/>
        <p:nvPr/>
      </p:nvGrpSpPr>
      <p:grpSpPr>
        <a:xfrm>
          <a:off x="0" y="0"/>
          <a:ext cx="0" cy="0"/>
          <a:chOff x="0" y="0"/>
          <a:chExt cx="0" cy="0"/>
        </a:xfrm>
      </p:grpSpPr>
      <p:sp>
        <p:nvSpPr>
          <p:cNvPr id="444" name="Google Shape;444;p47"/>
          <p:cNvSpPr/>
          <p:nvPr/>
        </p:nvSpPr>
        <p:spPr>
          <a:xfrm>
            <a:off x="457150" y="891347"/>
            <a:ext cx="7909800" cy="37719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45" name="Google Shape;445;p47"/>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Allgemeiner Dozent</a:t>
            </a:r>
            <a:endParaRPr sz="2000">
              <a:solidFill>
                <a:schemeClr val="dk1"/>
              </a:solidFill>
            </a:endParaRPr>
          </a:p>
        </p:txBody>
      </p:sp>
      <p:sp>
        <p:nvSpPr>
          <p:cNvPr id="446" name="Google Shape;446;p47"/>
          <p:cNvSpPr txBox="1"/>
          <p:nvPr/>
        </p:nvSpPr>
        <p:spPr>
          <a:xfrm>
            <a:off x="603856" y="1010075"/>
            <a:ext cx="7391100" cy="2925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1900">
                <a:solidFill>
                  <a:schemeClr val="dk1"/>
                </a:solidFill>
                <a:latin typeface="Inter"/>
                <a:ea typeface="Inter"/>
                <a:cs typeface="Inter"/>
                <a:sym typeface="Inter"/>
              </a:rPr>
              <a:t>Konfigurierung Templates</a:t>
            </a:r>
            <a:endParaRPr b="1" sz="1900">
              <a:solidFill>
                <a:schemeClr val="dk1"/>
              </a:solidFill>
              <a:latin typeface="Inter"/>
              <a:ea typeface="Inter"/>
              <a:cs typeface="Inter"/>
              <a:sym typeface="Inter"/>
            </a:endParaRPr>
          </a:p>
        </p:txBody>
      </p:sp>
      <p:sp>
        <p:nvSpPr>
          <p:cNvPr id="447" name="Google Shape;447;p47"/>
          <p:cNvSpPr txBox="1"/>
          <p:nvPr/>
        </p:nvSpPr>
        <p:spPr>
          <a:xfrm>
            <a:off x="650275" y="30288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b="1" sz="2000">
              <a:solidFill>
                <a:schemeClr val="dk1"/>
              </a:solidFill>
              <a:latin typeface="Inter"/>
              <a:ea typeface="Inter"/>
              <a:cs typeface="Inter"/>
              <a:sym typeface="Inter"/>
            </a:endParaRPr>
          </a:p>
        </p:txBody>
      </p:sp>
      <p:sp>
        <p:nvSpPr>
          <p:cNvPr id="448" name="Google Shape;448;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9" name="Google Shape;449;p47"/>
          <p:cNvSpPr txBox="1"/>
          <p:nvPr/>
        </p:nvSpPr>
        <p:spPr>
          <a:xfrm>
            <a:off x="603850" y="1384625"/>
            <a:ext cx="7723500" cy="327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700">
                <a:solidFill>
                  <a:srgbClr val="1F1F1F"/>
                </a:solidFill>
                <a:latin typeface="Inter"/>
                <a:ea typeface="Inter"/>
                <a:cs typeface="Inter"/>
                <a:sym typeface="Inter"/>
              </a:rPr>
              <a:t>Story:</a:t>
            </a:r>
            <a:r>
              <a:rPr lang="en" sz="1700">
                <a:solidFill>
                  <a:srgbClr val="1F1F1F"/>
                </a:solidFill>
                <a:latin typeface="Inter"/>
                <a:ea typeface="Inter"/>
                <a:cs typeface="Inter"/>
                <a:sym typeface="Inter"/>
              </a:rPr>
              <a:t> Als Dozent möchte ich bestehende Standard Templates anpassen und diese optional als "privat" markieren, um spezifische </a:t>
            </a:r>
            <a:r>
              <a:rPr lang="en" sz="1700">
                <a:solidFill>
                  <a:srgbClr val="1F1F1F"/>
                </a:solidFill>
                <a:latin typeface="Inter"/>
                <a:ea typeface="Inter"/>
                <a:cs typeface="Inter"/>
                <a:sym typeface="Inter"/>
              </a:rPr>
              <a:t>Lernumgebungen</a:t>
            </a:r>
            <a:r>
              <a:rPr lang="en" sz="1700">
                <a:solidFill>
                  <a:srgbClr val="1F1F1F"/>
                </a:solidFill>
                <a:latin typeface="Inter"/>
                <a:ea typeface="Inter"/>
                <a:cs typeface="Inter"/>
                <a:sym typeface="Inter"/>
              </a:rPr>
              <a:t> exakt für meinen Kurs zu erstellen, ohne den öffentlichen Katalog zu überladen. </a:t>
            </a:r>
            <a:endParaRPr sz="1700">
              <a:solidFill>
                <a:srgbClr val="1F1F1F"/>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b="1" sz="1700">
              <a:solidFill>
                <a:srgbClr val="1F1F1F"/>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rPr b="1" lang="en" sz="1700">
                <a:solidFill>
                  <a:srgbClr val="1F1F1F"/>
                </a:solidFill>
                <a:latin typeface="Inter"/>
                <a:ea typeface="Inter"/>
                <a:cs typeface="Inter"/>
                <a:sym typeface="Inter"/>
              </a:rPr>
              <a:t>Akzeptanzkriterien:</a:t>
            </a:r>
            <a:endParaRPr sz="1700">
              <a:solidFill>
                <a:srgbClr val="1F1F1F"/>
              </a:solidFill>
              <a:latin typeface="Inter"/>
              <a:ea typeface="Inter"/>
              <a:cs typeface="Inter"/>
              <a:sym typeface="Inter"/>
            </a:endParaRPr>
          </a:p>
          <a:p>
            <a:pPr indent="-336550" lvl="0" marL="457200" rtl="0" algn="l">
              <a:lnSpc>
                <a:spcPct val="115000"/>
              </a:lnSpc>
              <a:spcBef>
                <a:spcPts val="0"/>
              </a:spcBef>
              <a:spcAft>
                <a:spcPts val="0"/>
              </a:spcAft>
              <a:buClr>
                <a:srgbClr val="1F1F1F"/>
              </a:buClr>
              <a:buSzPts val="1700"/>
              <a:buFont typeface="Inter"/>
              <a:buChar char="●"/>
            </a:pPr>
            <a:r>
              <a:rPr lang="en" sz="1700">
                <a:solidFill>
                  <a:srgbClr val="1F1F1F"/>
                </a:solidFill>
                <a:latin typeface="Inter"/>
                <a:ea typeface="Inter"/>
                <a:cs typeface="Inter"/>
                <a:sym typeface="Inter"/>
              </a:rPr>
              <a:t>Vorhandene Templates können dupliziert und inhaltlich editiert werden.</a:t>
            </a:r>
            <a:endParaRPr sz="1700">
              <a:solidFill>
                <a:srgbClr val="1F1F1F"/>
              </a:solidFill>
              <a:latin typeface="Inter"/>
              <a:ea typeface="Inter"/>
              <a:cs typeface="Inter"/>
              <a:sym typeface="Inter"/>
            </a:endParaRPr>
          </a:p>
          <a:p>
            <a:pPr indent="-336550" lvl="0" marL="457200" rtl="0" algn="l">
              <a:lnSpc>
                <a:spcPct val="115000"/>
              </a:lnSpc>
              <a:spcBef>
                <a:spcPts val="0"/>
              </a:spcBef>
              <a:spcAft>
                <a:spcPts val="0"/>
              </a:spcAft>
              <a:buClr>
                <a:srgbClr val="1F1F1F"/>
              </a:buClr>
              <a:buSzPts val="1700"/>
              <a:buFont typeface="Inter"/>
              <a:buChar char="●"/>
            </a:pPr>
            <a:r>
              <a:rPr lang="en" sz="1700">
                <a:solidFill>
                  <a:srgbClr val="1F1F1F"/>
                </a:solidFill>
                <a:latin typeface="Inter"/>
                <a:ea typeface="Inter"/>
                <a:cs typeface="Inter"/>
                <a:sym typeface="Inter"/>
              </a:rPr>
              <a:t>Ein Sichtbarkeits-Toggle (Öffentlich/Privat) ist für </a:t>
            </a:r>
            <a:r>
              <a:rPr lang="en" sz="1700">
                <a:solidFill>
                  <a:srgbClr val="1F1F1F"/>
                </a:solidFill>
                <a:latin typeface="Inter"/>
                <a:ea typeface="Inter"/>
                <a:cs typeface="Inter"/>
                <a:sym typeface="Inter"/>
              </a:rPr>
              <a:t>selbst erstellte</a:t>
            </a:r>
            <a:r>
              <a:rPr lang="en" sz="1700">
                <a:solidFill>
                  <a:srgbClr val="1F1F1F"/>
                </a:solidFill>
                <a:latin typeface="Inter"/>
                <a:ea typeface="Inter"/>
                <a:cs typeface="Inter"/>
                <a:sym typeface="Inter"/>
              </a:rPr>
              <a:t> Templates vorhanden.</a:t>
            </a:r>
            <a:endParaRPr sz="1700">
              <a:solidFill>
                <a:srgbClr val="1F1F1F"/>
              </a:solidFill>
              <a:latin typeface="Inter"/>
              <a:ea typeface="Inter"/>
              <a:cs typeface="Inter"/>
              <a:sym typeface="Inter"/>
            </a:endParaRPr>
          </a:p>
          <a:p>
            <a:pPr indent="-336550" lvl="0" marL="457200" rtl="0" algn="l">
              <a:lnSpc>
                <a:spcPct val="115000"/>
              </a:lnSpc>
              <a:spcBef>
                <a:spcPts val="0"/>
              </a:spcBef>
              <a:spcAft>
                <a:spcPts val="0"/>
              </a:spcAft>
              <a:buClr>
                <a:srgbClr val="1F1F1F"/>
              </a:buClr>
              <a:buSzPts val="1700"/>
              <a:buFont typeface="Inter"/>
              <a:buChar char="●"/>
            </a:pPr>
            <a:r>
              <a:rPr lang="en" sz="1700">
                <a:solidFill>
                  <a:srgbClr val="1F1F1F"/>
                </a:solidFill>
                <a:latin typeface="Inter"/>
                <a:ea typeface="Inter"/>
                <a:cs typeface="Inter"/>
                <a:sym typeface="Inter"/>
              </a:rPr>
              <a:t>Ein Bestätigungsscreen zeigt eine Vorschau der geänderten Parameter vor dem endgültigen Speichern an.</a:t>
            </a:r>
            <a:endParaRPr b="1" sz="1700">
              <a:solidFill>
                <a:srgbClr val="1F1F1F"/>
              </a:solidFill>
              <a:latin typeface="Inter"/>
              <a:ea typeface="Inter"/>
              <a:cs typeface="Inter"/>
              <a:sym typeface="Inter"/>
            </a:endParaRPr>
          </a:p>
        </p:txBody>
      </p:sp>
      <p:pic>
        <p:nvPicPr>
          <p:cNvPr id="450" name="Google Shape;450;p47"/>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451" name="Google Shape;451;p47"/>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Christina Schultz</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55" name="Shape 455"/>
        <p:cNvGrpSpPr/>
        <p:nvPr/>
      </p:nvGrpSpPr>
      <p:grpSpPr>
        <a:xfrm>
          <a:off x="0" y="0"/>
          <a:ext cx="0" cy="0"/>
          <a:chOff x="0" y="0"/>
          <a:chExt cx="0" cy="0"/>
        </a:xfrm>
      </p:grpSpPr>
      <p:sp>
        <p:nvSpPr>
          <p:cNvPr id="456" name="Google Shape;456;p48"/>
          <p:cNvSpPr/>
          <p:nvPr/>
        </p:nvSpPr>
        <p:spPr>
          <a:xfrm>
            <a:off x="457150" y="891347"/>
            <a:ext cx="7909800" cy="37719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57" name="Google Shape;457;p48"/>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Datenbanken Dozent</a:t>
            </a:r>
            <a:endParaRPr sz="2000">
              <a:solidFill>
                <a:schemeClr val="dk1"/>
              </a:solidFill>
            </a:endParaRPr>
          </a:p>
        </p:txBody>
      </p:sp>
      <p:sp>
        <p:nvSpPr>
          <p:cNvPr id="458" name="Google Shape;458;p48"/>
          <p:cNvSpPr txBox="1"/>
          <p:nvPr/>
        </p:nvSpPr>
        <p:spPr>
          <a:xfrm>
            <a:off x="603856" y="1010075"/>
            <a:ext cx="7391100" cy="7170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Clr>
                <a:schemeClr val="dk1"/>
              </a:buClr>
              <a:buFont typeface="Arial"/>
              <a:buNone/>
            </a:pPr>
            <a:r>
              <a:rPr b="1" lang="en" sz="1900">
                <a:solidFill>
                  <a:schemeClr val="dk1"/>
                </a:solidFill>
                <a:latin typeface="Inter"/>
                <a:ea typeface="Inter"/>
                <a:cs typeface="Inter"/>
                <a:sym typeface="Inter"/>
              </a:rPr>
              <a:t>Deployment vorkonfigurierter Datenbank-Server</a:t>
            </a:r>
            <a:endParaRPr b="1" sz="1900">
              <a:solidFill>
                <a:schemeClr val="dk1"/>
              </a:solidFill>
              <a:latin typeface="Inter"/>
              <a:ea typeface="Inter"/>
              <a:cs typeface="Inter"/>
              <a:sym typeface="Inter"/>
            </a:endParaRPr>
          </a:p>
          <a:p>
            <a:pPr indent="0" lvl="0" marL="0" marR="0" rtl="0" algn="l">
              <a:lnSpc>
                <a:spcPct val="139925"/>
              </a:lnSpc>
              <a:spcBef>
                <a:spcPts val="0"/>
              </a:spcBef>
              <a:spcAft>
                <a:spcPts val="0"/>
              </a:spcAft>
              <a:buNone/>
            </a:pPr>
            <a:r>
              <a:t/>
            </a:r>
            <a:endParaRPr b="1" sz="2000">
              <a:latin typeface="Inter"/>
              <a:ea typeface="Inter"/>
              <a:cs typeface="Inter"/>
              <a:sym typeface="Inter"/>
            </a:endParaRPr>
          </a:p>
        </p:txBody>
      </p:sp>
      <p:sp>
        <p:nvSpPr>
          <p:cNvPr id="459" name="Google Shape;459;p48"/>
          <p:cNvSpPr txBox="1"/>
          <p:nvPr/>
        </p:nvSpPr>
        <p:spPr>
          <a:xfrm>
            <a:off x="650275" y="30288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b="1" sz="2000">
              <a:solidFill>
                <a:schemeClr val="dk1"/>
              </a:solidFill>
              <a:latin typeface="Inter"/>
              <a:ea typeface="Inter"/>
              <a:cs typeface="Inter"/>
              <a:sym typeface="Inter"/>
            </a:endParaRPr>
          </a:p>
        </p:txBody>
      </p:sp>
      <p:sp>
        <p:nvSpPr>
          <p:cNvPr id="460" name="Google Shape;460;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1" name="Google Shape;461;p48"/>
          <p:cNvSpPr txBox="1"/>
          <p:nvPr/>
        </p:nvSpPr>
        <p:spPr>
          <a:xfrm>
            <a:off x="603850" y="1384625"/>
            <a:ext cx="7713900" cy="2982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900">
                <a:solidFill>
                  <a:srgbClr val="1F1F1F"/>
                </a:solidFill>
                <a:latin typeface="Inter"/>
                <a:ea typeface="Inter"/>
                <a:cs typeface="Inter"/>
                <a:sym typeface="Inter"/>
              </a:rPr>
              <a:t>Story:</a:t>
            </a:r>
            <a:r>
              <a:rPr lang="en" sz="1900">
                <a:solidFill>
                  <a:srgbClr val="1F1F1F"/>
                </a:solidFill>
                <a:latin typeface="Inter"/>
                <a:ea typeface="Inter"/>
                <a:cs typeface="Inter"/>
                <a:sym typeface="Inter"/>
              </a:rPr>
              <a:t> Als Datenbank Dozent möchte ich eine funktionale Datenbank inklusive grafischem Interface bereitstellen, um Anfängern einen visuellen und einfachen Einstieg in SQL zu ermöglichen. </a:t>
            </a:r>
            <a:endParaRPr sz="1900">
              <a:solidFill>
                <a:srgbClr val="1F1F1F"/>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b="1" sz="1900">
              <a:solidFill>
                <a:srgbClr val="1F1F1F"/>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rPr b="1" lang="en" sz="1900">
                <a:solidFill>
                  <a:srgbClr val="1F1F1F"/>
                </a:solidFill>
                <a:latin typeface="Inter"/>
                <a:ea typeface="Inter"/>
                <a:cs typeface="Inter"/>
                <a:sym typeface="Inter"/>
              </a:rPr>
              <a:t>Akzeptanzkriterien:</a:t>
            </a:r>
            <a:endParaRPr b="1" sz="1900">
              <a:solidFill>
                <a:srgbClr val="1F1F1F"/>
              </a:solidFill>
              <a:latin typeface="Inter"/>
              <a:ea typeface="Inter"/>
              <a:cs typeface="Inter"/>
              <a:sym typeface="Inter"/>
            </a:endParaRPr>
          </a:p>
          <a:p>
            <a:pPr indent="-349250" lvl="0" marL="457200" rtl="0" algn="l">
              <a:lnSpc>
                <a:spcPct val="115000"/>
              </a:lnSpc>
              <a:spcBef>
                <a:spcPts val="0"/>
              </a:spcBef>
              <a:spcAft>
                <a:spcPts val="0"/>
              </a:spcAft>
              <a:buClr>
                <a:srgbClr val="1F1F1F"/>
              </a:buClr>
              <a:buSzPts val="1900"/>
              <a:buFont typeface="Inter"/>
              <a:buChar char="●"/>
            </a:pPr>
            <a:r>
              <a:rPr lang="en" sz="1900">
                <a:solidFill>
                  <a:srgbClr val="1F1F1F"/>
                </a:solidFill>
                <a:latin typeface="Inter"/>
                <a:ea typeface="Inter"/>
                <a:cs typeface="Inter"/>
                <a:sym typeface="Inter"/>
              </a:rPr>
              <a:t>Der Datenbank Server läuft im Hintergrund.</a:t>
            </a:r>
            <a:endParaRPr sz="1900">
              <a:solidFill>
                <a:srgbClr val="1F1F1F"/>
              </a:solidFill>
              <a:latin typeface="Inter"/>
              <a:ea typeface="Inter"/>
              <a:cs typeface="Inter"/>
              <a:sym typeface="Inter"/>
            </a:endParaRPr>
          </a:p>
          <a:p>
            <a:pPr indent="-349250" lvl="0" marL="457200" rtl="0" algn="l">
              <a:lnSpc>
                <a:spcPct val="115000"/>
              </a:lnSpc>
              <a:spcBef>
                <a:spcPts val="0"/>
              </a:spcBef>
              <a:spcAft>
                <a:spcPts val="0"/>
              </a:spcAft>
              <a:buClr>
                <a:srgbClr val="1F1F1F"/>
              </a:buClr>
              <a:buSzPts val="1900"/>
              <a:buFont typeface="Inter"/>
              <a:buChar char="●"/>
            </a:pPr>
            <a:r>
              <a:rPr lang="en" sz="1900">
                <a:solidFill>
                  <a:srgbClr val="1F1F1F"/>
                </a:solidFill>
                <a:latin typeface="Inter"/>
                <a:ea typeface="Inter"/>
                <a:cs typeface="Inter"/>
                <a:sym typeface="Inter"/>
              </a:rPr>
              <a:t>Ein visuelles Web Interface für die Datenbank Administration ist direkt über Browser aufrufbar und mit Datenbank verknüpft.</a:t>
            </a:r>
            <a:endParaRPr sz="1900">
              <a:solidFill>
                <a:srgbClr val="434343"/>
              </a:solidFill>
              <a:highlight>
                <a:schemeClr val="lt1"/>
              </a:highlight>
              <a:latin typeface="Inter"/>
              <a:ea typeface="Inter"/>
              <a:cs typeface="Inter"/>
              <a:sym typeface="Inter"/>
            </a:endParaRPr>
          </a:p>
        </p:txBody>
      </p:sp>
      <p:pic>
        <p:nvPicPr>
          <p:cNvPr id="462" name="Google Shape;462;p48"/>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463" name="Google Shape;463;p48"/>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Christina Schultz</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67" name="Shape 467"/>
        <p:cNvGrpSpPr/>
        <p:nvPr/>
      </p:nvGrpSpPr>
      <p:grpSpPr>
        <a:xfrm>
          <a:off x="0" y="0"/>
          <a:ext cx="0" cy="0"/>
          <a:chOff x="0" y="0"/>
          <a:chExt cx="0" cy="0"/>
        </a:xfrm>
      </p:grpSpPr>
      <p:sp>
        <p:nvSpPr>
          <p:cNvPr id="468" name="Google Shape;468;p49"/>
          <p:cNvSpPr/>
          <p:nvPr/>
        </p:nvSpPr>
        <p:spPr>
          <a:xfrm>
            <a:off x="457150" y="891350"/>
            <a:ext cx="7909800" cy="38673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69" name="Google Shape;469;p49"/>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Datenbanken Dozent</a:t>
            </a:r>
            <a:endParaRPr sz="2000">
              <a:solidFill>
                <a:schemeClr val="dk1"/>
              </a:solidFill>
            </a:endParaRPr>
          </a:p>
        </p:txBody>
      </p:sp>
      <p:sp>
        <p:nvSpPr>
          <p:cNvPr id="470" name="Google Shape;470;p49"/>
          <p:cNvSpPr txBox="1"/>
          <p:nvPr/>
        </p:nvSpPr>
        <p:spPr>
          <a:xfrm>
            <a:off x="603856" y="1010075"/>
            <a:ext cx="7391100" cy="11109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Clr>
                <a:schemeClr val="dk1"/>
              </a:buClr>
              <a:buFont typeface="Arial"/>
              <a:buNone/>
            </a:pPr>
            <a:r>
              <a:rPr b="1" lang="en" sz="1900">
                <a:solidFill>
                  <a:schemeClr val="dk1"/>
                </a:solidFill>
                <a:latin typeface="Inter"/>
                <a:ea typeface="Inter"/>
                <a:cs typeface="Inter"/>
                <a:sym typeface="Inter"/>
              </a:rPr>
              <a:t>Vorbereiteter Beispieldatensatz</a:t>
            </a:r>
            <a:endParaRPr b="1" sz="1900">
              <a:solidFill>
                <a:schemeClr val="dk1"/>
              </a:solidFill>
              <a:latin typeface="Inter"/>
              <a:ea typeface="Inter"/>
              <a:cs typeface="Inter"/>
              <a:sym typeface="Inter"/>
            </a:endParaRPr>
          </a:p>
          <a:p>
            <a:pPr indent="0" lvl="0" marL="0" rtl="0" algn="l">
              <a:lnSpc>
                <a:spcPct val="139925"/>
              </a:lnSpc>
              <a:spcBef>
                <a:spcPts val="0"/>
              </a:spcBef>
              <a:spcAft>
                <a:spcPts val="0"/>
              </a:spcAft>
              <a:buClr>
                <a:schemeClr val="dk1"/>
              </a:buClr>
              <a:buFont typeface="Arial"/>
              <a:buNone/>
            </a:pPr>
            <a:r>
              <a:t/>
            </a:r>
            <a:endParaRPr b="1" sz="1900">
              <a:solidFill>
                <a:schemeClr val="dk1"/>
              </a:solidFill>
              <a:latin typeface="Inter"/>
              <a:ea typeface="Inter"/>
              <a:cs typeface="Inter"/>
              <a:sym typeface="Inter"/>
            </a:endParaRPr>
          </a:p>
          <a:p>
            <a:pPr indent="0" lvl="0" marL="0" marR="0" rtl="0" algn="l">
              <a:lnSpc>
                <a:spcPct val="139925"/>
              </a:lnSpc>
              <a:spcBef>
                <a:spcPts val="0"/>
              </a:spcBef>
              <a:spcAft>
                <a:spcPts val="0"/>
              </a:spcAft>
              <a:buNone/>
            </a:pPr>
            <a:r>
              <a:t/>
            </a:r>
            <a:endParaRPr b="1" sz="1900">
              <a:solidFill>
                <a:schemeClr val="dk1"/>
              </a:solidFill>
              <a:latin typeface="Inter"/>
              <a:ea typeface="Inter"/>
              <a:cs typeface="Inter"/>
              <a:sym typeface="Inter"/>
            </a:endParaRPr>
          </a:p>
        </p:txBody>
      </p:sp>
      <p:sp>
        <p:nvSpPr>
          <p:cNvPr id="471" name="Google Shape;471;p49"/>
          <p:cNvSpPr txBox="1"/>
          <p:nvPr/>
        </p:nvSpPr>
        <p:spPr>
          <a:xfrm>
            <a:off x="650275" y="30288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b="1" sz="2000">
              <a:solidFill>
                <a:schemeClr val="dk1"/>
              </a:solidFill>
              <a:latin typeface="Inter"/>
              <a:ea typeface="Inter"/>
              <a:cs typeface="Inter"/>
              <a:sym typeface="Inter"/>
            </a:endParaRPr>
          </a:p>
        </p:txBody>
      </p:sp>
      <p:sp>
        <p:nvSpPr>
          <p:cNvPr id="472" name="Google Shape;472;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3" name="Google Shape;473;p49"/>
          <p:cNvSpPr txBox="1"/>
          <p:nvPr/>
        </p:nvSpPr>
        <p:spPr>
          <a:xfrm>
            <a:off x="603850" y="1323675"/>
            <a:ext cx="7723500" cy="3463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1800">
                <a:solidFill>
                  <a:srgbClr val="1F1F1F"/>
                </a:solidFill>
                <a:latin typeface="Inter"/>
                <a:ea typeface="Inter"/>
                <a:cs typeface="Inter"/>
                <a:sym typeface="Inter"/>
              </a:rPr>
              <a:t>Story:</a:t>
            </a:r>
            <a:r>
              <a:rPr lang="en" sz="1800">
                <a:solidFill>
                  <a:srgbClr val="1F1F1F"/>
                </a:solidFill>
                <a:latin typeface="Inter"/>
                <a:ea typeface="Inter"/>
                <a:cs typeface="Inter"/>
                <a:sym typeface="Inter"/>
              </a:rPr>
              <a:t> Als Datenbank Dozent möchte ich, dass die Datenbank mit vorab definierten Datensatz und individuellen Studierenden Accounts startet, damit die Übungen ohne Verzögerung durch Datenimporte oder Rechteprobleme beginnen können. </a:t>
            </a:r>
            <a:endParaRPr sz="18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t/>
            </a:r>
            <a:endParaRPr b="1" sz="18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rPr b="1" lang="en" sz="1800">
                <a:solidFill>
                  <a:srgbClr val="1F1F1F"/>
                </a:solidFill>
                <a:latin typeface="Inter"/>
                <a:ea typeface="Inter"/>
                <a:cs typeface="Inter"/>
                <a:sym typeface="Inter"/>
              </a:rPr>
              <a:t>Akzeptanzkriterien:</a:t>
            </a:r>
            <a:endParaRPr sz="1800">
              <a:solidFill>
                <a:srgbClr val="1F1F1F"/>
              </a:solidFill>
              <a:latin typeface="Inter"/>
              <a:ea typeface="Inter"/>
              <a:cs typeface="Inter"/>
              <a:sym typeface="Inter"/>
            </a:endParaRPr>
          </a:p>
          <a:p>
            <a:pPr indent="-342900" lvl="0" marL="457200" rtl="0" algn="l">
              <a:lnSpc>
                <a:spcPct val="115000"/>
              </a:lnSpc>
              <a:spcBef>
                <a:spcPts val="0"/>
              </a:spcBef>
              <a:spcAft>
                <a:spcPts val="0"/>
              </a:spcAft>
              <a:buClr>
                <a:srgbClr val="1F1F1F"/>
              </a:buClr>
              <a:buSzPts val="1800"/>
              <a:buFont typeface="Inter"/>
              <a:buChar char="●"/>
            </a:pPr>
            <a:r>
              <a:rPr lang="en" sz="1800">
                <a:solidFill>
                  <a:srgbClr val="1F1F1F"/>
                </a:solidFill>
                <a:latin typeface="Inter"/>
                <a:ea typeface="Inter"/>
                <a:cs typeface="Inter"/>
                <a:sym typeface="Inter"/>
              </a:rPr>
              <a:t>Ein vordefinierter Dummy Datensatz ist beim ersten Start bereits vollständig eingespielt.</a:t>
            </a:r>
            <a:endParaRPr sz="1800">
              <a:solidFill>
                <a:srgbClr val="1F1F1F"/>
              </a:solidFill>
              <a:latin typeface="Inter"/>
              <a:ea typeface="Inter"/>
              <a:cs typeface="Inter"/>
              <a:sym typeface="Inter"/>
            </a:endParaRPr>
          </a:p>
          <a:p>
            <a:pPr indent="-342900" lvl="0" marL="457200" rtl="0" algn="l">
              <a:lnSpc>
                <a:spcPct val="115000"/>
              </a:lnSpc>
              <a:spcBef>
                <a:spcPts val="0"/>
              </a:spcBef>
              <a:spcAft>
                <a:spcPts val="0"/>
              </a:spcAft>
              <a:buClr>
                <a:srgbClr val="1F1F1F"/>
              </a:buClr>
              <a:buSzPts val="1800"/>
              <a:buFont typeface="Inter"/>
              <a:buChar char="●"/>
            </a:pPr>
            <a:r>
              <a:rPr lang="en" sz="1800">
                <a:solidFill>
                  <a:srgbClr val="1F1F1F"/>
                </a:solidFill>
                <a:latin typeface="Inter"/>
                <a:ea typeface="Inter"/>
                <a:cs typeface="Inter"/>
                <a:sym typeface="Inter"/>
              </a:rPr>
              <a:t>Für jeden teilnehmenden Studierenden wird automatisch separater Account mit eingeschränkten Rechten generiert (keine Admin Rechte).</a:t>
            </a:r>
            <a:endParaRPr b="1" sz="1800">
              <a:solidFill>
                <a:srgbClr val="1F1F1F"/>
              </a:solidFill>
              <a:latin typeface="Inter"/>
              <a:ea typeface="Inter"/>
              <a:cs typeface="Inter"/>
              <a:sym typeface="Inter"/>
            </a:endParaRPr>
          </a:p>
        </p:txBody>
      </p:sp>
      <p:pic>
        <p:nvPicPr>
          <p:cNvPr id="474" name="Google Shape;474;p49"/>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475" name="Google Shape;475;p49"/>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Christina Schultz</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79" name="Shape 479"/>
        <p:cNvGrpSpPr/>
        <p:nvPr/>
      </p:nvGrpSpPr>
      <p:grpSpPr>
        <a:xfrm>
          <a:off x="0" y="0"/>
          <a:ext cx="0" cy="0"/>
          <a:chOff x="0" y="0"/>
          <a:chExt cx="0" cy="0"/>
        </a:xfrm>
      </p:grpSpPr>
      <p:sp>
        <p:nvSpPr>
          <p:cNvPr id="480" name="Google Shape;480;p50"/>
          <p:cNvSpPr/>
          <p:nvPr/>
        </p:nvSpPr>
        <p:spPr>
          <a:xfrm>
            <a:off x="457150" y="891347"/>
            <a:ext cx="7909800" cy="37719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81" name="Google Shape;481;p50"/>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Advanced IT Dozent</a:t>
            </a:r>
            <a:endParaRPr sz="2000">
              <a:solidFill>
                <a:schemeClr val="dk1"/>
              </a:solidFill>
            </a:endParaRPr>
          </a:p>
        </p:txBody>
      </p:sp>
      <p:sp>
        <p:nvSpPr>
          <p:cNvPr id="482" name="Google Shape;482;p50"/>
          <p:cNvSpPr txBox="1"/>
          <p:nvPr/>
        </p:nvSpPr>
        <p:spPr>
          <a:xfrm>
            <a:off x="603856" y="1010075"/>
            <a:ext cx="7391100" cy="7017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Clr>
                <a:schemeClr val="dk1"/>
              </a:buClr>
              <a:buFont typeface="Arial"/>
              <a:buNone/>
            </a:pPr>
            <a:r>
              <a:rPr b="1" lang="en" sz="1900">
                <a:solidFill>
                  <a:schemeClr val="dk1"/>
                </a:solidFill>
                <a:latin typeface="Inter"/>
                <a:ea typeface="Inter"/>
                <a:cs typeface="Inter"/>
                <a:sym typeface="Inter"/>
              </a:rPr>
              <a:t>Standardisierte Linux-Entwicklungsumgebung</a:t>
            </a:r>
            <a:endParaRPr b="1" sz="1900">
              <a:solidFill>
                <a:schemeClr val="dk1"/>
              </a:solidFill>
              <a:latin typeface="Inter"/>
              <a:ea typeface="Inter"/>
              <a:cs typeface="Inter"/>
              <a:sym typeface="Inter"/>
            </a:endParaRPr>
          </a:p>
          <a:p>
            <a:pPr indent="0" lvl="0" marL="0" marR="0" rtl="0" algn="l">
              <a:lnSpc>
                <a:spcPct val="139925"/>
              </a:lnSpc>
              <a:spcBef>
                <a:spcPts val="0"/>
              </a:spcBef>
              <a:spcAft>
                <a:spcPts val="0"/>
              </a:spcAft>
              <a:buNone/>
            </a:pPr>
            <a:r>
              <a:t/>
            </a:r>
            <a:endParaRPr b="1" sz="1900">
              <a:solidFill>
                <a:schemeClr val="dk1"/>
              </a:solidFill>
              <a:latin typeface="Inter"/>
              <a:ea typeface="Inter"/>
              <a:cs typeface="Inter"/>
              <a:sym typeface="Inter"/>
            </a:endParaRPr>
          </a:p>
        </p:txBody>
      </p:sp>
      <p:sp>
        <p:nvSpPr>
          <p:cNvPr id="483" name="Google Shape;483;p50"/>
          <p:cNvSpPr txBox="1"/>
          <p:nvPr/>
        </p:nvSpPr>
        <p:spPr>
          <a:xfrm>
            <a:off x="650275" y="30288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b="1" sz="2000">
              <a:solidFill>
                <a:schemeClr val="dk1"/>
              </a:solidFill>
              <a:latin typeface="Inter"/>
              <a:ea typeface="Inter"/>
              <a:cs typeface="Inter"/>
              <a:sym typeface="Inter"/>
            </a:endParaRPr>
          </a:p>
        </p:txBody>
      </p:sp>
      <p:sp>
        <p:nvSpPr>
          <p:cNvPr id="484" name="Google Shape;48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85" name="Google Shape;485;p50"/>
          <p:cNvSpPr txBox="1"/>
          <p:nvPr/>
        </p:nvSpPr>
        <p:spPr>
          <a:xfrm>
            <a:off x="603850" y="1384625"/>
            <a:ext cx="7723500" cy="2982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1900">
                <a:solidFill>
                  <a:srgbClr val="1F1F1F"/>
                </a:solidFill>
                <a:latin typeface="Inter"/>
                <a:ea typeface="Inter"/>
                <a:cs typeface="Inter"/>
                <a:sym typeface="Inter"/>
              </a:rPr>
              <a:t>Story:</a:t>
            </a:r>
            <a:r>
              <a:rPr lang="en" sz="1900">
                <a:solidFill>
                  <a:srgbClr val="1F1F1F"/>
                </a:solidFill>
                <a:latin typeface="Inter"/>
                <a:ea typeface="Inter"/>
                <a:cs typeface="Inter"/>
                <a:sym typeface="Inter"/>
              </a:rPr>
              <a:t> Als Advanced IT Dozent möchte ich Programmierumgebungen mit vorinstallierten Compilern und IDEs bereitstellen, um direkt mit praktischen Übungen starten zu können. </a:t>
            </a:r>
            <a:endParaRPr sz="19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t/>
            </a:r>
            <a:endParaRPr b="1" sz="19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rPr b="1" lang="en" sz="1900">
                <a:solidFill>
                  <a:srgbClr val="1F1F1F"/>
                </a:solidFill>
                <a:latin typeface="Inter"/>
                <a:ea typeface="Inter"/>
                <a:cs typeface="Inter"/>
                <a:sym typeface="Inter"/>
              </a:rPr>
              <a:t>Akzeptanzkriterien:</a:t>
            </a:r>
            <a:endParaRPr b="1" sz="1900">
              <a:solidFill>
                <a:srgbClr val="1F1F1F"/>
              </a:solidFill>
              <a:latin typeface="Inter"/>
              <a:ea typeface="Inter"/>
              <a:cs typeface="Inter"/>
              <a:sym typeface="Inter"/>
            </a:endParaRPr>
          </a:p>
          <a:p>
            <a:pPr indent="-349250" lvl="0" marL="457200" rtl="0" algn="l">
              <a:lnSpc>
                <a:spcPct val="115000"/>
              </a:lnSpc>
              <a:spcBef>
                <a:spcPts val="0"/>
              </a:spcBef>
              <a:spcAft>
                <a:spcPts val="0"/>
              </a:spcAft>
              <a:buClr>
                <a:srgbClr val="1F1F1F"/>
              </a:buClr>
              <a:buSzPts val="1900"/>
              <a:buFont typeface="Inter"/>
              <a:buChar char="●"/>
            </a:pPr>
            <a:r>
              <a:rPr lang="en" sz="1900">
                <a:solidFill>
                  <a:srgbClr val="1F1F1F"/>
                </a:solidFill>
                <a:latin typeface="Inter"/>
                <a:ea typeface="Inter"/>
                <a:cs typeface="Inter"/>
                <a:sym typeface="Inter"/>
              </a:rPr>
              <a:t>Werkzeuge wie Java, Eclipse, IntelliJ und eine Unix-Shell sind vorinstalliert.</a:t>
            </a:r>
            <a:endParaRPr sz="1900">
              <a:solidFill>
                <a:srgbClr val="1F1F1F"/>
              </a:solidFill>
              <a:latin typeface="Inter"/>
              <a:ea typeface="Inter"/>
              <a:cs typeface="Inter"/>
              <a:sym typeface="Inter"/>
            </a:endParaRPr>
          </a:p>
          <a:p>
            <a:pPr indent="-349250" lvl="0" marL="457200" rtl="0" algn="l">
              <a:lnSpc>
                <a:spcPct val="115000"/>
              </a:lnSpc>
              <a:spcBef>
                <a:spcPts val="0"/>
              </a:spcBef>
              <a:spcAft>
                <a:spcPts val="0"/>
              </a:spcAft>
              <a:buClr>
                <a:srgbClr val="1F1F1F"/>
              </a:buClr>
              <a:buSzPts val="1900"/>
              <a:buFont typeface="Inter"/>
              <a:buChar char="●"/>
            </a:pPr>
            <a:r>
              <a:rPr lang="en" sz="1900">
                <a:solidFill>
                  <a:srgbClr val="1F1F1F"/>
                </a:solidFill>
                <a:latin typeface="Inter"/>
                <a:ea typeface="Inter"/>
                <a:cs typeface="Inter"/>
                <a:sym typeface="Inter"/>
              </a:rPr>
              <a:t>Notwendige Ausführungsrechte (PATH-Variablen) sind für die Studierenden direkt nach dem Start korrekt gesetzt.</a:t>
            </a:r>
            <a:endParaRPr b="1" sz="1900">
              <a:solidFill>
                <a:srgbClr val="1F1F1F"/>
              </a:solidFill>
              <a:latin typeface="Inter"/>
              <a:ea typeface="Inter"/>
              <a:cs typeface="Inter"/>
              <a:sym typeface="Inter"/>
            </a:endParaRPr>
          </a:p>
        </p:txBody>
      </p:sp>
      <p:pic>
        <p:nvPicPr>
          <p:cNvPr id="486" name="Google Shape;486;p50"/>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487" name="Google Shape;487;p50"/>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Christina Schultz</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91" name="Shape 491"/>
        <p:cNvGrpSpPr/>
        <p:nvPr/>
      </p:nvGrpSpPr>
      <p:grpSpPr>
        <a:xfrm>
          <a:off x="0" y="0"/>
          <a:ext cx="0" cy="0"/>
          <a:chOff x="0" y="0"/>
          <a:chExt cx="0" cy="0"/>
        </a:xfrm>
      </p:grpSpPr>
      <p:sp>
        <p:nvSpPr>
          <p:cNvPr id="492" name="Google Shape;492;p51"/>
          <p:cNvSpPr/>
          <p:nvPr/>
        </p:nvSpPr>
        <p:spPr>
          <a:xfrm>
            <a:off x="457150" y="891347"/>
            <a:ext cx="7909800" cy="37719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93" name="Google Shape;493;p51"/>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Advanced IT Dozent</a:t>
            </a:r>
            <a:endParaRPr sz="2000">
              <a:solidFill>
                <a:schemeClr val="dk1"/>
              </a:solidFill>
            </a:endParaRPr>
          </a:p>
        </p:txBody>
      </p:sp>
      <p:sp>
        <p:nvSpPr>
          <p:cNvPr id="494" name="Google Shape;494;p51"/>
          <p:cNvSpPr txBox="1"/>
          <p:nvPr/>
        </p:nvSpPr>
        <p:spPr>
          <a:xfrm>
            <a:off x="603856" y="1010075"/>
            <a:ext cx="7391100" cy="2925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1900">
                <a:solidFill>
                  <a:schemeClr val="dk1"/>
                </a:solidFill>
                <a:latin typeface="Inter"/>
                <a:ea typeface="Inter"/>
                <a:cs typeface="Inter"/>
                <a:sym typeface="Inter"/>
              </a:rPr>
              <a:t>Netzwerkverhalten der VMs</a:t>
            </a:r>
            <a:endParaRPr b="1" sz="1900">
              <a:solidFill>
                <a:schemeClr val="dk1"/>
              </a:solidFill>
              <a:latin typeface="Inter"/>
              <a:ea typeface="Inter"/>
              <a:cs typeface="Inter"/>
              <a:sym typeface="Inter"/>
            </a:endParaRPr>
          </a:p>
        </p:txBody>
      </p:sp>
      <p:sp>
        <p:nvSpPr>
          <p:cNvPr id="495" name="Google Shape;495;p51"/>
          <p:cNvSpPr txBox="1"/>
          <p:nvPr/>
        </p:nvSpPr>
        <p:spPr>
          <a:xfrm>
            <a:off x="650275" y="30288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b="1" sz="2000">
              <a:solidFill>
                <a:schemeClr val="dk1"/>
              </a:solidFill>
              <a:latin typeface="Inter"/>
              <a:ea typeface="Inter"/>
              <a:cs typeface="Inter"/>
              <a:sym typeface="Inter"/>
            </a:endParaRPr>
          </a:p>
        </p:txBody>
      </p:sp>
      <p:sp>
        <p:nvSpPr>
          <p:cNvPr id="496" name="Google Shape;496;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97" name="Google Shape;497;p51"/>
          <p:cNvSpPr txBox="1"/>
          <p:nvPr/>
        </p:nvSpPr>
        <p:spPr>
          <a:xfrm>
            <a:off x="603850" y="1384625"/>
            <a:ext cx="7723500" cy="2843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1800">
                <a:solidFill>
                  <a:srgbClr val="1F1F1F"/>
                </a:solidFill>
                <a:latin typeface="Inter"/>
                <a:ea typeface="Inter"/>
                <a:cs typeface="Inter"/>
                <a:sym typeface="Inter"/>
              </a:rPr>
              <a:t>Story:</a:t>
            </a:r>
            <a:r>
              <a:rPr lang="en" sz="1800">
                <a:solidFill>
                  <a:srgbClr val="1F1F1F"/>
                </a:solidFill>
                <a:latin typeface="Inter"/>
                <a:ea typeface="Inter"/>
                <a:cs typeface="Inter"/>
                <a:sym typeface="Inter"/>
              </a:rPr>
              <a:t> Als Advanced IT Dozent möchte ich, dass die Arbeitsumgebungen meiner Studierenden netzwerktechnisch uneingeschränkt untereinander kommunizieren können, um praktische Übungen zu dezentralen Netzwerkprotokollen durchzuführen. </a:t>
            </a:r>
            <a:endParaRPr sz="18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t/>
            </a:r>
            <a:endParaRPr sz="18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rPr b="1" lang="en" sz="1800">
                <a:solidFill>
                  <a:srgbClr val="1F1F1F"/>
                </a:solidFill>
                <a:latin typeface="Inter"/>
                <a:ea typeface="Inter"/>
                <a:cs typeface="Inter"/>
                <a:sym typeface="Inter"/>
              </a:rPr>
              <a:t>Akzeptanzkriterien:</a:t>
            </a:r>
            <a:endParaRPr b="1" sz="1800">
              <a:solidFill>
                <a:srgbClr val="1F1F1F"/>
              </a:solidFill>
              <a:latin typeface="Inter"/>
              <a:ea typeface="Inter"/>
              <a:cs typeface="Inter"/>
              <a:sym typeface="Inter"/>
            </a:endParaRPr>
          </a:p>
          <a:p>
            <a:pPr indent="-349250" lvl="0" marL="457200" rtl="0" algn="l">
              <a:lnSpc>
                <a:spcPct val="115000"/>
              </a:lnSpc>
              <a:spcBef>
                <a:spcPts val="0"/>
              </a:spcBef>
              <a:spcAft>
                <a:spcPts val="0"/>
              </a:spcAft>
              <a:buClr>
                <a:srgbClr val="1F1F1F"/>
              </a:buClr>
              <a:buSzPts val="1900"/>
              <a:buFont typeface="Inter"/>
              <a:buChar char="●"/>
            </a:pPr>
            <a:r>
              <a:rPr lang="en" sz="1800">
                <a:solidFill>
                  <a:srgbClr val="1F1F1F"/>
                </a:solidFill>
                <a:latin typeface="Inter"/>
                <a:ea typeface="Inter"/>
                <a:cs typeface="Inter"/>
                <a:sym typeface="Inter"/>
              </a:rPr>
              <a:t>Interne Firewalls lassen Broadcast- und UDP-Verkehr zwischen den VMs innerhalb derselben Übungsgruppe automatisch zu, ohne manuelle Portfreischaltungen durch die Nutzer.</a:t>
            </a:r>
            <a:endParaRPr b="1" sz="1800">
              <a:solidFill>
                <a:srgbClr val="1F1F1F"/>
              </a:solidFill>
              <a:latin typeface="Inter"/>
              <a:ea typeface="Inter"/>
              <a:cs typeface="Inter"/>
              <a:sym typeface="Inter"/>
            </a:endParaRPr>
          </a:p>
        </p:txBody>
      </p:sp>
      <p:pic>
        <p:nvPicPr>
          <p:cNvPr id="498" name="Google Shape;498;p51"/>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499" name="Google Shape;499;p51"/>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Christina Schultz</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03" name="Shape 503"/>
        <p:cNvGrpSpPr/>
        <p:nvPr/>
      </p:nvGrpSpPr>
      <p:grpSpPr>
        <a:xfrm>
          <a:off x="0" y="0"/>
          <a:ext cx="0" cy="0"/>
          <a:chOff x="0" y="0"/>
          <a:chExt cx="0" cy="0"/>
        </a:xfrm>
      </p:grpSpPr>
      <p:sp>
        <p:nvSpPr>
          <p:cNvPr id="504" name="Google Shape;504;p52"/>
          <p:cNvSpPr/>
          <p:nvPr/>
        </p:nvSpPr>
        <p:spPr>
          <a:xfrm>
            <a:off x="457150" y="891347"/>
            <a:ext cx="7909800" cy="37719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05" name="Google Shape;505;p52"/>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Maschinenbau Dozent</a:t>
            </a:r>
            <a:endParaRPr sz="2000">
              <a:solidFill>
                <a:schemeClr val="dk1"/>
              </a:solidFill>
            </a:endParaRPr>
          </a:p>
        </p:txBody>
      </p:sp>
      <p:sp>
        <p:nvSpPr>
          <p:cNvPr id="506" name="Google Shape;506;p52"/>
          <p:cNvSpPr txBox="1"/>
          <p:nvPr/>
        </p:nvSpPr>
        <p:spPr>
          <a:xfrm>
            <a:off x="603856" y="1010075"/>
            <a:ext cx="7391100" cy="2925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1900">
                <a:solidFill>
                  <a:schemeClr val="dk1"/>
                </a:solidFill>
                <a:latin typeface="Inter"/>
                <a:ea typeface="Inter"/>
                <a:cs typeface="Inter"/>
                <a:sym typeface="Inter"/>
              </a:rPr>
              <a:t>Maschinenbau Software</a:t>
            </a:r>
            <a:endParaRPr b="1" sz="1900">
              <a:solidFill>
                <a:schemeClr val="dk1"/>
              </a:solidFill>
              <a:latin typeface="Inter"/>
              <a:ea typeface="Inter"/>
              <a:cs typeface="Inter"/>
              <a:sym typeface="Inter"/>
            </a:endParaRPr>
          </a:p>
        </p:txBody>
      </p:sp>
      <p:sp>
        <p:nvSpPr>
          <p:cNvPr id="507" name="Google Shape;507;p52"/>
          <p:cNvSpPr txBox="1"/>
          <p:nvPr/>
        </p:nvSpPr>
        <p:spPr>
          <a:xfrm>
            <a:off x="650275" y="30288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b="1" sz="2000">
              <a:solidFill>
                <a:schemeClr val="dk1"/>
              </a:solidFill>
              <a:latin typeface="Inter"/>
              <a:ea typeface="Inter"/>
              <a:cs typeface="Inter"/>
              <a:sym typeface="Inter"/>
            </a:endParaRPr>
          </a:p>
        </p:txBody>
      </p:sp>
      <p:sp>
        <p:nvSpPr>
          <p:cNvPr id="508" name="Google Shape;50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09" name="Google Shape;509;p52"/>
          <p:cNvSpPr txBox="1"/>
          <p:nvPr/>
        </p:nvSpPr>
        <p:spPr>
          <a:xfrm>
            <a:off x="603850" y="1384625"/>
            <a:ext cx="7723500" cy="3144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1800">
                <a:solidFill>
                  <a:srgbClr val="1F1F1F"/>
                </a:solidFill>
                <a:latin typeface="Inter"/>
                <a:ea typeface="Inter"/>
                <a:cs typeface="Inter"/>
                <a:sym typeface="Inter"/>
              </a:rPr>
              <a:t>Story:</a:t>
            </a:r>
            <a:r>
              <a:rPr lang="en" sz="1800">
                <a:solidFill>
                  <a:srgbClr val="1F1F1F"/>
                </a:solidFill>
                <a:latin typeface="Inter"/>
                <a:ea typeface="Inter"/>
                <a:cs typeface="Inter"/>
                <a:sym typeface="Inter"/>
              </a:rPr>
              <a:t> Als Maschinenbau Dozent möchte ich ressourcenintensive CAD-Umgebungen bereitstellen können, damit Studierende komplexe 3D-Baugruppen ruckelfrei und ohne eigenen Installationsaufwand bearbeiten können. </a:t>
            </a:r>
            <a:endParaRPr sz="18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t/>
            </a:r>
            <a:endParaRPr b="1" sz="18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rPr b="1" lang="en" sz="1800">
                <a:solidFill>
                  <a:srgbClr val="1F1F1F"/>
                </a:solidFill>
                <a:latin typeface="Inter"/>
                <a:ea typeface="Inter"/>
                <a:cs typeface="Inter"/>
                <a:sym typeface="Inter"/>
              </a:rPr>
              <a:t>Akzeptanzkriterien:</a:t>
            </a:r>
            <a:endParaRPr sz="1800">
              <a:solidFill>
                <a:srgbClr val="1F1F1F"/>
              </a:solidFill>
              <a:latin typeface="Inter"/>
              <a:ea typeface="Inter"/>
              <a:cs typeface="Inter"/>
              <a:sym typeface="Inter"/>
            </a:endParaRPr>
          </a:p>
          <a:p>
            <a:pPr indent="-342900" lvl="0" marL="457200" rtl="0" algn="l">
              <a:lnSpc>
                <a:spcPct val="115000"/>
              </a:lnSpc>
              <a:spcBef>
                <a:spcPts val="0"/>
              </a:spcBef>
              <a:spcAft>
                <a:spcPts val="0"/>
              </a:spcAft>
              <a:buClr>
                <a:srgbClr val="1F1F1F"/>
              </a:buClr>
              <a:buSzPts val="1800"/>
              <a:buFont typeface="Inter"/>
              <a:buChar char="●"/>
            </a:pPr>
            <a:r>
              <a:rPr lang="en" sz="1800">
                <a:solidFill>
                  <a:srgbClr val="1F1F1F"/>
                </a:solidFill>
                <a:latin typeface="Inter"/>
                <a:ea typeface="Inter"/>
                <a:cs typeface="Inter"/>
                <a:sym typeface="Inter"/>
              </a:rPr>
              <a:t>Das System weist diesen spezifischen Umgebungen beim Start automatisch hardwarebeschleunigte Profile (z.B. mit vGPU) zu.</a:t>
            </a:r>
            <a:endParaRPr sz="1800">
              <a:solidFill>
                <a:srgbClr val="1F1F1F"/>
              </a:solidFill>
              <a:latin typeface="Inter"/>
              <a:ea typeface="Inter"/>
              <a:cs typeface="Inter"/>
              <a:sym typeface="Inter"/>
            </a:endParaRPr>
          </a:p>
          <a:p>
            <a:pPr indent="-342900" lvl="0" marL="457200" rtl="0" algn="l">
              <a:lnSpc>
                <a:spcPct val="115000"/>
              </a:lnSpc>
              <a:spcBef>
                <a:spcPts val="0"/>
              </a:spcBef>
              <a:spcAft>
                <a:spcPts val="0"/>
              </a:spcAft>
              <a:buClr>
                <a:srgbClr val="1F1F1F"/>
              </a:buClr>
              <a:buSzPts val="1800"/>
              <a:buFont typeface="Inter"/>
              <a:buChar char="●"/>
            </a:pPr>
            <a:r>
              <a:rPr lang="en" sz="1800">
                <a:solidFill>
                  <a:srgbClr val="1F1F1F"/>
                </a:solidFill>
                <a:latin typeface="Inter"/>
                <a:ea typeface="Inter"/>
                <a:cs typeface="Inter"/>
                <a:sym typeface="Inter"/>
              </a:rPr>
              <a:t>Die erforderliche CAD-Software (z.B. SolidWorks oder Inventor) ist vorinstalliert und direkt startklar.</a:t>
            </a:r>
            <a:endParaRPr b="1" sz="1800">
              <a:solidFill>
                <a:srgbClr val="1F1F1F"/>
              </a:solidFill>
              <a:latin typeface="Inter"/>
              <a:ea typeface="Inter"/>
              <a:cs typeface="Inter"/>
              <a:sym typeface="Inter"/>
            </a:endParaRPr>
          </a:p>
        </p:txBody>
      </p:sp>
      <p:pic>
        <p:nvPicPr>
          <p:cNvPr id="510" name="Google Shape;510;p52"/>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511" name="Google Shape;511;p52"/>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Christina Schultz</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15" name="Shape 515"/>
        <p:cNvGrpSpPr/>
        <p:nvPr/>
      </p:nvGrpSpPr>
      <p:grpSpPr>
        <a:xfrm>
          <a:off x="0" y="0"/>
          <a:ext cx="0" cy="0"/>
          <a:chOff x="0" y="0"/>
          <a:chExt cx="0" cy="0"/>
        </a:xfrm>
      </p:grpSpPr>
      <p:sp>
        <p:nvSpPr>
          <p:cNvPr id="516" name="Google Shape;516;p53"/>
          <p:cNvSpPr/>
          <p:nvPr/>
        </p:nvSpPr>
        <p:spPr>
          <a:xfrm>
            <a:off x="457150" y="891347"/>
            <a:ext cx="7909800" cy="37719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17" name="Google Shape;517;p53"/>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Maschinenbau Dozent</a:t>
            </a:r>
            <a:endParaRPr sz="2000">
              <a:solidFill>
                <a:schemeClr val="dk1"/>
              </a:solidFill>
            </a:endParaRPr>
          </a:p>
        </p:txBody>
      </p:sp>
      <p:sp>
        <p:nvSpPr>
          <p:cNvPr id="518" name="Google Shape;518;p53"/>
          <p:cNvSpPr txBox="1"/>
          <p:nvPr/>
        </p:nvSpPr>
        <p:spPr>
          <a:xfrm>
            <a:off x="603856" y="1010075"/>
            <a:ext cx="7391100" cy="2925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1900">
                <a:solidFill>
                  <a:schemeClr val="dk1"/>
                </a:solidFill>
                <a:latin typeface="Inter"/>
                <a:ea typeface="Inter"/>
                <a:cs typeface="Inter"/>
                <a:sym typeface="Inter"/>
              </a:rPr>
              <a:t>Matlab</a:t>
            </a:r>
            <a:endParaRPr b="1" sz="1900">
              <a:solidFill>
                <a:schemeClr val="dk1"/>
              </a:solidFill>
              <a:latin typeface="Inter"/>
              <a:ea typeface="Inter"/>
              <a:cs typeface="Inter"/>
              <a:sym typeface="Inter"/>
            </a:endParaRPr>
          </a:p>
        </p:txBody>
      </p:sp>
      <p:sp>
        <p:nvSpPr>
          <p:cNvPr id="519" name="Google Shape;519;p53"/>
          <p:cNvSpPr txBox="1"/>
          <p:nvPr/>
        </p:nvSpPr>
        <p:spPr>
          <a:xfrm>
            <a:off x="650275" y="30288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b="1" sz="2000">
              <a:solidFill>
                <a:schemeClr val="dk1"/>
              </a:solidFill>
              <a:latin typeface="Inter"/>
              <a:ea typeface="Inter"/>
              <a:cs typeface="Inter"/>
              <a:sym typeface="Inter"/>
            </a:endParaRPr>
          </a:p>
        </p:txBody>
      </p:sp>
      <p:sp>
        <p:nvSpPr>
          <p:cNvPr id="520" name="Google Shape;520;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21" name="Google Shape;521;p53"/>
          <p:cNvSpPr txBox="1"/>
          <p:nvPr/>
        </p:nvSpPr>
        <p:spPr>
          <a:xfrm>
            <a:off x="603850" y="1384625"/>
            <a:ext cx="7723500" cy="327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1700">
                <a:solidFill>
                  <a:srgbClr val="1F1F1F"/>
                </a:solidFill>
                <a:latin typeface="Inter"/>
                <a:ea typeface="Inter"/>
                <a:cs typeface="Inter"/>
                <a:sym typeface="Inter"/>
              </a:rPr>
              <a:t>Story:</a:t>
            </a:r>
            <a:r>
              <a:rPr lang="en" sz="1700">
                <a:solidFill>
                  <a:srgbClr val="1F1F1F"/>
                </a:solidFill>
                <a:latin typeface="Inter"/>
                <a:ea typeface="Inter"/>
                <a:cs typeface="Inter"/>
                <a:sym typeface="Inter"/>
              </a:rPr>
              <a:t> Als Maschinenbau Dozent möchte ich Simulationssoftware inklusive meiner hochgeladenen Skripte lizenzfertig bereitstellen, damit alle Studierenden zum Vorlesungsstart denselben funktionierenden Arbeitsstand haben. </a:t>
            </a:r>
            <a:endParaRPr sz="17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t/>
            </a:r>
            <a:endParaRPr b="1" sz="17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rPr b="1" lang="en" sz="1700">
                <a:solidFill>
                  <a:srgbClr val="1F1F1F"/>
                </a:solidFill>
                <a:latin typeface="Inter"/>
                <a:ea typeface="Inter"/>
                <a:cs typeface="Inter"/>
                <a:sym typeface="Inter"/>
              </a:rPr>
              <a:t>Akzeptanzkriterien:</a:t>
            </a:r>
            <a:endParaRPr sz="1700">
              <a:solidFill>
                <a:srgbClr val="1F1F1F"/>
              </a:solidFill>
              <a:latin typeface="Inter"/>
              <a:ea typeface="Inter"/>
              <a:cs typeface="Inter"/>
              <a:sym typeface="Inter"/>
            </a:endParaRPr>
          </a:p>
          <a:p>
            <a:pPr indent="-336550" lvl="0" marL="457200" rtl="0" algn="l">
              <a:lnSpc>
                <a:spcPct val="115000"/>
              </a:lnSpc>
              <a:spcBef>
                <a:spcPts val="0"/>
              </a:spcBef>
              <a:spcAft>
                <a:spcPts val="0"/>
              </a:spcAft>
              <a:buClr>
                <a:srgbClr val="1F1F1F"/>
              </a:buClr>
              <a:buSzPts val="1700"/>
              <a:buFont typeface="Inter"/>
              <a:buChar char="●"/>
            </a:pPr>
            <a:r>
              <a:rPr lang="en" sz="1700">
                <a:solidFill>
                  <a:srgbClr val="1F1F1F"/>
                </a:solidFill>
                <a:latin typeface="Inter"/>
                <a:ea typeface="Inter"/>
                <a:cs typeface="Inter"/>
                <a:sym typeface="Inter"/>
              </a:rPr>
              <a:t>Matlab (inklusive benötigter Toolboxen und Hochschullizenz) startet ohne zusätzliche Benutzereingabe.</a:t>
            </a:r>
            <a:endParaRPr sz="1700">
              <a:solidFill>
                <a:srgbClr val="1F1F1F"/>
              </a:solidFill>
              <a:latin typeface="Inter"/>
              <a:ea typeface="Inter"/>
              <a:cs typeface="Inter"/>
              <a:sym typeface="Inter"/>
            </a:endParaRPr>
          </a:p>
          <a:p>
            <a:pPr indent="-336550" lvl="0" marL="457200" rtl="0" algn="l">
              <a:lnSpc>
                <a:spcPct val="115000"/>
              </a:lnSpc>
              <a:spcBef>
                <a:spcPts val="0"/>
              </a:spcBef>
              <a:spcAft>
                <a:spcPts val="0"/>
              </a:spcAft>
              <a:buClr>
                <a:srgbClr val="1F1F1F"/>
              </a:buClr>
              <a:buSzPts val="1700"/>
              <a:buFont typeface="Inter"/>
              <a:buChar char="●"/>
            </a:pPr>
            <a:r>
              <a:rPr lang="en" sz="1700">
                <a:solidFill>
                  <a:srgbClr val="1F1F1F"/>
                </a:solidFill>
                <a:latin typeface="Inter"/>
                <a:ea typeface="Inter"/>
                <a:cs typeface="Inter"/>
                <a:sym typeface="Inter"/>
              </a:rPr>
              <a:t>Vorab hinterlegte Dozenten-Skripte und Datensätze liegen automatisch im primären Arbeitsverzeichnis der Studierenden bereit.</a:t>
            </a:r>
            <a:endParaRPr sz="1700">
              <a:solidFill>
                <a:srgbClr val="1F1F1F"/>
              </a:solidFill>
              <a:latin typeface="Inter"/>
              <a:ea typeface="Inter"/>
              <a:cs typeface="Inter"/>
              <a:sym typeface="Inter"/>
            </a:endParaRPr>
          </a:p>
          <a:p>
            <a:pPr indent="0" lvl="0" marL="0" rtl="0" algn="l">
              <a:lnSpc>
                <a:spcPct val="115000"/>
              </a:lnSpc>
              <a:spcBef>
                <a:spcPts val="0"/>
              </a:spcBef>
              <a:spcAft>
                <a:spcPts val="0"/>
              </a:spcAft>
              <a:buNone/>
            </a:pPr>
            <a:r>
              <a:t/>
            </a:r>
            <a:endParaRPr b="1" sz="1700">
              <a:solidFill>
                <a:srgbClr val="1F1F1F"/>
              </a:solidFill>
              <a:latin typeface="Inter"/>
              <a:ea typeface="Inter"/>
              <a:cs typeface="Inter"/>
              <a:sym typeface="Inter"/>
            </a:endParaRPr>
          </a:p>
        </p:txBody>
      </p:sp>
      <p:pic>
        <p:nvPicPr>
          <p:cNvPr id="522" name="Google Shape;522;p53"/>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523" name="Google Shape;523;p53"/>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Christina Schultz</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27" name="Shape 527"/>
        <p:cNvGrpSpPr/>
        <p:nvPr/>
      </p:nvGrpSpPr>
      <p:grpSpPr>
        <a:xfrm>
          <a:off x="0" y="0"/>
          <a:ext cx="0" cy="0"/>
          <a:chOff x="0" y="0"/>
          <a:chExt cx="0" cy="0"/>
        </a:xfrm>
      </p:grpSpPr>
      <p:sp>
        <p:nvSpPr>
          <p:cNvPr id="528" name="Google Shape;528;p54"/>
          <p:cNvSpPr/>
          <p:nvPr/>
        </p:nvSpPr>
        <p:spPr>
          <a:xfrm>
            <a:off x="457150" y="891347"/>
            <a:ext cx="7909800" cy="37719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29" name="Google Shape;529;p54"/>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IT Security Dozent</a:t>
            </a:r>
            <a:endParaRPr sz="2000">
              <a:solidFill>
                <a:schemeClr val="dk1"/>
              </a:solidFill>
            </a:endParaRPr>
          </a:p>
        </p:txBody>
      </p:sp>
      <p:sp>
        <p:nvSpPr>
          <p:cNvPr id="530" name="Google Shape;530;p54"/>
          <p:cNvSpPr txBox="1"/>
          <p:nvPr/>
        </p:nvSpPr>
        <p:spPr>
          <a:xfrm>
            <a:off x="603856" y="1010075"/>
            <a:ext cx="7391100" cy="7017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Clr>
                <a:schemeClr val="dk1"/>
              </a:buClr>
              <a:buFont typeface="Arial"/>
              <a:buNone/>
            </a:pPr>
            <a:r>
              <a:rPr b="1" lang="en" sz="1900">
                <a:solidFill>
                  <a:schemeClr val="dk1"/>
                </a:solidFill>
                <a:latin typeface="Inter"/>
                <a:ea typeface="Inter"/>
                <a:cs typeface="Inter"/>
                <a:sym typeface="Inter"/>
              </a:rPr>
              <a:t>Bereitstellung von Pentesting Umgebungen</a:t>
            </a:r>
            <a:endParaRPr b="1" sz="1900">
              <a:solidFill>
                <a:schemeClr val="dk1"/>
              </a:solidFill>
              <a:latin typeface="Inter"/>
              <a:ea typeface="Inter"/>
              <a:cs typeface="Inter"/>
              <a:sym typeface="Inter"/>
            </a:endParaRPr>
          </a:p>
          <a:p>
            <a:pPr indent="0" lvl="0" marL="0" rtl="0" algn="l">
              <a:lnSpc>
                <a:spcPct val="139925"/>
              </a:lnSpc>
              <a:spcBef>
                <a:spcPts val="0"/>
              </a:spcBef>
              <a:spcAft>
                <a:spcPts val="0"/>
              </a:spcAft>
              <a:buClr>
                <a:schemeClr val="dk1"/>
              </a:buClr>
              <a:buFont typeface="Arial"/>
              <a:buNone/>
            </a:pPr>
            <a:r>
              <a:t/>
            </a:r>
            <a:endParaRPr b="1" sz="1900">
              <a:solidFill>
                <a:schemeClr val="dk1"/>
              </a:solidFill>
              <a:latin typeface="Inter"/>
              <a:ea typeface="Inter"/>
              <a:cs typeface="Inter"/>
              <a:sym typeface="Inter"/>
            </a:endParaRPr>
          </a:p>
        </p:txBody>
      </p:sp>
      <p:sp>
        <p:nvSpPr>
          <p:cNvPr id="531" name="Google Shape;531;p54"/>
          <p:cNvSpPr txBox="1"/>
          <p:nvPr/>
        </p:nvSpPr>
        <p:spPr>
          <a:xfrm>
            <a:off x="650275" y="30288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b="1" sz="2000">
              <a:solidFill>
                <a:schemeClr val="dk1"/>
              </a:solidFill>
              <a:latin typeface="Inter"/>
              <a:ea typeface="Inter"/>
              <a:cs typeface="Inter"/>
              <a:sym typeface="Inter"/>
            </a:endParaRPr>
          </a:p>
        </p:txBody>
      </p:sp>
      <p:sp>
        <p:nvSpPr>
          <p:cNvPr id="532" name="Google Shape;532;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33" name="Google Shape;533;p54"/>
          <p:cNvSpPr txBox="1"/>
          <p:nvPr/>
        </p:nvSpPr>
        <p:spPr>
          <a:xfrm>
            <a:off x="603850" y="1384625"/>
            <a:ext cx="7723500" cy="327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700">
                <a:solidFill>
                  <a:srgbClr val="1F1F1F"/>
                </a:solidFill>
                <a:latin typeface="Inter"/>
                <a:ea typeface="Inter"/>
                <a:cs typeface="Inter"/>
                <a:sym typeface="Inter"/>
              </a:rPr>
              <a:t>Story:</a:t>
            </a:r>
            <a:r>
              <a:rPr lang="en" sz="1700">
                <a:solidFill>
                  <a:srgbClr val="1F1F1F"/>
                </a:solidFill>
                <a:latin typeface="Inter"/>
                <a:ea typeface="Inter"/>
                <a:cs typeface="Inter"/>
                <a:sym typeface="Inter"/>
              </a:rPr>
              <a:t> Als IT Security Dozent möchte ich eine Umgebung mit vorkonfigurierten Pentesting Tools bereitstellen, die zwingend in Sandbox läuft, um Angriffsübungen ohne technische Gefahr für produktive Hochschulnetz durchzuführen. </a:t>
            </a:r>
            <a:endParaRPr sz="1700">
              <a:solidFill>
                <a:srgbClr val="1F1F1F"/>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t/>
            </a:r>
            <a:endParaRPr b="1" sz="1700">
              <a:solidFill>
                <a:srgbClr val="1F1F1F"/>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rPr b="1" lang="en" sz="1700">
                <a:solidFill>
                  <a:srgbClr val="1F1F1F"/>
                </a:solidFill>
                <a:latin typeface="Inter"/>
                <a:ea typeface="Inter"/>
                <a:cs typeface="Inter"/>
                <a:sym typeface="Inter"/>
              </a:rPr>
              <a:t>Akzeptanzkriterien:</a:t>
            </a:r>
            <a:endParaRPr sz="1700">
              <a:solidFill>
                <a:srgbClr val="1F1F1F"/>
              </a:solidFill>
              <a:latin typeface="Inter"/>
              <a:ea typeface="Inter"/>
              <a:cs typeface="Inter"/>
              <a:sym typeface="Inter"/>
            </a:endParaRPr>
          </a:p>
          <a:p>
            <a:pPr indent="-336550" lvl="0" marL="457200" rtl="0" algn="l">
              <a:lnSpc>
                <a:spcPct val="115000"/>
              </a:lnSpc>
              <a:spcBef>
                <a:spcPts val="0"/>
              </a:spcBef>
              <a:spcAft>
                <a:spcPts val="0"/>
              </a:spcAft>
              <a:buClr>
                <a:srgbClr val="1F1F1F"/>
              </a:buClr>
              <a:buSzPts val="1700"/>
              <a:buFont typeface="Inter"/>
              <a:buChar char="●"/>
            </a:pPr>
            <a:r>
              <a:rPr lang="en" sz="1700">
                <a:solidFill>
                  <a:srgbClr val="1F1F1F"/>
                </a:solidFill>
                <a:latin typeface="Inter"/>
                <a:ea typeface="Inter"/>
                <a:cs typeface="Inter"/>
                <a:sym typeface="Inter"/>
              </a:rPr>
              <a:t>Die Umgebung enthält vorinstallierte Werkzeuge wie Kali Linux, Hashcat, John tools und Offline Cracking Tools.</a:t>
            </a:r>
            <a:endParaRPr sz="1700">
              <a:solidFill>
                <a:srgbClr val="1F1F1F"/>
              </a:solidFill>
              <a:latin typeface="Inter"/>
              <a:ea typeface="Inter"/>
              <a:cs typeface="Inter"/>
              <a:sym typeface="Inter"/>
            </a:endParaRPr>
          </a:p>
          <a:p>
            <a:pPr indent="-336550" lvl="0" marL="457200" rtl="0" algn="l">
              <a:lnSpc>
                <a:spcPct val="115000"/>
              </a:lnSpc>
              <a:spcBef>
                <a:spcPts val="0"/>
              </a:spcBef>
              <a:spcAft>
                <a:spcPts val="0"/>
              </a:spcAft>
              <a:buClr>
                <a:srgbClr val="1F1F1F"/>
              </a:buClr>
              <a:buSzPts val="1700"/>
              <a:buFont typeface="Inter"/>
              <a:buChar char="●"/>
            </a:pPr>
            <a:r>
              <a:rPr lang="en" sz="1700">
                <a:solidFill>
                  <a:srgbClr val="1F1F1F"/>
                </a:solidFill>
                <a:latin typeface="Inter"/>
                <a:ea typeface="Inter"/>
                <a:cs typeface="Inter"/>
                <a:sym typeface="Inter"/>
              </a:rPr>
              <a:t>Netzwerk- und Firewallregeln blockieren technisch jeden Outbound-Traffic aus dieser spezifischen Umgebung in reguläres Campus Netz (Strict Isolation).</a:t>
            </a:r>
            <a:endParaRPr b="1" sz="1700">
              <a:solidFill>
                <a:srgbClr val="1F1F1F"/>
              </a:solidFill>
              <a:latin typeface="Inter"/>
              <a:ea typeface="Inter"/>
              <a:cs typeface="Inter"/>
              <a:sym typeface="Inter"/>
            </a:endParaRPr>
          </a:p>
        </p:txBody>
      </p:sp>
      <p:pic>
        <p:nvPicPr>
          <p:cNvPr id="534" name="Google Shape;534;p54"/>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535" name="Google Shape;535;p54"/>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Christina Schultz</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55"/>
          <p:cNvSpPr/>
          <p:nvPr/>
        </p:nvSpPr>
        <p:spPr>
          <a:xfrm>
            <a:off x="800100" y="3202409"/>
            <a:ext cx="1714500" cy="1368697"/>
          </a:xfrm>
          <a:prstGeom prst="roundRect">
            <a:avLst>
              <a:gd fmla="val 8351"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41" name="Google Shape;541;p55"/>
          <p:cNvSpPr/>
          <p:nvPr/>
        </p:nvSpPr>
        <p:spPr>
          <a:xfrm>
            <a:off x="2743200" y="3202409"/>
            <a:ext cx="1714500" cy="1368697"/>
          </a:xfrm>
          <a:prstGeom prst="roundRect">
            <a:avLst>
              <a:gd fmla="val 8351"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42" name="Google Shape;542;p55"/>
          <p:cNvSpPr/>
          <p:nvPr/>
        </p:nvSpPr>
        <p:spPr>
          <a:xfrm>
            <a:off x="4686300" y="3202409"/>
            <a:ext cx="1714500" cy="1368697"/>
          </a:xfrm>
          <a:prstGeom prst="roundRect">
            <a:avLst>
              <a:gd fmla="val 8351"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43" name="Google Shape;543;p55"/>
          <p:cNvSpPr/>
          <p:nvPr/>
        </p:nvSpPr>
        <p:spPr>
          <a:xfrm>
            <a:off x="6629400" y="3202409"/>
            <a:ext cx="1714500" cy="1368697"/>
          </a:xfrm>
          <a:prstGeom prst="roundRect">
            <a:avLst>
              <a:gd fmla="val 8351"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image.png" id="544" name="Google Shape;544;p55"/>
          <p:cNvPicPr preferRelativeResize="0"/>
          <p:nvPr/>
        </p:nvPicPr>
        <p:blipFill rotWithShape="1">
          <a:blip r:embed="rId3">
            <a:alphaModFix/>
          </a:blip>
          <a:srcRect b="0" l="0" r="0" t="0"/>
          <a:stretch/>
        </p:blipFill>
        <p:spPr>
          <a:xfrm>
            <a:off x="1443038" y="3438152"/>
            <a:ext cx="428625" cy="342900"/>
          </a:xfrm>
          <a:prstGeom prst="rect">
            <a:avLst/>
          </a:prstGeom>
          <a:noFill/>
          <a:ln>
            <a:noFill/>
          </a:ln>
        </p:spPr>
      </p:pic>
      <p:pic>
        <p:nvPicPr>
          <p:cNvPr descr="image.png" id="545" name="Google Shape;545;p55"/>
          <p:cNvPicPr preferRelativeResize="0"/>
          <p:nvPr/>
        </p:nvPicPr>
        <p:blipFill rotWithShape="1">
          <a:blip r:embed="rId4">
            <a:alphaModFix/>
          </a:blip>
          <a:srcRect b="0" l="0" r="0" t="0"/>
          <a:stretch/>
        </p:blipFill>
        <p:spPr>
          <a:xfrm>
            <a:off x="3429000" y="3438152"/>
            <a:ext cx="342900" cy="342900"/>
          </a:xfrm>
          <a:prstGeom prst="rect">
            <a:avLst/>
          </a:prstGeom>
          <a:noFill/>
          <a:ln>
            <a:noFill/>
          </a:ln>
        </p:spPr>
      </p:pic>
      <p:pic>
        <p:nvPicPr>
          <p:cNvPr descr="image.png" id="546" name="Google Shape;546;p55"/>
          <p:cNvPicPr preferRelativeResize="0"/>
          <p:nvPr/>
        </p:nvPicPr>
        <p:blipFill rotWithShape="1">
          <a:blip r:embed="rId5">
            <a:alphaModFix/>
          </a:blip>
          <a:srcRect b="0" l="0" r="0" t="0"/>
          <a:stretch/>
        </p:blipFill>
        <p:spPr>
          <a:xfrm>
            <a:off x="5372100" y="3438152"/>
            <a:ext cx="342900" cy="342900"/>
          </a:xfrm>
          <a:prstGeom prst="rect">
            <a:avLst/>
          </a:prstGeom>
          <a:noFill/>
          <a:ln>
            <a:noFill/>
          </a:ln>
        </p:spPr>
      </p:pic>
      <p:pic>
        <p:nvPicPr>
          <p:cNvPr descr="image.png" id="547" name="Google Shape;547;p55"/>
          <p:cNvPicPr preferRelativeResize="0"/>
          <p:nvPr/>
        </p:nvPicPr>
        <p:blipFill rotWithShape="1">
          <a:blip r:embed="rId6">
            <a:alphaModFix/>
          </a:blip>
          <a:srcRect b="0" l="0" r="0" t="0"/>
          <a:stretch/>
        </p:blipFill>
        <p:spPr>
          <a:xfrm>
            <a:off x="7315200" y="3438152"/>
            <a:ext cx="342900" cy="342900"/>
          </a:xfrm>
          <a:prstGeom prst="rect">
            <a:avLst/>
          </a:prstGeom>
          <a:noFill/>
          <a:ln>
            <a:noFill/>
          </a:ln>
        </p:spPr>
      </p:pic>
      <p:sp>
        <p:nvSpPr>
          <p:cNvPr id="548" name="Google Shape;548;p55"/>
          <p:cNvSpPr txBox="1"/>
          <p:nvPr/>
        </p:nvSpPr>
        <p:spPr>
          <a:xfrm>
            <a:off x="107156" y="1179500"/>
            <a:ext cx="8929688" cy="1079934"/>
          </a:xfrm>
          <a:prstGeom prst="rect">
            <a:avLst/>
          </a:prstGeom>
          <a:noFill/>
          <a:ln>
            <a:noFill/>
          </a:ln>
        </p:spPr>
        <p:txBody>
          <a:bodyPr anchorCtr="0" anchor="t" bIns="0" lIns="0" spcFirstLastPara="1" rIns="0" wrap="square" tIns="0">
            <a:spAutoFit/>
          </a:bodyPr>
          <a:lstStyle/>
          <a:p>
            <a:pPr indent="0" lvl="0" marL="0" marR="0" rtl="0" algn="ctr">
              <a:lnSpc>
                <a:spcPct val="139962"/>
              </a:lnSpc>
              <a:spcBef>
                <a:spcPts val="0"/>
              </a:spcBef>
              <a:spcAft>
                <a:spcPts val="0"/>
              </a:spcAft>
              <a:buNone/>
            </a:pPr>
            <a:r>
              <a:rPr b="1" i="0" lang="en" sz="2000" u="none" cap="none" strike="noStrike">
                <a:solidFill>
                  <a:srgbClr val="1E3A8A"/>
                </a:solidFill>
                <a:latin typeface="Plus Jakarta Sans"/>
                <a:ea typeface="Plus Jakarta Sans"/>
                <a:cs typeface="Plus Jakarta Sans"/>
                <a:sym typeface="Plus Jakarta Sans"/>
              </a:rPr>
              <a:t>Nach der Spezifikation läuft der Agent eigenständig los, setzt die Anforderung qualitätsgesichert um und bringt sie in den Einsatz – ohne dass die Codebasis degradiert.</a:t>
            </a:r>
            <a:endParaRPr sz="1100"/>
          </a:p>
        </p:txBody>
      </p:sp>
      <p:sp>
        <p:nvSpPr>
          <p:cNvPr id="549" name="Google Shape;549;p55"/>
          <p:cNvSpPr txBox="1"/>
          <p:nvPr/>
        </p:nvSpPr>
        <p:spPr>
          <a:xfrm>
            <a:off x="457429" y="4786884"/>
            <a:ext cx="240030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Max Rommel</a:t>
            </a:r>
            <a:endParaRPr sz="1100"/>
          </a:p>
        </p:txBody>
      </p:sp>
      <p:sp>
        <p:nvSpPr>
          <p:cNvPr id="550" name="Google Shape;550;p55"/>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26</a:t>
            </a:r>
            <a:endParaRPr sz="1100"/>
          </a:p>
        </p:txBody>
      </p:sp>
      <p:sp>
        <p:nvSpPr>
          <p:cNvPr id="551" name="Google Shape;551;p55"/>
          <p:cNvSpPr txBox="1"/>
          <p:nvPr/>
        </p:nvSpPr>
        <p:spPr>
          <a:xfrm>
            <a:off x="457429" y="651510"/>
            <a:ext cx="7475100" cy="307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2000" u="none" cap="none" strike="noStrike">
                <a:solidFill>
                  <a:srgbClr val="0F172A"/>
                </a:solidFill>
                <a:latin typeface="Plus Jakarta Sans"/>
                <a:ea typeface="Plus Jakarta Sans"/>
                <a:cs typeface="Plus Jakarta Sans"/>
                <a:sym typeface="Plus Jakarta Sans"/>
              </a:rPr>
              <a:t>Spezifikation rein, geprüfte Lieferung raus</a:t>
            </a:r>
            <a:endParaRPr sz="1300"/>
          </a:p>
        </p:txBody>
      </p:sp>
      <p:sp>
        <p:nvSpPr>
          <p:cNvPr id="552" name="Google Shape;552;p55"/>
          <p:cNvSpPr txBox="1"/>
          <p:nvPr/>
        </p:nvSpPr>
        <p:spPr>
          <a:xfrm>
            <a:off x="457429" y="2702052"/>
            <a:ext cx="8229600" cy="260604"/>
          </a:xfrm>
          <a:prstGeom prst="rect">
            <a:avLst/>
          </a:prstGeom>
          <a:noFill/>
          <a:ln>
            <a:noFill/>
          </a:ln>
        </p:spPr>
        <p:txBody>
          <a:bodyPr anchorCtr="0" anchor="t" bIns="0" lIns="0" spcFirstLastPara="1" rIns="0" wrap="square" tIns="0">
            <a:spAutoFit/>
          </a:bodyPr>
          <a:lstStyle/>
          <a:p>
            <a:pPr indent="0" lvl="0" marL="0" marR="0" rtl="0" algn="ctr">
              <a:lnSpc>
                <a:spcPct val="135000"/>
              </a:lnSpc>
              <a:spcBef>
                <a:spcPts val="0"/>
              </a:spcBef>
              <a:spcAft>
                <a:spcPts val="0"/>
              </a:spcAft>
              <a:buNone/>
            </a:pPr>
            <a:r>
              <a:rPr b="1" i="0" lang="en" sz="1500" u="none" cap="none" strike="noStrike">
                <a:solidFill>
                  <a:srgbClr val="475569"/>
                </a:solidFill>
                <a:latin typeface="Plus Jakarta Sans"/>
                <a:ea typeface="Plus Jakarta Sans"/>
                <a:cs typeface="Plus Jakarta Sans"/>
                <a:sym typeface="Plus Jakarta Sans"/>
              </a:rPr>
              <a:t>DAFÜR BRAUCHT DER AGENT WERKZEUGE ZUM:</a:t>
            </a:r>
            <a:endParaRPr sz="1100"/>
          </a:p>
        </p:txBody>
      </p:sp>
      <p:sp>
        <p:nvSpPr>
          <p:cNvPr id="553" name="Google Shape;553;p55"/>
          <p:cNvSpPr txBox="1"/>
          <p:nvPr/>
        </p:nvSpPr>
        <p:spPr>
          <a:xfrm>
            <a:off x="991642" y="3923927"/>
            <a:ext cx="1331416" cy="233172"/>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Entwickeln</a:t>
            </a:r>
            <a:endParaRPr sz="1100"/>
          </a:p>
        </p:txBody>
      </p:sp>
      <p:sp>
        <p:nvSpPr>
          <p:cNvPr id="554" name="Google Shape;554;p55"/>
          <p:cNvSpPr txBox="1"/>
          <p:nvPr/>
        </p:nvSpPr>
        <p:spPr>
          <a:xfrm>
            <a:off x="2934742" y="3923927"/>
            <a:ext cx="1331416" cy="233172"/>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Debuggen</a:t>
            </a:r>
            <a:endParaRPr sz="1100"/>
          </a:p>
        </p:txBody>
      </p:sp>
      <p:sp>
        <p:nvSpPr>
          <p:cNvPr id="555" name="Google Shape;555;p55"/>
          <p:cNvSpPr txBox="1"/>
          <p:nvPr/>
        </p:nvSpPr>
        <p:spPr>
          <a:xfrm>
            <a:off x="4877842" y="3923927"/>
            <a:ext cx="1331416" cy="466344"/>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Qualität sichern</a:t>
            </a:r>
            <a:endParaRPr sz="1100"/>
          </a:p>
        </p:txBody>
      </p:sp>
      <p:sp>
        <p:nvSpPr>
          <p:cNvPr id="556" name="Google Shape;556;p55"/>
          <p:cNvSpPr txBox="1"/>
          <p:nvPr/>
        </p:nvSpPr>
        <p:spPr>
          <a:xfrm>
            <a:off x="6820942" y="3923927"/>
            <a:ext cx="1331416" cy="233172"/>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Deployen</a:t>
            </a:r>
            <a:endParaRPr sz="1100"/>
          </a:p>
        </p:txBody>
      </p:sp>
      <p:pic>
        <p:nvPicPr>
          <p:cNvPr id="557" name="Google Shape;557;p55"/>
          <p:cNvPicPr preferRelativeResize="0"/>
          <p:nvPr/>
        </p:nvPicPr>
        <p:blipFill>
          <a:blip r:embed="rId7">
            <a:alphaModFix/>
          </a:blip>
          <a:stretch>
            <a:fillRect/>
          </a:stretch>
        </p:blipFill>
        <p:spPr>
          <a:xfrm>
            <a:off x="8366800" y="0"/>
            <a:ext cx="777200" cy="58816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61" name="Shape 561"/>
        <p:cNvGrpSpPr/>
        <p:nvPr/>
      </p:nvGrpSpPr>
      <p:grpSpPr>
        <a:xfrm>
          <a:off x="0" y="0"/>
          <a:ext cx="0" cy="0"/>
          <a:chOff x="0" y="0"/>
          <a:chExt cx="0" cy="0"/>
        </a:xfrm>
      </p:grpSpPr>
      <p:sp>
        <p:nvSpPr>
          <p:cNvPr id="562" name="Google Shape;562;p56"/>
          <p:cNvSpPr/>
          <p:nvPr/>
        </p:nvSpPr>
        <p:spPr>
          <a:xfrm>
            <a:off x="457200" y="1152144"/>
            <a:ext cx="2347949" cy="973836"/>
          </a:xfrm>
          <a:prstGeom prst="roundRect">
            <a:avLst>
              <a:gd fmla="val 9570" name="adj"/>
            </a:avLst>
          </a:prstGeom>
          <a:solidFill>
            <a:srgbClr val="FFFFFF"/>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63" name="Google Shape;563;p56"/>
          <p:cNvSpPr/>
          <p:nvPr/>
        </p:nvSpPr>
        <p:spPr>
          <a:xfrm>
            <a:off x="3412368" y="1097280"/>
            <a:ext cx="2333662" cy="1083564"/>
          </a:xfrm>
          <a:prstGeom prst="roundRect">
            <a:avLst>
              <a:gd fmla="val 8197" name="adj"/>
            </a:avLst>
          </a:prstGeom>
          <a:solidFill>
            <a:srgbClr val="0F172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64" name="Google Shape;564;p56"/>
          <p:cNvSpPr/>
          <p:nvPr/>
        </p:nvSpPr>
        <p:spPr>
          <a:xfrm>
            <a:off x="6353249" y="1152144"/>
            <a:ext cx="2333662" cy="973836"/>
          </a:xfrm>
          <a:prstGeom prst="roundRect">
            <a:avLst>
              <a:gd fmla="val 9685" name="adj"/>
            </a:avLst>
          </a:prstGeom>
          <a:solidFill>
            <a:srgbClr val="C8DA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65" name="Google Shape;565;p56"/>
          <p:cNvSpPr/>
          <p:nvPr/>
        </p:nvSpPr>
        <p:spPr>
          <a:xfrm>
            <a:off x="457200" y="2318004"/>
            <a:ext cx="3971925" cy="1440180"/>
          </a:xfrm>
          <a:prstGeom prst="roundRect">
            <a:avLst>
              <a:gd fmla="val 6791" name="adj"/>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66" name="Google Shape;566;p56"/>
          <p:cNvSpPr/>
          <p:nvPr/>
        </p:nvSpPr>
        <p:spPr>
          <a:xfrm>
            <a:off x="4714875" y="2318004"/>
            <a:ext cx="3971925" cy="1440180"/>
          </a:xfrm>
          <a:prstGeom prst="roundRect">
            <a:avLst>
              <a:gd fmla="val 6791" name="adj"/>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67" name="Google Shape;567;p56"/>
          <p:cNvSpPr/>
          <p:nvPr/>
        </p:nvSpPr>
        <p:spPr>
          <a:xfrm>
            <a:off x="457200" y="2318004"/>
            <a:ext cx="57150" cy="1440180"/>
          </a:xfrm>
          <a:prstGeom prst="rect">
            <a:avLst/>
          </a:prstGeom>
          <a:solidFill>
            <a:srgbClr val="C8DA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68" name="Google Shape;568;p56"/>
          <p:cNvSpPr/>
          <p:nvPr/>
        </p:nvSpPr>
        <p:spPr>
          <a:xfrm>
            <a:off x="4714875" y="2318004"/>
            <a:ext cx="57150" cy="1440180"/>
          </a:xfrm>
          <a:prstGeom prst="rect">
            <a:avLst/>
          </a:prstGeom>
          <a:solidFill>
            <a:srgbClr val="0F172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69" name="Google Shape;569;p56"/>
          <p:cNvSpPr txBox="1"/>
          <p:nvPr/>
        </p:nvSpPr>
        <p:spPr>
          <a:xfrm>
            <a:off x="457204" y="3952430"/>
            <a:ext cx="8229600" cy="6402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 sz="1300" u="none" cap="none" strike="noStrike">
                <a:solidFill>
                  <a:srgbClr val="64748B"/>
                </a:solidFill>
                <a:latin typeface="Plus Jakarta Sans"/>
                <a:ea typeface="Plus Jakarta Sans"/>
                <a:cs typeface="Plus Jakarta Sans"/>
                <a:sym typeface="Plus Jakarta Sans"/>
              </a:rPr>
              <a:t>Quellen: B. Böckeler (2026), „Harness engineering for coding agent users“, martinfowler.com · R. Lopopolo (2026), „Harness engineering: leveraging Codex in an agent-first world“, OpenAI · Formel „Agent = Model + Harness“: LangChain, „The Anatomy of an Agent Harness“</a:t>
            </a:r>
            <a:endParaRPr sz="900"/>
          </a:p>
        </p:txBody>
      </p:sp>
      <p:sp>
        <p:nvSpPr>
          <p:cNvPr id="570" name="Google Shape;570;p56"/>
          <p:cNvSpPr txBox="1"/>
          <p:nvPr/>
        </p:nvSpPr>
        <p:spPr>
          <a:xfrm>
            <a:off x="457429" y="4786884"/>
            <a:ext cx="240030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Max Rommel</a:t>
            </a:r>
            <a:endParaRPr sz="1100"/>
          </a:p>
        </p:txBody>
      </p:sp>
      <p:sp>
        <p:nvSpPr>
          <p:cNvPr id="571" name="Google Shape;571;p56"/>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27</a:t>
            </a:r>
            <a:endParaRPr sz="1100"/>
          </a:p>
        </p:txBody>
      </p:sp>
      <p:sp>
        <p:nvSpPr>
          <p:cNvPr id="572" name="Google Shape;572;p56"/>
          <p:cNvSpPr txBox="1"/>
          <p:nvPr/>
        </p:nvSpPr>
        <p:spPr>
          <a:xfrm>
            <a:off x="525779" y="323135"/>
            <a:ext cx="7475100" cy="307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2000" u="none" cap="none" strike="noStrike">
                <a:solidFill>
                  <a:srgbClr val="0F172A"/>
                </a:solidFill>
                <a:latin typeface="Plus Jakarta Sans"/>
                <a:ea typeface="Plus Jakarta Sans"/>
                <a:cs typeface="Plus Jakarta Sans"/>
                <a:sym typeface="Plus Jakarta Sans"/>
              </a:rPr>
              <a:t>Ein Harness ist alles am Agenten außer dem Modell</a:t>
            </a:r>
            <a:endParaRPr b="1" sz="1300"/>
          </a:p>
        </p:txBody>
      </p:sp>
      <p:sp>
        <p:nvSpPr>
          <p:cNvPr id="573" name="Google Shape;573;p56"/>
          <p:cNvSpPr txBox="1"/>
          <p:nvPr/>
        </p:nvSpPr>
        <p:spPr>
          <a:xfrm>
            <a:off x="2976372" y="1392174"/>
            <a:ext cx="480060" cy="50063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3200" u="none" cap="none" strike="noStrike">
                <a:solidFill>
                  <a:srgbClr val="0F172A"/>
                </a:solidFill>
                <a:latin typeface="Plus Jakarta Sans"/>
                <a:ea typeface="Plus Jakarta Sans"/>
                <a:cs typeface="Plus Jakarta Sans"/>
                <a:sym typeface="Plus Jakarta Sans"/>
              </a:rPr>
              <a:t>+</a:t>
            </a:r>
            <a:endParaRPr sz="1100"/>
          </a:p>
        </p:txBody>
      </p:sp>
      <p:sp>
        <p:nvSpPr>
          <p:cNvPr id="574" name="Google Shape;574;p56"/>
          <p:cNvSpPr txBox="1"/>
          <p:nvPr/>
        </p:nvSpPr>
        <p:spPr>
          <a:xfrm>
            <a:off x="5809604" y="1378462"/>
            <a:ext cx="480000" cy="492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3200" u="none" cap="none" strike="noStrike">
                <a:solidFill>
                  <a:srgbClr val="0F172A"/>
                </a:solidFill>
                <a:latin typeface="Plus Jakarta Sans"/>
                <a:ea typeface="Plus Jakarta Sans"/>
                <a:cs typeface="Plus Jakarta Sans"/>
                <a:sym typeface="Plus Jakarta Sans"/>
              </a:rPr>
              <a:t>=</a:t>
            </a:r>
            <a:endParaRPr sz="1100"/>
          </a:p>
        </p:txBody>
      </p:sp>
      <p:sp>
        <p:nvSpPr>
          <p:cNvPr id="575" name="Google Shape;575;p56"/>
          <p:cNvSpPr txBox="1"/>
          <p:nvPr/>
        </p:nvSpPr>
        <p:spPr>
          <a:xfrm>
            <a:off x="525780" y="1238898"/>
            <a:ext cx="2210789" cy="30861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 sz="2000" u="none" cap="none" strike="noStrike">
                <a:solidFill>
                  <a:srgbClr val="1E3A8A"/>
                </a:solidFill>
                <a:latin typeface="Plus Jakarta Sans"/>
                <a:ea typeface="Plus Jakarta Sans"/>
                <a:cs typeface="Plus Jakarta Sans"/>
                <a:sym typeface="Plus Jakarta Sans"/>
              </a:rPr>
              <a:t>Modell</a:t>
            </a:r>
            <a:endParaRPr sz="1100"/>
          </a:p>
        </p:txBody>
      </p:sp>
      <p:sp>
        <p:nvSpPr>
          <p:cNvPr id="576" name="Google Shape;576;p56"/>
          <p:cNvSpPr txBox="1"/>
          <p:nvPr/>
        </p:nvSpPr>
        <p:spPr>
          <a:xfrm>
            <a:off x="594360" y="1581798"/>
            <a:ext cx="2073629" cy="457429"/>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 sz="1500" u="none" cap="none" strike="noStrike">
                <a:solidFill>
                  <a:srgbClr val="475569"/>
                </a:solidFill>
                <a:latin typeface="Plus Jakarta Sans"/>
                <a:ea typeface="Plus Jakarta Sans"/>
                <a:cs typeface="Plus Jakarta Sans"/>
                <a:sym typeface="Plus Jakarta Sans"/>
              </a:rPr>
              <a:t>Liefert die pure Intelligenz.</a:t>
            </a:r>
            <a:endParaRPr sz="1100"/>
          </a:p>
        </p:txBody>
      </p:sp>
      <p:sp>
        <p:nvSpPr>
          <p:cNvPr id="577" name="Google Shape;577;p56"/>
          <p:cNvSpPr txBox="1"/>
          <p:nvPr/>
        </p:nvSpPr>
        <p:spPr>
          <a:xfrm>
            <a:off x="3480948" y="1238898"/>
            <a:ext cx="2196502" cy="30861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 sz="2000" u="none" cap="none" strike="noStrike">
                <a:solidFill>
                  <a:srgbClr val="FFFFFF"/>
                </a:solidFill>
                <a:latin typeface="Plus Jakarta Sans"/>
                <a:ea typeface="Plus Jakarta Sans"/>
                <a:cs typeface="Plus Jakarta Sans"/>
                <a:sym typeface="Plus Jakarta Sans"/>
              </a:rPr>
              <a:t>Harness</a:t>
            </a:r>
            <a:endParaRPr sz="1100"/>
          </a:p>
        </p:txBody>
      </p:sp>
      <p:sp>
        <p:nvSpPr>
          <p:cNvPr id="578" name="Google Shape;578;p56"/>
          <p:cNvSpPr txBox="1"/>
          <p:nvPr/>
        </p:nvSpPr>
        <p:spPr>
          <a:xfrm>
            <a:off x="3549528" y="1581798"/>
            <a:ext cx="2059342" cy="457429"/>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 sz="1500" u="none" cap="none" strike="noStrike">
                <a:solidFill>
                  <a:srgbClr val="CBD5E1"/>
                </a:solidFill>
                <a:latin typeface="Plus Jakarta Sans"/>
                <a:ea typeface="Plus Jakarta Sans"/>
                <a:cs typeface="Plus Jakarta Sans"/>
                <a:sym typeface="Plus Jakarta Sans"/>
              </a:rPr>
              <a:t>Liefert Kontext, Tools &amp; Grenzen.</a:t>
            </a:r>
            <a:endParaRPr sz="1100"/>
          </a:p>
        </p:txBody>
      </p:sp>
      <p:sp>
        <p:nvSpPr>
          <p:cNvPr id="579" name="Google Shape;579;p56"/>
          <p:cNvSpPr txBox="1"/>
          <p:nvPr/>
        </p:nvSpPr>
        <p:spPr>
          <a:xfrm>
            <a:off x="6421754" y="1239298"/>
            <a:ext cx="2196600" cy="307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 sz="2000" u="none" cap="none" strike="noStrike">
                <a:solidFill>
                  <a:schemeClr val="dk1"/>
                </a:solidFill>
                <a:latin typeface="Plus Jakarta Sans"/>
                <a:ea typeface="Plus Jakarta Sans"/>
                <a:cs typeface="Plus Jakarta Sans"/>
                <a:sym typeface="Plus Jakarta Sans"/>
              </a:rPr>
              <a:t>Agent</a:t>
            </a:r>
            <a:endParaRPr sz="1100">
              <a:solidFill>
                <a:schemeClr val="dk1"/>
              </a:solidFill>
            </a:endParaRPr>
          </a:p>
        </p:txBody>
      </p:sp>
      <p:sp>
        <p:nvSpPr>
          <p:cNvPr id="580" name="Google Shape;580;p56"/>
          <p:cNvSpPr txBox="1"/>
          <p:nvPr/>
        </p:nvSpPr>
        <p:spPr>
          <a:xfrm>
            <a:off x="6490409" y="1581798"/>
            <a:ext cx="2059200" cy="507900"/>
          </a:xfrm>
          <a:prstGeom prst="rect">
            <a:avLst/>
          </a:prstGeom>
          <a:noFill/>
          <a:ln cap="flat" cmpd="sng" w="9525">
            <a:solidFill>
              <a:srgbClr val="C8DAF7"/>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 sz="1500" u="none" cap="none" strike="noStrike">
                <a:solidFill>
                  <a:schemeClr val="dk1"/>
                </a:solidFill>
                <a:latin typeface="Plus Jakarta Sans"/>
                <a:ea typeface="Plus Jakarta Sans"/>
                <a:cs typeface="Plus Jakarta Sans"/>
                <a:sym typeface="Plus Jakarta Sans"/>
              </a:rPr>
              <a:t>Das ausführende </a:t>
            </a:r>
            <a:endParaRPr b="0" i="0" sz="1500" u="none" cap="none" strike="noStrike">
              <a:solidFill>
                <a:schemeClr val="dk1"/>
              </a:solidFill>
              <a:latin typeface="Plus Jakarta Sans"/>
              <a:ea typeface="Plus Jakarta Sans"/>
              <a:cs typeface="Plus Jakarta Sans"/>
              <a:sym typeface="Plus Jakarta Sans"/>
            </a:endParaRPr>
          </a:p>
          <a:p>
            <a:pPr indent="0" lvl="0" marL="0" marR="0" rtl="0" algn="ctr">
              <a:lnSpc>
                <a:spcPct val="120000"/>
              </a:lnSpc>
              <a:spcBef>
                <a:spcPts val="0"/>
              </a:spcBef>
              <a:spcAft>
                <a:spcPts val="0"/>
              </a:spcAft>
              <a:buNone/>
            </a:pPr>
            <a:r>
              <a:rPr b="0" i="0" lang="en" sz="1500" u="none" cap="none" strike="noStrike">
                <a:solidFill>
                  <a:schemeClr val="dk1"/>
                </a:solidFill>
                <a:latin typeface="Plus Jakarta Sans"/>
                <a:ea typeface="Plus Jakarta Sans"/>
                <a:cs typeface="Plus Jakarta Sans"/>
                <a:sym typeface="Plus Jakarta Sans"/>
              </a:rPr>
              <a:t>System.</a:t>
            </a:r>
            <a:endParaRPr sz="1100">
              <a:solidFill>
                <a:schemeClr val="dk1"/>
              </a:solidFill>
            </a:endParaRPr>
          </a:p>
        </p:txBody>
      </p:sp>
      <p:sp>
        <p:nvSpPr>
          <p:cNvPr id="581" name="Google Shape;581;p56"/>
          <p:cNvSpPr txBox="1"/>
          <p:nvPr/>
        </p:nvSpPr>
        <p:spPr>
          <a:xfrm>
            <a:off x="745465" y="2414016"/>
            <a:ext cx="3545700" cy="231000"/>
          </a:xfrm>
          <a:prstGeom prst="rect">
            <a:avLst/>
          </a:prstGeom>
          <a:solidFill>
            <a:schemeClr val="lt1"/>
          </a:solid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chemeClr val="dk1"/>
                </a:solidFill>
                <a:latin typeface="Plus Jakarta Sans"/>
                <a:ea typeface="Plus Jakarta Sans"/>
                <a:cs typeface="Plus Jakarta Sans"/>
                <a:sym typeface="Plus Jakarta Sans"/>
              </a:rPr>
              <a:t>FEEDFORWARD</a:t>
            </a:r>
            <a:endParaRPr sz="1100">
              <a:solidFill>
                <a:schemeClr val="dk1"/>
              </a:solidFill>
            </a:endParaRPr>
          </a:p>
        </p:txBody>
      </p:sp>
      <p:sp>
        <p:nvSpPr>
          <p:cNvPr id="582" name="Google Shape;582;p56"/>
          <p:cNvSpPr txBox="1"/>
          <p:nvPr/>
        </p:nvSpPr>
        <p:spPr>
          <a:xfrm>
            <a:off x="745465" y="2647188"/>
            <a:ext cx="3545586" cy="246888"/>
          </a:xfrm>
          <a:prstGeom prst="rect">
            <a:avLst/>
          </a:prstGeom>
          <a:noFill/>
          <a:ln>
            <a:noFill/>
          </a:ln>
        </p:spPr>
        <p:txBody>
          <a:bodyPr anchorCtr="0" anchor="t" bIns="0" lIns="0" spcFirstLastPara="1" rIns="0" wrap="square" tIns="0">
            <a:spAutoFit/>
          </a:bodyPr>
          <a:lstStyle/>
          <a:p>
            <a:pPr indent="0" lvl="0" marL="0" marR="0" rtl="0" algn="l">
              <a:lnSpc>
                <a:spcPct val="119047"/>
              </a:lnSpc>
              <a:spcBef>
                <a:spcPts val="0"/>
              </a:spcBef>
              <a:spcAft>
                <a:spcPts val="0"/>
              </a:spcAft>
              <a:buNone/>
            </a:pPr>
            <a:r>
              <a:rPr b="1" i="0" lang="en" sz="1600" u="none" cap="none" strike="noStrike">
                <a:solidFill>
                  <a:srgbClr val="0F172A"/>
                </a:solidFill>
                <a:latin typeface="Plus Jakarta Sans"/>
                <a:ea typeface="Plus Jakarta Sans"/>
                <a:cs typeface="Plus Jakarta Sans"/>
                <a:sym typeface="Plus Jakarta Sans"/>
              </a:rPr>
              <a:t>Guides</a:t>
            </a:r>
            <a:endParaRPr sz="1100"/>
          </a:p>
        </p:txBody>
      </p:sp>
      <p:sp>
        <p:nvSpPr>
          <p:cNvPr id="583" name="Google Shape;583;p56"/>
          <p:cNvSpPr txBox="1"/>
          <p:nvPr/>
        </p:nvSpPr>
        <p:spPr>
          <a:xfrm>
            <a:off x="745465" y="2935224"/>
            <a:ext cx="3545586" cy="685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500" u="none" cap="none" strike="noStrike">
                <a:solidFill>
                  <a:srgbClr val="475569"/>
                </a:solidFill>
                <a:latin typeface="Plus Jakarta Sans"/>
                <a:ea typeface="Plus Jakarta Sans"/>
                <a:cs typeface="Plus Jakarta Sans"/>
                <a:sym typeface="Plus Jakarta Sans"/>
              </a:rPr>
              <a:t>Steuern zielgerichtet, </a:t>
            </a:r>
            <a:r>
              <a:rPr b="1" i="0" lang="en" sz="1500" u="none" cap="none" strike="noStrike">
                <a:solidFill>
                  <a:srgbClr val="475569"/>
                </a:solidFill>
                <a:latin typeface="Plus Jakarta Sans"/>
                <a:ea typeface="Plus Jakarta Sans"/>
                <a:cs typeface="Plus Jakarta Sans"/>
                <a:sym typeface="Plus Jakarta Sans"/>
              </a:rPr>
              <a:t>bevor</a:t>
            </a:r>
            <a:r>
              <a:rPr b="0" i="0" lang="en" sz="1500" u="none" cap="none" strike="noStrike">
                <a:solidFill>
                  <a:srgbClr val="475569"/>
                </a:solidFill>
                <a:latin typeface="Plus Jakarta Sans"/>
                <a:ea typeface="Plus Jakarta Sans"/>
                <a:cs typeface="Plus Jakarta Sans"/>
                <a:sym typeface="Plus Jakarta Sans"/>
              </a:rPr>
              <a:t> der Agent handelt. Sie geben Arbeitsabläufe, Wissen und Systemkontext vor.</a:t>
            </a:r>
            <a:endParaRPr sz="1100"/>
          </a:p>
        </p:txBody>
      </p:sp>
      <p:sp>
        <p:nvSpPr>
          <p:cNvPr id="584" name="Google Shape;584;p56"/>
          <p:cNvSpPr txBox="1"/>
          <p:nvPr/>
        </p:nvSpPr>
        <p:spPr>
          <a:xfrm>
            <a:off x="5006340" y="2414016"/>
            <a:ext cx="3545586"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FEEDBACK</a:t>
            </a:r>
            <a:endParaRPr sz="1100"/>
          </a:p>
        </p:txBody>
      </p:sp>
      <p:sp>
        <p:nvSpPr>
          <p:cNvPr id="585" name="Google Shape;585;p56"/>
          <p:cNvSpPr txBox="1"/>
          <p:nvPr/>
        </p:nvSpPr>
        <p:spPr>
          <a:xfrm>
            <a:off x="5006340" y="2647188"/>
            <a:ext cx="3545586" cy="246888"/>
          </a:xfrm>
          <a:prstGeom prst="rect">
            <a:avLst/>
          </a:prstGeom>
          <a:noFill/>
          <a:ln>
            <a:noFill/>
          </a:ln>
        </p:spPr>
        <p:txBody>
          <a:bodyPr anchorCtr="0" anchor="t" bIns="0" lIns="0" spcFirstLastPara="1" rIns="0" wrap="square" tIns="0">
            <a:spAutoFit/>
          </a:bodyPr>
          <a:lstStyle/>
          <a:p>
            <a:pPr indent="0" lvl="0" marL="0" marR="0" rtl="0" algn="l">
              <a:lnSpc>
                <a:spcPct val="119047"/>
              </a:lnSpc>
              <a:spcBef>
                <a:spcPts val="0"/>
              </a:spcBef>
              <a:spcAft>
                <a:spcPts val="0"/>
              </a:spcAft>
              <a:buNone/>
            </a:pPr>
            <a:r>
              <a:rPr b="1" i="0" lang="en" sz="1600" u="none" cap="none" strike="noStrike">
                <a:solidFill>
                  <a:srgbClr val="0F172A"/>
                </a:solidFill>
                <a:latin typeface="Plus Jakarta Sans"/>
                <a:ea typeface="Plus Jakarta Sans"/>
                <a:cs typeface="Plus Jakarta Sans"/>
                <a:sym typeface="Plus Jakarta Sans"/>
              </a:rPr>
              <a:t>Sensoren</a:t>
            </a:r>
            <a:endParaRPr sz="1100"/>
          </a:p>
        </p:txBody>
      </p:sp>
      <p:sp>
        <p:nvSpPr>
          <p:cNvPr id="586" name="Google Shape;586;p56"/>
          <p:cNvSpPr txBox="1"/>
          <p:nvPr/>
        </p:nvSpPr>
        <p:spPr>
          <a:xfrm>
            <a:off x="5006340" y="2935224"/>
            <a:ext cx="3545586" cy="685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500" u="none" cap="none" strike="noStrike">
                <a:solidFill>
                  <a:srgbClr val="475569"/>
                </a:solidFill>
                <a:latin typeface="Plus Jakarta Sans"/>
                <a:ea typeface="Plus Jakarta Sans"/>
                <a:cs typeface="Plus Jakarta Sans"/>
                <a:sym typeface="Plus Jakarta Sans"/>
              </a:rPr>
              <a:t>Prüfen das Ergebnis </a:t>
            </a:r>
            <a:r>
              <a:rPr b="1" i="0" lang="en" sz="1500" u="none" cap="none" strike="noStrike">
                <a:solidFill>
                  <a:srgbClr val="475569"/>
                </a:solidFill>
                <a:latin typeface="Plus Jakarta Sans"/>
                <a:ea typeface="Plus Jakarta Sans"/>
                <a:cs typeface="Plus Jakarta Sans"/>
                <a:sym typeface="Plus Jakarta Sans"/>
              </a:rPr>
              <a:t>danach</a:t>
            </a:r>
            <a:r>
              <a:rPr b="0" i="0" lang="en" sz="1500" u="none" cap="none" strike="noStrike">
                <a:solidFill>
                  <a:srgbClr val="475569"/>
                </a:solidFill>
                <a:latin typeface="Plus Jakarta Sans"/>
                <a:ea typeface="Plus Jakarta Sans"/>
                <a:cs typeface="Plus Jakarta Sans"/>
                <a:sym typeface="Plus Jakarta Sans"/>
              </a:rPr>
              <a:t>, damit der Agent sich selbst korrigiert (z.B. CI-Gates, automatische Linter, Tests).</a:t>
            </a:r>
            <a:endParaRPr sz="1100"/>
          </a:p>
        </p:txBody>
      </p:sp>
      <p:pic>
        <p:nvPicPr>
          <p:cNvPr id="587" name="Google Shape;587;p56"/>
          <p:cNvPicPr preferRelativeResize="0"/>
          <p:nvPr/>
        </p:nvPicPr>
        <p:blipFill>
          <a:blip r:embed="rId3">
            <a:alphaModFix/>
          </a:blip>
          <a:stretch>
            <a:fillRect/>
          </a:stretch>
        </p:blipFill>
        <p:spPr>
          <a:xfrm>
            <a:off x="8366800" y="0"/>
            <a:ext cx="777200" cy="58816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1" name="Shape 591"/>
        <p:cNvGrpSpPr/>
        <p:nvPr/>
      </p:nvGrpSpPr>
      <p:grpSpPr>
        <a:xfrm>
          <a:off x="0" y="0"/>
          <a:ext cx="0" cy="0"/>
          <a:chOff x="0" y="0"/>
          <a:chExt cx="0" cy="0"/>
        </a:xfrm>
      </p:grpSpPr>
      <p:sp>
        <p:nvSpPr>
          <p:cNvPr id="592" name="Google Shape;592;p57"/>
          <p:cNvSpPr/>
          <p:nvPr/>
        </p:nvSpPr>
        <p:spPr>
          <a:xfrm>
            <a:off x="457429" y="1165860"/>
            <a:ext cx="4000500" cy="1611630"/>
          </a:xfrm>
          <a:prstGeom prst="roundRect">
            <a:avLst>
              <a:gd fmla="val 6177"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93" name="Google Shape;593;p57"/>
          <p:cNvSpPr/>
          <p:nvPr/>
        </p:nvSpPr>
        <p:spPr>
          <a:xfrm>
            <a:off x="4686071" y="1165860"/>
            <a:ext cx="4000500" cy="1611630"/>
          </a:xfrm>
          <a:prstGeom prst="roundRect">
            <a:avLst>
              <a:gd fmla="val 6177"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94" name="Google Shape;594;p57"/>
          <p:cNvSpPr/>
          <p:nvPr/>
        </p:nvSpPr>
        <p:spPr>
          <a:xfrm>
            <a:off x="457429" y="2948940"/>
            <a:ext cx="4000500" cy="1611630"/>
          </a:xfrm>
          <a:prstGeom prst="roundRect">
            <a:avLst>
              <a:gd fmla="val 6177"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95" name="Google Shape;595;p57"/>
          <p:cNvSpPr/>
          <p:nvPr/>
        </p:nvSpPr>
        <p:spPr>
          <a:xfrm>
            <a:off x="4686071" y="2948940"/>
            <a:ext cx="4000500" cy="1611630"/>
          </a:xfrm>
          <a:prstGeom prst="roundRect">
            <a:avLst>
              <a:gd fmla="val 6177"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96" name="Google Shape;596;p57"/>
          <p:cNvSpPr txBox="1"/>
          <p:nvPr/>
        </p:nvSpPr>
        <p:spPr>
          <a:xfrm>
            <a:off x="457429" y="4786884"/>
            <a:ext cx="240030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Max Rommel</a:t>
            </a:r>
            <a:endParaRPr sz="1100"/>
          </a:p>
        </p:txBody>
      </p:sp>
      <p:sp>
        <p:nvSpPr>
          <p:cNvPr id="597" name="Google Shape;597;p57"/>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28</a:t>
            </a:r>
            <a:endParaRPr sz="1100"/>
          </a:p>
        </p:txBody>
      </p:sp>
      <p:sp>
        <p:nvSpPr>
          <p:cNvPr id="598" name="Google Shape;598;p57"/>
          <p:cNvSpPr txBox="1"/>
          <p:nvPr/>
        </p:nvSpPr>
        <p:spPr>
          <a:xfrm>
            <a:off x="457429" y="357560"/>
            <a:ext cx="7475100" cy="3231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2100" u="none" cap="none" strike="noStrike">
                <a:solidFill>
                  <a:srgbClr val="0F172A"/>
                </a:solidFill>
                <a:latin typeface="Plus Jakarta Sans"/>
                <a:ea typeface="Plus Jakarta Sans"/>
                <a:cs typeface="Plus Jakarta Sans"/>
                <a:sym typeface="Plus Jakarta Sans"/>
              </a:rPr>
              <a:t>Unser Harness besteht aus vier Ebenen</a:t>
            </a:r>
            <a:endParaRPr b="1"/>
          </a:p>
        </p:txBody>
      </p:sp>
      <p:sp>
        <p:nvSpPr>
          <p:cNvPr id="599" name="Google Shape;599;p57"/>
          <p:cNvSpPr txBox="1"/>
          <p:nvPr/>
        </p:nvSpPr>
        <p:spPr>
          <a:xfrm>
            <a:off x="800329" y="1769364"/>
            <a:ext cx="3451631"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2563EB"/>
                </a:solidFill>
                <a:latin typeface="Plus Jakarta Sans"/>
                <a:ea typeface="Plus Jakarta Sans"/>
                <a:cs typeface="Plus Jakarta Sans"/>
                <a:sym typeface="Plus Jakarta Sans"/>
              </a:rPr>
              <a:t>Kontext vor Handlung</a:t>
            </a:r>
            <a:endParaRPr sz="1100"/>
          </a:p>
        </p:txBody>
      </p:sp>
      <p:sp>
        <p:nvSpPr>
          <p:cNvPr id="600" name="Google Shape;600;p57"/>
          <p:cNvSpPr txBox="1"/>
          <p:nvPr/>
        </p:nvSpPr>
        <p:spPr>
          <a:xfrm>
            <a:off x="800329" y="2057400"/>
            <a:ext cx="3451631" cy="495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500" u="none" cap="none" strike="noStrike">
                <a:solidFill>
                  <a:srgbClr val="475569"/>
                </a:solidFill>
                <a:latin typeface="Plus Jakarta Sans"/>
                <a:ea typeface="Plus Jakarta Sans"/>
                <a:cs typeface="Plus Jakarta Sans"/>
                <a:sym typeface="Plus Jakarta Sans"/>
              </a:rPr>
              <a:t>CLAUDE.md · claude_docs/ · HANDOVER.md · Graphify · OpenAPI</a:t>
            </a:r>
            <a:endParaRPr sz="1100"/>
          </a:p>
        </p:txBody>
      </p:sp>
      <p:sp>
        <p:nvSpPr>
          <p:cNvPr id="601" name="Google Shape;601;p57"/>
          <p:cNvSpPr txBox="1"/>
          <p:nvPr/>
        </p:nvSpPr>
        <p:spPr>
          <a:xfrm>
            <a:off x="5028971" y="1769364"/>
            <a:ext cx="3451631"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2563EB"/>
                </a:solidFill>
                <a:latin typeface="Plus Jakarta Sans"/>
                <a:ea typeface="Plus Jakarta Sans"/>
                <a:cs typeface="Plus Jakarta Sans"/>
                <a:sym typeface="Plus Jakarta Sans"/>
              </a:rPr>
              <a:t>Standardisierte Arbeitsabläufe</a:t>
            </a:r>
            <a:endParaRPr sz="1100"/>
          </a:p>
        </p:txBody>
      </p:sp>
      <p:sp>
        <p:nvSpPr>
          <p:cNvPr id="602" name="Google Shape;602;p57"/>
          <p:cNvSpPr txBox="1"/>
          <p:nvPr/>
        </p:nvSpPr>
        <p:spPr>
          <a:xfrm>
            <a:off x="5028971" y="2057400"/>
            <a:ext cx="3451631" cy="495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500" u="none" cap="none" strike="noStrike">
                <a:solidFill>
                  <a:srgbClr val="475569"/>
                </a:solidFill>
                <a:latin typeface="Plus Jakarta Sans"/>
                <a:ea typeface="Plus Jakarta Sans"/>
                <a:cs typeface="Plus Jakarta Sans"/>
                <a:sym typeface="Plus Jakarta Sans"/>
              </a:rPr>
              <a:t>Brainstorming · TDD · Code Review · ship-feature · Ops-Skills</a:t>
            </a:r>
            <a:endParaRPr sz="1100"/>
          </a:p>
        </p:txBody>
      </p:sp>
      <p:sp>
        <p:nvSpPr>
          <p:cNvPr id="603" name="Google Shape;603;p57"/>
          <p:cNvSpPr txBox="1"/>
          <p:nvPr/>
        </p:nvSpPr>
        <p:spPr>
          <a:xfrm>
            <a:off x="800329" y="3552444"/>
            <a:ext cx="3451631"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2563EB"/>
                </a:solidFill>
                <a:latin typeface="Plus Jakarta Sans"/>
                <a:ea typeface="Plus Jakarta Sans"/>
                <a:cs typeface="Plus Jakarta Sans"/>
                <a:sym typeface="Plus Jakarta Sans"/>
              </a:rPr>
              <a:t>Kontrollierter Zugriff auf Systeme</a:t>
            </a:r>
            <a:endParaRPr sz="1100"/>
          </a:p>
        </p:txBody>
      </p:sp>
      <p:sp>
        <p:nvSpPr>
          <p:cNvPr id="604" name="Google Shape;604;p57"/>
          <p:cNvSpPr txBox="1"/>
          <p:nvPr/>
        </p:nvSpPr>
        <p:spPr>
          <a:xfrm>
            <a:off x="800329" y="3840480"/>
            <a:ext cx="3451631" cy="495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500" u="none" cap="none" strike="noStrike">
                <a:solidFill>
                  <a:srgbClr val="475569"/>
                </a:solidFill>
                <a:latin typeface="Plus Jakarta Sans"/>
                <a:ea typeface="Plus Jakarta Sans"/>
                <a:cs typeface="Plus Jakarta Sans"/>
                <a:sym typeface="Plus Jakarta Sans"/>
              </a:rPr>
              <a:t>GitHub MCP · podman-mcp · python-openstackmcp</a:t>
            </a:r>
            <a:endParaRPr sz="1100"/>
          </a:p>
        </p:txBody>
      </p:sp>
      <p:sp>
        <p:nvSpPr>
          <p:cNvPr id="605" name="Google Shape;605;p57"/>
          <p:cNvSpPr txBox="1"/>
          <p:nvPr/>
        </p:nvSpPr>
        <p:spPr>
          <a:xfrm>
            <a:off x="5028971" y="3552444"/>
            <a:ext cx="3451631"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2563EB"/>
                </a:solidFill>
                <a:latin typeface="Plus Jakarta Sans"/>
                <a:ea typeface="Plus Jakarta Sans"/>
                <a:cs typeface="Plus Jakarta Sans"/>
                <a:sym typeface="Plus Jakarta Sans"/>
              </a:rPr>
              <a:t>Grenzen für irreversible Aktionen</a:t>
            </a:r>
            <a:endParaRPr sz="1100"/>
          </a:p>
        </p:txBody>
      </p:sp>
      <p:sp>
        <p:nvSpPr>
          <p:cNvPr id="606" name="Google Shape;606;p57"/>
          <p:cNvSpPr txBox="1"/>
          <p:nvPr/>
        </p:nvSpPr>
        <p:spPr>
          <a:xfrm>
            <a:off x="5028971" y="3840480"/>
            <a:ext cx="3451631" cy="495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500" u="none" cap="none" strike="noStrike">
                <a:solidFill>
                  <a:srgbClr val="475569"/>
                </a:solidFill>
                <a:latin typeface="Plus Jakarta Sans"/>
                <a:ea typeface="Plus Jakarta Sans"/>
                <a:cs typeface="Plus Jakarta Sans"/>
                <a:sym typeface="Plus Jakarta Sans"/>
              </a:rPr>
              <a:t>Branch Protection · CI Gates · PreToolUse · HITL</a:t>
            </a:r>
            <a:endParaRPr sz="1100"/>
          </a:p>
        </p:txBody>
      </p:sp>
      <p:sp>
        <p:nvSpPr>
          <p:cNvPr id="607" name="Google Shape;607;p57"/>
          <p:cNvSpPr txBox="1"/>
          <p:nvPr/>
        </p:nvSpPr>
        <p:spPr>
          <a:xfrm>
            <a:off x="800329" y="1385316"/>
            <a:ext cx="322555" cy="274320"/>
          </a:xfrm>
          <a:prstGeom prst="rect">
            <a:avLst/>
          </a:prstGeom>
          <a:noFill/>
          <a:ln>
            <a:noFill/>
          </a:ln>
        </p:spPr>
        <p:txBody>
          <a:bodyPr anchorCtr="0" anchor="t" bIns="0" lIns="0" spcFirstLastPara="1" rIns="0" wrap="square" tIns="0">
            <a:spAutoFit/>
          </a:bodyPr>
          <a:lstStyle/>
          <a:p>
            <a:pPr indent="0" lvl="0" marL="0" marR="0" rtl="0" algn="l">
              <a:lnSpc>
                <a:spcPct val="120833"/>
              </a:lnSpc>
              <a:spcBef>
                <a:spcPts val="0"/>
              </a:spcBef>
              <a:spcAft>
                <a:spcPts val="0"/>
              </a:spcAft>
              <a:buNone/>
            </a:pPr>
            <a:r>
              <a:rPr b="1" i="0" lang="en" sz="1800" u="none" cap="none" strike="noStrike">
                <a:solidFill>
                  <a:srgbClr val="0F172A"/>
                </a:solidFill>
                <a:latin typeface="Plus Jakarta Sans"/>
                <a:ea typeface="Plus Jakarta Sans"/>
                <a:cs typeface="Plus Jakarta Sans"/>
                <a:sym typeface="Plus Jakarta Sans"/>
              </a:rPr>
              <a:t>01</a:t>
            </a:r>
            <a:endParaRPr sz="1100"/>
          </a:p>
        </p:txBody>
      </p:sp>
      <p:sp>
        <p:nvSpPr>
          <p:cNvPr id="608" name="Google Shape;608;p57"/>
          <p:cNvSpPr txBox="1"/>
          <p:nvPr/>
        </p:nvSpPr>
        <p:spPr>
          <a:xfrm>
            <a:off x="1150315" y="1385316"/>
            <a:ext cx="3101645" cy="274320"/>
          </a:xfrm>
          <a:prstGeom prst="rect">
            <a:avLst/>
          </a:prstGeom>
          <a:noFill/>
          <a:ln>
            <a:noFill/>
          </a:ln>
        </p:spPr>
        <p:txBody>
          <a:bodyPr anchorCtr="0" anchor="t" bIns="0" lIns="0" spcFirstLastPara="1" rIns="0" wrap="square" tIns="0">
            <a:spAutoFit/>
          </a:bodyPr>
          <a:lstStyle/>
          <a:p>
            <a:pPr indent="0" lvl="0" marL="0" marR="0" rtl="0" algn="l">
              <a:lnSpc>
                <a:spcPct val="120833"/>
              </a:lnSpc>
              <a:spcBef>
                <a:spcPts val="0"/>
              </a:spcBef>
              <a:spcAft>
                <a:spcPts val="0"/>
              </a:spcAft>
              <a:buNone/>
            </a:pPr>
            <a:r>
              <a:rPr b="1" i="0" lang="en" sz="1800" u="none" cap="none" strike="noStrike">
                <a:solidFill>
                  <a:srgbClr val="0F172A"/>
                </a:solidFill>
                <a:latin typeface="Plus Jakarta Sans"/>
                <a:ea typeface="Plus Jakarta Sans"/>
                <a:cs typeface="Plus Jakarta Sans"/>
                <a:sym typeface="Plus Jakarta Sans"/>
              </a:rPr>
              <a:t>Wissen</a:t>
            </a:r>
            <a:endParaRPr sz="1100"/>
          </a:p>
        </p:txBody>
      </p:sp>
      <p:sp>
        <p:nvSpPr>
          <p:cNvPr id="609" name="Google Shape;609;p57"/>
          <p:cNvSpPr txBox="1"/>
          <p:nvPr/>
        </p:nvSpPr>
        <p:spPr>
          <a:xfrm>
            <a:off x="5028971" y="1385316"/>
            <a:ext cx="366906" cy="274320"/>
          </a:xfrm>
          <a:prstGeom prst="rect">
            <a:avLst/>
          </a:prstGeom>
          <a:noFill/>
          <a:ln>
            <a:noFill/>
          </a:ln>
        </p:spPr>
        <p:txBody>
          <a:bodyPr anchorCtr="0" anchor="t" bIns="0" lIns="0" spcFirstLastPara="1" rIns="0" wrap="square" tIns="0">
            <a:spAutoFit/>
          </a:bodyPr>
          <a:lstStyle/>
          <a:p>
            <a:pPr indent="0" lvl="0" marL="0" marR="0" rtl="0" algn="l">
              <a:lnSpc>
                <a:spcPct val="120833"/>
              </a:lnSpc>
              <a:spcBef>
                <a:spcPts val="0"/>
              </a:spcBef>
              <a:spcAft>
                <a:spcPts val="0"/>
              </a:spcAft>
              <a:buNone/>
            </a:pPr>
            <a:r>
              <a:rPr b="1" i="0" lang="en" sz="1800" u="none" cap="none" strike="noStrike">
                <a:solidFill>
                  <a:srgbClr val="0F172A"/>
                </a:solidFill>
                <a:latin typeface="Plus Jakarta Sans"/>
                <a:ea typeface="Plus Jakarta Sans"/>
                <a:cs typeface="Plus Jakarta Sans"/>
                <a:sym typeface="Plus Jakarta Sans"/>
              </a:rPr>
              <a:t>02</a:t>
            </a:r>
            <a:endParaRPr sz="1100"/>
          </a:p>
        </p:txBody>
      </p:sp>
      <p:sp>
        <p:nvSpPr>
          <p:cNvPr id="610" name="Google Shape;610;p57"/>
          <p:cNvSpPr txBox="1"/>
          <p:nvPr/>
        </p:nvSpPr>
        <p:spPr>
          <a:xfrm>
            <a:off x="5423309" y="1385316"/>
            <a:ext cx="3057293" cy="274320"/>
          </a:xfrm>
          <a:prstGeom prst="rect">
            <a:avLst/>
          </a:prstGeom>
          <a:noFill/>
          <a:ln>
            <a:noFill/>
          </a:ln>
        </p:spPr>
        <p:txBody>
          <a:bodyPr anchorCtr="0" anchor="t" bIns="0" lIns="0" spcFirstLastPara="1" rIns="0" wrap="square" tIns="0">
            <a:spAutoFit/>
          </a:bodyPr>
          <a:lstStyle/>
          <a:p>
            <a:pPr indent="0" lvl="0" marL="0" marR="0" rtl="0" algn="l">
              <a:lnSpc>
                <a:spcPct val="120833"/>
              </a:lnSpc>
              <a:spcBef>
                <a:spcPts val="0"/>
              </a:spcBef>
              <a:spcAft>
                <a:spcPts val="0"/>
              </a:spcAft>
              <a:buNone/>
            </a:pPr>
            <a:r>
              <a:rPr b="1" i="0" lang="en" sz="1800" u="none" cap="none" strike="noStrike">
                <a:solidFill>
                  <a:srgbClr val="0F172A"/>
                </a:solidFill>
                <a:latin typeface="Plus Jakarta Sans"/>
                <a:ea typeface="Plus Jakarta Sans"/>
                <a:cs typeface="Plus Jakarta Sans"/>
                <a:sym typeface="Plus Jakarta Sans"/>
              </a:rPr>
              <a:t>Skills</a:t>
            </a:r>
            <a:endParaRPr sz="1100"/>
          </a:p>
        </p:txBody>
      </p:sp>
      <p:sp>
        <p:nvSpPr>
          <p:cNvPr id="611" name="Google Shape;611;p57"/>
          <p:cNvSpPr txBox="1"/>
          <p:nvPr/>
        </p:nvSpPr>
        <p:spPr>
          <a:xfrm>
            <a:off x="800329" y="3168396"/>
            <a:ext cx="370105" cy="274320"/>
          </a:xfrm>
          <a:prstGeom prst="rect">
            <a:avLst/>
          </a:prstGeom>
          <a:noFill/>
          <a:ln>
            <a:noFill/>
          </a:ln>
        </p:spPr>
        <p:txBody>
          <a:bodyPr anchorCtr="0" anchor="t" bIns="0" lIns="0" spcFirstLastPara="1" rIns="0" wrap="square" tIns="0">
            <a:spAutoFit/>
          </a:bodyPr>
          <a:lstStyle/>
          <a:p>
            <a:pPr indent="0" lvl="0" marL="0" marR="0" rtl="0" algn="l">
              <a:lnSpc>
                <a:spcPct val="120833"/>
              </a:lnSpc>
              <a:spcBef>
                <a:spcPts val="0"/>
              </a:spcBef>
              <a:spcAft>
                <a:spcPts val="0"/>
              </a:spcAft>
              <a:buNone/>
            </a:pPr>
            <a:r>
              <a:rPr b="1" i="0" lang="en" sz="1800" u="none" cap="none" strike="noStrike">
                <a:solidFill>
                  <a:srgbClr val="0F172A"/>
                </a:solidFill>
                <a:latin typeface="Plus Jakarta Sans"/>
                <a:ea typeface="Plus Jakarta Sans"/>
                <a:cs typeface="Plus Jakarta Sans"/>
                <a:sym typeface="Plus Jakarta Sans"/>
              </a:rPr>
              <a:t>03</a:t>
            </a:r>
            <a:endParaRPr sz="1100"/>
          </a:p>
        </p:txBody>
      </p:sp>
      <p:sp>
        <p:nvSpPr>
          <p:cNvPr id="612" name="Google Shape;612;p57"/>
          <p:cNvSpPr txBox="1"/>
          <p:nvPr/>
        </p:nvSpPr>
        <p:spPr>
          <a:xfrm>
            <a:off x="1197866" y="3168396"/>
            <a:ext cx="3054094" cy="274320"/>
          </a:xfrm>
          <a:prstGeom prst="rect">
            <a:avLst/>
          </a:prstGeom>
          <a:noFill/>
          <a:ln>
            <a:noFill/>
          </a:ln>
        </p:spPr>
        <p:txBody>
          <a:bodyPr anchorCtr="0" anchor="t" bIns="0" lIns="0" spcFirstLastPara="1" rIns="0" wrap="square" tIns="0">
            <a:spAutoFit/>
          </a:bodyPr>
          <a:lstStyle/>
          <a:p>
            <a:pPr indent="0" lvl="0" marL="0" marR="0" rtl="0" algn="l">
              <a:lnSpc>
                <a:spcPct val="120833"/>
              </a:lnSpc>
              <a:spcBef>
                <a:spcPts val="0"/>
              </a:spcBef>
              <a:spcAft>
                <a:spcPts val="0"/>
              </a:spcAft>
              <a:buNone/>
            </a:pPr>
            <a:r>
              <a:rPr b="1" i="0" lang="en" sz="1800" u="none" cap="none" strike="noStrike">
                <a:solidFill>
                  <a:srgbClr val="0F172A"/>
                </a:solidFill>
                <a:latin typeface="Plus Jakarta Sans"/>
                <a:ea typeface="Plus Jakarta Sans"/>
                <a:cs typeface="Plus Jakarta Sans"/>
                <a:sym typeface="Plus Jakarta Sans"/>
              </a:rPr>
              <a:t>Tools</a:t>
            </a:r>
            <a:endParaRPr sz="1100"/>
          </a:p>
        </p:txBody>
      </p:sp>
      <p:sp>
        <p:nvSpPr>
          <p:cNvPr id="613" name="Google Shape;613;p57"/>
          <p:cNvSpPr txBox="1"/>
          <p:nvPr/>
        </p:nvSpPr>
        <p:spPr>
          <a:xfrm>
            <a:off x="5028971" y="3168396"/>
            <a:ext cx="379936" cy="274320"/>
          </a:xfrm>
          <a:prstGeom prst="rect">
            <a:avLst/>
          </a:prstGeom>
          <a:noFill/>
          <a:ln>
            <a:noFill/>
          </a:ln>
        </p:spPr>
        <p:txBody>
          <a:bodyPr anchorCtr="0" anchor="t" bIns="0" lIns="0" spcFirstLastPara="1" rIns="0" wrap="square" tIns="0">
            <a:spAutoFit/>
          </a:bodyPr>
          <a:lstStyle/>
          <a:p>
            <a:pPr indent="0" lvl="0" marL="0" marR="0" rtl="0" algn="l">
              <a:lnSpc>
                <a:spcPct val="120833"/>
              </a:lnSpc>
              <a:spcBef>
                <a:spcPts val="0"/>
              </a:spcBef>
              <a:spcAft>
                <a:spcPts val="0"/>
              </a:spcAft>
              <a:buNone/>
            </a:pPr>
            <a:r>
              <a:rPr b="1" i="0" lang="en" sz="1800" u="none" cap="none" strike="noStrike">
                <a:solidFill>
                  <a:srgbClr val="0F172A"/>
                </a:solidFill>
                <a:latin typeface="Plus Jakarta Sans"/>
                <a:ea typeface="Plus Jakarta Sans"/>
                <a:cs typeface="Plus Jakarta Sans"/>
                <a:sym typeface="Plus Jakarta Sans"/>
              </a:rPr>
              <a:t>04</a:t>
            </a:r>
            <a:endParaRPr sz="1100"/>
          </a:p>
        </p:txBody>
      </p:sp>
      <p:sp>
        <p:nvSpPr>
          <p:cNvPr id="614" name="Google Shape;614;p57"/>
          <p:cNvSpPr txBox="1"/>
          <p:nvPr/>
        </p:nvSpPr>
        <p:spPr>
          <a:xfrm>
            <a:off x="5436339" y="3168396"/>
            <a:ext cx="3044263" cy="274320"/>
          </a:xfrm>
          <a:prstGeom prst="rect">
            <a:avLst/>
          </a:prstGeom>
          <a:noFill/>
          <a:ln>
            <a:noFill/>
          </a:ln>
        </p:spPr>
        <p:txBody>
          <a:bodyPr anchorCtr="0" anchor="t" bIns="0" lIns="0" spcFirstLastPara="1" rIns="0" wrap="square" tIns="0">
            <a:spAutoFit/>
          </a:bodyPr>
          <a:lstStyle/>
          <a:p>
            <a:pPr indent="0" lvl="0" marL="0" marR="0" rtl="0" algn="l">
              <a:lnSpc>
                <a:spcPct val="120833"/>
              </a:lnSpc>
              <a:spcBef>
                <a:spcPts val="0"/>
              </a:spcBef>
              <a:spcAft>
                <a:spcPts val="0"/>
              </a:spcAft>
              <a:buNone/>
            </a:pPr>
            <a:r>
              <a:rPr b="1" i="0" lang="en" sz="1800" u="none" cap="none" strike="noStrike">
                <a:solidFill>
                  <a:srgbClr val="0F172A"/>
                </a:solidFill>
                <a:latin typeface="Plus Jakarta Sans"/>
                <a:ea typeface="Plus Jakarta Sans"/>
                <a:cs typeface="Plus Jakarta Sans"/>
                <a:sym typeface="Plus Jakarta Sans"/>
              </a:rPr>
              <a:t>Kontrollen</a:t>
            </a:r>
            <a:endParaRPr sz="1100"/>
          </a:p>
        </p:txBody>
      </p:sp>
      <p:pic>
        <p:nvPicPr>
          <p:cNvPr id="615" name="Google Shape;615;p57"/>
          <p:cNvPicPr preferRelativeResize="0"/>
          <p:nvPr/>
        </p:nvPicPr>
        <p:blipFill>
          <a:blip r:embed="rId3">
            <a:alphaModFix/>
          </a:blip>
          <a:stretch>
            <a:fillRect/>
          </a:stretch>
        </p:blipFill>
        <p:spPr>
          <a:xfrm>
            <a:off x="8366800" y="0"/>
            <a:ext cx="777200" cy="58816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19" name="Shape 619"/>
        <p:cNvGrpSpPr/>
        <p:nvPr/>
      </p:nvGrpSpPr>
      <p:grpSpPr>
        <a:xfrm>
          <a:off x="0" y="0"/>
          <a:ext cx="0" cy="0"/>
          <a:chOff x="0" y="0"/>
          <a:chExt cx="0" cy="0"/>
        </a:xfrm>
      </p:grpSpPr>
      <p:sp>
        <p:nvSpPr>
          <p:cNvPr id="620" name="Google Shape;620;p58"/>
          <p:cNvSpPr/>
          <p:nvPr/>
        </p:nvSpPr>
        <p:spPr>
          <a:xfrm>
            <a:off x="457429" y="2043684"/>
            <a:ext cx="2263140" cy="548640"/>
          </a:xfrm>
          <a:prstGeom prst="roundRect">
            <a:avLst>
              <a:gd fmla="val 15000" name="adj"/>
            </a:avLst>
          </a:prstGeom>
          <a:solidFill>
            <a:srgbClr val="4472C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21" name="Google Shape;621;p58"/>
          <p:cNvSpPr/>
          <p:nvPr/>
        </p:nvSpPr>
        <p:spPr>
          <a:xfrm>
            <a:off x="3440659" y="2043684"/>
            <a:ext cx="2263140" cy="548640"/>
          </a:xfrm>
          <a:prstGeom prst="roundRect">
            <a:avLst>
              <a:gd fmla="val 15000" name="adj"/>
            </a:avLst>
          </a:prstGeom>
          <a:solidFill>
            <a:srgbClr val="0F172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22" name="Google Shape;622;p58"/>
          <p:cNvSpPr/>
          <p:nvPr/>
        </p:nvSpPr>
        <p:spPr>
          <a:xfrm>
            <a:off x="6423889" y="2043684"/>
            <a:ext cx="2263140" cy="548640"/>
          </a:xfrm>
          <a:prstGeom prst="roundRect">
            <a:avLst>
              <a:gd fmla="val 15000" name="adj"/>
            </a:avLst>
          </a:prstGeom>
          <a:solidFill>
            <a:srgbClr val="4472C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23" name="Google Shape;623;p58"/>
          <p:cNvSpPr/>
          <p:nvPr/>
        </p:nvSpPr>
        <p:spPr>
          <a:xfrm>
            <a:off x="457429" y="3332988"/>
            <a:ext cx="2263140" cy="548640"/>
          </a:xfrm>
          <a:prstGeom prst="roundRect">
            <a:avLst>
              <a:gd fmla="val 15000" name="adj"/>
            </a:avLst>
          </a:prstGeom>
          <a:solidFill>
            <a:srgbClr val="0F172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24" name="Google Shape;624;p58"/>
          <p:cNvSpPr/>
          <p:nvPr/>
        </p:nvSpPr>
        <p:spPr>
          <a:xfrm>
            <a:off x="3440659" y="3332988"/>
            <a:ext cx="2263140" cy="548640"/>
          </a:xfrm>
          <a:prstGeom prst="roundRect">
            <a:avLst>
              <a:gd fmla="val 15000" name="adj"/>
            </a:avLst>
          </a:prstGeom>
          <a:solidFill>
            <a:srgbClr val="0F172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25" name="Google Shape;625;p58"/>
          <p:cNvSpPr/>
          <p:nvPr/>
        </p:nvSpPr>
        <p:spPr>
          <a:xfrm>
            <a:off x="6423889" y="3332988"/>
            <a:ext cx="2263140" cy="548640"/>
          </a:xfrm>
          <a:prstGeom prst="roundRect">
            <a:avLst>
              <a:gd fmla="val 15000" name="adj"/>
            </a:avLst>
          </a:prstGeom>
          <a:solidFill>
            <a:srgbClr val="4472C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image.png" id="626" name="Google Shape;626;p58"/>
          <p:cNvPicPr preferRelativeResize="0"/>
          <p:nvPr/>
        </p:nvPicPr>
        <p:blipFill rotWithShape="1">
          <a:blip r:embed="rId3">
            <a:alphaModFix/>
          </a:blip>
          <a:srcRect b="0" l="0" r="0" t="0"/>
          <a:stretch/>
        </p:blipFill>
        <p:spPr>
          <a:xfrm>
            <a:off x="2960599" y="2180844"/>
            <a:ext cx="240030" cy="274320"/>
          </a:xfrm>
          <a:prstGeom prst="rect">
            <a:avLst/>
          </a:prstGeom>
          <a:noFill/>
          <a:ln>
            <a:noFill/>
          </a:ln>
        </p:spPr>
      </p:pic>
      <p:pic>
        <p:nvPicPr>
          <p:cNvPr descr="image.png" id="627" name="Google Shape;627;p58"/>
          <p:cNvPicPr preferRelativeResize="0"/>
          <p:nvPr/>
        </p:nvPicPr>
        <p:blipFill rotWithShape="1">
          <a:blip r:embed="rId3">
            <a:alphaModFix/>
          </a:blip>
          <a:srcRect b="0" l="0" r="0" t="0"/>
          <a:stretch/>
        </p:blipFill>
        <p:spPr>
          <a:xfrm>
            <a:off x="5943829" y="2180844"/>
            <a:ext cx="240030" cy="274320"/>
          </a:xfrm>
          <a:prstGeom prst="rect">
            <a:avLst/>
          </a:prstGeom>
          <a:noFill/>
          <a:ln>
            <a:noFill/>
          </a:ln>
        </p:spPr>
      </p:pic>
      <p:pic>
        <p:nvPicPr>
          <p:cNvPr descr="image.png" id="628" name="Google Shape;628;p58"/>
          <p:cNvPicPr preferRelativeResize="0"/>
          <p:nvPr/>
        </p:nvPicPr>
        <p:blipFill rotWithShape="1">
          <a:blip r:embed="rId3">
            <a:alphaModFix/>
          </a:blip>
          <a:srcRect b="0" l="0" r="0" t="0"/>
          <a:stretch/>
        </p:blipFill>
        <p:spPr>
          <a:xfrm>
            <a:off x="2960599" y="3470148"/>
            <a:ext cx="240030" cy="274320"/>
          </a:xfrm>
          <a:prstGeom prst="rect">
            <a:avLst/>
          </a:prstGeom>
          <a:noFill/>
          <a:ln>
            <a:noFill/>
          </a:ln>
        </p:spPr>
      </p:pic>
      <p:pic>
        <p:nvPicPr>
          <p:cNvPr descr="image.png" id="629" name="Google Shape;629;p58"/>
          <p:cNvPicPr preferRelativeResize="0"/>
          <p:nvPr/>
        </p:nvPicPr>
        <p:blipFill rotWithShape="1">
          <a:blip r:embed="rId3">
            <a:alphaModFix/>
          </a:blip>
          <a:srcRect b="0" l="0" r="0" t="0"/>
          <a:stretch/>
        </p:blipFill>
        <p:spPr>
          <a:xfrm>
            <a:off x="5943829" y="3470148"/>
            <a:ext cx="240030" cy="274320"/>
          </a:xfrm>
          <a:prstGeom prst="rect">
            <a:avLst/>
          </a:prstGeom>
          <a:noFill/>
          <a:ln>
            <a:noFill/>
          </a:ln>
        </p:spPr>
      </p:pic>
      <p:pic>
        <p:nvPicPr>
          <p:cNvPr descr="image.png" id="630" name="Google Shape;630;p58"/>
          <p:cNvPicPr preferRelativeResize="0"/>
          <p:nvPr/>
        </p:nvPicPr>
        <p:blipFill rotWithShape="1">
          <a:blip r:embed="rId4">
            <a:alphaModFix/>
          </a:blip>
          <a:srcRect b="0" l="0" r="0" t="0"/>
          <a:stretch/>
        </p:blipFill>
        <p:spPr>
          <a:xfrm>
            <a:off x="457429" y="1776222"/>
            <a:ext cx="216027" cy="246888"/>
          </a:xfrm>
          <a:prstGeom prst="rect">
            <a:avLst/>
          </a:prstGeom>
          <a:noFill/>
          <a:ln>
            <a:noFill/>
          </a:ln>
        </p:spPr>
      </p:pic>
      <p:pic>
        <p:nvPicPr>
          <p:cNvPr descr="image.png" id="631" name="Google Shape;631;p58"/>
          <p:cNvPicPr preferRelativeResize="0"/>
          <p:nvPr/>
        </p:nvPicPr>
        <p:blipFill rotWithShape="1">
          <a:blip r:embed="rId5">
            <a:alphaModFix/>
          </a:blip>
          <a:srcRect b="0" l="0" r="0" t="0"/>
          <a:stretch/>
        </p:blipFill>
        <p:spPr>
          <a:xfrm>
            <a:off x="3440659" y="1776222"/>
            <a:ext cx="308610" cy="246888"/>
          </a:xfrm>
          <a:prstGeom prst="rect">
            <a:avLst/>
          </a:prstGeom>
          <a:noFill/>
          <a:ln>
            <a:noFill/>
          </a:ln>
        </p:spPr>
      </p:pic>
      <p:pic>
        <p:nvPicPr>
          <p:cNvPr descr="image.png" id="632" name="Google Shape;632;p58"/>
          <p:cNvPicPr preferRelativeResize="0"/>
          <p:nvPr/>
        </p:nvPicPr>
        <p:blipFill rotWithShape="1">
          <a:blip r:embed="rId4">
            <a:alphaModFix/>
          </a:blip>
          <a:srcRect b="0" l="0" r="0" t="0"/>
          <a:stretch/>
        </p:blipFill>
        <p:spPr>
          <a:xfrm>
            <a:off x="6423889" y="1776222"/>
            <a:ext cx="216027" cy="246888"/>
          </a:xfrm>
          <a:prstGeom prst="rect">
            <a:avLst/>
          </a:prstGeom>
          <a:noFill/>
          <a:ln>
            <a:noFill/>
          </a:ln>
        </p:spPr>
      </p:pic>
      <p:pic>
        <p:nvPicPr>
          <p:cNvPr descr="image.png" id="633" name="Google Shape;633;p58"/>
          <p:cNvPicPr preferRelativeResize="0"/>
          <p:nvPr/>
        </p:nvPicPr>
        <p:blipFill rotWithShape="1">
          <a:blip r:embed="rId5">
            <a:alphaModFix/>
          </a:blip>
          <a:srcRect b="0" l="0" r="0" t="0"/>
          <a:stretch/>
        </p:blipFill>
        <p:spPr>
          <a:xfrm>
            <a:off x="457429" y="3065526"/>
            <a:ext cx="308610" cy="246888"/>
          </a:xfrm>
          <a:prstGeom prst="rect">
            <a:avLst/>
          </a:prstGeom>
          <a:noFill/>
          <a:ln>
            <a:noFill/>
          </a:ln>
        </p:spPr>
      </p:pic>
      <p:pic>
        <p:nvPicPr>
          <p:cNvPr descr="image.png" id="634" name="Google Shape;634;p58"/>
          <p:cNvPicPr preferRelativeResize="0"/>
          <p:nvPr/>
        </p:nvPicPr>
        <p:blipFill rotWithShape="1">
          <a:blip r:embed="rId5">
            <a:alphaModFix/>
          </a:blip>
          <a:srcRect b="0" l="0" r="0" t="0"/>
          <a:stretch/>
        </p:blipFill>
        <p:spPr>
          <a:xfrm>
            <a:off x="3440659" y="3065526"/>
            <a:ext cx="308610" cy="246888"/>
          </a:xfrm>
          <a:prstGeom prst="rect">
            <a:avLst/>
          </a:prstGeom>
          <a:noFill/>
          <a:ln>
            <a:noFill/>
          </a:ln>
        </p:spPr>
      </p:pic>
      <p:pic>
        <p:nvPicPr>
          <p:cNvPr descr="image.png" id="635" name="Google Shape;635;p58"/>
          <p:cNvPicPr preferRelativeResize="0"/>
          <p:nvPr/>
        </p:nvPicPr>
        <p:blipFill rotWithShape="1">
          <a:blip r:embed="rId4">
            <a:alphaModFix/>
          </a:blip>
          <a:srcRect b="0" l="0" r="0" t="0"/>
          <a:stretch/>
        </p:blipFill>
        <p:spPr>
          <a:xfrm>
            <a:off x="6423889" y="3065526"/>
            <a:ext cx="216027" cy="246888"/>
          </a:xfrm>
          <a:prstGeom prst="rect">
            <a:avLst/>
          </a:prstGeom>
          <a:noFill/>
          <a:ln>
            <a:noFill/>
          </a:ln>
        </p:spPr>
      </p:pic>
      <p:sp>
        <p:nvSpPr>
          <p:cNvPr id="636" name="Google Shape;636;p58"/>
          <p:cNvSpPr txBox="1"/>
          <p:nvPr/>
        </p:nvSpPr>
        <p:spPr>
          <a:xfrm>
            <a:off x="457429" y="4786884"/>
            <a:ext cx="240030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Max Rommel</a:t>
            </a:r>
            <a:endParaRPr sz="1100"/>
          </a:p>
        </p:txBody>
      </p:sp>
      <p:sp>
        <p:nvSpPr>
          <p:cNvPr id="637" name="Google Shape;637;p58"/>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29</a:t>
            </a:r>
            <a:endParaRPr sz="1100"/>
          </a:p>
        </p:txBody>
      </p:sp>
      <p:sp>
        <p:nvSpPr>
          <p:cNvPr id="638" name="Google Shape;638;p58"/>
          <p:cNvSpPr txBox="1"/>
          <p:nvPr/>
        </p:nvSpPr>
        <p:spPr>
          <a:xfrm>
            <a:off x="457429" y="491160"/>
            <a:ext cx="7475100" cy="307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2000" u="none" cap="none" strike="noStrike">
                <a:solidFill>
                  <a:srgbClr val="0F172A"/>
                </a:solidFill>
                <a:latin typeface="Plus Jakarta Sans"/>
                <a:ea typeface="Plus Jakarta Sans"/>
                <a:cs typeface="Plus Jakarta Sans"/>
                <a:sym typeface="Plus Jakarta Sans"/>
              </a:rPr>
              <a:t>Zwei Prozesse tragen die Anforderung</a:t>
            </a:r>
            <a:endParaRPr b="1" sz="1300"/>
          </a:p>
        </p:txBody>
      </p:sp>
      <p:sp>
        <p:nvSpPr>
          <p:cNvPr id="639" name="Google Shape;639;p58"/>
          <p:cNvSpPr txBox="1"/>
          <p:nvPr/>
        </p:nvSpPr>
        <p:spPr>
          <a:xfrm>
            <a:off x="457429" y="1268730"/>
            <a:ext cx="82296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PROZESS 1 · ISSUE CREATION: </a:t>
            </a:r>
            <a:r>
              <a:rPr b="0" i="0" lang="en" sz="1500" u="none" cap="none" strike="noStrike">
                <a:solidFill>
                  <a:srgbClr val="64748B"/>
                </a:solidFill>
                <a:latin typeface="Plus Jakarta Sans"/>
                <a:ea typeface="Plus Jakarta Sans"/>
                <a:cs typeface="Plus Jakarta Sans"/>
                <a:sym typeface="Plus Jakarta Sans"/>
              </a:rPr>
              <a:t> </a:t>
            </a:r>
            <a:r>
              <a:rPr lang="en" sz="1500">
                <a:solidFill>
                  <a:srgbClr val="64748B"/>
                </a:solidFill>
                <a:latin typeface="Plus Jakarta Sans"/>
                <a:ea typeface="Plus Jakarta Sans"/>
                <a:cs typeface="Plus Jakarta Sans"/>
                <a:sym typeface="Plus Jakarta Sans"/>
              </a:rPr>
              <a:t>Wunsch -&gt; Issue</a:t>
            </a:r>
            <a:endParaRPr sz="1100"/>
          </a:p>
        </p:txBody>
      </p:sp>
      <p:sp>
        <p:nvSpPr>
          <p:cNvPr id="640" name="Google Shape;640;p58"/>
          <p:cNvSpPr txBox="1"/>
          <p:nvPr/>
        </p:nvSpPr>
        <p:spPr>
          <a:xfrm>
            <a:off x="742036" y="1783080"/>
            <a:ext cx="1978533"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1 · MENSCH</a:t>
            </a:r>
            <a:endParaRPr sz="1100"/>
          </a:p>
        </p:txBody>
      </p:sp>
      <p:sp>
        <p:nvSpPr>
          <p:cNvPr id="641" name="Google Shape;641;p58"/>
          <p:cNvSpPr txBox="1"/>
          <p:nvPr/>
        </p:nvSpPr>
        <p:spPr>
          <a:xfrm>
            <a:off x="457379" y="2178509"/>
            <a:ext cx="22632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Anforderung</a:t>
            </a:r>
            <a:endParaRPr sz="1100"/>
          </a:p>
        </p:txBody>
      </p:sp>
      <p:sp>
        <p:nvSpPr>
          <p:cNvPr id="642" name="Google Shape;642;p58"/>
          <p:cNvSpPr txBox="1"/>
          <p:nvPr/>
        </p:nvSpPr>
        <p:spPr>
          <a:xfrm>
            <a:off x="3817849" y="1783080"/>
            <a:ext cx="188595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2 · AGENT</a:t>
            </a:r>
            <a:endParaRPr sz="1100"/>
          </a:p>
        </p:txBody>
      </p:sp>
      <p:sp>
        <p:nvSpPr>
          <p:cNvPr id="643" name="Google Shape;643;p58"/>
          <p:cNvSpPr txBox="1"/>
          <p:nvPr/>
        </p:nvSpPr>
        <p:spPr>
          <a:xfrm>
            <a:off x="3440659" y="2043684"/>
            <a:ext cx="2263140" cy="5486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Klarifizieren</a:t>
            </a:r>
            <a:endParaRPr sz="1100"/>
          </a:p>
        </p:txBody>
      </p:sp>
      <p:sp>
        <p:nvSpPr>
          <p:cNvPr id="644" name="Google Shape;644;p58"/>
          <p:cNvSpPr txBox="1"/>
          <p:nvPr/>
        </p:nvSpPr>
        <p:spPr>
          <a:xfrm>
            <a:off x="6708496" y="1783080"/>
            <a:ext cx="1978533"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3 · MENSCH</a:t>
            </a:r>
            <a:endParaRPr sz="1100"/>
          </a:p>
        </p:txBody>
      </p:sp>
      <p:sp>
        <p:nvSpPr>
          <p:cNvPr id="645" name="Google Shape;645;p58"/>
          <p:cNvSpPr txBox="1"/>
          <p:nvPr/>
        </p:nvSpPr>
        <p:spPr>
          <a:xfrm>
            <a:off x="6423864" y="2202509"/>
            <a:ext cx="22632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Antworten</a:t>
            </a:r>
            <a:endParaRPr sz="1100"/>
          </a:p>
        </p:txBody>
      </p:sp>
      <p:sp>
        <p:nvSpPr>
          <p:cNvPr id="646" name="Google Shape;646;p58"/>
          <p:cNvSpPr txBox="1"/>
          <p:nvPr/>
        </p:nvSpPr>
        <p:spPr>
          <a:xfrm>
            <a:off x="834619" y="3072384"/>
            <a:ext cx="188595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4 · AGENT</a:t>
            </a:r>
            <a:endParaRPr sz="1100"/>
          </a:p>
        </p:txBody>
      </p:sp>
      <p:sp>
        <p:nvSpPr>
          <p:cNvPr id="647" name="Google Shape;647;p58"/>
          <p:cNvSpPr txBox="1"/>
          <p:nvPr/>
        </p:nvSpPr>
        <p:spPr>
          <a:xfrm>
            <a:off x="457429" y="3332988"/>
            <a:ext cx="2263140" cy="5486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Brainstorming</a:t>
            </a:r>
            <a:endParaRPr sz="1100"/>
          </a:p>
        </p:txBody>
      </p:sp>
      <p:sp>
        <p:nvSpPr>
          <p:cNvPr id="648" name="Google Shape;648;p58"/>
          <p:cNvSpPr txBox="1"/>
          <p:nvPr/>
        </p:nvSpPr>
        <p:spPr>
          <a:xfrm>
            <a:off x="3817849" y="3072384"/>
            <a:ext cx="188595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5 · AGENT</a:t>
            </a:r>
            <a:endParaRPr sz="1100"/>
          </a:p>
        </p:txBody>
      </p:sp>
      <p:sp>
        <p:nvSpPr>
          <p:cNvPr id="649" name="Google Shape;649;p58"/>
          <p:cNvSpPr txBox="1"/>
          <p:nvPr/>
        </p:nvSpPr>
        <p:spPr>
          <a:xfrm>
            <a:off x="3440659" y="3332988"/>
            <a:ext cx="2263140" cy="5486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Specs</a:t>
            </a:r>
            <a:endParaRPr sz="1100"/>
          </a:p>
        </p:txBody>
      </p:sp>
      <p:sp>
        <p:nvSpPr>
          <p:cNvPr id="650" name="Google Shape;650;p58"/>
          <p:cNvSpPr txBox="1"/>
          <p:nvPr/>
        </p:nvSpPr>
        <p:spPr>
          <a:xfrm>
            <a:off x="6708496" y="3072384"/>
            <a:ext cx="1978533"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6 · MENSCH</a:t>
            </a:r>
            <a:endParaRPr sz="1100"/>
          </a:p>
        </p:txBody>
      </p:sp>
      <p:sp>
        <p:nvSpPr>
          <p:cNvPr id="651" name="Google Shape;651;p58"/>
          <p:cNvSpPr txBox="1"/>
          <p:nvPr/>
        </p:nvSpPr>
        <p:spPr>
          <a:xfrm>
            <a:off x="6423864" y="3470150"/>
            <a:ext cx="22632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Freigabe</a:t>
            </a:r>
            <a:endParaRPr sz="1100"/>
          </a:p>
        </p:txBody>
      </p:sp>
      <p:pic>
        <p:nvPicPr>
          <p:cNvPr id="652" name="Google Shape;652;p58"/>
          <p:cNvPicPr preferRelativeResize="0"/>
          <p:nvPr/>
        </p:nvPicPr>
        <p:blipFill>
          <a:blip r:embed="rId6">
            <a:alphaModFix/>
          </a:blip>
          <a:stretch>
            <a:fillRect/>
          </a:stretch>
        </p:blipFill>
        <p:spPr>
          <a:xfrm>
            <a:off x="8366800" y="0"/>
            <a:ext cx="777200" cy="58816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6" name="Shape 656"/>
        <p:cNvGrpSpPr/>
        <p:nvPr/>
      </p:nvGrpSpPr>
      <p:grpSpPr>
        <a:xfrm>
          <a:off x="0" y="0"/>
          <a:ext cx="0" cy="0"/>
          <a:chOff x="0" y="0"/>
          <a:chExt cx="0" cy="0"/>
        </a:xfrm>
      </p:grpSpPr>
      <p:sp>
        <p:nvSpPr>
          <p:cNvPr id="657" name="Google Shape;657;p59"/>
          <p:cNvSpPr/>
          <p:nvPr/>
        </p:nvSpPr>
        <p:spPr>
          <a:xfrm>
            <a:off x="457429" y="1042416"/>
            <a:ext cx="2434590" cy="3571494"/>
          </a:xfrm>
          <a:prstGeom prst="roundRect">
            <a:avLst>
              <a:gd fmla="val 4788"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58" name="Google Shape;658;p59"/>
          <p:cNvSpPr/>
          <p:nvPr/>
        </p:nvSpPr>
        <p:spPr>
          <a:xfrm>
            <a:off x="3029179" y="1042416"/>
            <a:ext cx="3120300" cy="3571500"/>
          </a:xfrm>
          <a:prstGeom prst="roundRect">
            <a:avLst>
              <a:gd fmla="val 3736"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59" name="Google Shape;659;p59"/>
          <p:cNvSpPr/>
          <p:nvPr/>
        </p:nvSpPr>
        <p:spPr>
          <a:xfrm>
            <a:off x="6286729" y="1042416"/>
            <a:ext cx="2400300" cy="3571494"/>
          </a:xfrm>
          <a:prstGeom prst="roundRect">
            <a:avLst>
              <a:gd fmla="val 4857"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60" name="Google Shape;660;p59"/>
          <p:cNvSpPr/>
          <p:nvPr/>
        </p:nvSpPr>
        <p:spPr>
          <a:xfrm>
            <a:off x="1759499" y="1124712"/>
            <a:ext cx="995360" cy="301752"/>
          </a:xfrm>
          <a:prstGeom prst="roundRect">
            <a:avLst>
              <a:gd fmla="val 20454" name="adj"/>
            </a:avLst>
          </a:prstGeom>
          <a:solidFill>
            <a:srgbClr val="2563E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61" name="Google Shape;661;p59"/>
          <p:cNvSpPr/>
          <p:nvPr/>
        </p:nvSpPr>
        <p:spPr>
          <a:xfrm>
            <a:off x="4051982" y="1124712"/>
            <a:ext cx="995360" cy="301752"/>
          </a:xfrm>
          <a:prstGeom prst="roundRect">
            <a:avLst>
              <a:gd fmla="val 20454" name="adj"/>
            </a:avLst>
          </a:prstGeom>
          <a:solidFill>
            <a:srgbClr val="2563E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62" name="Google Shape;662;p59"/>
          <p:cNvSpPr/>
          <p:nvPr/>
        </p:nvSpPr>
        <p:spPr>
          <a:xfrm>
            <a:off x="5129638" y="1124712"/>
            <a:ext cx="882771" cy="301752"/>
          </a:xfrm>
          <a:prstGeom prst="roundRect">
            <a:avLst>
              <a:gd fmla="val 20454" name="adj"/>
            </a:avLst>
          </a:prstGeom>
          <a:solidFill>
            <a:srgbClr val="1E3A8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63" name="Google Shape;663;p59"/>
          <p:cNvSpPr/>
          <p:nvPr/>
        </p:nvSpPr>
        <p:spPr>
          <a:xfrm>
            <a:off x="7013095" y="1124712"/>
            <a:ext cx="1536774" cy="301752"/>
          </a:xfrm>
          <a:prstGeom prst="roundRect">
            <a:avLst>
              <a:gd fmla="val 20454" name="adj"/>
            </a:avLst>
          </a:prstGeom>
          <a:solidFill>
            <a:srgbClr val="6D9EE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image.png" id="664" name="Google Shape;664;p59"/>
          <p:cNvPicPr preferRelativeResize="0"/>
          <p:nvPr/>
        </p:nvPicPr>
        <p:blipFill rotWithShape="1">
          <a:blip r:embed="rId3">
            <a:alphaModFix/>
          </a:blip>
          <a:srcRect b="0" l="0" r="0" t="0"/>
          <a:stretch/>
        </p:blipFill>
        <p:spPr>
          <a:xfrm>
            <a:off x="594589" y="1138428"/>
            <a:ext cx="308610" cy="274320"/>
          </a:xfrm>
          <a:prstGeom prst="rect">
            <a:avLst/>
          </a:prstGeom>
          <a:noFill/>
          <a:ln>
            <a:noFill/>
          </a:ln>
        </p:spPr>
      </p:pic>
      <p:pic>
        <p:nvPicPr>
          <p:cNvPr descr="image.png" id="665" name="Google Shape;665;p59"/>
          <p:cNvPicPr preferRelativeResize="0"/>
          <p:nvPr/>
        </p:nvPicPr>
        <p:blipFill rotWithShape="1">
          <a:blip r:embed="rId4">
            <a:alphaModFix/>
          </a:blip>
          <a:srcRect b="0" l="0" r="0" t="0"/>
          <a:stretch/>
        </p:blipFill>
        <p:spPr>
          <a:xfrm>
            <a:off x="3166339" y="1138428"/>
            <a:ext cx="308610" cy="274320"/>
          </a:xfrm>
          <a:prstGeom prst="rect">
            <a:avLst/>
          </a:prstGeom>
          <a:noFill/>
          <a:ln>
            <a:noFill/>
          </a:ln>
        </p:spPr>
      </p:pic>
      <p:pic>
        <p:nvPicPr>
          <p:cNvPr descr="image.png" id="666" name="Google Shape;666;p59"/>
          <p:cNvPicPr preferRelativeResize="0"/>
          <p:nvPr/>
        </p:nvPicPr>
        <p:blipFill rotWithShape="1">
          <a:blip r:embed="rId5">
            <a:alphaModFix/>
          </a:blip>
          <a:srcRect b="0" l="0" r="0" t="0"/>
          <a:stretch/>
        </p:blipFill>
        <p:spPr>
          <a:xfrm>
            <a:off x="6423889" y="1138428"/>
            <a:ext cx="342900" cy="274320"/>
          </a:xfrm>
          <a:prstGeom prst="rect">
            <a:avLst/>
          </a:prstGeom>
          <a:noFill/>
          <a:ln>
            <a:noFill/>
          </a:ln>
        </p:spPr>
      </p:pic>
      <p:sp>
        <p:nvSpPr>
          <p:cNvPr id="667" name="Google Shape;667;p59"/>
          <p:cNvSpPr txBox="1"/>
          <p:nvPr/>
        </p:nvSpPr>
        <p:spPr>
          <a:xfrm>
            <a:off x="457429" y="4786884"/>
            <a:ext cx="240030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Max Rommel</a:t>
            </a:r>
            <a:endParaRPr sz="1100"/>
          </a:p>
        </p:txBody>
      </p:sp>
      <p:sp>
        <p:nvSpPr>
          <p:cNvPr id="668" name="Google Shape;668;p59"/>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30</a:t>
            </a:r>
            <a:endParaRPr sz="1100"/>
          </a:p>
        </p:txBody>
      </p:sp>
      <p:sp>
        <p:nvSpPr>
          <p:cNvPr id="669" name="Google Shape;669;p59"/>
          <p:cNvSpPr txBox="1"/>
          <p:nvPr/>
        </p:nvSpPr>
        <p:spPr>
          <a:xfrm>
            <a:off x="457429" y="367735"/>
            <a:ext cx="7475100" cy="307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2000" u="none" cap="none" strike="noStrike">
                <a:solidFill>
                  <a:srgbClr val="0F172A"/>
                </a:solidFill>
                <a:latin typeface="Plus Jakarta Sans"/>
                <a:ea typeface="Plus Jakarta Sans"/>
                <a:cs typeface="Plus Jakarta Sans"/>
                <a:sym typeface="Plus Jakarta Sans"/>
              </a:rPr>
              <a:t>Prozess 1: Vom Wunsch zur Spezifikation (Issue Creation)</a:t>
            </a:r>
            <a:endParaRPr b="1" sz="1300"/>
          </a:p>
        </p:txBody>
      </p:sp>
      <p:sp>
        <p:nvSpPr>
          <p:cNvPr id="670" name="Google Shape;670;p59"/>
          <p:cNvSpPr txBox="1"/>
          <p:nvPr/>
        </p:nvSpPr>
        <p:spPr>
          <a:xfrm>
            <a:off x="512700" y="1539463"/>
            <a:ext cx="2324100" cy="484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KLARIFIZIEREN</a:t>
            </a:r>
            <a:r>
              <a:rPr b="1" lang="en" sz="1500">
                <a:solidFill>
                  <a:srgbClr val="64748B"/>
                </a:solidFill>
                <a:latin typeface="Plus Jakarta Sans"/>
                <a:ea typeface="Plus Jakarta Sans"/>
                <a:cs typeface="Plus Jakarta Sans"/>
                <a:sym typeface="Plus Jakarta Sans"/>
              </a:rPr>
              <a:t> &amp; </a:t>
            </a:r>
            <a:r>
              <a:rPr b="1" i="0" lang="en" sz="1500" u="none" cap="none" strike="noStrike">
                <a:solidFill>
                  <a:srgbClr val="64748B"/>
                </a:solidFill>
                <a:latin typeface="Plus Jakarta Sans"/>
                <a:ea typeface="Plus Jakarta Sans"/>
                <a:cs typeface="Plus Jakarta Sans"/>
                <a:sym typeface="Plus Jakarta Sans"/>
              </a:rPr>
              <a:t> A</a:t>
            </a:r>
            <a:r>
              <a:rPr b="1" i="0" lang="en" sz="1500" u="none" cap="none" strike="noStrike">
                <a:solidFill>
                  <a:srgbClr val="64748B"/>
                </a:solidFill>
                <a:latin typeface="Plus Jakarta Sans"/>
                <a:ea typeface="Plus Jakarta Sans"/>
                <a:cs typeface="Plus Jakarta Sans"/>
                <a:sym typeface="Plus Jakarta Sans"/>
              </a:rPr>
              <a:t>NTWORTEN</a:t>
            </a:r>
            <a:endParaRPr sz="1100"/>
          </a:p>
        </p:txBody>
      </p:sp>
      <p:sp>
        <p:nvSpPr>
          <p:cNvPr id="671" name="Google Shape;671;p59"/>
          <p:cNvSpPr txBox="1"/>
          <p:nvPr/>
        </p:nvSpPr>
        <p:spPr>
          <a:xfrm>
            <a:off x="594589" y="2150974"/>
            <a:ext cx="21603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Gesicherter Kontext</a:t>
            </a:r>
            <a:endParaRPr b="1" sz="1100"/>
          </a:p>
        </p:txBody>
      </p:sp>
      <p:sp>
        <p:nvSpPr>
          <p:cNvPr id="672" name="Google Shape;672;p59"/>
          <p:cNvSpPr txBox="1"/>
          <p:nvPr/>
        </p:nvSpPr>
        <p:spPr>
          <a:xfrm>
            <a:off x="594439" y="2594221"/>
            <a:ext cx="2160300" cy="18933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1500">
                <a:solidFill>
                  <a:srgbClr val="334155"/>
                </a:solidFill>
                <a:latin typeface="Plus Jakarta Sans"/>
                <a:ea typeface="Plus Jakarta Sans"/>
                <a:cs typeface="Plus Jakarta Sans"/>
                <a:sym typeface="Plus Jakarta Sans"/>
              </a:rPr>
              <a:t>Start </a:t>
            </a:r>
            <a:r>
              <a:rPr b="0" i="0" lang="en" sz="1500" u="none" cap="none" strike="noStrike">
                <a:solidFill>
                  <a:srgbClr val="334155"/>
                </a:solidFill>
                <a:latin typeface="Plus Jakarta Sans"/>
                <a:ea typeface="Plus Jakarta Sans"/>
                <a:cs typeface="Plus Jakarta Sans"/>
                <a:sym typeface="Plus Jakarta Sans"/>
              </a:rPr>
              <a:t> mit HANDOVER.md und claude_docs/: Stand, Grenzen,</a:t>
            </a:r>
            <a:r>
              <a:rPr lang="en" sz="1500">
                <a:solidFill>
                  <a:srgbClr val="334155"/>
                </a:solidFill>
                <a:latin typeface="Plus Jakarta Sans"/>
                <a:ea typeface="Plus Jakarta Sans"/>
                <a:cs typeface="Plus Jakarta Sans"/>
                <a:sym typeface="Plus Jakarta Sans"/>
              </a:rPr>
              <a:t> </a:t>
            </a:r>
            <a:r>
              <a:rPr b="0" i="0" lang="en" sz="1500" u="none" cap="none" strike="noStrike">
                <a:solidFill>
                  <a:srgbClr val="334155"/>
                </a:solidFill>
                <a:latin typeface="Plus Jakarta Sans"/>
                <a:ea typeface="Plus Jakarta Sans"/>
                <a:cs typeface="Plus Jakarta Sans"/>
                <a:sym typeface="Plus Jakarta Sans"/>
              </a:rPr>
              <a:t>bekannte</a:t>
            </a:r>
            <a:r>
              <a:rPr lang="en" sz="1500">
                <a:solidFill>
                  <a:srgbClr val="334155"/>
                </a:solidFill>
                <a:latin typeface="Plus Jakarta Sans"/>
                <a:ea typeface="Plus Jakarta Sans"/>
                <a:cs typeface="Plus Jakarta Sans"/>
                <a:sym typeface="Plus Jakarta Sans"/>
              </a:rPr>
              <a:t> </a:t>
            </a:r>
            <a:r>
              <a:rPr b="0" i="0" lang="en" sz="1500" u="none" cap="none" strike="noStrike">
                <a:solidFill>
                  <a:srgbClr val="334155"/>
                </a:solidFill>
                <a:latin typeface="Plus Jakarta Sans"/>
                <a:ea typeface="Plus Jakarta Sans"/>
                <a:cs typeface="Plus Jakarta Sans"/>
                <a:sym typeface="Plus Jakarta Sans"/>
              </a:rPr>
              <a:t>Fallstricke.</a:t>
            </a:r>
            <a:r>
              <a:rPr lang="en" sz="1500">
                <a:solidFill>
                  <a:srgbClr val="334155"/>
                </a:solidFill>
                <a:latin typeface="Plus Jakarta Sans"/>
                <a:ea typeface="Plus Jakarta Sans"/>
                <a:cs typeface="Plus Jakarta Sans"/>
                <a:sym typeface="Plus Jakarta Sans"/>
              </a:rPr>
              <a:t>G</a:t>
            </a:r>
            <a:r>
              <a:rPr b="0" i="0" lang="en" sz="1500" u="none" cap="none" strike="noStrike">
                <a:solidFill>
                  <a:srgbClr val="334155"/>
                </a:solidFill>
                <a:latin typeface="Plus Jakarta Sans"/>
                <a:ea typeface="Plus Jakarta Sans"/>
                <a:cs typeface="Plus Jakarta Sans"/>
                <a:sym typeface="Plus Jakarta Sans"/>
              </a:rPr>
              <a:t>ezielte Rückfragen, statt Architektur zu raten.</a:t>
            </a:r>
            <a:endParaRPr sz="1100"/>
          </a:p>
        </p:txBody>
      </p:sp>
      <p:sp>
        <p:nvSpPr>
          <p:cNvPr id="673" name="Google Shape;673;p59"/>
          <p:cNvSpPr txBox="1"/>
          <p:nvPr/>
        </p:nvSpPr>
        <p:spPr>
          <a:xfrm>
            <a:off x="3166314" y="1611621"/>
            <a:ext cx="2846100" cy="231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BRAINSTORMING</a:t>
            </a:r>
            <a:r>
              <a:rPr b="1" lang="en" sz="1500">
                <a:solidFill>
                  <a:srgbClr val="64748B"/>
                </a:solidFill>
                <a:latin typeface="Plus Jakarta Sans"/>
                <a:ea typeface="Plus Jakarta Sans"/>
                <a:cs typeface="Plus Jakarta Sans"/>
                <a:sym typeface="Plus Jakarta Sans"/>
              </a:rPr>
              <a:t> &amp; </a:t>
            </a:r>
            <a:r>
              <a:rPr b="1" i="0" lang="en" sz="1500" u="none" cap="none" strike="noStrike">
                <a:solidFill>
                  <a:srgbClr val="64748B"/>
                </a:solidFill>
                <a:latin typeface="Plus Jakarta Sans"/>
                <a:ea typeface="Plus Jakarta Sans"/>
                <a:cs typeface="Plus Jakarta Sans"/>
                <a:sym typeface="Plus Jakarta Sans"/>
              </a:rPr>
              <a:t> SPECS</a:t>
            </a:r>
            <a:endParaRPr sz="1100"/>
          </a:p>
        </p:txBody>
      </p:sp>
      <p:sp>
        <p:nvSpPr>
          <p:cNvPr id="674" name="Google Shape;674;p59"/>
          <p:cNvSpPr txBox="1"/>
          <p:nvPr/>
        </p:nvSpPr>
        <p:spPr>
          <a:xfrm>
            <a:off x="3234826" y="2150986"/>
            <a:ext cx="28461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Blick über </a:t>
            </a:r>
            <a:r>
              <a:rPr b="1" lang="en" sz="1500">
                <a:solidFill>
                  <a:srgbClr val="0F172A"/>
                </a:solidFill>
                <a:latin typeface="Plus Jakarta Sans"/>
                <a:ea typeface="Plus Jakarta Sans"/>
                <a:cs typeface="Plus Jakarta Sans"/>
                <a:sym typeface="Plus Jakarta Sans"/>
              </a:rPr>
              <a:t>alle</a:t>
            </a:r>
            <a:r>
              <a:rPr b="1" i="0" lang="en" sz="1500" u="none" cap="none" strike="noStrike">
                <a:solidFill>
                  <a:srgbClr val="0F172A"/>
                </a:solidFill>
                <a:latin typeface="Plus Jakarta Sans"/>
                <a:ea typeface="Plus Jakarta Sans"/>
                <a:cs typeface="Plus Jakarta Sans"/>
                <a:sym typeface="Plus Jakarta Sans"/>
              </a:rPr>
              <a:t> Repos</a:t>
            </a:r>
            <a:endParaRPr sz="1100"/>
          </a:p>
        </p:txBody>
      </p:sp>
      <p:sp>
        <p:nvSpPr>
          <p:cNvPr id="675" name="Google Shape;675;p59"/>
          <p:cNvSpPr txBox="1"/>
          <p:nvPr/>
        </p:nvSpPr>
        <p:spPr>
          <a:xfrm>
            <a:off x="3166314" y="2843909"/>
            <a:ext cx="2846100" cy="1616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 sz="1500" u="none" cap="none" strike="noStrike">
                <a:solidFill>
                  <a:srgbClr val="334155"/>
                </a:solidFill>
                <a:latin typeface="Plus Jakarta Sans"/>
                <a:ea typeface="Plus Jakarta Sans"/>
                <a:cs typeface="Plus Jakarta Sans"/>
                <a:sym typeface="Plus Jakarta Sans"/>
              </a:rPr>
              <a:t>Graphify zeigt Abhängigkeiten zwischen den Repos, OpenAPI liefert den echten Contract. Daraus </a:t>
            </a:r>
            <a:r>
              <a:rPr lang="en" sz="1500">
                <a:solidFill>
                  <a:srgbClr val="334155"/>
                </a:solidFill>
                <a:latin typeface="Plus Jakarta Sans"/>
                <a:ea typeface="Plus Jakarta Sans"/>
                <a:cs typeface="Plus Jakarta Sans"/>
                <a:sym typeface="Plus Jakarta Sans"/>
              </a:rPr>
              <a:t>gibt Superpowers </a:t>
            </a:r>
            <a:r>
              <a:rPr b="0" i="0" lang="en" sz="1500" u="none" cap="none" strike="noStrike">
                <a:solidFill>
                  <a:srgbClr val="334155"/>
                </a:solidFill>
                <a:latin typeface="Plus Jakarta Sans"/>
                <a:ea typeface="Plus Jakarta Sans"/>
                <a:cs typeface="Plus Jakarta Sans"/>
                <a:sym typeface="Plus Jakarta Sans"/>
              </a:rPr>
              <a:t> Design Spec Optionen und Implementation Spec.</a:t>
            </a:r>
            <a:endParaRPr sz="1100"/>
          </a:p>
        </p:txBody>
      </p:sp>
      <p:sp>
        <p:nvSpPr>
          <p:cNvPr id="676" name="Google Shape;676;p59"/>
          <p:cNvSpPr txBox="1"/>
          <p:nvPr/>
        </p:nvSpPr>
        <p:spPr>
          <a:xfrm>
            <a:off x="6423814" y="1604009"/>
            <a:ext cx="2126100" cy="231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MENSCH, HITL</a:t>
            </a:r>
            <a:endParaRPr sz="1100"/>
          </a:p>
        </p:txBody>
      </p:sp>
      <p:sp>
        <p:nvSpPr>
          <p:cNvPr id="677" name="Google Shape;677;p59"/>
          <p:cNvSpPr txBox="1"/>
          <p:nvPr/>
        </p:nvSpPr>
        <p:spPr>
          <a:xfrm>
            <a:off x="6423739" y="2012524"/>
            <a:ext cx="2126100" cy="507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M</a:t>
            </a:r>
            <a:r>
              <a:rPr b="1" i="0" lang="en" sz="1500" u="none" cap="none" strike="noStrike">
                <a:solidFill>
                  <a:srgbClr val="0F172A"/>
                </a:solidFill>
                <a:latin typeface="Plus Jakarta Sans"/>
                <a:ea typeface="Plus Jakarta Sans"/>
                <a:cs typeface="Plus Jakarta Sans"/>
                <a:sym typeface="Plus Jakarta Sans"/>
              </a:rPr>
              <a:t>enschliches Urteil und Guardrails</a:t>
            </a:r>
            <a:endParaRPr sz="1100"/>
          </a:p>
        </p:txBody>
      </p:sp>
      <p:sp>
        <p:nvSpPr>
          <p:cNvPr id="678" name="Google Shape;678;p59"/>
          <p:cNvSpPr txBox="1"/>
          <p:nvPr/>
        </p:nvSpPr>
        <p:spPr>
          <a:xfrm>
            <a:off x="6350639" y="2886134"/>
            <a:ext cx="2126100" cy="1339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 sz="1500" u="none" cap="none" strike="noStrike">
                <a:solidFill>
                  <a:srgbClr val="334155"/>
                </a:solidFill>
                <a:latin typeface="Plus Jakarta Sans"/>
                <a:ea typeface="Plus Jakarta Sans"/>
                <a:cs typeface="Plus Jakarta Sans"/>
                <a:sym typeface="Plus Jakarta Sans"/>
              </a:rPr>
              <a:t>Der Mensch formuliert die Anforderung, beantwortet Rückfragen und gibt die Spezifikation frei. </a:t>
            </a:r>
            <a:endParaRPr sz="1100"/>
          </a:p>
        </p:txBody>
      </p:sp>
      <p:sp>
        <p:nvSpPr>
          <p:cNvPr id="679" name="Google Shape;679;p59"/>
          <p:cNvSpPr txBox="1"/>
          <p:nvPr/>
        </p:nvSpPr>
        <p:spPr>
          <a:xfrm>
            <a:off x="1759499" y="1124712"/>
            <a:ext cx="995360" cy="30175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WISSEN</a:t>
            </a:r>
            <a:endParaRPr sz="1100"/>
          </a:p>
        </p:txBody>
      </p:sp>
      <p:sp>
        <p:nvSpPr>
          <p:cNvPr id="680" name="Google Shape;680;p59"/>
          <p:cNvSpPr txBox="1"/>
          <p:nvPr/>
        </p:nvSpPr>
        <p:spPr>
          <a:xfrm>
            <a:off x="4051982" y="1124712"/>
            <a:ext cx="995360" cy="30175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WISSEN</a:t>
            </a:r>
            <a:endParaRPr sz="1100"/>
          </a:p>
        </p:txBody>
      </p:sp>
      <p:sp>
        <p:nvSpPr>
          <p:cNvPr id="681" name="Google Shape;681;p59"/>
          <p:cNvSpPr txBox="1"/>
          <p:nvPr/>
        </p:nvSpPr>
        <p:spPr>
          <a:xfrm>
            <a:off x="5129563" y="1160100"/>
            <a:ext cx="8829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SKILLS</a:t>
            </a:r>
            <a:endParaRPr sz="1100"/>
          </a:p>
        </p:txBody>
      </p:sp>
      <p:sp>
        <p:nvSpPr>
          <p:cNvPr id="682" name="Google Shape;682;p59"/>
          <p:cNvSpPr txBox="1"/>
          <p:nvPr/>
        </p:nvSpPr>
        <p:spPr>
          <a:xfrm>
            <a:off x="7041232" y="1164312"/>
            <a:ext cx="15369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KONTROLLEN</a:t>
            </a:r>
            <a:endParaRPr sz="1100"/>
          </a:p>
        </p:txBody>
      </p:sp>
      <p:pic>
        <p:nvPicPr>
          <p:cNvPr id="683" name="Google Shape;683;p59"/>
          <p:cNvPicPr preferRelativeResize="0"/>
          <p:nvPr/>
        </p:nvPicPr>
        <p:blipFill>
          <a:blip r:embed="rId6">
            <a:alphaModFix/>
          </a:blip>
          <a:stretch>
            <a:fillRect/>
          </a:stretch>
        </p:blipFill>
        <p:spPr>
          <a:xfrm>
            <a:off x="8366800" y="0"/>
            <a:ext cx="777200" cy="58816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87" name="Shape 687"/>
        <p:cNvGrpSpPr/>
        <p:nvPr/>
      </p:nvGrpSpPr>
      <p:grpSpPr>
        <a:xfrm>
          <a:off x="0" y="0"/>
          <a:ext cx="0" cy="0"/>
          <a:chOff x="0" y="0"/>
          <a:chExt cx="0" cy="0"/>
        </a:xfrm>
      </p:grpSpPr>
      <p:sp>
        <p:nvSpPr>
          <p:cNvPr id="688" name="Google Shape;688;p60"/>
          <p:cNvSpPr/>
          <p:nvPr/>
        </p:nvSpPr>
        <p:spPr>
          <a:xfrm>
            <a:off x="457429" y="1769364"/>
            <a:ext cx="2263140" cy="493776"/>
          </a:xfrm>
          <a:prstGeom prst="roundRect">
            <a:avLst>
              <a:gd fmla="val 16666" name="adj"/>
            </a:avLst>
          </a:prstGeom>
          <a:solidFill>
            <a:srgbClr val="4472C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89" name="Google Shape;689;p60"/>
          <p:cNvSpPr/>
          <p:nvPr/>
        </p:nvSpPr>
        <p:spPr>
          <a:xfrm>
            <a:off x="3440659" y="1769364"/>
            <a:ext cx="2263140" cy="493776"/>
          </a:xfrm>
          <a:prstGeom prst="roundRect">
            <a:avLst>
              <a:gd fmla="val 16666" name="adj"/>
            </a:avLst>
          </a:prstGeom>
          <a:solidFill>
            <a:srgbClr val="0F172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90" name="Google Shape;690;p60"/>
          <p:cNvSpPr/>
          <p:nvPr/>
        </p:nvSpPr>
        <p:spPr>
          <a:xfrm>
            <a:off x="6423889" y="1769364"/>
            <a:ext cx="2263140" cy="493776"/>
          </a:xfrm>
          <a:prstGeom prst="roundRect">
            <a:avLst>
              <a:gd fmla="val 16666" name="adj"/>
            </a:avLst>
          </a:prstGeom>
          <a:solidFill>
            <a:srgbClr val="0F172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91" name="Google Shape;691;p60"/>
          <p:cNvSpPr/>
          <p:nvPr/>
        </p:nvSpPr>
        <p:spPr>
          <a:xfrm>
            <a:off x="457429" y="2811780"/>
            <a:ext cx="2263140" cy="493776"/>
          </a:xfrm>
          <a:prstGeom prst="roundRect">
            <a:avLst>
              <a:gd fmla="val 16666" name="adj"/>
            </a:avLst>
          </a:prstGeom>
          <a:solidFill>
            <a:srgbClr val="0F172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92" name="Google Shape;692;p60"/>
          <p:cNvSpPr/>
          <p:nvPr/>
        </p:nvSpPr>
        <p:spPr>
          <a:xfrm>
            <a:off x="3440659" y="2811780"/>
            <a:ext cx="2263140" cy="493776"/>
          </a:xfrm>
          <a:prstGeom prst="roundRect">
            <a:avLst>
              <a:gd fmla="val 16666" name="adj"/>
            </a:avLst>
          </a:prstGeom>
          <a:solidFill>
            <a:srgbClr val="FFFFFF"/>
          </a:solidFill>
          <a:ln cap="flat" cmpd="sng" w="19050">
            <a:solidFill>
              <a:srgbClr val="0F172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93" name="Google Shape;693;p60"/>
          <p:cNvSpPr/>
          <p:nvPr/>
        </p:nvSpPr>
        <p:spPr>
          <a:xfrm>
            <a:off x="6423889" y="2811780"/>
            <a:ext cx="2263140" cy="493776"/>
          </a:xfrm>
          <a:prstGeom prst="roundRect">
            <a:avLst>
              <a:gd fmla="val 16666" name="adj"/>
            </a:avLst>
          </a:prstGeom>
          <a:solidFill>
            <a:srgbClr val="4472C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94" name="Google Shape;694;p60"/>
          <p:cNvSpPr/>
          <p:nvPr/>
        </p:nvSpPr>
        <p:spPr>
          <a:xfrm>
            <a:off x="457429" y="3854196"/>
            <a:ext cx="2263140" cy="493776"/>
          </a:xfrm>
          <a:prstGeom prst="roundRect">
            <a:avLst>
              <a:gd fmla="val 16666" name="adj"/>
            </a:avLst>
          </a:prstGeom>
          <a:solidFill>
            <a:srgbClr val="647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95" name="Google Shape;695;p60"/>
          <p:cNvSpPr/>
          <p:nvPr/>
        </p:nvSpPr>
        <p:spPr>
          <a:xfrm>
            <a:off x="3440659" y="3854196"/>
            <a:ext cx="2263140" cy="493776"/>
          </a:xfrm>
          <a:prstGeom prst="roundRect">
            <a:avLst>
              <a:gd fmla="val 16666" name="adj"/>
            </a:avLst>
          </a:prstGeom>
          <a:solidFill>
            <a:srgbClr val="0F172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96" name="Google Shape;696;p60"/>
          <p:cNvSpPr/>
          <p:nvPr/>
        </p:nvSpPr>
        <p:spPr>
          <a:xfrm>
            <a:off x="6423889" y="3854196"/>
            <a:ext cx="2263140" cy="493776"/>
          </a:xfrm>
          <a:prstGeom prst="roundRect">
            <a:avLst>
              <a:gd fmla="val 16666" name="adj"/>
            </a:avLst>
          </a:prstGeom>
          <a:solidFill>
            <a:srgbClr val="4472C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image.png" id="697" name="Google Shape;697;p60"/>
          <p:cNvPicPr preferRelativeResize="0"/>
          <p:nvPr/>
        </p:nvPicPr>
        <p:blipFill rotWithShape="1">
          <a:blip r:embed="rId3">
            <a:alphaModFix/>
          </a:blip>
          <a:srcRect b="0" l="0" r="0" t="0"/>
          <a:stretch/>
        </p:blipFill>
        <p:spPr>
          <a:xfrm>
            <a:off x="2960599" y="1879092"/>
            <a:ext cx="240030" cy="274320"/>
          </a:xfrm>
          <a:prstGeom prst="rect">
            <a:avLst/>
          </a:prstGeom>
          <a:noFill/>
          <a:ln>
            <a:noFill/>
          </a:ln>
        </p:spPr>
      </p:pic>
      <p:pic>
        <p:nvPicPr>
          <p:cNvPr descr="image.png" id="698" name="Google Shape;698;p60"/>
          <p:cNvPicPr preferRelativeResize="0"/>
          <p:nvPr/>
        </p:nvPicPr>
        <p:blipFill rotWithShape="1">
          <a:blip r:embed="rId3">
            <a:alphaModFix/>
          </a:blip>
          <a:srcRect b="0" l="0" r="0" t="0"/>
          <a:stretch/>
        </p:blipFill>
        <p:spPr>
          <a:xfrm>
            <a:off x="5943829" y="1879092"/>
            <a:ext cx="240030" cy="274320"/>
          </a:xfrm>
          <a:prstGeom prst="rect">
            <a:avLst/>
          </a:prstGeom>
          <a:noFill/>
          <a:ln>
            <a:noFill/>
          </a:ln>
        </p:spPr>
      </p:pic>
      <p:pic>
        <p:nvPicPr>
          <p:cNvPr descr="image.png" id="699" name="Google Shape;699;p60"/>
          <p:cNvPicPr preferRelativeResize="0"/>
          <p:nvPr/>
        </p:nvPicPr>
        <p:blipFill rotWithShape="1">
          <a:blip r:embed="rId3">
            <a:alphaModFix/>
          </a:blip>
          <a:srcRect b="0" l="0" r="0" t="0"/>
          <a:stretch/>
        </p:blipFill>
        <p:spPr>
          <a:xfrm>
            <a:off x="2960599" y="2921508"/>
            <a:ext cx="240030" cy="274320"/>
          </a:xfrm>
          <a:prstGeom prst="rect">
            <a:avLst/>
          </a:prstGeom>
          <a:noFill/>
          <a:ln>
            <a:noFill/>
          </a:ln>
        </p:spPr>
      </p:pic>
      <p:pic>
        <p:nvPicPr>
          <p:cNvPr descr="image.png" id="700" name="Google Shape;700;p60"/>
          <p:cNvPicPr preferRelativeResize="0"/>
          <p:nvPr/>
        </p:nvPicPr>
        <p:blipFill rotWithShape="1">
          <a:blip r:embed="rId3">
            <a:alphaModFix/>
          </a:blip>
          <a:srcRect b="0" l="0" r="0" t="0"/>
          <a:stretch/>
        </p:blipFill>
        <p:spPr>
          <a:xfrm>
            <a:off x="5943829" y="2921508"/>
            <a:ext cx="240030" cy="274320"/>
          </a:xfrm>
          <a:prstGeom prst="rect">
            <a:avLst/>
          </a:prstGeom>
          <a:noFill/>
          <a:ln>
            <a:noFill/>
          </a:ln>
        </p:spPr>
      </p:pic>
      <p:pic>
        <p:nvPicPr>
          <p:cNvPr descr="image.png" id="701" name="Google Shape;701;p60"/>
          <p:cNvPicPr preferRelativeResize="0"/>
          <p:nvPr/>
        </p:nvPicPr>
        <p:blipFill rotWithShape="1">
          <a:blip r:embed="rId3">
            <a:alphaModFix/>
          </a:blip>
          <a:srcRect b="0" l="0" r="0" t="0"/>
          <a:stretch/>
        </p:blipFill>
        <p:spPr>
          <a:xfrm>
            <a:off x="2960599" y="3963924"/>
            <a:ext cx="240030" cy="274320"/>
          </a:xfrm>
          <a:prstGeom prst="rect">
            <a:avLst/>
          </a:prstGeom>
          <a:noFill/>
          <a:ln>
            <a:noFill/>
          </a:ln>
        </p:spPr>
      </p:pic>
      <p:pic>
        <p:nvPicPr>
          <p:cNvPr descr="image.png" id="702" name="Google Shape;702;p60"/>
          <p:cNvPicPr preferRelativeResize="0"/>
          <p:nvPr/>
        </p:nvPicPr>
        <p:blipFill rotWithShape="1">
          <a:blip r:embed="rId3">
            <a:alphaModFix/>
          </a:blip>
          <a:srcRect b="0" l="0" r="0" t="0"/>
          <a:stretch/>
        </p:blipFill>
        <p:spPr>
          <a:xfrm>
            <a:off x="5943829" y="3963924"/>
            <a:ext cx="240030" cy="274320"/>
          </a:xfrm>
          <a:prstGeom prst="rect">
            <a:avLst/>
          </a:prstGeom>
          <a:noFill/>
          <a:ln>
            <a:noFill/>
          </a:ln>
        </p:spPr>
      </p:pic>
      <p:pic>
        <p:nvPicPr>
          <p:cNvPr descr="image.png" id="703" name="Google Shape;703;p60"/>
          <p:cNvPicPr preferRelativeResize="0"/>
          <p:nvPr/>
        </p:nvPicPr>
        <p:blipFill rotWithShape="1">
          <a:blip r:embed="rId4">
            <a:alphaModFix/>
          </a:blip>
          <a:srcRect b="0" l="0" r="0" t="0"/>
          <a:stretch/>
        </p:blipFill>
        <p:spPr>
          <a:xfrm>
            <a:off x="457429" y="1501902"/>
            <a:ext cx="216027" cy="246888"/>
          </a:xfrm>
          <a:prstGeom prst="rect">
            <a:avLst/>
          </a:prstGeom>
          <a:noFill/>
          <a:ln>
            <a:noFill/>
          </a:ln>
        </p:spPr>
      </p:pic>
      <p:pic>
        <p:nvPicPr>
          <p:cNvPr descr="image.png" id="704" name="Google Shape;704;p60"/>
          <p:cNvPicPr preferRelativeResize="0"/>
          <p:nvPr/>
        </p:nvPicPr>
        <p:blipFill rotWithShape="1">
          <a:blip r:embed="rId5">
            <a:alphaModFix/>
          </a:blip>
          <a:srcRect b="0" l="0" r="0" t="0"/>
          <a:stretch/>
        </p:blipFill>
        <p:spPr>
          <a:xfrm>
            <a:off x="3440659" y="1501902"/>
            <a:ext cx="308610" cy="246888"/>
          </a:xfrm>
          <a:prstGeom prst="rect">
            <a:avLst/>
          </a:prstGeom>
          <a:noFill/>
          <a:ln>
            <a:noFill/>
          </a:ln>
        </p:spPr>
      </p:pic>
      <p:pic>
        <p:nvPicPr>
          <p:cNvPr descr="image.png" id="705" name="Google Shape;705;p60"/>
          <p:cNvPicPr preferRelativeResize="0"/>
          <p:nvPr/>
        </p:nvPicPr>
        <p:blipFill rotWithShape="1">
          <a:blip r:embed="rId5">
            <a:alphaModFix/>
          </a:blip>
          <a:srcRect b="0" l="0" r="0" t="0"/>
          <a:stretch/>
        </p:blipFill>
        <p:spPr>
          <a:xfrm>
            <a:off x="6423889" y="1501902"/>
            <a:ext cx="308610" cy="246888"/>
          </a:xfrm>
          <a:prstGeom prst="rect">
            <a:avLst/>
          </a:prstGeom>
          <a:noFill/>
          <a:ln>
            <a:noFill/>
          </a:ln>
        </p:spPr>
      </p:pic>
      <p:pic>
        <p:nvPicPr>
          <p:cNvPr descr="image.png" id="706" name="Google Shape;706;p60"/>
          <p:cNvPicPr preferRelativeResize="0"/>
          <p:nvPr/>
        </p:nvPicPr>
        <p:blipFill rotWithShape="1">
          <a:blip r:embed="rId5">
            <a:alphaModFix/>
          </a:blip>
          <a:srcRect b="0" l="0" r="0" t="0"/>
          <a:stretch/>
        </p:blipFill>
        <p:spPr>
          <a:xfrm>
            <a:off x="457429" y="2544318"/>
            <a:ext cx="308610" cy="246888"/>
          </a:xfrm>
          <a:prstGeom prst="rect">
            <a:avLst/>
          </a:prstGeom>
          <a:noFill/>
          <a:ln>
            <a:noFill/>
          </a:ln>
        </p:spPr>
      </p:pic>
      <p:pic>
        <p:nvPicPr>
          <p:cNvPr descr="image.png" id="707" name="Google Shape;707;p60"/>
          <p:cNvPicPr preferRelativeResize="0"/>
          <p:nvPr/>
        </p:nvPicPr>
        <p:blipFill rotWithShape="1">
          <a:blip r:embed="rId6">
            <a:alphaModFix/>
          </a:blip>
          <a:srcRect b="0" l="0" r="0" t="0"/>
          <a:stretch/>
        </p:blipFill>
        <p:spPr>
          <a:xfrm>
            <a:off x="3440659" y="2544318"/>
            <a:ext cx="246888" cy="246888"/>
          </a:xfrm>
          <a:prstGeom prst="rect">
            <a:avLst/>
          </a:prstGeom>
          <a:noFill/>
          <a:ln>
            <a:noFill/>
          </a:ln>
        </p:spPr>
      </p:pic>
      <p:pic>
        <p:nvPicPr>
          <p:cNvPr descr="image.png" id="708" name="Google Shape;708;p60"/>
          <p:cNvPicPr preferRelativeResize="0"/>
          <p:nvPr/>
        </p:nvPicPr>
        <p:blipFill rotWithShape="1">
          <a:blip r:embed="rId4">
            <a:alphaModFix/>
          </a:blip>
          <a:srcRect b="0" l="0" r="0" t="0"/>
          <a:stretch/>
        </p:blipFill>
        <p:spPr>
          <a:xfrm>
            <a:off x="6423889" y="2544318"/>
            <a:ext cx="216027" cy="246888"/>
          </a:xfrm>
          <a:prstGeom prst="rect">
            <a:avLst/>
          </a:prstGeom>
          <a:noFill/>
          <a:ln>
            <a:noFill/>
          </a:ln>
        </p:spPr>
      </p:pic>
      <p:pic>
        <p:nvPicPr>
          <p:cNvPr descr="image.png" id="709" name="Google Shape;709;p60"/>
          <p:cNvPicPr preferRelativeResize="0"/>
          <p:nvPr/>
        </p:nvPicPr>
        <p:blipFill rotWithShape="1">
          <a:blip r:embed="rId7">
            <a:alphaModFix/>
          </a:blip>
          <a:srcRect b="0" l="0" r="0" t="0"/>
          <a:stretch/>
        </p:blipFill>
        <p:spPr>
          <a:xfrm>
            <a:off x="457429" y="3586734"/>
            <a:ext cx="246888" cy="246888"/>
          </a:xfrm>
          <a:prstGeom prst="rect">
            <a:avLst/>
          </a:prstGeom>
          <a:noFill/>
          <a:ln>
            <a:noFill/>
          </a:ln>
        </p:spPr>
      </p:pic>
      <p:pic>
        <p:nvPicPr>
          <p:cNvPr descr="image.png" id="710" name="Google Shape;710;p60"/>
          <p:cNvPicPr preferRelativeResize="0"/>
          <p:nvPr/>
        </p:nvPicPr>
        <p:blipFill rotWithShape="1">
          <a:blip r:embed="rId5">
            <a:alphaModFix/>
          </a:blip>
          <a:srcRect b="0" l="0" r="0" t="0"/>
          <a:stretch/>
        </p:blipFill>
        <p:spPr>
          <a:xfrm>
            <a:off x="3440659" y="3586734"/>
            <a:ext cx="308610" cy="246888"/>
          </a:xfrm>
          <a:prstGeom prst="rect">
            <a:avLst/>
          </a:prstGeom>
          <a:noFill/>
          <a:ln>
            <a:noFill/>
          </a:ln>
        </p:spPr>
      </p:pic>
      <p:pic>
        <p:nvPicPr>
          <p:cNvPr descr="image.png" id="711" name="Google Shape;711;p60"/>
          <p:cNvPicPr preferRelativeResize="0"/>
          <p:nvPr/>
        </p:nvPicPr>
        <p:blipFill rotWithShape="1">
          <a:blip r:embed="rId4">
            <a:alphaModFix/>
          </a:blip>
          <a:srcRect b="0" l="0" r="0" t="0"/>
          <a:stretch/>
        </p:blipFill>
        <p:spPr>
          <a:xfrm>
            <a:off x="6423889" y="3586734"/>
            <a:ext cx="216027" cy="246888"/>
          </a:xfrm>
          <a:prstGeom prst="rect">
            <a:avLst/>
          </a:prstGeom>
          <a:noFill/>
          <a:ln>
            <a:noFill/>
          </a:ln>
        </p:spPr>
      </p:pic>
      <p:sp>
        <p:nvSpPr>
          <p:cNvPr id="712" name="Google Shape;712;p60"/>
          <p:cNvSpPr txBox="1"/>
          <p:nvPr/>
        </p:nvSpPr>
        <p:spPr>
          <a:xfrm>
            <a:off x="457429" y="4786884"/>
            <a:ext cx="240030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Max Rommel</a:t>
            </a:r>
            <a:endParaRPr sz="1100"/>
          </a:p>
        </p:txBody>
      </p:sp>
      <p:sp>
        <p:nvSpPr>
          <p:cNvPr id="713" name="Google Shape;713;p60"/>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31</a:t>
            </a:r>
            <a:endParaRPr sz="1100"/>
          </a:p>
        </p:txBody>
      </p:sp>
      <p:sp>
        <p:nvSpPr>
          <p:cNvPr id="714" name="Google Shape;714;p60"/>
          <p:cNvSpPr txBox="1"/>
          <p:nvPr/>
        </p:nvSpPr>
        <p:spPr>
          <a:xfrm>
            <a:off x="457429" y="342900"/>
            <a:ext cx="74751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sz="1100"/>
          </a:p>
        </p:txBody>
      </p:sp>
      <p:sp>
        <p:nvSpPr>
          <p:cNvPr id="715" name="Google Shape;715;p60"/>
          <p:cNvSpPr txBox="1"/>
          <p:nvPr/>
        </p:nvSpPr>
        <p:spPr>
          <a:xfrm>
            <a:off x="457429" y="348385"/>
            <a:ext cx="7475100" cy="307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2000" u="none" cap="none" strike="noStrike">
                <a:solidFill>
                  <a:srgbClr val="0F172A"/>
                </a:solidFill>
                <a:latin typeface="Plus Jakarta Sans"/>
                <a:ea typeface="Plus Jakarta Sans"/>
                <a:cs typeface="Plus Jakarta Sans"/>
                <a:sym typeface="Plus Jakarta Sans"/>
              </a:rPr>
              <a:t>Zwei Prozesse tragen die Anforderung</a:t>
            </a:r>
            <a:endParaRPr b="1" sz="1300"/>
          </a:p>
        </p:txBody>
      </p:sp>
      <p:sp>
        <p:nvSpPr>
          <p:cNvPr id="716" name="Google Shape;716;p60"/>
          <p:cNvSpPr txBox="1"/>
          <p:nvPr/>
        </p:nvSpPr>
        <p:spPr>
          <a:xfrm>
            <a:off x="457429" y="1097280"/>
            <a:ext cx="82296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PROZESS 2 · DEVELOPMENT &amp; PROD</a:t>
            </a:r>
            <a:r>
              <a:rPr b="1" lang="en" sz="1500">
                <a:solidFill>
                  <a:srgbClr val="0F172A"/>
                </a:solidFill>
                <a:latin typeface="Plus Jakarta Sans"/>
                <a:ea typeface="Plus Jakarta Sans"/>
                <a:cs typeface="Plus Jakarta Sans"/>
                <a:sym typeface="Plus Jakarta Sans"/>
              </a:rPr>
              <a:t>: </a:t>
            </a:r>
            <a:r>
              <a:rPr b="0" i="0" lang="en" sz="1500" u="none" cap="none" strike="noStrike">
                <a:solidFill>
                  <a:srgbClr val="64748B"/>
                </a:solidFill>
                <a:latin typeface="Plus Jakarta Sans"/>
                <a:ea typeface="Plus Jakarta Sans"/>
                <a:cs typeface="Plus Jakarta Sans"/>
                <a:sym typeface="Plus Jakarta Sans"/>
              </a:rPr>
              <a:t> </a:t>
            </a:r>
            <a:r>
              <a:rPr lang="en" sz="1500">
                <a:solidFill>
                  <a:srgbClr val="64748B"/>
                </a:solidFill>
                <a:latin typeface="Plus Jakarta Sans"/>
                <a:ea typeface="Plus Jakarta Sans"/>
                <a:cs typeface="Plus Jakarta Sans"/>
                <a:sym typeface="Plus Jakarta Sans"/>
              </a:rPr>
              <a:t>Issue -&gt; Staging Deployment</a:t>
            </a:r>
            <a:endParaRPr sz="1100"/>
          </a:p>
        </p:txBody>
      </p:sp>
      <p:sp>
        <p:nvSpPr>
          <p:cNvPr id="717" name="Google Shape;717;p60"/>
          <p:cNvSpPr txBox="1"/>
          <p:nvPr/>
        </p:nvSpPr>
        <p:spPr>
          <a:xfrm>
            <a:off x="742036" y="1508760"/>
            <a:ext cx="1978533"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1</a:t>
            </a:r>
            <a:endParaRPr sz="1100"/>
          </a:p>
        </p:txBody>
      </p:sp>
      <p:sp>
        <p:nvSpPr>
          <p:cNvPr id="718" name="Google Shape;718;p60"/>
          <p:cNvSpPr txBox="1"/>
          <p:nvPr/>
        </p:nvSpPr>
        <p:spPr>
          <a:xfrm>
            <a:off x="457379" y="1906527"/>
            <a:ext cx="22632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Issue #X</a:t>
            </a:r>
            <a:endParaRPr sz="1100"/>
          </a:p>
        </p:txBody>
      </p:sp>
      <p:sp>
        <p:nvSpPr>
          <p:cNvPr id="719" name="Google Shape;719;p60"/>
          <p:cNvSpPr txBox="1"/>
          <p:nvPr/>
        </p:nvSpPr>
        <p:spPr>
          <a:xfrm>
            <a:off x="3817849" y="1508760"/>
            <a:ext cx="188595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2</a:t>
            </a:r>
            <a:endParaRPr sz="1100"/>
          </a:p>
        </p:txBody>
      </p:sp>
      <p:sp>
        <p:nvSpPr>
          <p:cNvPr id="720" name="Google Shape;720;p60"/>
          <p:cNvSpPr txBox="1"/>
          <p:nvPr/>
        </p:nvSpPr>
        <p:spPr>
          <a:xfrm>
            <a:off x="3440659" y="1769364"/>
            <a:ext cx="2263140" cy="49377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Branch</a:t>
            </a:r>
            <a:endParaRPr sz="1100"/>
          </a:p>
        </p:txBody>
      </p:sp>
      <p:sp>
        <p:nvSpPr>
          <p:cNvPr id="721" name="Google Shape;721;p60"/>
          <p:cNvSpPr txBox="1"/>
          <p:nvPr/>
        </p:nvSpPr>
        <p:spPr>
          <a:xfrm>
            <a:off x="6801079" y="1508760"/>
            <a:ext cx="188595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3</a:t>
            </a:r>
            <a:endParaRPr sz="1100"/>
          </a:p>
        </p:txBody>
      </p:sp>
      <p:sp>
        <p:nvSpPr>
          <p:cNvPr id="722" name="Google Shape;722;p60"/>
          <p:cNvSpPr txBox="1"/>
          <p:nvPr/>
        </p:nvSpPr>
        <p:spPr>
          <a:xfrm>
            <a:off x="6423889" y="1769364"/>
            <a:ext cx="2263140" cy="49377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TDD</a:t>
            </a:r>
            <a:endParaRPr sz="1100"/>
          </a:p>
        </p:txBody>
      </p:sp>
      <p:sp>
        <p:nvSpPr>
          <p:cNvPr id="723" name="Google Shape;723;p60"/>
          <p:cNvSpPr txBox="1"/>
          <p:nvPr/>
        </p:nvSpPr>
        <p:spPr>
          <a:xfrm>
            <a:off x="834619" y="2551176"/>
            <a:ext cx="188595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4</a:t>
            </a:r>
            <a:endParaRPr sz="1100"/>
          </a:p>
        </p:txBody>
      </p:sp>
      <p:sp>
        <p:nvSpPr>
          <p:cNvPr id="724" name="Google Shape;724;p60"/>
          <p:cNvSpPr txBox="1"/>
          <p:nvPr/>
        </p:nvSpPr>
        <p:spPr>
          <a:xfrm>
            <a:off x="457429" y="2811780"/>
            <a:ext cx="2263140" cy="49377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PR</a:t>
            </a:r>
            <a:endParaRPr sz="1100"/>
          </a:p>
        </p:txBody>
      </p:sp>
      <p:sp>
        <p:nvSpPr>
          <p:cNvPr id="725" name="Google Shape;725;p60"/>
          <p:cNvSpPr txBox="1"/>
          <p:nvPr/>
        </p:nvSpPr>
        <p:spPr>
          <a:xfrm>
            <a:off x="3756127" y="2551176"/>
            <a:ext cx="1947672"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5</a:t>
            </a:r>
            <a:endParaRPr sz="1100"/>
          </a:p>
        </p:txBody>
      </p:sp>
      <p:sp>
        <p:nvSpPr>
          <p:cNvPr id="726" name="Google Shape;726;p60"/>
          <p:cNvSpPr txBox="1"/>
          <p:nvPr/>
        </p:nvSpPr>
        <p:spPr>
          <a:xfrm>
            <a:off x="3440659" y="2811780"/>
            <a:ext cx="2263140" cy="49377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CI-Gate</a:t>
            </a:r>
            <a:endParaRPr sz="1100"/>
          </a:p>
        </p:txBody>
      </p:sp>
      <p:sp>
        <p:nvSpPr>
          <p:cNvPr id="727" name="Google Shape;727;p60"/>
          <p:cNvSpPr txBox="1"/>
          <p:nvPr/>
        </p:nvSpPr>
        <p:spPr>
          <a:xfrm>
            <a:off x="6708496" y="2551176"/>
            <a:ext cx="1978500" cy="233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6</a:t>
            </a:r>
            <a:endParaRPr sz="1100"/>
          </a:p>
        </p:txBody>
      </p:sp>
      <p:sp>
        <p:nvSpPr>
          <p:cNvPr id="728" name="Google Shape;728;p60"/>
          <p:cNvSpPr txBox="1"/>
          <p:nvPr/>
        </p:nvSpPr>
        <p:spPr>
          <a:xfrm>
            <a:off x="6423864" y="2946593"/>
            <a:ext cx="22632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Merge</a:t>
            </a:r>
            <a:endParaRPr sz="1100"/>
          </a:p>
        </p:txBody>
      </p:sp>
      <p:sp>
        <p:nvSpPr>
          <p:cNvPr id="729" name="Google Shape;729;p60"/>
          <p:cNvSpPr txBox="1"/>
          <p:nvPr/>
        </p:nvSpPr>
        <p:spPr>
          <a:xfrm>
            <a:off x="772897" y="3593592"/>
            <a:ext cx="1947672"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7</a:t>
            </a:r>
            <a:endParaRPr sz="1100"/>
          </a:p>
        </p:txBody>
      </p:sp>
      <p:sp>
        <p:nvSpPr>
          <p:cNvPr id="730" name="Google Shape;730;p60"/>
          <p:cNvSpPr txBox="1"/>
          <p:nvPr/>
        </p:nvSpPr>
        <p:spPr>
          <a:xfrm>
            <a:off x="457429" y="3854196"/>
            <a:ext cx="2263140" cy="49377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Staging</a:t>
            </a:r>
            <a:endParaRPr sz="1100"/>
          </a:p>
        </p:txBody>
      </p:sp>
      <p:sp>
        <p:nvSpPr>
          <p:cNvPr id="731" name="Google Shape;731;p60"/>
          <p:cNvSpPr txBox="1"/>
          <p:nvPr/>
        </p:nvSpPr>
        <p:spPr>
          <a:xfrm>
            <a:off x="3817849" y="3593592"/>
            <a:ext cx="1885950"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8</a:t>
            </a:r>
            <a:endParaRPr sz="1100"/>
          </a:p>
        </p:txBody>
      </p:sp>
      <p:sp>
        <p:nvSpPr>
          <p:cNvPr id="732" name="Google Shape;732;p60"/>
          <p:cNvSpPr txBox="1"/>
          <p:nvPr/>
        </p:nvSpPr>
        <p:spPr>
          <a:xfrm>
            <a:off x="3440659" y="3854196"/>
            <a:ext cx="2263140" cy="49377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Verify</a:t>
            </a:r>
            <a:endParaRPr sz="1100"/>
          </a:p>
        </p:txBody>
      </p:sp>
      <p:sp>
        <p:nvSpPr>
          <p:cNvPr id="733" name="Google Shape;733;p60"/>
          <p:cNvSpPr txBox="1"/>
          <p:nvPr/>
        </p:nvSpPr>
        <p:spPr>
          <a:xfrm>
            <a:off x="6708496" y="3593592"/>
            <a:ext cx="1978533" cy="23317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500" u="none" cap="none" strike="noStrike">
                <a:solidFill>
                  <a:srgbClr val="64748B"/>
                </a:solidFill>
                <a:latin typeface="Plus Jakarta Sans"/>
                <a:ea typeface="Plus Jakarta Sans"/>
                <a:cs typeface="Plus Jakarta Sans"/>
                <a:sym typeface="Plus Jakarta Sans"/>
              </a:rPr>
              <a:t>9</a:t>
            </a:r>
            <a:endParaRPr sz="1100"/>
          </a:p>
        </p:txBody>
      </p:sp>
      <p:sp>
        <p:nvSpPr>
          <p:cNvPr id="734" name="Google Shape;734;p60"/>
          <p:cNvSpPr txBox="1"/>
          <p:nvPr/>
        </p:nvSpPr>
        <p:spPr>
          <a:xfrm>
            <a:off x="6423864" y="4007246"/>
            <a:ext cx="22632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Prod</a:t>
            </a:r>
            <a:endParaRPr sz="1100"/>
          </a:p>
        </p:txBody>
      </p:sp>
      <p:pic>
        <p:nvPicPr>
          <p:cNvPr id="735" name="Google Shape;735;p60"/>
          <p:cNvPicPr preferRelativeResize="0"/>
          <p:nvPr/>
        </p:nvPicPr>
        <p:blipFill>
          <a:blip r:embed="rId8">
            <a:alphaModFix/>
          </a:blip>
          <a:stretch>
            <a:fillRect/>
          </a:stretch>
        </p:blipFill>
        <p:spPr>
          <a:xfrm>
            <a:off x="8366800" y="0"/>
            <a:ext cx="777200" cy="58816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9" name="Shape 739"/>
        <p:cNvGrpSpPr/>
        <p:nvPr/>
      </p:nvGrpSpPr>
      <p:grpSpPr>
        <a:xfrm>
          <a:off x="0" y="0"/>
          <a:ext cx="0" cy="0"/>
          <a:chOff x="0" y="0"/>
          <a:chExt cx="0" cy="0"/>
        </a:xfrm>
      </p:grpSpPr>
      <p:sp>
        <p:nvSpPr>
          <p:cNvPr id="740" name="Google Shape;740;p61"/>
          <p:cNvSpPr/>
          <p:nvPr/>
        </p:nvSpPr>
        <p:spPr>
          <a:xfrm>
            <a:off x="457429" y="1042416"/>
            <a:ext cx="2434500" cy="3571500"/>
          </a:xfrm>
          <a:prstGeom prst="roundRect">
            <a:avLst>
              <a:gd fmla="val 4788"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41" name="Google Shape;741;p61"/>
          <p:cNvSpPr/>
          <p:nvPr/>
        </p:nvSpPr>
        <p:spPr>
          <a:xfrm>
            <a:off x="3029179" y="1042416"/>
            <a:ext cx="3120300" cy="3571500"/>
          </a:xfrm>
          <a:prstGeom prst="roundRect">
            <a:avLst>
              <a:gd fmla="val 3736"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42" name="Google Shape;742;p61"/>
          <p:cNvSpPr/>
          <p:nvPr/>
        </p:nvSpPr>
        <p:spPr>
          <a:xfrm>
            <a:off x="6286729" y="1042416"/>
            <a:ext cx="2400300" cy="3571500"/>
          </a:xfrm>
          <a:prstGeom prst="roundRect">
            <a:avLst>
              <a:gd fmla="val 4857"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43" name="Google Shape;743;p61"/>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Victor Hacker</a:t>
            </a:r>
            <a:endParaRPr sz="1100"/>
          </a:p>
        </p:txBody>
      </p:sp>
      <p:sp>
        <p:nvSpPr>
          <p:cNvPr id="744" name="Google Shape;744;p61"/>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32</a:t>
            </a:r>
            <a:endParaRPr sz="1100"/>
          </a:p>
        </p:txBody>
      </p:sp>
      <p:sp>
        <p:nvSpPr>
          <p:cNvPr id="745" name="Google Shape;745;p61"/>
          <p:cNvSpPr txBox="1"/>
          <p:nvPr/>
        </p:nvSpPr>
        <p:spPr>
          <a:xfrm>
            <a:off x="457429" y="342900"/>
            <a:ext cx="74751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sz="1100"/>
          </a:p>
        </p:txBody>
      </p:sp>
      <p:sp>
        <p:nvSpPr>
          <p:cNvPr id="746" name="Google Shape;746;p61"/>
          <p:cNvSpPr txBox="1"/>
          <p:nvPr/>
        </p:nvSpPr>
        <p:spPr>
          <a:xfrm>
            <a:off x="457429" y="342910"/>
            <a:ext cx="7475100" cy="307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2000" u="none" cap="none" strike="noStrike">
                <a:solidFill>
                  <a:srgbClr val="0F172A"/>
                </a:solidFill>
                <a:latin typeface="Plus Jakarta Sans"/>
                <a:ea typeface="Plus Jakarta Sans"/>
                <a:cs typeface="Plus Jakarta Sans"/>
                <a:sym typeface="Plus Jakarta Sans"/>
              </a:rPr>
              <a:t>Prozess </a:t>
            </a:r>
            <a:r>
              <a:rPr b="1" lang="en" sz="2000">
                <a:solidFill>
                  <a:srgbClr val="0F172A"/>
                </a:solidFill>
                <a:latin typeface="Plus Jakarta Sans"/>
                <a:ea typeface="Plus Jakarta Sans"/>
                <a:cs typeface="Plus Jakarta Sans"/>
                <a:sym typeface="Plus Jakarta Sans"/>
              </a:rPr>
              <a:t>2</a:t>
            </a:r>
            <a:r>
              <a:rPr b="1" i="0" lang="en" sz="2000" u="none" cap="none" strike="noStrike">
                <a:solidFill>
                  <a:srgbClr val="0F172A"/>
                </a:solidFill>
                <a:latin typeface="Plus Jakarta Sans"/>
                <a:ea typeface="Plus Jakarta Sans"/>
                <a:cs typeface="Plus Jakarta Sans"/>
                <a:sym typeface="Plus Jakarta Sans"/>
              </a:rPr>
              <a:t>: </a:t>
            </a:r>
            <a:r>
              <a:rPr b="1" lang="en" sz="2000">
                <a:solidFill>
                  <a:srgbClr val="0F172A"/>
                </a:solidFill>
                <a:latin typeface="Plus Jakarta Sans"/>
                <a:ea typeface="Plus Jakarta Sans"/>
                <a:cs typeface="Plus Jakarta Sans"/>
                <a:sym typeface="Plus Jakarta Sans"/>
              </a:rPr>
              <a:t>Test Driven </a:t>
            </a:r>
            <a:r>
              <a:rPr b="1" lang="en" sz="2000">
                <a:solidFill>
                  <a:srgbClr val="0F172A"/>
                </a:solidFill>
                <a:latin typeface="Plus Jakarta Sans"/>
                <a:ea typeface="Plus Jakarta Sans"/>
                <a:cs typeface="Plus Jakarta Sans"/>
                <a:sym typeface="Plus Jakarta Sans"/>
              </a:rPr>
              <a:t>Development</a:t>
            </a:r>
            <a:r>
              <a:rPr b="1" lang="en" sz="2000">
                <a:solidFill>
                  <a:srgbClr val="0F172A"/>
                </a:solidFill>
                <a:latin typeface="Plus Jakarta Sans"/>
                <a:ea typeface="Plus Jakarta Sans"/>
                <a:cs typeface="Plus Jakarta Sans"/>
                <a:sym typeface="Plus Jakarta Sans"/>
              </a:rPr>
              <a:t> (Superpowers TDD)</a:t>
            </a:r>
            <a:endParaRPr sz="1300"/>
          </a:p>
        </p:txBody>
      </p:sp>
      <p:sp>
        <p:nvSpPr>
          <p:cNvPr id="747" name="Google Shape;747;p61"/>
          <p:cNvSpPr txBox="1"/>
          <p:nvPr/>
        </p:nvSpPr>
        <p:spPr>
          <a:xfrm>
            <a:off x="567825" y="1382263"/>
            <a:ext cx="2324100" cy="231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 sz="1500">
                <a:solidFill>
                  <a:srgbClr val="64748B"/>
                </a:solidFill>
                <a:latin typeface="Plus Jakarta Sans"/>
                <a:ea typeface="Plus Jakarta Sans"/>
                <a:cs typeface="Plus Jakarta Sans"/>
                <a:sym typeface="Plus Jakarta Sans"/>
              </a:rPr>
              <a:t>Phase 1</a:t>
            </a:r>
            <a:endParaRPr sz="1100"/>
          </a:p>
        </p:txBody>
      </p:sp>
      <p:sp>
        <p:nvSpPr>
          <p:cNvPr id="748" name="Google Shape;748;p61"/>
          <p:cNvSpPr txBox="1"/>
          <p:nvPr/>
        </p:nvSpPr>
        <p:spPr>
          <a:xfrm>
            <a:off x="594589" y="1786974"/>
            <a:ext cx="2160300" cy="575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700">
                <a:solidFill>
                  <a:srgbClr val="0F172A"/>
                </a:solidFill>
                <a:latin typeface="Plus Jakarta Sans"/>
                <a:ea typeface="Plus Jakarta Sans"/>
                <a:cs typeface="Plus Jakarta Sans"/>
                <a:sym typeface="Plus Jakarta Sans"/>
              </a:rPr>
              <a:t>Tests schreiben, die failen </a:t>
            </a:r>
            <a:endParaRPr b="1" sz="1300"/>
          </a:p>
        </p:txBody>
      </p:sp>
      <p:sp>
        <p:nvSpPr>
          <p:cNvPr id="749" name="Google Shape;749;p61"/>
          <p:cNvSpPr txBox="1"/>
          <p:nvPr/>
        </p:nvSpPr>
        <p:spPr>
          <a:xfrm>
            <a:off x="594514" y="2659346"/>
            <a:ext cx="2160300" cy="1607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1800">
                <a:solidFill>
                  <a:srgbClr val="334155"/>
                </a:solidFill>
                <a:latin typeface="Plus Jakarta Sans"/>
                <a:ea typeface="Plus Jakarta Sans"/>
                <a:cs typeface="Plus Jakarta Sans"/>
                <a:sym typeface="Plus Jakarta Sans"/>
              </a:rPr>
              <a:t>Schreiben von Tests anhand von festgelegten Spezifikation des Issues</a:t>
            </a:r>
            <a:r>
              <a:rPr b="0" i="0" lang="en" sz="1800" u="none" cap="none" strike="noStrike">
                <a:solidFill>
                  <a:srgbClr val="334155"/>
                </a:solidFill>
                <a:latin typeface="Plus Jakarta Sans"/>
                <a:ea typeface="Plus Jakarta Sans"/>
                <a:cs typeface="Plus Jakarta Sans"/>
                <a:sym typeface="Plus Jakarta Sans"/>
              </a:rPr>
              <a:t>.</a:t>
            </a:r>
            <a:endParaRPr/>
          </a:p>
        </p:txBody>
      </p:sp>
      <p:sp>
        <p:nvSpPr>
          <p:cNvPr id="750" name="Google Shape;750;p61"/>
          <p:cNvSpPr txBox="1"/>
          <p:nvPr/>
        </p:nvSpPr>
        <p:spPr>
          <a:xfrm>
            <a:off x="3166264" y="1382271"/>
            <a:ext cx="2846100" cy="231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 sz="1500">
                <a:solidFill>
                  <a:srgbClr val="64748B"/>
                </a:solidFill>
                <a:latin typeface="Plus Jakarta Sans"/>
                <a:ea typeface="Plus Jakarta Sans"/>
                <a:cs typeface="Plus Jakarta Sans"/>
                <a:sym typeface="Plus Jakarta Sans"/>
              </a:rPr>
              <a:t>Phase 2 </a:t>
            </a:r>
            <a:endParaRPr sz="1100"/>
          </a:p>
        </p:txBody>
      </p:sp>
      <p:sp>
        <p:nvSpPr>
          <p:cNvPr id="751" name="Google Shape;751;p61"/>
          <p:cNvSpPr txBox="1"/>
          <p:nvPr/>
        </p:nvSpPr>
        <p:spPr>
          <a:xfrm>
            <a:off x="3118575" y="1786963"/>
            <a:ext cx="2941500" cy="575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700">
                <a:solidFill>
                  <a:srgbClr val="0F172A"/>
                </a:solidFill>
                <a:latin typeface="Plus Jakarta Sans"/>
                <a:ea typeface="Plus Jakarta Sans"/>
                <a:cs typeface="Plus Jakarta Sans"/>
                <a:sym typeface="Plus Jakarta Sans"/>
              </a:rPr>
              <a:t>Minimalen Code schreiben, der die Tests erfüllt</a:t>
            </a:r>
            <a:endParaRPr sz="1300"/>
          </a:p>
        </p:txBody>
      </p:sp>
      <p:sp>
        <p:nvSpPr>
          <p:cNvPr id="752" name="Google Shape;752;p61"/>
          <p:cNvSpPr txBox="1"/>
          <p:nvPr/>
        </p:nvSpPr>
        <p:spPr>
          <a:xfrm>
            <a:off x="3125325" y="2659350"/>
            <a:ext cx="2941500" cy="1939500"/>
          </a:xfrm>
          <a:prstGeom prst="rect">
            <a:avLst/>
          </a:prstGeom>
          <a:noFill/>
          <a:ln>
            <a:noFill/>
          </a:ln>
        </p:spPr>
        <p:txBody>
          <a:bodyPr anchorCtr="0" anchor="t" bIns="0" lIns="0" spcFirstLastPara="1" rIns="0" wrap="square" tIns="0">
            <a:spAutoFit/>
          </a:bodyPr>
          <a:lstStyle/>
          <a:p>
            <a:pPr indent="-342900" lvl="0" marL="457200" marR="0" rtl="0" algn="l">
              <a:lnSpc>
                <a:spcPct val="120000"/>
              </a:lnSpc>
              <a:spcBef>
                <a:spcPts val="0"/>
              </a:spcBef>
              <a:spcAft>
                <a:spcPts val="0"/>
              </a:spcAft>
              <a:buClr>
                <a:srgbClr val="334155"/>
              </a:buClr>
              <a:buSzPts val="1800"/>
              <a:buFont typeface="Plus Jakarta Sans"/>
              <a:buChar char="●"/>
            </a:pPr>
            <a:r>
              <a:rPr lang="en" sz="1800">
                <a:solidFill>
                  <a:srgbClr val="334155"/>
                </a:solidFill>
                <a:latin typeface="Plus Jakarta Sans"/>
                <a:ea typeface="Plus Jakarta Sans"/>
                <a:cs typeface="Plus Jakarta Sans"/>
                <a:sym typeface="Plus Jakarta Sans"/>
              </a:rPr>
              <a:t>Ziel: Code, der die Tests erfüllt</a:t>
            </a:r>
            <a:endParaRPr sz="1800">
              <a:solidFill>
                <a:srgbClr val="334155"/>
              </a:solidFill>
              <a:latin typeface="Plus Jakarta Sans"/>
              <a:ea typeface="Plus Jakarta Sans"/>
              <a:cs typeface="Plus Jakarta Sans"/>
              <a:sym typeface="Plus Jakarta Sans"/>
            </a:endParaRPr>
          </a:p>
          <a:p>
            <a:pPr indent="-342900" lvl="0" marL="457200" marR="0" rtl="0" algn="l">
              <a:lnSpc>
                <a:spcPct val="120000"/>
              </a:lnSpc>
              <a:spcBef>
                <a:spcPts val="0"/>
              </a:spcBef>
              <a:spcAft>
                <a:spcPts val="0"/>
              </a:spcAft>
              <a:buClr>
                <a:srgbClr val="334155"/>
              </a:buClr>
              <a:buSzPts val="1800"/>
              <a:buFont typeface="Plus Jakarta Sans"/>
              <a:buChar char="●"/>
            </a:pPr>
            <a:r>
              <a:rPr lang="en" sz="1800">
                <a:solidFill>
                  <a:srgbClr val="334155"/>
                </a:solidFill>
                <a:latin typeface="Plus Jakarta Sans"/>
                <a:ea typeface="Plus Jakarta Sans"/>
                <a:cs typeface="Plus Jakarta Sans"/>
                <a:sym typeface="Plus Jakarta Sans"/>
              </a:rPr>
              <a:t>Bei </a:t>
            </a:r>
            <a:r>
              <a:rPr lang="en" sz="1800">
                <a:solidFill>
                  <a:srgbClr val="334155"/>
                </a:solidFill>
                <a:latin typeface="Plus Jakarta Sans"/>
                <a:ea typeface="Plus Jakarta Sans"/>
                <a:cs typeface="Plus Jakarta Sans"/>
                <a:sym typeface="Plus Jakarta Sans"/>
              </a:rPr>
              <a:t>fehlgeschlagenen</a:t>
            </a:r>
            <a:r>
              <a:rPr lang="en" sz="1800">
                <a:solidFill>
                  <a:srgbClr val="334155"/>
                </a:solidFill>
                <a:latin typeface="Plus Jakarta Sans"/>
                <a:ea typeface="Plus Jakarta Sans"/>
                <a:cs typeface="Plus Jakarta Sans"/>
                <a:sym typeface="Plus Jakarta Sans"/>
              </a:rPr>
              <a:t> Tests ist der Code, nicht die Tests zu ändern</a:t>
            </a:r>
            <a:endParaRPr sz="1800">
              <a:solidFill>
                <a:srgbClr val="334155"/>
              </a:solidFill>
              <a:latin typeface="Plus Jakarta Sans"/>
              <a:ea typeface="Plus Jakarta Sans"/>
              <a:cs typeface="Plus Jakarta Sans"/>
              <a:sym typeface="Plus Jakarta Sans"/>
            </a:endParaRPr>
          </a:p>
        </p:txBody>
      </p:sp>
      <p:sp>
        <p:nvSpPr>
          <p:cNvPr id="753" name="Google Shape;753;p61"/>
          <p:cNvSpPr txBox="1"/>
          <p:nvPr/>
        </p:nvSpPr>
        <p:spPr>
          <a:xfrm>
            <a:off x="6423739" y="1355109"/>
            <a:ext cx="2126100" cy="231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 sz="1500">
                <a:solidFill>
                  <a:srgbClr val="64748B"/>
                </a:solidFill>
                <a:latin typeface="Plus Jakarta Sans"/>
                <a:ea typeface="Plus Jakarta Sans"/>
                <a:cs typeface="Plus Jakarta Sans"/>
                <a:sym typeface="Plus Jakarta Sans"/>
              </a:rPr>
              <a:t>Phase 3</a:t>
            </a:r>
            <a:endParaRPr sz="1100"/>
          </a:p>
        </p:txBody>
      </p:sp>
      <p:sp>
        <p:nvSpPr>
          <p:cNvPr id="754" name="Google Shape;754;p61"/>
          <p:cNvSpPr txBox="1"/>
          <p:nvPr/>
        </p:nvSpPr>
        <p:spPr>
          <a:xfrm>
            <a:off x="6423739" y="1629924"/>
            <a:ext cx="2126100" cy="889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700">
                <a:solidFill>
                  <a:srgbClr val="0F172A"/>
                </a:solidFill>
                <a:latin typeface="Plus Jakarta Sans"/>
                <a:ea typeface="Plus Jakarta Sans"/>
                <a:cs typeface="Plus Jakarta Sans"/>
                <a:sym typeface="Plus Jakarta Sans"/>
              </a:rPr>
              <a:t>Refactoring und Entfernen von überflüssigem Code</a:t>
            </a:r>
            <a:endParaRPr sz="1700"/>
          </a:p>
        </p:txBody>
      </p:sp>
      <p:sp>
        <p:nvSpPr>
          <p:cNvPr id="755" name="Google Shape;755;p61"/>
          <p:cNvSpPr txBox="1"/>
          <p:nvPr/>
        </p:nvSpPr>
        <p:spPr>
          <a:xfrm>
            <a:off x="6423814" y="2721184"/>
            <a:ext cx="2126100" cy="1607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1800">
                <a:solidFill>
                  <a:srgbClr val="334155"/>
                </a:solidFill>
                <a:latin typeface="Plus Jakarta Sans"/>
                <a:ea typeface="Plus Jakarta Sans"/>
                <a:cs typeface="Plus Jakarta Sans"/>
                <a:sym typeface="Plus Jakarta Sans"/>
              </a:rPr>
              <a:t>Verwendung von eindeutigen Namen und die Entfernung von Duplikaten</a:t>
            </a:r>
            <a:endParaRPr/>
          </a:p>
        </p:txBody>
      </p:sp>
      <p:pic>
        <p:nvPicPr>
          <p:cNvPr id="756" name="Google Shape;756;p61"/>
          <p:cNvPicPr preferRelativeResize="0"/>
          <p:nvPr/>
        </p:nvPicPr>
        <p:blipFill>
          <a:blip r:embed="rId3">
            <a:alphaModFix/>
          </a:blip>
          <a:stretch>
            <a:fillRect/>
          </a:stretch>
        </p:blipFill>
        <p:spPr>
          <a:xfrm>
            <a:off x="8366800" y="0"/>
            <a:ext cx="777200" cy="58816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2"/>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Victor Hacker</a:t>
            </a:r>
            <a:endParaRPr sz="1100"/>
          </a:p>
        </p:txBody>
      </p:sp>
      <p:sp>
        <p:nvSpPr>
          <p:cNvPr id="762" name="Google Shape;762;p62"/>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33</a:t>
            </a:r>
            <a:endParaRPr sz="1100"/>
          </a:p>
        </p:txBody>
      </p:sp>
      <p:sp>
        <p:nvSpPr>
          <p:cNvPr id="763" name="Google Shape;763;p62"/>
          <p:cNvSpPr txBox="1"/>
          <p:nvPr/>
        </p:nvSpPr>
        <p:spPr>
          <a:xfrm>
            <a:off x="457429" y="342900"/>
            <a:ext cx="74751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sz="1100"/>
          </a:p>
        </p:txBody>
      </p:sp>
      <p:sp>
        <p:nvSpPr>
          <p:cNvPr id="764" name="Google Shape;764;p62"/>
          <p:cNvSpPr txBox="1"/>
          <p:nvPr/>
        </p:nvSpPr>
        <p:spPr>
          <a:xfrm>
            <a:off x="457425" y="351850"/>
            <a:ext cx="2720700" cy="307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2000" u="none" cap="none" strike="noStrike">
                <a:solidFill>
                  <a:srgbClr val="0F172A"/>
                </a:solidFill>
                <a:latin typeface="Plus Jakarta Sans"/>
                <a:ea typeface="Plus Jakarta Sans"/>
                <a:cs typeface="Plus Jakarta Sans"/>
                <a:sym typeface="Plus Jakarta Sans"/>
              </a:rPr>
              <a:t>Prozess </a:t>
            </a:r>
            <a:r>
              <a:rPr b="1" lang="en" sz="2000">
                <a:solidFill>
                  <a:srgbClr val="0F172A"/>
                </a:solidFill>
                <a:latin typeface="Plus Jakarta Sans"/>
                <a:ea typeface="Plus Jakarta Sans"/>
                <a:cs typeface="Plus Jakarta Sans"/>
                <a:sym typeface="Plus Jakarta Sans"/>
              </a:rPr>
              <a:t>2</a:t>
            </a:r>
            <a:r>
              <a:rPr b="1" i="0" lang="en" sz="2000" u="none" cap="none" strike="noStrike">
                <a:solidFill>
                  <a:srgbClr val="0F172A"/>
                </a:solidFill>
                <a:latin typeface="Plus Jakarta Sans"/>
                <a:ea typeface="Plus Jakarta Sans"/>
                <a:cs typeface="Plus Jakarta Sans"/>
                <a:sym typeface="Plus Jakarta Sans"/>
              </a:rPr>
              <a:t>: </a:t>
            </a:r>
            <a:r>
              <a:rPr b="1" lang="en" sz="2000">
                <a:solidFill>
                  <a:srgbClr val="0F172A"/>
                </a:solidFill>
                <a:latin typeface="Plus Jakarta Sans"/>
                <a:ea typeface="Plus Jakarta Sans"/>
                <a:cs typeface="Plus Jakarta Sans"/>
                <a:sym typeface="Plus Jakarta Sans"/>
              </a:rPr>
              <a:t>CI Gates</a:t>
            </a:r>
            <a:endParaRPr b="1" sz="1300"/>
          </a:p>
        </p:txBody>
      </p:sp>
      <p:pic>
        <p:nvPicPr>
          <p:cNvPr id="765" name="Google Shape;765;p62"/>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766" name="Google Shape;766;p62"/>
          <p:cNvSpPr/>
          <p:nvPr/>
        </p:nvSpPr>
        <p:spPr>
          <a:xfrm>
            <a:off x="527829" y="1028930"/>
            <a:ext cx="2263200" cy="493800"/>
          </a:xfrm>
          <a:prstGeom prst="roundRect">
            <a:avLst>
              <a:gd fmla="val 16666" name="adj"/>
            </a:avLst>
          </a:prstGeom>
          <a:solidFill>
            <a:srgbClr val="0F172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67" name="Google Shape;767;p62"/>
          <p:cNvSpPr/>
          <p:nvPr/>
        </p:nvSpPr>
        <p:spPr>
          <a:xfrm>
            <a:off x="3511059" y="1028930"/>
            <a:ext cx="2263200" cy="493800"/>
          </a:xfrm>
          <a:prstGeom prst="roundRect">
            <a:avLst>
              <a:gd fmla="val 16666" name="adj"/>
            </a:avLst>
          </a:prstGeom>
          <a:solidFill>
            <a:srgbClr val="FFFFFF"/>
          </a:solidFill>
          <a:ln cap="flat" cmpd="sng" w="19050">
            <a:solidFill>
              <a:srgbClr val="0F172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image.png" id="768" name="Google Shape;768;p62"/>
          <p:cNvPicPr preferRelativeResize="0"/>
          <p:nvPr/>
        </p:nvPicPr>
        <p:blipFill rotWithShape="1">
          <a:blip r:embed="rId4">
            <a:alphaModFix/>
          </a:blip>
          <a:srcRect b="0" l="0" r="0" t="0"/>
          <a:stretch/>
        </p:blipFill>
        <p:spPr>
          <a:xfrm>
            <a:off x="3030999" y="1138658"/>
            <a:ext cx="240030" cy="274320"/>
          </a:xfrm>
          <a:prstGeom prst="rect">
            <a:avLst/>
          </a:prstGeom>
          <a:noFill/>
          <a:ln>
            <a:noFill/>
          </a:ln>
        </p:spPr>
      </p:pic>
      <p:sp>
        <p:nvSpPr>
          <p:cNvPr id="769" name="Google Shape;769;p62"/>
          <p:cNvSpPr txBox="1"/>
          <p:nvPr/>
        </p:nvSpPr>
        <p:spPr>
          <a:xfrm>
            <a:off x="527763" y="1166089"/>
            <a:ext cx="22632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PR</a:t>
            </a:r>
            <a:endParaRPr sz="1100"/>
          </a:p>
        </p:txBody>
      </p:sp>
      <p:sp>
        <p:nvSpPr>
          <p:cNvPr id="770" name="Google Shape;770;p62"/>
          <p:cNvSpPr txBox="1"/>
          <p:nvPr/>
        </p:nvSpPr>
        <p:spPr>
          <a:xfrm>
            <a:off x="3510988" y="1163963"/>
            <a:ext cx="22632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0F172A"/>
                </a:solidFill>
                <a:latin typeface="Plus Jakarta Sans"/>
                <a:ea typeface="Plus Jakarta Sans"/>
                <a:cs typeface="Plus Jakarta Sans"/>
                <a:sym typeface="Plus Jakarta Sans"/>
              </a:rPr>
              <a:t>CI-Gate</a:t>
            </a:r>
            <a:endParaRPr sz="1100"/>
          </a:p>
        </p:txBody>
      </p:sp>
      <p:sp>
        <p:nvSpPr>
          <p:cNvPr id="771" name="Google Shape;771;p62"/>
          <p:cNvSpPr/>
          <p:nvPr/>
        </p:nvSpPr>
        <p:spPr>
          <a:xfrm>
            <a:off x="905025" y="1741725"/>
            <a:ext cx="3120300" cy="2688600"/>
          </a:xfrm>
          <a:prstGeom prst="roundRect">
            <a:avLst>
              <a:gd fmla="val 4788"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72" name="Google Shape;772;p62"/>
          <p:cNvSpPr/>
          <p:nvPr/>
        </p:nvSpPr>
        <p:spPr>
          <a:xfrm>
            <a:off x="4812225" y="1731925"/>
            <a:ext cx="3120300" cy="2688600"/>
          </a:xfrm>
          <a:prstGeom prst="roundRect">
            <a:avLst>
              <a:gd fmla="val 3736"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73" name="Google Shape;773;p62"/>
          <p:cNvSpPr txBox="1"/>
          <p:nvPr/>
        </p:nvSpPr>
        <p:spPr>
          <a:xfrm>
            <a:off x="951875" y="1891990"/>
            <a:ext cx="2857800" cy="231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 sz="1500">
                <a:solidFill>
                  <a:srgbClr val="64748B"/>
                </a:solidFill>
                <a:latin typeface="Plus Jakarta Sans"/>
                <a:ea typeface="Plus Jakarta Sans"/>
                <a:cs typeface="Plus Jakarta Sans"/>
                <a:sym typeface="Plus Jakarta Sans"/>
              </a:rPr>
              <a:t>CI Gate</a:t>
            </a:r>
            <a:endParaRPr sz="1100"/>
          </a:p>
        </p:txBody>
      </p:sp>
      <p:sp>
        <p:nvSpPr>
          <p:cNvPr id="774" name="Google Shape;774;p62"/>
          <p:cNvSpPr txBox="1"/>
          <p:nvPr/>
        </p:nvSpPr>
        <p:spPr>
          <a:xfrm>
            <a:off x="1054875" y="2196613"/>
            <a:ext cx="2656500" cy="609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800">
                <a:solidFill>
                  <a:srgbClr val="0F172A"/>
                </a:solidFill>
                <a:latin typeface="Plus Jakarta Sans"/>
                <a:ea typeface="Plus Jakarta Sans"/>
                <a:cs typeface="Plus Jakarta Sans"/>
                <a:sym typeface="Plus Jakarta Sans"/>
              </a:rPr>
              <a:t>Sicherstellung der Anforderungen</a:t>
            </a:r>
            <a:endParaRPr b="1"/>
          </a:p>
        </p:txBody>
      </p:sp>
      <p:sp>
        <p:nvSpPr>
          <p:cNvPr id="775" name="Google Shape;775;p62"/>
          <p:cNvSpPr txBox="1"/>
          <p:nvPr/>
        </p:nvSpPr>
        <p:spPr>
          <a:xfrm>
            <a:off x="1054875" y="2849474"/>
            <a:ext cx="2656500" cy="889800"/>
          </a:xfrm>
          <a:prstGeom prst="rect">
            <a:avLst/>
          </a:prstGeom>
          <a:noFill/>
          <a:ln>
            <a:noFill/>
          </a:ln>
        </p:spPr>
        <p:txBody>
          <a:bodyPr anchorCtr="0" anchor="t" bIns="0" lIns="0" spcFirstLastPara="1" rIns="0" wrap="square" tIns="0">
            <a:spAutoFit/>
          </a:bodyPr>
          <a:lstStyle/>
          <a:p>
            <a:pPr indent="-336550" lvl="0" marL="457200" marR="0" rtl="0" algn="l">
              <a:lnSpc>
                <a:spcPct val="120000"/>
              </a:lnSpc>
              <a:spcBef>
                <a:spcPts val="0"/>
              </a:spcBef>
              <a:spcAft>
                <a:spcPts val="0"/>
              </a:spcAft>
              <a:buClr>
                <a:srgbClr val="334155"/>
              </a:buClr>
              <a:buSzPts val="1700"/>
              <a:buFont typeface="Plus Jakarta Sans"/>
              <a:buChar char="●"/>
            </a:pPr>
            <a:r>
              <a:rPr lang="en" sz="1700">
                <a:solidFill>
                  <a:srgbClr val="334155"/>
                </a:solidFill>
                <a:latin typeface="Plus Jakarta Sans"/>
                <a:ea typeface="Plus Jakarta Sans"/>
                <a:cs typeface="Plus Jakarta Sans"/>
                <a:sym typeface="Plus Jakarta Sans"/>
              </a:rPr>
              <a:t>Linting</a:t>
            </a:r>
            <a:endParaRPr sz="1700">
              <a:solidFill>
                <a:srgbClr val="334155"/>
              </a:solidFill>
              <a:latin typeface="Plus Jakarta Sans"/>
              <a:ea typeface="Plus Jakarta Sans"/>
              <a:cs typeface="Plus Jakarta Sans"/>
              <a:sym typeface="Plus Jakarta Sans"/>
            </a:endParaRPr>
          </a:p>
          <a:p>
            <a:pPr indent="-336550" lvl="0" marL="457200" marR="0" rtl="0" algn="l">
              <a:lnSpc>
                <a:spcPct val="120000"/>
              </a:lnSpc>
              <a:spcBef>
                <a:spcPts val="0"/>
              </a:spcBef>
              <a:spcAft>
                <a:spcPts val="0"/>
              </a:spcAft>
              <a:buClr>
                <a:srgbClr val="334155"/>
              </a:buClr>
              <a:buSzPts val="1700"/>
              <a:buFont typeface="Plus Jakarta Sans"/>
              <a:buChar char="●"/>
            </a:pPr>
            <a:r>
              <a:rPr lang="en" sz="1700">
                <a:solidFill>
                  <a:srgbClr val="334155"/>
                </a:solidFill>
                <a:latin typeface="Plus Jakarta Sans"/>
                <a:ea typeface="Plus Jakarta Sans"/>
                <a:cs typeface="Plus Jakarta Sans"/>
                <a:sym typeface="Plus Jakarta Sans"/>
              </a:rPr>
              <a:t>Testabdeckung</a:t>
            </a:r>
            <a:endParaRPr sz="1700">
              <a:solidFill>
                <a:srgbClr val="334155"/>
              </a:solidFill>
              <a:latin typeface="Plus Jakarta Sans"/>
              <a:ea typeface="Plus Jakarta Sans"/>
              <a:cs typeface="Plus Jakarta Sans"/>
              <a:sym typeface="Plus Jakarta Sans"/>
            </a:endParaRPr>
          </a:p>
          <a:p>
            <a:pPr indent="-336550" lvl="0" marL="457200" marR="0" rtl="0" algn="l">
              <a:lnSpc>
                <a:spcPct val="120000"/>
              </a:lnSpc>
              <a:spcBef>
                <a:spcPts val="0"/>
              </a:spcBef>
              <a:spcAft>
                <a:spcPts val="0"/>
              </a:spcAft>
              <a:buClr>
                <a:srgbClr val="334155"/>
              </a:buClr>
              <a:buSzPts val="1700"/>
              <a:buFont typeface="Plus Jakarta Sans"/>
              <a:buChar char="●"/>
            </a:pPr>
            <a:r>
              <a:rPr lang="en" sz="1700">
                <a:solidFill>
                  <a:srgbClr val="334155"/>
                </a:solidFill>
                <a:latin typeface="Plus Jakarta Sans"/>
                <a:ea typeface="Plus Jakarta Sans"/>
                <a:cs typeface="Plus Jakarta Sans"/>
                <a:sym typeface="Plus Jakarta Sans"/>
              </a:rPr>
              <a:t>Build</a:t>
            </a:r>
            <a:endParaRPr sz="1700">
              <a:solidFill>
                <a:srgbClr val="334155"/>
              </a:solidFill>
              <a:latin typeface="Plus Jakarta Sans"/>
              <a:ea typeface="Plus Jakarta Sans"/>
              <a:cs typeface="Plus Jakarta Sans"/>
              <a:sym typeface="Plus Jakarta Sans"/>
            </a:endParaRPr>
          </a:p>
        </p:txBody>
      </p:sp>
      <p:sp>
        <p:nvSpPr>
          <p:cNvPr id="776" name="Google Shape;776;p62"/>
          <p:cNvSpPr txBox="1"/>
          <p:nvPr/>
        </p:nvSpPr>
        <p:spPr>
          <a:xfrm>
            <a:off x="4922539" y="1891996"/>
            <a:ext cx="2846100" cy="231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 sz="1500">
                <a:solidFill>
                  <a:srgbClr val="64748B"/>
                </a:solidFill>
                <a:latin typeface="Plus Jakarta Sans"/>
                <a:ea typeface="Plus Jakarta Sans"/>
                <a:cs typeface="Plus Jakarta Sans"/>
                <a:sym typeface="Plus Jakarta Sans"/>
              </a:rPr>
              <a:t>Merge</a:t>
            </a:r>
            <a:r>
              <a:rPr b="1" lang="en" sz="1500">
                <a:solidFill>
                  <a:srgbClr val="64748B"/>
                </a:solidFill>
                <a:latin typeface="Plus Jakarta Sans"/>
                <a:ea typeface="Plus Jakarta Sans"/>
                <a:cs typeface="Plus Jakarta Sans"/>
                <a:sym typeface="Plus Jakarta Sans"/>
              </a:rPr>
              <a:t> </a:t>
            </a:r>
            <a:endParaRPr sz="1100"/>
          </a:p>
        </p:txBody>
      </p:sp>
      <p:sp>
        <p:nvSpPr>
          <p:cNvPr id="777" name="Google Shape;777;p62"/>
          <p:cNvSpPr txBox="1"/>
          <p:nvPr/>
        </p:nvSpPr>
        <p:spPr>
          <a:xfrm>
            <a:off x="4949326" y="2159686"/>
            <a:ext cx="2846100" cy="609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800">
                <a:solidFill>
                  <a:srgbClr val="0F172A"/>
                </a:solidFill>
                <a:latin typeface="Plus Jakarta Sans"/>
                <a:ea typeface="Plus Jakarta Sans"/>
                <a:cs typeface="Plus Jakarta Sans"/>
                <a:sym typeface="Plus Jakarta Sans"/>
              </a:rPr>
              <a:t>Freigabe durch einen Menschen</a:t>
            </a:r>
            <a:endParaRPr/>
          </a:p>
        </p:txBody>
      </p:sp>
      <p:sp>
        <p:nvSpPr>
          <p:cNvPr id="778" name="Google Shape;778;p62"/>
          <p:cNvSpPr txBox="1"/>
          <p:nvPr/>
        </p:nvSpPr>
        <p:spPr>
          <a:xfrm>
            <a:off x="4895850" y="2902825"/>
            <a:ext cx="2899500" cy="1517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1700">
                <a:solidFill>
                  <a:srgbClr val="334155"/>
                </a:solidFill>
                <a:latin typeface="Plus Jakarta Sans"/>
                <a:ea typeface="Plus Jakarta Sans"/>
                <a:cs typeface="Plus Jakarta Sans"/>
                <a:sym typeface="Plus Jakarta Sans"/>
              </a:rPr>
              <a:t>Sobald CI in Github vollständig durchgelaufen ist, folgt der Merge auf Dev immer durch einen Menschen</a:t>
            </a:r>
            <a:endParaRPr sz="1300"/>
          </a:p>
        </p:txBody>
      </p:sp>
      <p:sp>
        <p:nvSpPr>
          <p:cNvPr id="779" name="Google Shape;779;p62"/>
          <p:cNvSpPr/>
          <p:nvPr/>
        </p:nvSpPr>
        <p:spPr>
          <a:xfrm>
            <a:off x="6353039" y="1031268"/>
            <a:ext cx="2263200" cy="493800"/>
          </a:xfrm>
          <a:prstGeom prst="roundRect">
            <a:avLst>
              <a:gd fmla="val 16666" name="adj"/>
            </a:avLst>
          </a:prstGeom>
          <a:solidFill>
            <a:srgbClr val="C8DA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C8DAF7"/>
              </a:solidFill>
              <a:latin typeface="Calibri"/>
              <a:ea typeface="Calibri"/>
              <a:cs typeface="Calibri"/>
              <a:sym typeface="Calibri"/>
            </a:endParaRPr>
          </a:p>
        </p:txBody>
      </p:sp>
      <p:pic>
        <p:nvPicPr>
          <p:cNvPr descr="image.png" id="780" name="Google Shape;780;p62"/>
          <p:cNvPicPr preferRelativeResize="0"/>
          <p:nvPr/>
        </p:nvPicPr>
        <p:blipFill rotWithShape="1">
          <a:blip r:embed="rId4">
            <a:alphaModFix/>
          </a:blip>
          <a:srcRect b="0" l="0" r="0" t="0"/>
          <a:stretch/>
        </p:blipFill>
        <p:spPr>
          <a:xfrm>
            <a:off x="5872979" y="1140996"/>
            <a:ext cx="240030" cy="274320"/>
          </a:xfrm>
          <a:prstGeom prst="rect">
            <a:avLst/>
          </a:prstGeom>
          <a:noFill/>
          <a:ln>
            <a:noFill/>
          </a:ln>
        </p:spPr>
      </p:pic>
      <p:sp>
        <p:nvSpPr>
          <p:cNvPr id="781" name="Google Shape;781;p62"/>
          <p:cNvSpPr txBox="1"/>
          <p:nvPr/>
        </p:nvSpPr>
        <p:spPr>
          <a:xfrm>
            <a:off x="6353014" y="1166080"/>
            <a:ext cx="22632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chemeClr val="dk1"/>
                </a:solidFill>
                <a:latin typeface="Plus Jakarta Sans"/>
                <a:ea typeface="Plus Jakarta Sans"/>
                <a:cs typeface="Plus Jakarta Sans"/>
                <a:sym typeface="Plus Jakarta Sans"/>
              </a:rPr>
              <a:t>Merge</a:t>
            </a:r>
            <a:endParaRPr sz="1100">
              <a:solidFill>
                <a:schemeClr val="dk1"/>
              </a:solidFill>
            </a:endParaRPr>
          </a:p>
        </p:txBody>
      </p:sp>
      <p:cxnSp>
        <p:nvCxnSpPr>
          <p:cNvPr id="782" name="Google Shape;782;p62"/>
          <p:cNvCxnSpPr/>
          <p:nvPr/>
        </p:nvCxnSpPr>
        <p:spPr>
          <a:xfrm>
            <a:off x="1055380" y="3768277"/>
            <a:ext cx="2650800" cy="0"/>
          </a:xfrm>
          <a:prstGeom prst="straightConnector1">
            <a:avLst/>
          </a:prstGeom>
          <a:noFill/>
          <a:ln cap="flat" cmpd="sng" w="9525">
            <a:solidFill>
              <a:schemeClr val="dk2"/>
            </a:solidFill>
            <a:prstDash val="solid"/>
            <a:round/>
            <a:headEnd len="med" w="med" type="none"/>
            <a:tailEnd len="med" w="med" type="none"/>
          </a:ln>
        </p:spPr>
      </p:cxnSp>
      <p:sp>
        <p:nvSpPr>
          <p:cNvPr id="783" name="Google Shape;783;p62"/>
          <p:cNvSpPr txBox="1"/>
          <p:nvPr/>
        </p:nvSpPr>
        <p:spPr>
          <a:xfrm>
            <a:off x="1052519" y="3797274"/>
            <a:ext cx="2656500" cy="575700"/>
          </a:xfrm>
          <a:prstGeom prst="rect">
            <a:avLst/>
          </a:prstGeom>
          <a:noFill/>
          <a:ln>
            <a:noFill/>
          </a:ln>
        </p:spPr>
        <p:txBody>
          <a:bodyPr anchorCtr="0" anchor="t" bIns="0" lIns="0" spcFirstLastPara="1" rIns="0" wrap="square" tIns="0">
            <a:spAutoFit/>
          </a:bodyPr>
          <a:lstStyle/>
          <a:p>
            <a:pPr indent="-336550" lvl="0" marL="457200" marR="0" rtl="0" algn="l">
              <a:lnSpc>
                <a:spcPct val="120000"/>
              </a:lnSpc>
              <a:spcBef>
                <a:spcPts val="0"/>
              </a:spcBef>
              <a:spcAft>
                <a:spcPts val="0"/>
              </a:spcAft>
              <a:buClr>
                <a:srgbClr val="334155"/>
              </a:buClr>
              <a:buSzPts val="1700"/>
              <a:buFont typeface="Plus Jakarta Sans"/>
              <a:buChar char="●"/>
            </a:pPr>
            <a:r>
              <a:rPr lang="en" sz="1700">
                <a:solidFill>
                  <a:srgbClr val="334155"/>
                </a:solidFill>
                <a:latin typeface="Plus Jakarta Sans"/>
                <a:ea typeface="Plus Jakarta Sans"/>
                <a:cs typeface="Plus Jakarta Sans"/>
                <a:sym typeface="Plus Jakarta Sans"/>
              </a:rPr>
              <a:t>Branch Protection</a:t>
            </a:r>
            <a:endParaRPr sz="1700">
              <a:solidFill>
                <a:srgbClr val="334155"/>
              </a:solidFill>
              <a:latin typeface="Plus Jakarta Sans"/>
              <a:ea typeface="Plus Jakarta Sans"/>
              <a:cs typeface="Plus Jakarta Sans"/>
              <a:sym typeface="Plus Jakarta Sans"/>
            </a:endParaRPr>
          </a:p>
          <a:p>
            <a:pPr indent="-336550" lvl="0" marL="457200" marR="0" rtl="0" algn="l">
              <a:lnSpc>
                <a:spcPct val="120000"/>
              </a:lnSpc>
              <a:spcBef>
                <a:spcPts val="0"/>
              </a:spcBef>
              <a:spcAft>
                <a:spcPts val="0"/>
              </a:spcAft>
              <a:buClr>
                <a:srgbClr val="334155"/>
              </a:buClr>
              <a:buSzPts val="1700"/>
              <a:buFont typeface="Plus Jakarta Sans"/>
              <a:buChar char="●"/>
            </a:pPr>
            <a:r>
              <a:rPr lang="en" sz="1700">
                <a:solidFill>
                  <a:srgbClr val="334155"/>
                </a:solidFill>
                <a:latin typeface="Plus Jakarta Sans"/>
                <a:ea typeface="Plus Jakarta Sans"/>
                <a:cs typeface="Plus Jakarta Sans"/>
                <a:sym typeface="Plus Jakarta Sans"/>
              </a:rPr>
              <a:t>PR-Pflicht</a:t>
            </a:r>
            <a:endParaRPr sz="1700">
              <a:solidFill>
                <a:srgbClr val="334155"/>
              </a:solidFill>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63"/>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Victor Hacker</a:t>
            </a:r>
            <a:endParaRPr sz="1100"/>
          </a:p>
        </p:txBody>
      </p:sp>
      <p:sp>
        <p:nvSpPr>
          <p:cNvPr id="789" name="Google Shape;789;p63"/>
          <p:cNvSpPr txBox="1"/>
          <p:nvPr/>
        </p:nvSpPr>
        <p:spPr>
          <a:xfrm>
            <a:off x="8034650"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34</a:t>
            </a:r>
            <a:endParaRPr sz="1100"/>
          </a:p>
        </p:txBody>
      </p:sp>
      <p:sp>
        <p:nvSpPr>
          <p:cNvPr id="790" name="Google Shape;790;p63"/>
          <p:cNvSpPr txBox="1"/>
          <p:nvPr/>
        </p:nvSpPr>
        <p:spPr>
          <a:xfrm>
            <a:off x="457429" y="342900"/>
            <a:ext cx="74751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sz="1100"/>
          </a:p>
        </p:txBody>
      </p:sp>
      <p:sp>
        <p:nvSpPr>
          <p:cNvPr id="791" name="Google Shape;791;p63"/>
          <p:cNvSpPr txBox="1"/>
          <p:nvPr/>
        </p:nvSpPr>
        <p:spPr>
          <a:xfrm>
            <a:off x="457425" y="457525"/>
            <a:ext cx="3116700" cy="307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2000" u="none" cap="none" strike="noStrike">
                <a:solidFill>
                  <a:srgbClr val="0F172A"/>
                </a:solidFill>
                <a:latin typeface="Plus Jakarta Sans"/>
                <a:ea typeface="Plus Jakarta Sans"/>
                <a:cs typeface="Plus Jakarta Sans"/>
                <a:sym typeface="Plus Jakarta Sans"/>
              </a:rPr>
              <a:t>Prozess </a:t>
            </a:r>
            <a:r>
              <a:rPr b="1" lang="en" sz="2000">
                <a:solidFill>
                  <a:srgbClr val="0F172A"/>
                </a:solidFill>
                <a:latin typeface="Plus Jakarta Sans"/>
                <a:ea typeface="Plus Jakarta Sans"/>
                <a:cs typeface="Plus Jakarta Sans"/>
                <a:sym typeface="Plus Jakarta Sans"/>
              </a:rPr>
              <a:t>2</a:t>
            </a:r>
            <a:r>
              <a:rPr b="1" i="0" lang="en" sz="2000" u="none" cap="none" strike="noStrike">
                <a:solidFill>
                  <a:srgbClr val="0F172A"/>
                </a:solidFill>
                <a:latin typeface="Plus Jakarta Sans"/>
                <a:ea typeface="Plus Jakarta Sans"/>
                <a:cs typeface="Plus Jakarta Sans"/>
                <a:sym typeface="Plus Jakarta Sans"/>
              </a:rPr>
              <a:t>: </a:t>
            </a:r>
            <a:r>
              <a:rPr b="1" lang="en" sz="2000">
                <a:solidFill>
                  <a:srgbClr val="0F172A"/>
                </a:solidFill>
                <a:latin typeface="Plus Jakarta Sans"/>
                <a:ea typeface="Plus Jakarta Sans"/>
                <a:cs typeface="Plus Jakarta Sans"/>
                <a:sym typeface="Plus Jakarta Sans"/>
              </a:rPr>
              <a:t>CI Gates</a:t>
            </a:r>
            <a:endParaRPr b="1" sz="1300"/>
          </a:p>
        </p:txBody>
      </p:sp>
      <p:pic>
        <p:nvPicPr>
          <p:cNvPr id="792" name="Google Shape;792;p63"/>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793" name="Google Shape;793;p63"/>
          <p:cNvSpPr/>
          <p:nvPr/>
        </p:nvSpPr>
        <p:spPr>
          <a:xfrm>
            <a:off x="320100" y="1113725"/>
            <a:ext cx="2656500" cy="3364500"/>
          </a:xfrm>
          <a:prstGeom prst="roundRect">
            <a:avLst>
              <a:gd fmla="val 4788"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94" name="Google Shape;794;p63"/>
          <p:cNvSpPr/>
          <p:nvPr/>
        </p:nvSpPr>
        <p:spPr>
          <a:xfrm>
            <a:off x="3337525" y="1101500"/>
            <a:ext cx="2656500" cy="3364500"/>
          </a:xfrm>
          <a:prstGeom prst="roundRect">
            <a:avLst>
              <a:gd fmla="val 3736"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95" name="Google Shape;795;p63"/>
          <p:cNvSpPr txBox="1"/>
          <p:nvPr/>
        </p:nvSpPr>
        <p:spPr>
          <a:xfrm>
            <a:off x="349750" y="2041138"/>
            <a:ext cx="26565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Deployment auf Staging</a:t>
            </a:r>
            <a:endParaRPr b="1" sz="1100"/>
          </a:p>
        </p:txBody>
      </p:sp>
      <p:sp>
        <p:nvSpPr>
          <p:cNvPr id="796" name="Google Shape;796;p63"/>
          <p:cNvSpPr txBox="1"/>
          <p:nvPr/>
        </p:nvSpPr>
        <p:spPr>
          <a:xfrm>
            <a:off x="469950" y="2897399"/>
            <a:ext cx="26565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t/>
            </a:r>
            <a:endParaRPr sz="1500">
              <a:solidFill>
                <a:srgbClr val="334155"/>
              </a:solidFill>
              <a:latin typeface="Plus Jakarta Sans"/>
              <a:ea typeface="Plus Jakarta Sans"/>
              <a:cs typeface="Plus Jakarta Sans"/>
              <a:sym typeface="Plus Jakarta Sans"/>
            </a:endParaRPr>
          </a:p>
        </p:txBody>
      </p:sp>
      <p:sp>
        <p:nvSpPr>
          <p:cNvPr id="797" name="Google Shape;797;p63"/>
          <p:cNvSpPr txBox="1"/>
          <p:nvPr/>
        </p:nvSpPr>
        <p:spPr>
          <a:xfrm>
            <a:off x="3213001" y="2041149"/>
            <a:ext cx="28461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Überprüfung durch Hermes</a:t>
            </a:r>
            <a:endParaRPr sz="1100"/>
          </a:p>
        </p:txBody>
      </p:sp>
      <p:sp>
        <p:nvSpPr>
          <p:cNvPr id="798" name="Google Shape;798;p63"/>
          <p:cNvSpPr txBox="1"/>
          <p:nvPr/>
        </p:nvSpPr>
        <p:spPr>
          <a:xfrm>
            <a:off x="3361961" y="2670788"/>
            <a:ext cx="2577900" cy="1339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1500">
                <a:solidFill>
                  <a:srgbClr val="334155"/>
                </a:solidFill>
                <a:latin typeface="Plus Jakarta Sans"/>
                <a:ea typeface="Plus Jakarta Sans"/>
                <a:cs typeface="Plus Jakarta Sans"/>
                <a:sym typeface="Plus Jakarta Sans"/>
              </a:rPr>
              <a:t>Status und Logs der Container, sowie allgemeines Health wird durch Hermes überprüft und auf Discord veröffentlicht</a:t>
            </a:r>
            <a:endParaRPr sz="1100"/>
          </a:p>
        </p:txBody>
      </p:sp>
      <p:sp>
        <p:nvSpPr>
          <p:cNvPr id="799" name="Google Shape;799;p63"/>
          <p:cNvSpPr/>
          <p:nvPr/>
        </p:nvSpPr>
        <p:spPr>
          <a:xfrm>
            <a:off x="546466" y="1280121"/>
            <a:ext cx="2263200" cy="493800"/>
          </a:xfrm>
          <a:prstGeom prst="roundRect">
            <a:avLst>
              <a:gd fmla="val 16666" name="adj"/>
            </a:avLst>
          </a:prstGeom>
          <a:solidFill>
            <a:srgbClr val="64748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800" name="Google Shape;800;p63"/>
          <p:cNvSpPr/>
          <p:nvPr/>
        </p:nvSpPr>
        <p:spPr>
          <a:xfrm>
            <a:off x="3504446" y="1278609"/>
            <a:ext cx="2263200" cy="493800"/>
          </a:xfrm>
          <a:prstGeom prst="roundRect">
            <a:avLst>
              <a:gd fmla="val 16666" name="adj"/>
            </a:avLst>
          </a:prstGeom>
          <a:solidFill>
            <a:srgbClr val="0F172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image.png" id="801" name="Google Shape;801;p63"/>
          <p:cNvPicPr preferRelativeResize="0"/>
          <p:nvPr/>
        </p:nvPicPr>
        <p:blipFill rotWithShape="1">
          <a:blip r:embed="rId4">
            <a:alphaModFix/>
          </a:blip>
          <a:srcRect b="0" l="0" r="0" t="0"/>
          <a:stretch/>
        </p:blipFill>
        <p:spPr>
          <a:xfrm>
            <a:off x="3037049" y="1389849"/>
            <a:ext cx="240030" cy="274320"/>
          </a:xfrm>
          <a:prstGeom prst="rect">
            <a:avLst/>
          </a:prstGeom>
          <a:noFill/>
          <a:ln>
            <a:noFill/>
          </a:ln>
        </p:spPr>
      </p:pic>
      <p:pic>
        <p:nvPicPr>
          <p:cNvPr descr="image.png" id="802" name="Google Shape;802;p63"/>
          <p:cNvPicPr preferRelativeResize="0"/>
          <p:nvPr/>
        </p:nvPicPr>
        <p:blipFill rotWithShape="1">
          <a:blip r:embed="rId4">
            <a:alphaModFix/>
          </a:blip>
          <a:srcRect b="0" l="0" r="0" t="0"/>
          <a:stretch/>
        </p:blipFill>
        <p:spPr>
          <a:xfrm>
            <a:off x="6024754" y="1389849"/>
            <a:ext cx="240030" cy="274320"/>
          </a:xfrm>
          <a:prstGeom prst="rect">
            <a:avLst/>
          </a:prstGeom>
          <a:noFill/>
          <a:ln>
            <a:noFill/>
          </a:ln>
        </p:spPr>
      </p:pic>
      <p:sp>
        <p:nvSpPr>
          <p:cNvPr id="803" name="Google Shape;803;p63"/>
          <p:cNvSpPr txBox="1"/>
          <p:nvPr/>
        </p:nvSpPr>
        <p:spPr>
          <a:xfrm>
            <a:off x="546400" y="1416419"/>
            <a:ext cx="22632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Staging</a:t>
            </a:r>
            <a:endParaRPr sz="1100"/>
          </a:p>
        </p:txBody>
      </p:sp>
      <p:sp>
        <p:nvSpPr>
          <p:cNvPr id="804" name="Google Shape;804;p63"/>
          <p:cNvSpPr txBox="1"/>
          <p:nvPr/>
        </p:nvSpPr>
        <p:spPr>
          <a:xfrm>
            <a:off x="3504450" y="1411497"/>
            <a:ext cx="22632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Verify</a:t>
            </a:r>
            <a:endParaRPr sz="1100"/>
          </a:p>
        </p:txBody>
      </p:sp>
      <p:sp>
        <p:nvSpPr>
          <p:cNvPr id="805" name="Google Shape;805;p63"/>
          <p:cNvSpPr txBox="1"/>
          <p:nvPr/>
        </p:nvSpPr>
        <p:spPr>
          <a:xfrm>
            <a:off x="379549" y="2809400"/>
            <a:ext cx="2656500" cy="106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1500">
                <a:solidFill>
                  <a:srgbClr val="334155"/>
                </a:solidFill>
                <a:latin typeface="Plus Jakarta Sans"/>
                <a:ea typeface="Plus Jakarta Sans"/>
                <a:cs typeface="Plus Jakarta Sans"/>
                <a:sym typeface="Plus Jakarta Sans"/>
              </a:rPr>
              <a:t>Jeder Push auf Dev wird automatisch und ohne weitere Freigabe auf Staging deployt</a:t>
            </a:r>
            <a:endParaRPr sz="1100"/>
          </a:p>
        </p:txBody>
      </p:sp>
      <p:sp>
        <p:nvSpPr>
          <p:cNvPr id="806" name="Google Shape;806;p63"/>
          <p:cNvSpPr/>
          <p:nvPr/>
        </p:nvSpPr>
        <p:spPr>
          <a:xfrm>
            <a:off x="6295500" y="1101500"/>
            <a:ext cx="2656500" cy="3364500"/>
          </a:xfrm>
          <a:prstGeom prst="roundRect">
            <a:avLst>
              <a:gd fmla="val 3736"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807" name="Google Shape;807;p63"/>
          <p:cNvSpPr/>
          <p:nvPr/>
        </p:nvSpPr>
        <p:spPr>
          <a:xfrm>
            <a:off x="6423601" y="1285034"/>
            <a:ext cx="2263200" cy="493800"/>
          </a:xfrm>
          <a:prstGeom prst="roundRect">
            <a:avLst>
              <a:gd fmla="val 16666" name="adj"/>
            </a:avLst>
          </a:prstGeom>
          <a:solidFill>
            <a:srgbClr val="4472C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808" name="Google Shape;808;p63"/>
          <p:cNvSpPr txBox="1"/>
          <p:nvPr/>
        </p:nvSpPr>
        <p:spPr>
          <a:xfrm>
            <a:off x="6423601" y="1416421"/>
            <a:ext cx="22632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FFFFFF"/>
                </a:solidFill>
                <a:latin typeface="Plus Jakarta Sans"/>
                <a:ea typeface="Plus Jakarta Sans"/>
                <a:cs typeface="Plus Jakarta Sans"/>
                <a:sym typeface="Plus Jakarta Sans"/>
              </a:rPr>
              <a:t>Prod</a:t>
            </a:r>
            <a:endParaRPr sz="1100"/>
          </a:p>
        </p:txBody>
      </p:sp>
      <p:sp>
        <p:nvSpPr>
          <p:cNvPr id="809" name="Google Shape;809;p63"/>
          <p:cNvSpPr txBox="1"/>
          <p:nvPr/>
        </p:nvSpPr>
        <p:spPr>
          <a:xfrm>
            <a:off x="6132151" y="2041149"/>
            <a:ext cx="28461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Freigabe auf Prod </a:t>
            </a:r>
            <a:endParaRPr sz="1100"/>
          </a:p>
        </p:txBody>
      </p:sp>
      <p:sp>
        <p:nvSpPr>
          <p:cNvPr id="810" name="Google Shape;810;p63"/>
          <p:cNvSpPr txBox="1"/>
          <p:nvPr/>
        </p:nvSpPr>
        <p:spPr>
          <a:xfrm>
            <a:off x="6354949" y="2809400"/>
            <a:ext cx="2577900" cy="785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 sz="1500">
                <a:solidFill>
                  <a:srgbClr val="334155"/>
                </a:solidFill>
                <a:latin typeface="Plus Jakarta Sans"/>
                <a:ea typeface="Plus Jakarta Sans"/>
                <a:cs typeface="Plus Jakarta Sans"/>
                <a:sym typeface="Plus Jakarta Sans"/>
              </a:rPr>
              <a:t>Ausschließlich durch manuelle Freigabe eines Menschen</a:t>
            </a:r>
            <a:endParaRPr sz="11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64"/>
          <p:cNvSpPr/>
          <p:nvPr/>
        </p:nvSpPr>
        <p:spPr>
          <a:xfrm>
            <a:off x="457425" y="1037538"/>
            <a:ext cx="8229600" cy="1611600"/>
          </a:xfrm>
          <a:prstGeom prst="roundRect">
            <a:avLst>
              <a:gd fmla="val 6177"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816" name="Google Shape;816;p64"/>
          <p:cNvSpPr/>
          <p:nvPr/>
        </p:nvSpPr>
        <p:spPr>
          <a:xfrm>
            <a:off x="457425" y="2820638"/>
            <a:ext cx="4000500" cy="1837800"/>
          </a:xfrm>
          <a:prstGeom prst="roundRect">
            <a:avLst>
              <a:gd fmla="val 6177"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817" name="Google Shape;817;p64"/>
          <p:cNvSpPr/>
          <p:nvPr/>
        </p:nvSpPr>
        <p:spPr>
          <a:xfrm>
            <a:off x="4686075" y="2820637"/>
            <a:ext cx="4000500" cy="1837800"/>
          </a:xfrm>
          <a:prstGeom prst="roundRect">
            <a:avLst>
              <a:gd fmla="val 6177"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818" name="Google Shape;818;p64"/>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Victor Hacker</a:t>
            </a:r>
            <a:endParaRPr sz="1100"/>
          </a:p>
        </p:txBody>
      </p:sp>
      <p:sp>
        <p:nvSpPr>
          <p:cNvPr id="819" name="Google Shape;819;p64"/>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35</a:t>
            </a:r>
            <a:endParaRPr sz="1100"/>
          </a:p>
        </p:txBody>
      </p:sp>
      <p:sp>
        <p:nvSpPr>
          <p:cNvPr id="820" name="Google Shape;820;p64"/>
          <p:cNvSpPr txBox="1"/>
          <p:nvPr/>
        </p:nvSpPr>
        <p:spPr>
          <a:xfrm>
            <a:off x="457429" y="342900"/>
            <a:ext cx="74751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sz="1100"/>
          </a:p>
        </p:txBody>
      </p:sp>
      <p:sp>
        <p:nvSpPr>
          <p:cNvPr id="821" name="Google Shape;821;p64"/>
          <p:cNvSpPr txBox="1"/>
          <p:nvPr/>
        </p:nvSpPr>
        <p:spPr>
          <a:xfrm>
            <a:off x="457429" y="336860"/>
            <a:ext cx="7475100" cy="307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lang="en" sz="2000">
                <a:solidFill>
                  <a:srgbClr val="0F172A"/>
                </a:solidFill>
                <a:latin typeface="Plus Jakarta Sans"/>
                <a:ea typeface="Plus Jakarta Sans"/>
                <a:cs typeface="Plus Jakarta Sans"/>
                <a:sym typeface="Plus Jakarta Sans"/>
              </a:rPr>
              <a:t>Dokumentation</a:t>
            </a:r>
            <a:endParaRPr b="1" sz="1300"/>
          </a:p>
        </p:txBody>
      </p:sp>
      <p:sp>
        <p:nvSpPr>
          <p:cNvPr id="822" name="Google Shape;822;p64"/>
          <p:cNvSpPr txBox="1"/>
          <p:nvPr/>
        </p:nvSpPr>
        <p:spPr>
          <a:xfrm>
            <a:off x="1504647" y="1600713"/>
            <a:ext cx="61347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500">
                <a:solidFill>
                  <a:srgbClr val="2563EB"/>
                </a:solidFill>
                <a:latin typeface="Plus Jakarta Sans"/>
                <a:ea typeface="Plus Jakarta Sans"/>
                <a:cs typeface="Plus Jakarta Sans"/>
                <a:sym typeface="Plus Jakarta Sans"/>
              </a:rPr>
              <a:t>.github </a:t>
            </a:r>
            <a:r>
              <a:rPr b="1" lang="en" sz="1500">
                <a:solidFill>
                  <a:srgbClr val="2563EB"/>
                </a:solidFill>
                <a:latin typeface="Plus Jakarta Sans"/>
                <a:ea typeface="Plus Jakarta Sans"/>
                <a:cs typeface="Plus Jakarta Sans"/>
                <a:sym typeface="Plus Jakarta Sans"/>
              </a:rPr>
              <a:t>enthält</a:t>
            </a:r>
            <a:r>
              <a:rPr b="1" lang="en" sz="1500">
                <a:solidFill>
                  <a:srgbClr val="2563EB"/>
                </a:solidFill>
                <a:latin typeface="Plus Jakarta Sans"/>
                <a:ea typeface="Plus Jakarta Sans"/>
                <a:cs typeface="Plus Jakarta Sans"/>
                <a:sym typeface="Plus Jakarta Sans"/>
              </a:rPr>
              <a:t> Repo-übergreifende  Informationen</a:t>
            </a:r>
            <a:endParaRPr sz="1100"/>
          </a:p>
        </p:txBody>
      </p:sp>
      <p:sp>
        <p:nvSpPr>
          <p:cNvPr id="823" name="Google Shape;823;p64"/>
          <p:cNvSpPr txBox="1"/>
          <p:nvPr/>
        </p:nvSpPr>
        <p:spPr>
          <a:xfrm>
            <a:off x="800325" y="1929088"/>
            <a:ext cx="4463400" cy="531000"/>
          </a:xfrm>
          <a:prstGeom prst="rect">
            <a:avLst/>
          </a:prstGeom>
          <a:noFill/>
          <a:ln>
            <a:noFill/>
          </a:ln>
        </p:spPr>
        <p:txBody>
          <a:bodyPr anchorCtr="0" anchor="t" bIns="0" lIns="0" spcFirstLastPara="1" rIns="0" wrap="square" tIns="0">
            <a:spAutoFit/>
          </a:bodyPr>
          <a:lstStyle/>
          <a:p>
            <a:pPr indent="-323850" lvl="0" marL="457200" marR="0" rtl="0" algn="l">
              <a:lnSpc>
                <a:spcPct val="130000"/>
              </a:lnSpc>
              <a:spcBef>
                <a:spcPts val="0"/>
              </a:spcBef>
              <a:spcAft>
                <a:spcPts val="0"/>
              </a:spcAft>
              <a:buSzPts val="1500"/>
              <a:buChar char="●"/>
            </a:pPr>
            <a:r>
              <a:rPr lang="en" sz="1500">
                <a:latin typeface="Plus Jakarta Sans"/>
                <a:ea typeface="Plus Jakarta Sans"/>
                <a:cs typeface="Plus Jakarta Sans"/>
                <a:sym typeface="Plus Jakarta Sans"/>
              </a:rPr>
              <a:t>Harness.md als Erklärung</a:t>
            </a:r>
            <a:endParaRPr sz="1500">
              <a:latin typeface="Plus Jakarta Sans"/>
              <a:ea typeface="Plus Jakarta Sans"/>
              <a:cs typeface="Plus Jakarta Sans"/>
              <a:sym typeface="Plus Jakarta Sans"/>
            </a:endParaRPr>
          </a:p>
          <a:p>
            <a:pPr indent="-323850" lvl="0" marL="457200" marR="0" rtl="0" algn="l">
              <a:lnSpc>
                <a:spcPct val="130000"/>
              </a:lnSpc>
              <a:spcBef>
                <a:spcPts val="0"/>
              </a:spcBef>
              <a:spcAft>
                <a:spcPts val="0"/>
              </a:spcAft>
              <a:buSzPts val="1500"/>
              <a:buFont typeface="Plus Jakarta Sans"/>
              <a:buChar char="●"/>
            </a:pPr>
            <a:r>
              <a:rPr lang="en" sz="1500">
                <a:latin typeface="Plus Jakarta Sans"/>
                <a:ea typeface="Plus Jakarta Sans"/>
                <a:cs typeface="Plus Jakarta Sans"/>
                <a:sym typeface="Plus Jakarta Sans"/>
              </a:rPr>
              <a:t>CLAUDE.md als zentrale Anweisung</a:t>
            </a:r>
            <a:endParaRPr sz="1500">
              <a:latin typeface="Plus Jakarta Sans"/>
              <a:ea typeface="Plus Jakarta Sans"/>
              <a:cs typeface="Plus Jakarta Sans"/>
              <a:sym typeface="Plus Jakarta Sans"/>
            </a:endParaRPr>
          </a:p>
        </p:txBody>
      </p:sp>
      <p:sp>
        <p:nvSpPr>
          <p:cNvPr id="824" name="Google Shape;824;p64"/>
          <p:cNvSpPr txBox="1"/>
          <p:nvPr/>
        </p:nvSpPr>
        <p:spPr>
          <a:xfrm>
            <a:off x="1143975" y="3437575"/>
            <a:ext cx="26274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500">
                <a:solidFill>
                  <a:srgbClr val="2563EB"/>
                </a:solidFill>
                <a:latin typeface="Plus Jakarta Sans"/>
                <a:ea typeface="Plus Jakarta Sans"/>
                <a:cs typeface="Plus Jakarta Sans"/>
                <a:sym typeface="Plus Jakarta Sans"/>
              </a:rPr>
              <a:t>Spezifische Doku pro Repo</a:t>
            </a:r>
            <a:endParaRPr sz="1100"/>
          </a:p>
        </p:txBody>
      </p:sp>
      <p:sp>
        <p:nvSpPr>
          <p:cNvPr id="825" name="Google Shape;825;p64"/>
          <p:cNvSpPr txBox="1"/>
          <p:nvPr/>
        </p:nvSpPr>
        <p:spPr>
          <a:xfrm>
            <a:off x="571875" y="3761988"/>
            <a:ext cx="3771600" cy="831300"/>
          </a:xfrm>
          <a:prstGeom prst="rect">
            <a:avLst/>
          </a:prstGeom>
          <a:noFill/>
          <a:ln>
            <a:noFill/>
          </a:ln>
        </p:spPr>
        <p:txBody>
          <a:bodyPr anchorCtr="0" anchor="t" bIns="0" lIns="0" spcFirstLastPara="1" rIns="0" wrap="square" tIns="0">
            <a:spAutoFit/>
          </a:bodyPr>
          <a:lstStyle/>
          <a:p>
            <a:pPr indent="-323850" lvl="0" marL="457200" marR="0" rtl="0" algn="l">
              <a:lnSpc>
                <a:spcPct val="130000"/>
              </a:lnSpc>
              <a:spcBef>
                <a:spcPts val="0"/>
              </a:spcBef>
              <a:spcAft>
                <a:spcPts val="0"/>
              </a:spcAft>
              <a:buClr>
                <a:srgbClr val="475569"/>
              </a:buClr>
              <a:buSzPts val="1500"/>
              <a:buFont typeface="Plus Jakarta Sans"/>
              <a:buChar char="●"/>
            </a:pPr>
            <a:r>
              <a:rPr lang="en" sz="1500">
                <a:solidFill>
                  <a:srgbClr val="475569"/>
                </a:solidFill>
                <a:latin typeface="Plus Jakarta Sans"/>
                <a:ea typeface="Plus Jakarta Sans"/>
                <a:cs typeface="Plus Jakarta Sans"/>
                <a:sym typeface="Plus Jakarta Sans"/>
              </a:rPr>
              <a:t>CLAUDE.md als Repo-Beschreibung</a:t>
            </a:r>
            <a:endParaRPr sz="1500">
              <a:solidFill>
                <a:srgbClr val="475569"/>
              </a:solidFill>
              <a:latin typeface="Plus Jakarta Sans"/>
              <a:ea typeface="Plus Jakarta Sans"/>
              <a:cs typeface="Plus Jakarta Sans"/>
              <a:sym typeface="Plus Jakarta Sans"/>
            </a:endParaRPr>
          </a:p>
          <a:p>
            <a:pPr indent="-323850" lvl="0" marL="457200" marR="0" rtl="0" algn="l">
              <a:lnSpc>
                <a:spcPct val="130000"/>
              </a:lnSpc>
              <a:spcBef>
                <a:spcPts val="0"/>
              </a:spcBef>
              <a:spcAft>
                <a:spcPts val="0"/>
              </a:spcAft>
              <a:buClr>
                <a:srgbClr val="475569"/>
              </a:buClr>
              <a:buSzPts val="1500"/>
              <a:buFont typeface="Plus Jakarta Sans"/>
              <a:buChar char="●"/>
            </a:pPr>
            <a:r>
              <a:rPr lang="en" sz="1500">
                <a:solidFill>
                  <a:srgbClr val="475569"/>
                </a:solidFill>
                <a:latin typeface="Plus Jakarta Sans"/>
                <a:ea typeface="Plus Jakarta Sans"/>
                <a:cs typeface="Plus Jakarta Sans"/>
                <a:sym typeface="Plus Jakarta Sans"/>
              </a:rPr>
              <a:t>HANDOVER.md für aktuelle Änderungen</a:t>
            </a:r>
            <a:endParaRPr sz="1500">
              <a:solidFill>
                <a:srgbClr val="475569"/>
              </a:solidFill>
              <a:latin typeface="Plus Jakarta Sans"/>
              <a:ea typeface="Plus Jakarta Sans"/>
              <a:cs typeface="Plus Jakarta Sans"/>
              <a:sym typeface="Plus Jakarta Sans"/>
            </a:endParaRPr>
          </a:p>
        </p:txBody>
      </p:sp>
      <p:sp>
        <p:nvSpPr>
          <p:cNvPr id="826" name="Google Shape;826;p64"/>
          <p:cNvSpPr txBox="1"/>
          <p:nvPr/>
        </p:nvSpPr>
        <p:spPr>
          <a:xfrm>
            <a:off x="4960571" y="3400219"/>
            <a:ext cx="34515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500">
                <a:solidFill>
                  <a:srgbClr val="2563EB"/>
                </a:solidFill>
                <a:latin typeface="Plus Jakarta Sans"/>
                <a:ea typeface="Plus Jakarta Sans"/>
                <a:cs typeface="Plus Jakarta Sans"/>
                <a:sym typeface="Plus Jakarta Sans"/>
              </a:rPr>
              <a:t>Code selbst als Schnittstelle</a:t>
            </a:r>
            <a:endParaRPr sz="1100"/>
          </a:p>
        </p:txBody>
      </p:sp>
      <p:sp>
        <p:nvSpPr>
          <p:cNvPr id="827" name="Google Shape;827;p64"/>
          <p:cNvSpPr txBox="1"/>
          <p:nvPr/>
        </p:nvSpPr>
        <p:spPr>
          <a:xfrm>
            <a:off x="4960571" y="3712205"/>
            <a:ext cx="3451500" cy="8313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lang="en" sz="1500">
                <a:solidFill>
                  <a:srgbClr val="475569"/>
                </a:solidFill>
                <a:latin typeface="Plus Jakarta Sans"/>
                <a:ea typeface="Plus Jakarta Sans"/>
                <a:cs typeface="Plus Jakarta Sans"/>
                <a:sym typeface="Plus Jakarta Sans"/>
              </a:rPr>
              <a:t>FastAPI wird aus vorhandenem Code generiert, so gibt es keine veralterte Doku</a:t>
            </a:r>
            <a:endParaRPr sz="1100"/>
          </a:p>
        </p:txBody>
      </p:sp>
      <p:sp>
        <p:nvSpPr>
          <p:cNvPr id="828" name="Google Shape;828;p64"/>
          <p:cNvSpPr txBox="1"/>
          <p:nvPr/>
        </p:nvSpPr>
        <p:spPr>
          <a:xfrm>
            <a:off x="3021366" y="1226129"/>
            <a:ext cx="3101700" cy="277200"/>
          </a:xfrm>
          <a:prstGeom prst="rect">
            <a:avLst/>
          </a:prstGeom>
          <a:noFill/>
          <a:ln>
            <a:noFill/>
          </a:ln>
        </p:spPr>
        <p:txBody>
          <a:bodyPr anchorCtr="0" anchor="t" bIns="0" lIns="0" spcFirstLastPara="1" rIns="0" wrap="square" tIns="0">
            <a:spAutoFit/>
          </a:bodyPr>
          <a:lstStyle/>
          <a:p>
            <a:pPr indent="0" lvl="0" marL="0" marR="0" rtl="0" algn="ctr">
              <a:lnSpc>
                <a:spcPct val="120833"/>
              </a:lnSpc>
              <a:spcBef>
                <a:spcPts val="0"/>
              </a:spcBef>
              <a:spcAft>
                <a:spcPts val="0"/>
              </a:spcAft>
              <a:buNone/>
            </a:pPr>
            <a:r>
              <a:rPr b="1" lang="en" sz="1800">
                <a:solidFill>
                  <a:srgbClr val="0F172A"/>
                </a:solidFill>
                <a:latin typeface="Plus Jakarta Sans"/>
                <a:ea typeface="Plus Jakarta Sans"/>
                <a:cs typeface="Plus Jakarta Sans"/>
                <a:sym typeface="Plus Jakarta Sans"/>
              </a:rPr>
              <a:t>Zentrale Anweisung</a:t>
            </a:r>
            <a:endParaRPr sz="1100"/>
          </a:p>
        </p:txBody>
      </p:sp>
      <p:sp>
        <p:nvSpPr>
          <p:cNvPr id="829" name="Google Shape;829;p64"/>
          <p:cNvSpPr txBox="1"/>
          <p:nvPr/>
        </p:nvSpPr>
        <p:spPr>
          <a:xfrm>
            <a:off x="1117424" y="3066975"/>
            <a:ext cx="2680500" cy="277200"/>
          </a:xfrm>
          <a:prstGeom prst="rect">
            <a:avLst/>
          </a:prstGeom>
          <a:noFill/>
          <a:ln>
            <a:noFill/>
          </a:ln>
        </p:spPr>
        <p:txBody>
          <a:bodyPr anchorCtr="0" anchor="t" bIns="0" lIns="0" spcFirstLastPara="1" rIns="0" wrap="square" tIns="0">
            <a:spAutoFit/>
          </a:bodyPr>
          <a:lstStyle/>
          <a:p>
            <a:pPr indent="0" lvl="0" marL="0" marR="0" rtl="0" algn="ctr">
              <a:lnSpc>
                <a:spcPct val="120833"/>
              </a:lnSpc>
              <a:spcBef>
                <a:spcPts val="0"/>
              </a:spcBef>
              <a:spcAft>
                <a:spcPts val="0"/>
              </a:spcAft>
              <a:buNone/>
            </a:pPr>
            <a:r>
              <a:rPr b="1" lang="en" sz="1800">
                <a:solidFill>
                  <a:srgbClr val="0F172A"/>
                </a:solidFill>
                <a:latin typeface="Plus Jakarta Sans"/>
                <a:ea typeface="Plus Jakarta Sans"/>
                <a:cs typeface="Plus Jakarta Sans"/>
                <a:sym typeface="Plus Jakarta Sans"/>
              </a:rPr>
              <a:t>Granulare Anweisungen</a:t>
            </a:r>
            <a:endParaRPr sz="1100"/>
          </a:p>
        </p:txBody>
      </p:sp>
      <p:sp>
        <p:nvSpPr>
          <p:cNvPr id="830" name="Google Shape;830;p64"/>
          <p:cNvSpPr txBox="1"/>
          <p:nvPr/>
        </p:nvSpPr>
        <p:spPr>
          <a:xfrm>
            <a:off x="5795470" y="3042050"/>
            <a:ext cx="1781700" cy="277200"/>
          </a:xfrm>
          <a:prstGeom prst="rect">
            <a:avLst/>
          </a:prstGeom>
          <a:noFill/>
          <a:ln>
            <a:noFill/>
          </a:ln>
        </p:spPr>
        <p:txBody>
          <a:bodyPr anchorCtr="0" anchor="t" bIns="0" lIns="0" spcFirstLastPara="1" rIns="0" wrap="square" tIns="0">
            <a:spAutoFit/>
          </a:bodyPr>
          <a:lstStyle/>
          <a:p>
            <a:pPr indent="0" lvl="0" marL="0" marR="0" rtl="0" algn="ctr">
              <a:lnSpc>
                <a:spcPct val="120833"/>
              </a:lnSpc>
              <a:spcBef>
                <a:spcPts val="0"/>
              </a:spcBef>
              <a:spcAft>
                <a:spcPts val="0"/>
              </a:spcAft>
              <a:buNone/>
            </a:pPr>
            <a:r>
              <a:rPr b="1" lang="en" sz="1800">
                <a:solidFill>
                  <a:srgbClr val="0F172A"/>
                </a:solidFill>
                <a:latin typeface="Plus Jakarta Sans"/>
                <a:ea typeface="Plus Jakarta Sans"/>
                <a:cs typeface="Plus Jakarta Sans"/>
                <a:sym typeface="Plus Jakarta Sans"/>
              </a:rPr>
              <a:t>Schnittstellen</a:t>
            </a:r>
            <a:endParaRPr sz="1100"/>
          </a:p>
        </p:txBody>
      </p:sp>
      <p:pic>
        <p:nvPicPr>
          <p:cNvPr id="831" name="Google Shape;831;p64"/>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832" name="Google Shape;832;p64"/>
          <p:cNvSpPr txBox="1"/>
          <p:nvPr/>
        </p:nvSpPr>
        <p:spPr>
          <a:xfrm>
            <a:off x="4726850" y="2046488"/>
            <a:ext cx="4463400" cy="231000"/>
          </a:xfrm>
          <a:prstGeom prst="rect">
            <a:avLst/>
          </a:prstGeom>
          <a:noFill/>
          <a:ln>
            <a:noFill/>
          </a:ln>
        </p:spPr>
        <p:txBody>
          <a:bodyPr anchorCtr="0" anchor="t" bIns="0" lIns="0" spcFirstLastPara="1" rIns="0" wrap="square" tIns="0">
            <a:spAutoFit/>
          </a:bodyPr>
          <a:lstStyle/>
          <a:p>
            <a:pPr indent="-323850" lvl="0" marL="457200" marR="0" rtl="0" algn="l">
              <a:lnSpc>
                <a:spcPct val="130000"/>
              </a:lnSpc>
              <a:spcBef>
                <a:spcPts val="0"/>
              </a:spcBef>
              <a:spcAft>
                <a:spcPts val="0"/>
              </a:spcAft>
              <a:buSzPts val="1500"/>
              <a:buChar char="●"/>
            </a:pPr>
            <a:r>
              <a:rPr lang="en" sz="1500">
                <a:latin typeface="Plus Jakarta Sans"/>
                <a:ea typeface="Plus Jakarta Sans"/>
                <a:cs typeface="Plus Jakarta Sans"/>
                <a:sym typeface="Plus Jakarta Sans"/>
              </a:rPr>
              <a:t>Zentrales Graphify als Übersicht</a:t>
            </a:r>
            <a:endParaRPr sz="1500">
              <a:latin typeface="Plus Jakarta Sans"/>
              <a:ea typeface="Plus Jakarta Sans"/>
              <a:cs typeface="Plus Jakarta Sans"/>
              <a:sym typeface="Plus Jakart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65"/>
          <p:cNvSpPr/>
          <p:nvPr/>
        </p:nvSpPr>
        <p:spPr>
          <a:xfrm>
            <a:off x="457424" y="1072025"/>
            <a:ext cx="4114500" cy="3571500"/>
          </a:xfrm>
          <a:prstGeom prst="roundRect">
            <a:avLst>
              <a:gd fmla="val 3736"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838" name="Google Shape;838;p65"/>
          <p:cNvSpPr/>
          <p:nvPr/>
        </p:nvSpPr>
        <p:spPr>
          <a:xfrm>
            <a:off x="4682497" y="1062238"/>
            <a:ext cx="4224300" cy="3571500"/>
          </a:xfrm>
          <a:prstGeom prst="roundRect">
            <a:avLst>
              <a:gd fmla="val 4857" name="adj"/>
            </a:avLst>
          </a:prstGeom>
          <a:solidFill>
            <a:srgbClr val="F8FAFC"/>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839" name="Google Shape;839;p65"/>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Victor Hacker</a:t>
            </a:r>
            <a:endParaRPr sz="1100"/>
          </a:p>
        </p:txBody>
      </p:sp>
      <p:sp>
        <p:nvSpPr>
          <p:cNvPr id="840" name="Google Shape;840;p65"/>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36</a:t>
            </a:r>
            <a:endParaRPr sz="1100"/>
          </a:p>
        </p:txBody>
      </p:sp>
      <p:sp>
        <p:nvSpPr>
          <p:cNvPr id="841" name="Google Shape;841;p65"/>
          <p:cNvSpPr txBox="1"/>
          <p:nvPr/>
        </p:nvSpPr>
        <p:spPr>
          <a:xfrm>
            <a:off x="457429" y="342900"/>
            <a:ext cx="74751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sz="1100"/>
          </a:p>
        </p:txBody>
      </p:sp>
      <p:sp>
        <p:nvSpPr>
          <p:cNvPr id="842" name="Google Shape;842;p65"/>
          <p:cNvSpPr txBox="1"/>
          <p:nvPr/>
        </p:nvSpPr>
        <p:spPr>
          <a:xfrm>
            <a:off x="457429" y="342910"/>
            <a:ext cx="7475100" cy="307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2000" u="none" cap="none" strike="noStrike">
                <a:solidFill>
                  <a:srgbClr val="0F172A"/>
                </a:solidFill>
                <a:latin typeface="Plus Jakarta Sans"/>
                <a:ea typeface="Plus Jakarta Sans"/>
                <a:cs typeface="Plus Jakarta Sans"/>
                <a:sym typeface="Plus Jakarta Sans"/>
              </a:rPr>
              <a:t>Prozess </a:t>
            </a:r>
            <a:r>
              <a:rPr b="1" lang="en" sz="2000">
                <a:solidFill>
                  <a:srgbClr val="0F172A"/>
                </a:solidFill>
                <a:latin typeface="Plus Jakarta Sans"/>
                <a:ea typeface="Plus Jakarta Sans"/>
                <a:cs typeface="Plus Jakarta Sans"/>
                <a:sym typeface="Plus Jakarta Sans"/>
              </a:rPr>
              <a:t>2</a:t>
            </a:r>
            <a:r>
              <a:rPr b="1" i="0" lang="en" sz="2000" u="none" cap="none" strike="noStrike">
                <a:solidFill>
                  <a:srgbClr val="0F172A"/>
                </a:solidFill>
                <a:latin typeface="Plus Jakarta Sans"/>
                <a:ea typeface="Plus Jakarta Sans"/>
                <a:cs typeface="Plus Jakarta Sans"/>
                <a:sym typeface="Plus Jakarta Sans"/>
              </a:rPr>
              <a:t>: </a:t>
            </a:r>
            <a:r>
              <a:rPr b="1" lang="en" sz="2000">
                <a:solidFill>
                  <a:srgbClr val="0F172A"/>
                </a:solidFill>
                <a:latin typeface="Plus Jakarta Sans"/>
                <a:ea typeface="Plus Jakarta Sans"/>
                <a:cs typeface="Plus Jakarta Sans"/>
                <a:sym typeface="Plus Jakarta Sans"/>
              </a:rPr>
              <a:t>Tools aufgeteilt nach Agenten</a:t>
            </a:r>
            <a:endParaRPr sz="1300"/>
          </a:p>
        </p:txBody>
      </p:sp>
      <p:sp>
        <p:nvSpPr>
          <p:cNvPr id="843" name="Google Shape;843;p65"/>
          <p:cNvSpPr txBox="1"/>
          <p:nvPr/>
        </p:nvSpPr>
        <p:spPr>
          <a:xfrm>
            <a:off x="638207" y="1374920"/>
            <a:ext cx="37530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Coding Agent (Claude Code)</a:t>
            </a:r>
            <a:endParaRPr sz="1100"/>
          </a:p>
        </p:txBody>
      </p:sp>
      <p:sp>
        <p:nvSpPr>
          <p:cNvPr id="844" name="Google Shape;844;p65"/>
          <p:cNvSpPr txBox="1"/>
          <p:nvPr/>
        </p:nvSpPr>
        <p:spPr>
          <a:xfrm>
            <a:off x="457416" y="2111293"/>
            <a:ext cx="3753000" cy="2170200"/>
          </a:xfrm>
          <a:prstGeom prst="rect">
            <a:avLst/>
          </a:prstGeom>
          <a:noFill/>
          <a:ln>
            <a:noFill/>
          </a:ln>
        </p:spPr>
        <p:txBody>
          <a:bodyPr anchorCtr="0" anchor="t" bIns="0" lIns="0" spcFirstLastPara="1" rIns="0" wrap="square" tIns="0">
            <a:spAutoFit/>
          </a:bodyPr>
          <a:lstStyle/>
          <a:p>
            <a:pPr indent="0" lvl="0" marL="457200" marR="0" rtl="0" algn="l">
              <a:lnSpc>
                <a:spcPct val="120000"/>
              </a:lnSpc>
              <a:spcBef>
                <a:spcPts val="0"/>
              </a:spcBef>
              <a:spcAft>
                <a:spcPts val="0"/>
              </a:spcAft>
              <a:buNone/>
            </a:pPr>
            <a:r>
              <a:rPr b="1" lang="en" sz="1500">
                <a:solidFill>
                  <a:srgbClr val="334155"/>
                </a:solidFill>
                <a:latin typeface="Plus Jakarta Sans"/>
                <a:ea typeface="Plus Jakarta Sans"/>
                <a:cs typeface="Plus Jakarta Sans"/>
                <a:sym typeface="Plus Jakarta Sans"/>
              </a:rPr>
              <a:t>Wissen</a:t>
            </a:r>
            <a:r>
              <a:rPr lang="en" sz="1500">
                <a:solidFill>
                  <a:srgbClr val="334155"/>
                </a:solidFill>
                <a:latin typeface="Plus Jakarta Sans"/>
                <a:ea typeface="Plus Jakarta Sans"/>
                <a:cs typeface="Plus Jakarta Sans"/>
                <a:sym typeface="Plus Jakarta Sans"/>
              </a:rPr>
              <a:t>: CLAUDE.md, claude_docs/, HANDOVER.md, Graphify</a:t>
            </a:r>
            <a:endParaRPr sz="1500">
              <a:solidFill>
                <a:srgbClr val="334155"/>
              </a:solidFill>
              <a:latin typeface="Plus Jakarta Sans"/>
              <a:ea typeface="Plus Jakarta Sans"/>
              <a:cs typeface="Plus Jakarta Sans"/>
              <a:sym typeface="Plus Jakarta Sans"/>
            </a:endParaRPr>
          </a:p>
          <a:p>
            <a:pPr indent="0" lvl="0" marL="457200" marR="0" rtl="0" algn="l">
              <a:lnSpc>
                <a:spcPct val="120000"/>
              </a:lnSpc>
              <a:spcBef>
                <a:spcPts val="0"/>
              </a:spcBef>
              <a:spcAft>
                <a:spcPts val="0"/>
              </a:spcAft>
              <a:buNone/>
            </a:pPr>
            <a:r>
              <a:t/>
            </a:r>
            <a:endParaRPr sz="1500">
              <a:solidFill>
                <a:srgbClr val="334155"/>
              </a:solidFill>
              <a:latin typeface="Plus Jakarta Sans"/>
              <a:ea typeface="Plus Jakarta Sans"/>
              <a:cs typeface="Plus Jakarta Sans"/>
              <a:sym typeface="Plus Jakarta Sans"/>
            </a:endParaRPr>
          </a:p>
          <a:p>
            <a:pPr indent="0" lvl="0" marL="457200" marR="0" rtl="0" algn="l">
              <a:lnSpc>
                <a:spcPct val="120000"/>
              </a:lnSpc>
              <a:spcBef>
                <a:spcPts val="0"/>
              </a:spcBef>
              <a:spcAft>
                <a:spcPts val="0"/>
              </a:spcAft>
              <a:buNone/>
            </a:pPr>
            <a:r>
              <a:rPr b="1" lang="en" sz="1500">
                <a:solidFill>
                  <a:srgbClr val="334155"/>
                </a:solidFill>
                <a:latin typeface="Plus Jakarta Sans"/>
                <a:ea typeface="Plus Jakarta Sans"/>
                <a:cs typeface="Plus Jakarta Sans"/>
                <a:sym typeface="Plus Jakarta Sans"/>
              </a:rPr>
              <a:t>Skills</a:t>
            </a:r>
            <a:r>
              <a:rPr lang="en" sz="1500">
                <a:solidFill>
                  <a:srgbClr val="334155"/>
                </a:solidFill>
                <a:latin typeface="Plus Jakarta Sans"/>
                <a:ea typeface="Plus Jakarta Sans"/>
                <a:cs typeface="Plus Jakarta Sans"/>
                <a:sym typeface="Plus Jakarta Sans"/>
              </a:rPr>
              <a:t>: /tdd, /ship-feature, /code-reviewer</a:t>
            </a:r>
            <a:endParaRPr sz="1500">
              <a:solidFill>
                <a:srgbClr val="334155"/>
              </a:solidFill>
              <a:latin typeface="Plus Jakarta Sans"/>
              <a:ea typeface="Plus Jakarta Sans"/>
              <a:cs typeface="Plus Jakarta Sans"/>
              <a:sym typeface="Plus Jakarta Sans"/>
            </a:endParaRPr>
          </a:p>
          <a:p>
            <a:pPr indent="0" lvl="0" marL="457200" marR="0" rtl="0" algn="l">
              <a:lnSpc>
                <a:spcPct val="120000"/>
              </a:lnSpc>
              <a:spcBef>
                <a:spcPts val="0"/>
              </a:spcBef>
              <a:spcAft>
                <a:spcPts val="0"/>
              </a:spcAft>
              <a:buNone/>
            </a:pPr>
            <a:r>
              <a:t/>
            </a:r>
            <a:endParaRPr sz="1500">
              <a:solidFill>
                <a:srgbClr val="334155"/>
              </a:solidFill>
              <a:latin typeface="Plus Jakarta Sans"/>
              <a:ea typeface="Plus Jakarta Sans"/>
              <a:cs typeface="Plus Jakarta Sans"/>
              <a:sym typeface="Plus Jakarta Sans"/>
            </a:endParaRPr>
          </a:p>
          <a:p>
            <a:pPr indent="0" lvl="0" marL="457200" marR="0" rtl="0" algn="l">
              <a:lnSpc>
                <a:spcPct val="120000"/>
              </a:lnSpc>
              <a:spcBef>
                <a:spcPts val="0"/>
              </a:spcBef>
              <a:spcAft>
                <a:spcPts val="0"/>
              </a:spcAft>
              <a:buNone/>
            </a:pPr>
            <a:r>
              <a:rPr b="1" lang="en" sz="1500">
                <a:solidFill>
                  <a:srgbClr val="334155"/>
                </a:solidFill>
                <a:latin typeface="Plus Jakarta Sans"/>
                <a:ea typeface="Plus Jakarta Sans"/>
                <a:cs typeface="Plus Jakarta Sans"/>
                <a:sym typeface="Plus Jakarta Sans"/>
              </a:rPr>
              <a:t>Tools</a:t>
            </a:r>
            <a:r>
              <a:rPr lang="en" sz="1500">
                <a:solidFill>
                  <a:srgbClr val="334155"/>
                </a:solidFill>
                <a:latin typeface="Plus Jakarta Sans"/>
                <a:ea typeface="Plus Jakarta Sans"/>
                <a:cs typeface="Plus Jakarta Sans"/>
                <a:sym typeface="Plus Jakarta Sans"/>
              </a:rPr>
              <a:t>: gh-CLI für Issue, Branch, PR und CI-Status</a:t>
            </a:r>
            <a:endParaRPr sz="1500">
              <a:solidFill>
                <a:srgbClr val="334155"/>
              </a:solidFill>
              <a:latin typeface="Plus Jakarta Sans"/>
              <a:ea typeface="Plus Jakarta Sans"/>
              <a:cs typeface="Plus Jakarta Sans"/>
              <a:sym typeface="Plus Jakarta Sans"/>
            </a:endParaRPr>
          </a:p>
        </p:txBody>
      </p:sp>
      <p:sp>
        <p:nvSpPr>
          <p:cNvPr id="845" name="Google Shape;845;p65"/>
          <p:cNvSpPr txBox="1"/>
          <p:nvPr/>
        </p:nvSpPr>
        <p:spPr>
          <a:xfrm>
            <a:off x="4923842" y="1236470"/>
            <a:ext cx="3741600" cy="231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Server-Agent Hermes</a:t>
            </a:r>
            <a:endParaRPr sz="1100"/>
          </a:p>
        </p:txBody>
      </p:sp>
      <p:sp>
        <p:nvSpPr>
          <p:cNvPr id="846" name="Google Shape;846;p65"/>
          <p:cNvSpPr txBox="1"/>
          <p:nvPr/>
        </p:nvSpPr>
        <p:spPr>
          <a:xfrm>
            <a:off x="4988496" y="1978881"/>
            <a:ext cx="3741600" cy="1339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334155"/>
                </a:solidFill>
                <a:latin typeface="Plus Jakarta Sans"/>
                <a:ea typeface="Plus Jakarta Sans"/>
                <a:cs typeface="Plus Jakarta Sans"/>
                <a:sym typeface="Plus Jakarta Sans"/>
              </a:rPr>
              <a:t>Skills</a:t>
            </a:r>
            <a:r>
              <a:rPr lang="en" sz="1500">
                <a:solidFill>
                  <a:srgbClr val="334155"/>
                </a:solidFill>
                <a:latin typeface="Plus Jakarta Sans"/>
                <a:ea typeface="Plus Jakarta Sans"/>
                <a:cs typeface="Plus Jakarta Sans"/>
                <a:sym typeface="Plus Jakarta Sans"/>
              </a:rPr>
              <a:t>: /diagnose-production, deploy-status, restart-service  </a:t>
            </a:r>
            <a:endParaRPr sz="1500">
              <a:solidFill>
                <a:srgbClr val="334155"/>
              </a:solidFill>
              <a:latin typeface="Plus Jakarta Sans"/>
              <a:ea typeface="Plus Jakarta Sans"/>
              <a:cs typeface="Plus Jakarta Sans"/>
              <a:sym typeface="Plus Jakarta Sans"/>
            </a:endParaRPr>
          </a:p>
          <a:p>
            <a:pPr indent="0" lvl="0" marL="0" marR="0" rtl="0" algn="l">
              <a:lnSpc>
                <a:spcPct val="120000"/>
              </a:lnSpc>
              <a:spcBef>
                <a:spcPts val="0"/>
              </a:spcBef>
              <a:spcAft>
                <a:spcPts val="0"/>
              </a:spcAft>
              <a:buNone/>
            </a:pPr>
            <a:r>
              <a:t/>
            </a:r>
            <a:endParaRPr sz="1500">
              <a:solidFill>
                <a:srgbClr val="334155"/>
              </a:solidFill>
              <a:latin typeface="Plus Jakarta Sans"/>
              <a:ea typeface="Plus Jakarta Sans"/>
              <a:cs typeface="Plus Jakarta Sans"/>
              <a:sym typeface="Plus Jakarta Sans"/>
            </a:endParaRPr>
          </a:p>
          <a:p>
            <a:pPr indent="0" lvl="0" marL="0" marR="0" rtl="0" algn="l">
              <a:lnSpc>
                <a:spcPct val="120000"/>
              </a:lnSpc>
              <a:spcBef>
                <a:spcPts val="0"/>
              </a:spcBef>
              <a:spcAft>
                <a:spcPts val="0"/>
              </a:spcAft>
              <a:buNone/>
            </a:pPr>
            <a:r>
              <a:rPr b="1" lang="en" sz="1500">
                <a:solidFill>
                  <a:srgbClr val="334155"/>
                </a:solidFill>
                <a:latin typeface="Plus Jakarta Sans"/>
                <a:ea typeface="Plus Jakarta Sans"/>
                <a:cs typeface="Plus Jakarta Sans"/>
                <a:sym typeface="Plus Jakarta Sans"/>
              </a:rPr>
              <a:t>Tools</a:t>
            </a:r>
            <a:r>
              <a:rPr lang="en" sz="1500">
                <a:solidFill>
                  <a:srgbClr val="334155"/>
                </a:solidFill>
                <a:latin typeface="Plus Jakarta Sans"/>
                <a:ea typeface="Plus Jakarta Sans"/>
                <a:cs typeface="Plus Jakarta Sans"/>
                <a:sym typeface="Plus Jakarta Sans"/>
              </a:rPr>
              <a:t>: Github-MCP, OpenStack-MCP und Podman-MCP </a:t>
            </a:r>
            <a:endParaRPr sz="1500">
              <a:solidFill>
                <a:srgbClr val="334155"/>
              </a:solidFill>
              <a:latin typeface="Plus Jakarta Sans"/>
              <a:ea typeface="Plus Jakarta Sans"/>
              <a:cs typeface="Plus Jakarta Sans"/>
              <a:sym typeface="Plus Jakarta Sans"/>
            </a:endParaRPr>
          </a:p>
        </p:txBody>
      </p:sp>
      <p:pic>
        <p:nvPicPr>
          <p:cNvPr id="847" name="Google Shape;847;p65"/>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848" name="Google Shape;848;p65"/>
          <p:cNvSpPr/>
          <p:nvPr/>
        </p:nvSpPr>
        <p:spPr>
          <a:xfrm>
            <a:off x="4859200" y="3829488"/>
            <a:ext cx="3870900" cy="725400"/>
          </a:xfrm>
          <a:prstGeom prst="roundRect">
            <a:avLst>
              <a:gd fmla="val 4857" name="adj"/>
            </a:avLst>
          </a:prstGeom>
          <a:solidFill>
            <a:srgbClr val="C8DAF7"/>
          </a:solidFill>
          <a:ln cap="flat" cmpd="sng" w="9525">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a:solidFill>
                  <a:schemeClr val="dk1"/>
                </a:solidFill>
                <a:latin typeface="Calibri"/>
                <a:ea typeface="Calibri"/>
                <a:cs typeface="Calibri"/>
                <a:sym typeface="Calibri"/>
              </a:rPr>
              <a:t>Eingeschränkter Zugriff: ausschließlich Read-only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3" name="Shape 853"/>
        <p:cNvGrpSpPr/>
        <p:nvPr/>
      </p:nvGrpSpPr>
      <p:grpSpPr>
        <a:xfrm>
          <a:off x="0" y="0"/>
          <a:ext cx="0" cy="0"/>
          <a:chOff x="0" y="0"/>
          <a:chExt cx="0" cy="0"/>
        </a:xfrm>
      </p:grpSpPr>
      <p:sp>
        <p:nvSpPr>
          <p:cNvPr id="854" name="Google Shape;854;p66"/>
          <p:cNvSpPr/>
          <p:nvPr/>
        </p:nvSpPr>
        <p:spPr>
          <a:xfrm>
            <a:off x="609600" y="609600"/>
            <a:ext cx="81627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F6FD0"/>
              </a:buClr>
              <a:buSzPts val="1500"/>
              <a:buFont typeface="Inter"/>
              <a:buNone/>
            </a:pPr>
            <a:r>
              <a:t/>
            </a:r>
            <a:endParaRPr b="0" i="0" sz="1500" u="none" cap="none" strike="noStrike">
              <a:solidFill>
                <a:schemeClr val="dk1"/>
              </a:solidFill>
              <a:latin typeface="Calibri"/>
              <a:ea typeface="Calibri"/>
              <a:cs typeface="Calibri"/>
              <a:sym typeface="Calibri"/>
            </a:endParaRPr>
          </a:p>
        </p:txBody>
      </p:sp>
      <p:sp>
        <p:nvSpPr>
          <p:cNvPr id="855" name="Google Shape;855;p66"/>
          <p:cNvSpPr/>
          <p:nvPr/>
        </p:nvSpPr>
        <p:spPr>
          <a:xfrm>
            <a:off x="609600" y="942975"/>
            <a:ext cx="8162700" cy="391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6213E"/>
              </a:buClr>
              <a:buSzPts val="2600"/>
              <a:buFont typeface="Inter"/>
              <a:buNone/>
            </a:pPr>
            <a:r>
              <a:rPr b="1" i="0" lang="en" sz="2600" u="none" cap="none" strike="noStrike">
                <a:solidFill>
                  <a:srgbClr val="16213E"/>
                </a:solidFill>
                <a:latin typeface="Inter"/>
                <a:ea typeface="Inter"/>
                <a:cs typeface="Inter"/>
                <a:sym typeface="Inter"/>
              </a:rPr>
              <a:t>Der Agent prüft seine eigene Arbeit</a:t>
            </a:r>
            <a:endParaRPr b="0" i="0" sz="2600" u="none" cap="none" strike="noStrike">
              <a:solidFill>
                <a:schemeClr val="dk1"/>
              </a:solidFill>
              <a:latin typeface="Calibri"/>
              <a:ea typeface="Calibri"/>
              <a:cs typeface="Calibri"/>
              <a:sym typeface="Calibri"/>
            </a:endParaRPr>
          </a:p>
        </p:txBody>
      </p:sp>
      <p:sp>
        <p:nvSpPr>
          <p:cNvPr id="856" name="Google Shape;856;p66"/>
          <p:cNvSpPr/>
          <p:nvPr/>
        </p:nvSpPr>
        <p:spPr>
          <a:xfrm>
            <a:off x="609600" y="1543997"/>
            <a:ext cx="2406000" cy="566700"/>
          </a:xfrm>
          <a:prstGeom prst="roundRect">
            <a:avLst>
              <a:gd fmla="val 8403"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7" name="Google Shape;857;p66"/>
          <p:cNvSpPr/>
          <p:nvPr/>
        </p:nvSpPr>
        <p:spPr>
          <a:xfrm>
            <a:off x="762000" y="1696397"/>
            <a:ext cx="2164200" cy="281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13E"/>
              </a:buClr>
              <a:buSzPts val="1700"/>
              <a:buFont typeface="Inter"/>
              <a:buNone/>
            </a:pPr>
            <a:r>
              <a:rPr b="1" i="0" lang="en" sz="1700" u="none" cap="none" strike="noStrike">
                <a:solidFill>
                  <a:srgbClr val="16213E"/>
                </a:solidFill>
                <a:latin typeface="Inter"/>
                <a:ea typeface="Inter"/>
                <a:cs typeface="Inter"/>
                <a:sym typeface="Inter"/>
              </a:rPr>
              <a:t>Code</a:t>
            </a:r>
            <a:endParaRPr b="0" i="0" sz="1700" u="none" cap="none" strike="noStrike">
              <a:solidFill>
                <a:schemeClr val="dk1"/>
              </a:solidFill>
              <a:latin typeface="Calibri"/>
              <a:ea typeface="Calibri"/>
              <a:cs typeface="Calibri"/>
              <a:sym typeface="Calibri"/>
            </a:endParaRPr>
          </a:p>
        </p:txBody>
      </p:sp>
      <p:sp>
        <p:nvSpPr>
          <p:cNvPr id="858" name="Google Shape;858;p66"/>
          <p:cNvSpPr/>
          <p:nvPr/>
        </p:nvSpPr>
        <p:spPr>
          <a:xfrm>
            <a:off x="3110887" y="1680676"/>
            <a:ext cx="154500" cy="312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A97A8"/>
              </a:buClr>
              <a:buSzPts val="1700"/>
              <a:buFont typeface="Inter"/>
              <a:buNone/>
            </a:pPr>
            <a:r>
              <a:rPr b="1" i="0" lang="en" sz="1700" u="none" cap="none" strike="noStrike">
                <a:solidFill>
                  <a:srgbClr val="8A97A8"/>
                </a:solidFill>
                <a:latin typeface="Inter"/>
                <a:ea typeface="Inter"/>
                <a:cs typeface="Inter"/>
                <a:sym typeface="Inter"/>
              </a:rPr>
              <a:t>+</a:t>
            </a:r>
            <a:endParaRPr b="0" i="0" sz="1700" u="none" cap="none" strike="noStrike">
              <a:solidFill>
                <a:schemeClr val="dk1"/>
              </a:solidFill>
              <a:latin typeface="Calibri"/>
              <a:ea typeface="Calibri"/>
              <a:cs typeface="Calibri"/>
              <a:sym typeface="Calibri"/>
            </a:endParaRPr>
          </a:p>
        </p:txBody>
      </p:sp>
      <p:sp>
        <p:nvSpPr>
          <p:cNvPr id="859" name="Google Shape;859;p66"/>
          <p:cNvSpPr/>
          <p:nvPr/>
        </p:nvSpPr>
        <p:spPr>
          <a:xfrm>
            <a:off x="3322277" y="1543997"/>
            <a:ext cx="2406000" cy="566700"/>
          </a:xfrm>
          <a:prstGeom prst="roundRect">
            <a:avLst>
              <a:gd fmla="val 8403"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60" name="Google Shape;860;p66"/>
          <p:cNvSpPr/>
          <p:nvPr/>
        </p:nvSpPr>
        <p:spPr>
          <a:xfrm>
            <a:off x="3474677" y="1696397"/>
            <a:ext cx="2164200" cy="281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13E"/>
              </a:buClr>
              <a:buSzPts val="1700"/>
              <a:buFont typeface="Inter"/>
              <a:buNone/>
            </a:pPr>
            <a:r>
              <a:rPr b="1" i="0" lang="en" sz="1700" u="none" cap="none" strike="noStrike">
                <a:solidFill>
                  <a:srgbClr val="16213E"/>
                </a:solidFill>
                <a:latin typeface="Inter"/>
                <a:ea typeface="Inter"/>
                <a:cs typeface="Inter"/>
                <a:sym typeface="Inter"/>
              </a:rPr>
              <a:t>Tests</a:t>
            </a:r>
            <a:endParaRPr b="0" i="0" sz="1700" u="none" cap="none" strike="noStrike">
              <a:solidFill>
                <a:schemeClr val="dk1"/>
              </a:solidFill>
              <a:latin typeface="Calibri"/>
              <a:ea typeface="Calibri"/>
              <a:cs typeface="Calibri"/>
              <a:sym typeface="Calibri"/>
            </a:endParaRPr>
          </a:p>
        </p:txBody>
      </p:sp>
      <p:sp>
        <p:nvSpPr>
          <p:cNvPr id="861" name="Google Shape;861;p66"/>
          <p:cNvSpPr/>
          <p:nvPr/>
        </p:nvSpPr>
        <p:spPr>
          <a:xfrm>
            <a:off x="5823564" y="1680676"/>
            <a:ext cx="247800" cy="312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A97A8"/>
              </a:buClr>
              <a:buSzPts val="1700"/>
              <a:buFont typeface="Inter"/>
              <a:buNone/>
            </a:pPr>
            <a:r>
              <a:rPr b="1" i="0" lang="en" sz="1700" u="none" cap="none" strike="noStrike">
                <a:solidFill>
                  <a:srgbClr val="8A97A8"/>
                </a:solidFill>
                <a:latin typeface="Inter"/>
                <a:ea typeface="Inter"/>
                <a:cs typeface="Inter"/>
                <a:sym typeface="Inter"/>
              </a:rPr>
              <a:t>→</a:t>
            </a:r>
            <a:endParaRPr b="0" i="0" sz="1700" u="none" cap="none" strike="noStrike">
              <a:solidFill>
                <a:schemeClr val="dk1"/>
              </a:solidFill>
              <a:latin typeface="Calibri"/>
              <a:ea typeface="Calibri"/>
              <a:cs typeface="Calibri"/>
              <a:sym typeface="Calibri"/>
            </a:endParaRPr>
          </a:p>
        </p:txBody>
      </p:sp>
      <p:sp>
        <p:nvSpPr>
          <p:cNvPr id="862" name="Google Shape;862;p66"/>
          <p:cNvSpPr/>
          <p:nvPr/>
        </p:nvSpPr>
        <p:spPr>
          <a:xfrm>
            <a:off x="6128364" y="1543997"/>
            <a:ext cx="2406000" cy="566700"/>
          </a:xfrm>
          <a:prstGeom prst="roundRect">
            <a:avLst>
              <a:gd fmla="val 8403" name="adj"/>
            </a:avLst>
          </a:prstGeom>
          <a:solidFill>
            <a:srgbClr val="16213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63" name="Google Shape;863;p66"/>
          <p:cNvSpPr/>
          <p:nvPr/>
        </p:nvSpPr>
        <p:spPr>
          <a:xfrm>
            <a:off x="6280764" y="1696397"/>
            <a:ext cx="2164200" cy="281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700"/>
              <a:buFont typeface="Inter"/>
              <a:buNone/>
            </a:pPr>
            <a:r>
              <a:rPr b="1" i="0" lang="en" sz="1700" u="none" cap="none" strike="noStrike">
                <a:solidFill>
                  <a:srgbClr val="FFFFFF"/>
                </a:solidFill>
                <a:latin typeface="Inter"/>
                <a:ea typeface="Inter"/>
                <a:cs typeface="Inter"/>
                <a:sym typeface="Inter"/>
              </a:rPr>
              <a:t>alles grün</a:t>
            </a:r>
            <a:endParaRPr b="0" i="0" sz="1700" u="none" cap="none" strike="noStrike">
              <a:solidFill>
                <a:schemeClr val="dk1"/>
              </a:solidFill>
              <a:latin typeface="Calibri"/>
              <a:ea typeface="Calibri"/>
              <a:cs typeface="Calibri"/>
              <a:sym typeface="Calibri"/>
            </a:endParaRPr>
          </a:p>
        </p:txBody>
      </p:sp>
      <p:sp>
        <p:nvSpPr>
          <p:cNvPr id="864" name="Google Shape;864;p66"/>
          <p:cNvSpPr/>
          <p:nvPr/>
        </p:nvSpPr>
        <p:spPr>
          <a:xfrm>
            <a:off x="609600" y="2339335"/>
            <a:ext cx="8162700" cy="3276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6213E"/>
              </a:buClr>
              <a:buSzPts val="1800"/>
              <a:buFont typeface="Inter"/>
              <a:buNone/>
            </a:pPr>
            <a:r>
              <a:rPr b="1" i="0" lang="en" sz="1800" u="none" cap="none" strike="noStrike">
                <a:solidFill>
                  <a:srgbClr val="16213E"/>
                </a:solidFill>
                <a:latin typeface="Inter"/>
                <a:ea typeface="Inter"/>
                <a:cs typeface="Inter"/>
                <a:sym typeface="Inter"/>
              </a:rPr>
              <a:t>Beweist: </a:t>
            </a:r>
            <a:r>
              <a:rPr b="1" i="0" lang="en" sz="1800" u="none" cap="none" strike="noStrike">
                <a:solidFill>
                  <a:srgbClr val="1D7A68"/>
                </a:solidFill>
                <a:latin typeface="Inter"/>
                <a:ea typeface="Inter"/>
                <a:cs typeface="Inter"/>
                <a:sym typeface="Inter"/>
              </a:rPr>
              <a:t>es läuft.</a:t>
            </a:r>
            <a:r>
              <a:rPr b="1" i="0" lang="en" sz="1800" u="none" cap="none" strike="noStrike">
                <a:solidFill>
                  <a:srgbClr val="16213E"/>
                </a:solidFill>
                <a:latin typeface="Inter"/>
                <a:ea typeface="Inter"/>
                <a:cs typeface="Inter"/>
                <a:sym typeface="Inter"/>
              </a:rPr>
              <a:t> Nicht: </a:t>
            </a:r>
            <a:r>
              <a:rPr b="1" i="0" lang="en" sz="1800" u="none" cap="none" strike="noStrike">
                <a:solidFill>
                  <a:srgbClr val="C0392B"/>
                </a:solidFill>
                <a:latin typeface="Inter"/>
                <a:ea typeface="Inter"/>
                <a:cs typeface="Inter"/>
                <a:sym typeface="Inter"/>
              </a:rPr>
              <a:t>es ist das Richtige.</a:t>
            </a:r>
            <a:endParaRPr b="0" i="0" sz="1800" u="none" cap="none" strike="noStrike">
              <a:solidFill>
                <a:schemeClr val="dk1"/>
              </a:solidFill>
              <a:latin typeface="Calibri"/>
              <a:ea typeface="Calibri"/>
              <a:cs typeface="Calibri"/>
              <a:sym typeface="Calibri"/>
            </a:endParaRPr>
          </a:p>
        </p:txBody>
      </p:sp>
      <p:sp>
        <p:nvSpPr>
          <p:cNvPr id="865" name="Google Shape;865;p66"/>
          <p:cNvSpPr/>
          <p:nvPr/>
        </p:nvSpPr>
        <p:spPr>
          <a:xfrm>
            <a:off x="609600" y="2876523"/>
            <a:ext cx="3886200" cy="923100"/>
          </a:xfrm>
          <a:prstGeom prst="roundRect">
            <a:avLst>
              <a:gd fmla="val 5159"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866" name="Google Shape;866;p66"/>
          <p:cNvCxnSpPr/>
          <p:nvPr/>
        </p:nvCxnSpPr>
        <p:spPr>
          <a:xfrm>
            <a:off x="609600" y="2900336"/>
            <a:ext cx="3886200" cy="0"/>
          </a:xfrm>
          <a:prstGeom prst="straightConnector1">
            <a:avLst/>
          </a:prstGeom>
          <a:noFill/>
          <a:ln cap="flat" cmpd="sng" w="47625">
            <a:solidFill>
              <a:srgbClr val="C0392B"/>
            </a:solidFill>
            <a:prstDash val="solid"/>
            <a:round/>
            <a:headEnd len="sm" w="sm" type="none"/>
            <a:tailEnd len="sm" w="sm" type="none"/>
          </a:ln>
        </p:spPr>
      </p:cxnSp>
      <p:sp>
        <p:nvSpPr>
          <p:cNvPr id="867" name="Google Shape;867;p66"/>
          <p:cNvSpPr/>
          <p:nvPr/>
        </p:nvSpPr>
        <p:spPr>
          <a:xfrm>
            <a:off x="781050" y="3094732"/>
            <a:ext cx="3649500" cy="552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768"/>
              </a:buClr>
              <a:buSzPts val="1500"/>
              <a:buFont typeface="Inter"/>
              <a:buNone/>
            </a:pPr>
            <a:r>
              <a:rPr b="0" i="0" lang="en" sz="1500" u="none" cap="none" strike="noStrike">
                <a:solidFill>
                  <a:srgbClr val="4B5768"/>
                </a:solidFill>
                <a:latin typeface="Inter"/>
                <a:ea typeface="Inter"/>
                <a:cs typeface="Inter"/>
                <a:sym typeface="Inter"/>
              </a:rPr>
              <a:t>Coverage misst Zeilen,</a:t>
            </a:r>
            <a:endParaRPr b="0" i="0" sz="15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B5768"/>
              </a:buClr>
              <a:buSzPts val="1500"/>
              <a:buFont typeface="Inter"/>
              <a:buNone/>
            </a:pPr>
            <a:r>
              <a:rPr b="0" i="0" lang="en" sz="1500" u="none" cap="none" strike="noStrike">
                <a:solidFill>
                  <a:srgbClr val="4B5768"/>
                </a:solidFill>
                <a:latin typeface="Inter"/>
                <a:ea typeface="Inter"/>
                <a:cs typeface="Inter"/>
                <a:sym typeface="Inter"/>
              </a:rPr>
              <a:t>nicht Verhalten</a:t>
            </a:r>
            <a:endParaRPr b="0" i="0" sz="1500" u="none" cap="none" strike="noStrike">
              <a:solidFill>
                <a:schemeClr val="dk1"/>
              </a:solidFill>
              <a:latin typeface="Calibri"/>
              <a:ea typeface="Calibri"/>
              <a:cs typeface="Calibri"/>
              <a:sym typeface="Calibri"/>
            </a:endParaRPr>
          </a:p>
        </p:txBody>
      </p:sp>
      <p:sp>
        <p:nvSpPr>
          <p:cNvPr id="868" name="Google Shape;868;p66"/>
          <p:cNvSpPr/>
          <p:nvPr/>
        </p:nvSpPr>
        <p:spPr>
          <a:xfrm>
            <a:off x="4648200" y="2876523"/>
            <a:ext cx="3886200" cy="923100"/>
          </a:xfrm>
          <a:prstGeom prst="roundRect">
            <a:avLst>
              <a:gd fmla="val 5159"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869" name="Google Shape;869;p66"/>
          <p:cNvCxnSpPr/>
          <p:nvPr/>
        </p:nvCxnSpPr>
        <p:spPr>
          <a:xfrm>
            <a:off x="4648200" y="2900336"/>
            <a:ext cx="3886200" cy="0"/>
          </a:xfrm>
          <a:prstGeom prst="straightConnector1">
            <a:avLst/>
          </a:prstGeom>
          <a:noFill/>
          <a:ln cap="flat" cmpd="sng" w="47625">
            <a:solidFill>
              <a:srgbClr val="1D7A68"/>
            </a:solidFill>
            <a:prstDash val="solid"/>
            <a:round/>
            <a:headEnd len="sm" w="sm" type="none"/>
            <a:tailEnd len="sm" w="sm" type="none"/>
          </a:ln>
        </p:spPr>
      </p:cxnSp>
      <p:sp>
        <p:nvSpPr>
          <p:cNvPr id="870" name="Google Shape;870;p66"/>
          <p:cNvSpPr/>
          <p:nvPr/>
        </p:nvSpPr>
        <p:spPr>
          <a:xfrm>
            <a:off x="4819650" y="3094732"/>
            <a:ext cx="3649500" cy="552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768"/>
              </a:buClr>
              <a:buSzPts val="1500"/>
              <a:buFont typeface="Inter"/>
              <a:buNone/>
            </a:pPr>
            <a:r>
              <a:rPr b="0" i="0" lang="en" sz="1500" u="none" cap="none" strike="noStrike">
                <a:solidFill>
                  <a:srgbClr val="4B5768"/>
                </a:solidFill>
                <a:latin typeface="Inter"/>
                <a:ea typeface="Inter"/>
                <a:cs typeface="Inter"/>
                <a:sym typeface="Inter"/>
              </a:rPr>
              <a:t>Deshalb gibt ein Mensch</a:t>
            </a:r>
            <a:endParaRPr b="0" i="0" sz="15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B5768"/>
              </a:buClr>
              <a:buSzPts val="1500"/>
              <a:buFont typeface="Inter"/>
              <a:buNone/>
            </a:pPr>
            <a:r>
              <a:rPr b="0" i="0" lang="en" sz="1500" u="none" cap="none" strike="noStrike">
                <a:solidFill>
                  <a:srgbClr val="4B5768"/>
                </a:solidFill>
                <a:latin typeface="Inter"/>
                <a:ea typeface="Inter"/>
                <a:cs typeface="Inter"/>
                <a:sym typeface="Inter"/>
              </a:rPr>
              <a:t>die Spezifikation frei</a:t>
            </a:r>
            <a:endParaRPr b="0" i="0" sz="1500" u="none" cap="none" strike="noStrike">
              <a:solidFill>
                <a:schemeClr val="dk1"/>
              </a:solidFill>
              <a:latin typeface="Calibri"/>
              <a:ea typeface="Calibri"/>
              <a:cs typeface="Calibri"/>
              <a:sym typeface="Calibri"/>
            </a:endParaRPr>
          </a:p>
        </p:txBody>
      </p:sp>
      <p:sp>
        <p:nvSpPr>
          <p:cNvPr id="871" name="Google Shape;871;p66"/>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Lukas Gröning</a:t>
            </a:r>
            <a:endParaRPr sz="1100"/>
          </a:p>
        </p:txBody>
      </p:sp>
      <p:sp>
        <p:nvSpPr>
          <p:cNvPr id="872" name="Google Shape;872;p66"/>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37</a:t>
            </a:r>
            <a:endParaRPr sz="1100"/>
          </a:p>
        </p:txBody>
      </p:sp>
      <p:pic>
        <p:nvPicPr>
          <p:cNvPr id="873" name="Google Shape;873;p66"/>
          <p:cNvPicPr preferRelativeResize="0"/>
          <p:nvPr/>
        </p:nvPicPr>
        <p:blipFill>
          <a:blip r:embed="rId3">
            <a:alphaModFix/>
          </a:blip>
          <a:stretch>
            <a:fillRect/>
          </a:stretch>
        </p:blipFill>
        <p:spPr>
          <a:xfrm>
            <a:off x="8366800" y="0"/>
            <a:ext cx="777200" cy="58816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8" name="Shape 878"/>
        <p:cNvGrpSpPr/>
        <p:nvPr/>
      </p:nvGrpSpPr>
      <p:grpSpPr>
        <a:xfrm>
          <a:off x="0" y="0"/>
          <a:ext cx="0" cy="0"/>
          <a:chOff x="0" y="0"/>
          <a:chExt cx="0" cy="0"/>
        </a:xfrm>
      </p:grpSpPr>
      <p:sp>
        <p:nvSpPr>
          <p:cNvPr id="879" name="Google Shape;879;p67"/>
          <p:cNvSpPr/>
          <p:nvPr/>
        </p:nvSpPr>
        <p:spPr>
          <a:xfrm>
            <a:off x="609600" y="609600"/>
            <a:ext cx="81627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F6FD0"/>
              </a:buClr>
              <a:buSzPts val="1500"/>
              <a:buFont typeface="Inter"/>
              <a:buNone/>
            </a:pPr>
            <a:r>
              <a:t/>
            </a:r>
            <a:endParaRPr b="0" i="0" sz="1500" u="none" cap="none" strike="noStrike">
              <a:solidFill>
                <a:schemeClr val="dk1"/>
              </a:solidFill>
              <a:latin typeface="Calibri"/>
              <a:ea typeface="Calibri"/>
              <a:cs typeface="Calibri"/>
              <a:sym typeface="Calibri"/>
            </a:endParaRPr>
          </a:p>
        </p:txBody>
      </p:sp>
      <p:sp>
        <p:nvSpPr>
          <p:cNvPr id="880" name="Google Shape;880;p67"/>
          <p:cNvSpPr/>
          <p:nvPr/>
        </p:nvSpPr>
        <p:spPr>
          <a:xfrm>
            <a:off x="609600" y="942975"/>
            <a:ext cx="8162700" cy="391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6213E"/>
              </a:buClr>
              <a:buSzPts val="2600"/>
              <a:buFont typeface="Inter"/>
              <a:buNone/>
            </a:pPr>
            <a:r>
              <a:rPr b="1" lang="en" sz="2600">
                <a:solidFill>
                  <a:srgbClr val="16213E"/>
                </a:solidFill>
                <a:latin typeface="Inter"/>
                <a:ea typeface="Inter"/>
                <a:cs typeface="Inter"/>
                <a:sym typeface="Inter"/>
              </a:rPr>
              <a:t>Markdown statt Hooks</a:t>
            </a:r>
            <a:endParaRPr b="0" i="0" sz="2600" u="none" cap="none" strike="noStrike">
              <a:solidFill>
                <a:schemeClr val="dk1"/>
              </a:solidFill>
              <a:latin typeface="Calibri"/>
              <a:ea typeface="Calibri"/>
              <a:cs typeface="Calibri"/>
              <a:sym typeface="Calibri"/>
            </a:endParaRPr>
          </a:p>
        </p:txBody>
      </p:sp>
      <p:sp>
        <p:nvSpPr>
          <p:cNvPr id="881" name="Google Shape;881;p67"/>
          <p:cNvSpPr/>
          <p:nvPr/>
        </p:nvSpPr>
        <p:spPr>
          <a:xfrm>
            <a:off x="609600" y="1563047"/>
            <a:ext cx="3676800" cy="1205700"/>
          </a:xfrm>
          <a:prstGeom prst="roundRect">
            <a:avLst>
              <a:gd fmla="val 3949"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2" name="Google Shape;882;p67"/>
          <p:cNvSpPr/>
          <p:nvPr/>
        </p:nvSpPr>
        <p:spPr>
          <a:xfrm>
            <a:off x="781050" y="1715447"/>
            <a:ext cx="34338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F6FD0"/>
              </a:buClr>
              <a:buSzPts val="1500"/>
              <a:buFont typeface="Inter"/>
              <a:buNone/>
            </a:pPr>
            <a:r>
              <a:rPr b="1" i="0" lang="en" sz="1500" u="none" cap="none" strike="noStrike">
                <a:solidFill>
                  <a:srgbClr val="2F6FD0"/>
                </a:solidFill>
                <a:latin typeface="Inter"/>
                <a:ea typeface="Inter"/>
                <a:cs typeface="Inter"/>
                <a:sym typeface="Inter"/>
              </a:rPr>
              <a:t>CLAUDE.md</a:t>
            </a:r>
            <a:endParaRPr b="0" i="0" sz="1500" u="none" cap="none" strike="noStrike">
              <a:solidFill>
                <a:schemeClr val="dk1"/>
              </a:solidFill>
              <a:latin typeface="Calibri"/>
              <a:ea typeface="Calibri"/>
              <a:cs typeface="Calibri"/>
              <a:sym typeface="Calibri"/>
            </a:endParaRPr>
          </a:p>
        </p:txBody>
      </p:sp>
      <p:sp>
        <p:nvSpPr>
          <p:cNvPr id="883" name="Google Shape;883;p67"/>
          <p:cNvSpPr/>
          <p:nvPr/>
        </p:nvSpPr>
        <p:spPr>
          <a:xfrm>
            <a:off x="781050" y="2029772"/>
            <a:ext cx="3433800" cy="291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6213E"/>
              </a:buClr>
              <a:buSzPts val="1700"/>
              <a:buFont typeface="Inter"/>
              <a:buNone/>
            </a:pPr>
            <a:r>
              <a:rPr b="1" i="0" lang="en" sz="1800" u="none" cap="none" strike="noStrike">
                <a:solidFill>
                  <a:srgbClr val="16213E"/>
                </a:solidFill>
                <a:latin typeface="Inter"/>
                <a:ea typeface="Inter"/>
                <a:cs typeface="Inter"/>
                <a:sym typeface="Inter"/>
              </a:rPr>
              <a:t>„Coverage über </a:t>
            </a:r>
            <a:r>
              <a:rPr b="1" lang="en" sz="1800">
                <a:solidFill>
                  <a:srgbClr val="16213E"/>
                </a:solidFill>
                <a:latin typeface="Inter"/>
                <a:ea typeface="Inter"/>
                <a:cs typeface="Inter"/>
                <a:sym typeface="Inter"/>
              </a:rPr>
              <a:t>8</a:t>
            </a:r>
            <a:r>
              <a:rPr b="1" i="0" lang="en" sz="1800" u="none" cap="none" strike="noStrike">
                <a:solidFill>
                  <a:srgbClr val="16213E"/>
                </a:solidFill>
                <a:latin typeface="Inter"/>
                <a:ea typeface="Inter"/>
                <a:cs typeface="Inter"/>
                <a:sym typeface="Inter"/>
              </a:rPr>
              <a:t>0 %“</a:t>
            </a:r>
            <a:endParaRPr b="0" i="0" sz="1800" u="none" cap="none" strike="noStrike">
              <a:solidFill>
                <a:schemeClr val="dk1"/>
              </a:solidFill>
              <a:latin typeface="Calibri"/>
              <a:ea typeface="Calibri"/>
              <a:cs typeface="Calibri"/>
              <a:sym typeface="Calibri"/>
            </a:endParaRPr>
          </a:p>
        </p:txBody>
      </p:sp>
      <p:sp>
        <p:nvSpPr>
          <p:cNvPr id="884" name="Google Shape;884;p67"/>
          <p:cNvSpPr/>
          <p:nvPr/>
        </p:nvSpPr>
        <p:spPr>
          <a:xfrm>
            <a:off x="781050" y="2349807"/>
            <a:ext cx="34338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768"/>
              </a:buClr>
              <a:buSzPts val="1500"/>
              <a:buFont typeface="Inter"/>
              <a:buNone/>
            </a:pPr>
            <a:r>
              <a:rPr b="0" i="0" lang="en" sz="1500" u="none" cap="none" strike="noStrike">
                <a:solidFill>
                  <a:srgbClr val="4B5768"/>
                </a:solidFill>
                <a:latin typeface="Inter"/>
                <a:ea typeface="Inter"/>
                <a:cs typeface="Inter"/>
                <a:sym typeface="Inter"/>
              </a:rPr>
              <a:t>Bitte</a:t>
            </a:r>
            <a:endParaRPr b="0" i="0" sz="1500" u="none" cap="none" strike="noStrike">
              <a:solidFill>
                <a:schemeClr val="dk1"/>
              </a:solidFill>
              <a:latin typeface="Calibri"/>
              <a:ea typeface="Calibri"/>
              <a:cs typeface="Calibri"/>
              <a:sym typeface="Calibri"/>
            </a:endParaRPr>
          </a:p>
        </p:txBody>
      </p:sp>
      <p:sp>
        <p:nvSpPr>
          <p:cNvPr id="885" name="Google Shape;885;p67"/>
          <p:cNvSpPr/>
          <p:nvPr/>
        </p:nvSpPr>
        <p:spPr>
          <a:xfrm>
            <a:off x="609600" y="2854632"/>
            <a:ext cx="3786900" cy="312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A97A8"/>
              </a:buClr>
              <a:buSzPts val="1700"/>
              <a:buFont typeface="Inter"/>
              <a:buNone/>
            </a:pPr>
            <a:r>
              <a:rPr b="1" i="0" lang="en" sz="1700" u="none" cap="none" strike="noStrike">
                <a:solidFill>
                  <a:srgbClr val="8A97A8"/>
                </a:solidFill>
                <a:latin typeface="Inter"/>
                <a:ea typeface="Inter"/>
                <a:cs typeface="Inter"/>
                <a:sym typeface="Inter"/>
              </a:rPr>
              <a:t>↓</a:t>
            </a:r>
            <a:endParaRPr b="0" i="0" sz="1700" u="none" cap="none" strike="noStrike">
              <a:solidFill>
                <a:schemeClr val="dk1"/>
              </a:solidFill>
              <a:latin typeface="Calibri"/>
              <a:ea typeface="Calibri"/>
              <a:cs typeface="Calibri"/>
              <a:sym typeface="Calibri"/>
            </a:endParaRPr>
          </a:p>
        </p:txBody>
      </p:sp>
      <p:sp>
        <p:nvSpPr>
          <p:cNvPr id="886" name="Google Shape;886;p67"/>
          <p:cNvSpPr/>
          <p:nvPr/>
        </p:nvSpPr>
        <p:spPr>
          <a:xfrm>
            <a:off x="609600" y="3233710"/>
            <a:ext cx="3676800" cy="1205700"/>
          </a:xfrm>
          <a:prstGeom prst="roundRect">
            <a:avLst>
              <a:gd fmla="val 3949" name="adj"/>
            </a:avLst>
          </a:prstGeom>
          <a:solidFill>
            <a:srgbClr val="16213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7" name="Google Shape;887;p67"/>
          <p:cNvSpPr/>
          <p:nvPr/>
        </p:nvSpPr>
        <p:spPr>
          <a:xfrm>
            <a:off x="781050" y="3386111"/>
            <a:ext cx="34338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9BF0"/>
              </a:buClr>
              <a:buSzPts val="1500"/>
              <a:buFont typeface="Inter"/>
              <a:buNone/>
            </a:pPr>
            <a:r>
              <a:rPr b="1" i="0" lang="en" sz="1500" u="none" cap="none" strike="noStrike">
                <a:solidFill>
                  <a:srgbClr val="5B9BF0"/>
                </a:solidFill>
                <a:latin typeface="Inter"/>
                <a:ea typeface="Inter"/>
                <a:cs typeface="Inter"/>
                <a:sym typeface="Inter"/>
              </a:rPr>
              <a:t>CI-GATE</a:t>
            </a:r>
            <a:endParaRPr b="0" i="0" sz="1500" u="none" cap="none" strike="noStrike">
              <a:solidFill>
                <a:schemeClr val="dk1"/>
              </a:solidFill>
              <a:latin typeface="Calibri"/>
              <a:ea typeface="Calibri"/>
              <a:cs typeface="Calibri"/>
              <a:sym typeface="Calibri"/>
            </a:endParaRPr>
          </a:p>
        </p:txBody>
      </p:sp>
      <p:sp>
        <p:nvSpPr>
          <p:cNvPr id="888" name="Google Shape;888;p67"/>
          <p:cNvSpPr/>
          <p:nvPr/>
        </p:nvSpPr>
        <p:spPr>
          <a:xfrm>
            <a:off x="781050" y="3700436"/>
            <a:ext cx="3433800" cy="291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700"/>
              <a:buFont typeface="Inter"/>
              <a:buNone/>
            </a:pPr>
            <a:r>
              <a:rPr b="1" i="0" lang="en" sz="1800" u="none" cap="none" strike="noStrike">
                <a:solidFill>
                  <a:srgbClr val="FFFFFF"/>
                </a:solidFill>
                <a:latin typeface="Inter"/>
                <a:ea typeface="Inter"/>
                <a:cs typeface="Inter"/>
                <a:sym typeface="Inter"/>
              </a:rPr>
              <a:t>Prüft nach</a:t>
            </a:r>
            <a:endParaRPr b="0" i="0" sz="1800" u="none" cap="none" strike="noStrike">
              <a:solidFill>
                <a:schemeClr val="dk1"/>
              </a:solidFill>
              <a:latin typeface="Calibri"/>
              <a:ea typeface="Calibri"/>
              <a:cs typeface="Calibri"/>
              <a:sym typeface="Calibri"/>
            </a:endParaRPr>
          </a:p>
        </p:txBody>
      </p:sp>
      <p:sp>
        <p:nvSpPr>
          <p:cNvPr id="889" name="Google Shape;889;p67"/>
          <p:cNvSpPr/>
          <p:nvPr/>
        </p:nvSpPr>
        <p:spPr>
          <a:xfrm>
            <a:off x="781050" y="4020470"/>
            <a:ext cx="34338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B6C6"/>
              </a:buClr>
              <a:buSzPts val="1500"/>
              <a:buFont typeface="Inter"/>
              <a:buNone/>
            </a:pPr>
            <a:r>
              <a:rPr b="0" i="0" lang="en" sz="1500" u="none" cap="none" strike="noStrike">
                <a:solidFill>
                  <a:srgbClr val="AAB6C6"/>
                </a:solidFill>
                <a:latin typeface="Inter"/>
                <a:ea typeface="Inter"/>
                <a:cs typeface="Inter"/>
                <a:sym typeface="Inter"/>
              </a:rPr>
              <a:t>rot → kein Merge</a:t>
            </a:r>
            <a:endParaRPr b="0" i="0" sz="1500" u="none" cap="none" strike="noStrike">
              <a:solidFill>
                <a:schemeClr val="dk1"/>
              </a:solidFill>
              <a:latin typeface="Calibri"/>
              <a:ea typeface="Calibri"/>
              <a:cs typeface="Calibri"/>
              <a:sym typeface="Calibri"/>
            </a:endParaRPr>
          </a:p>
        </p:txBody>
      </p:sp>
      <p:sp>
        <p:nvSpPr>
          <p:cNvPr id="890" name="Google Shape;890;p67"/>
          <p:cNvSpPr/>
          <p:nvPr/>
        </p:nvSpPr>
        <p:spPr>
          <a:xfrm>
            <a:off x="4476750" y="1563047"/>
            <a:ext cx="4057800" cy="2876700"/>
          </a:xfrm>
          <a:prstGeom prst="roundRect">
            <a:avLst>
              <a:gd fmla="val 1656"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891" name="Google Shape;891;p67"/>
          <p:cNvCxnSpPr/>
          <p:nvPr/>
        </p:nvCxnSpPr>
        <p:spPr>
          <a:xfrm>
            <a:off x="4476750" y="1586860"/>
            <a:ext cx="4057800" cy="0"/>
          </a:xfrm>
          <a:prstGeom prst="straightConnector1">
            <a:avLst/>
          </a:prstGeom>
          <a:noFill/>
          <a:ln cap="flat" cmpd="sng" w="47625">
            <a:solidFill>
              <a:srgbClr val="C2620F"/>
            </a:solidFill>
            <a:prstDash val="solid"/>
            <a:round/>
            <a:headEnd len="sm" w="sm" type="none"/>
            <a:tailEnd len="sm" w="sm" type="none"/>
          </a:ln>
        </p:spPr>
      </p:cxnSp>
      <p:sp>
        <p:nvSpPr>
          <p:cNvPr id="892" name="Google Shape;892;p67"/>
          <p:cNvSpPr/>
          <p:nvPr/>
        </p:nvSpPr>
        <p:spPr>
          <a:xfrm>
            <a:off x="4667250" y="1800306"/>
            <a:ext cx="3786900" cy="293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13E"/>
              </a:buClr>
              <a:buSzPts val="1800"/>
              <a:buFont typeface="Inter"/>
              <a:buNone/>
            </a:pPr>
            <a:r>
              <a:rPr b="1" i="0" lang="en" sz="1800" u="none" cap="none" strike="noStrike">
                <a:solidFill>
                  <a:srgbClr val="16213E"/>
                </a:solidFill>
                <a:latin typeface="Inter"/>
                <a:ea typeface="Inter"/>
                <a:cs typeface="Inter"/>
                <a:sym typeface="Inter"/>
              </a:rPr>
              <a:t>Kein Hook im Lauf</a:t>
            </a:r>
            <a:endParaRPr b="0" i="0" sz="1800" u="none" cap="none" strike="noStrike">
              <a:solidFill>
                <a:schemeClr val="dk1"/>
              </a:solidFill>
              <a:latin typeface="Calibri"/>
              <a:ea typeface="Calibri"/>
              <a:cs typeface="Calibri"/>
              <a:sym typeface="Calibri"/>
            </a:endParaRPr>
          </a:p>
        </p:txBody>
      </p:sp>
      <p:sp>
        <p:nvSpPr>
          <p:cNvPr id="893" name="Google Shape;893;p67"/>
          <p:cNvSpPr/>
          <p:nvPr/>
        </p:nvSpPr>
        <p:spPr>
          <a:xfrm>
            <a:off x="4667250" y="2198435"/>
            <a:ext cx="37869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768"/>
              </a:buClr>
              <a:buSzPts val="1500"/>
              <a:buFont typeface="Inter"/>
              <a:buNone/>
            </a:pPr>
            <a:r>
              <a:rPr b="0" i="0" lang="en" sz="1500" u="none" cap="none" strike="noStrike">
                <a:solidFill>
                  <a:srgbClr val="4B5768"/>
                </a:solidFill>
                <a:latin typeface="Inter"/>
                <a:ea typeface="Inter"/>
                <a:cs typeface="Inter"/>
                <a:sym typeface="Inter"/>
              </a:rPr>
              <a:t>Regeln nur an einer Stelle</a:t>
            </a:r>
            <a:endParaRPr b="0" i="0" sz="1500" u="none" cap="none" strike="noStrike">
              <a:solidFill>
                <a:schemeClr val="dk1"/>
              </a:solidFill>
              <a:latin typeface="Calibri"/>
              <a:ea typeface="Calibri"/>
              <a:cs typeface="Calibri"/>
              <a:sym typeface="Calibri"/>
            </a:endParaRPr>
          </a:p>
        </p:txBody>
      </p:sp>
      <p:sp>
        <p:nvSpPr>
          <p:cNvPr id="894" name="Google Shape;894;p67"/>
          <p:cNvSpPr/>
          <p:nvPr/>
        </p:nvSpPr>
        <p:spPr>
          <a:xfrm>
            <a:off x="4667250" y="2588960"/>
            <a:ext cx="37869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768"/>
              </a:buClr>
              <a:buSzPts val="1500"/>
              <a:buFont typeface="Inter"/>
              <a:buNone/>
            </a:pPr>
            <a:r>
              <a:rPr b="0" i="0" lang="en" sz="1500" u="none" cap="none" strike="noStrike">
                <a:solidFill>
                  <a:srgbClr val="4B5768"/>
                </a:solidFill>
                <a:latin typeface="Inter"/>
                <a:ea typeface="Inter"/>
                <a:cs typeface="Inter"/>
                <a:sym typeface="Inter"/>
              </a:rPr>
              <a:t>Kein Hook, der blockiert</a:t>
            </a:r>
            <a:endParaRPr b="0" i="0" sz="1500" u="none" cap="none" strike="noStrike">
              <a:solidFill>
                <a:schemeClr val="dk1"/>
              </a:solidFill>
              <a:latin typeface="Calibri"/>
              <a:ea typeface="Calibri"/>
              <a:cs typeface="Calibri"/>
              <a:sym typeface="Calibri"/>
            </a:endParaRPr>
          </a:p>
        </p:txBody>
      </p:sp>
      <p:sp>
        <p:nvSpPr>
          <p:cNvPr id="895" name="Google Shape;895;p67"/>
          <p:cNvSpPr/>
          <p:nvPr/>
        </p:nvSpPr>
        <p:spPr>
          <a:xfrm>
            <a:off x="4667250" y="2979485"/>
            <a:ext cx="37869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0392B"/>
              </a:buClr>
              <a:buSzPts val="1500"/>
              <a:buFont typeface="Inter"/>
              <a:buNone/>
            </a:pPr>
            <a:r>
              <a:rPr b="0" i="0" lang="en" sz="1500" u="none" cap="none" strike="noStrike">
                <a:solidFill>
                  <a:srgbClr val="C0392B"/>
                </a:solidFill>
                <a:latin typeface="Inter"/>
                <a:ea typeface="Inter"/>
                <a:cs typeface="Inter"/>
                <a:sym typeface="Inter"/>
              </a:rPr>
              <a:t>Preis: Feedback erst im CI</a:t>
            </a:r>
            <a:endParaRPr b="0" i="0" sz="1500" u="none" cap="none" strike="noStrike">
              <a:solidFill>
                <a:schemeClr val="dk1"/>
              </a:solidFill>
              <a:latin typeface="Calibri"/>
              <a:ea typeface="Calibri"/>
              <a:cs typeface="Calibri"/>
              <a:sym typeface="Calibri"/>
            </a:endParaRPr>
          </a:p>
        </p:txBody>
      </p:sp>
      <p:sp>
        <p:nvSpPr>
          <p:cNvPr id="896" name="Google Shape;896;p67"/>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Lukas Gröning</a:t>
            </a:r>
            <a:endParaRPr sz="1100"/>
          </a:p>
        </p:txBody>
      </p:sp>
      <p:sp>
        <p:nvSpPr>
          <p:cNvPr id="897" name="Google Shape;897;p67"/>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38</a:t>
            </a:r>
            <a:endParaRPr b="1" sz="1500">
              <a:solidFill>
                <a:srgbClr val="0F172A"/>
              </a:solidFill>
              <a:latin typeface="Plus Jakarta Sans"/>
              <a:ea typeface="Plus Jakarta Sans"/>
              <a:cs typeface="Plus Jakarta Sans"/>
              <a:sym typeface="Plus Jakarta Sans"/>
            </a:endParaRPr>
          </a:p>
        </p:txBody>
      </p:sp>
      <p:pic>
        <p:nvPicPr>
          <p:cNvPr id="898" name="Google Shape;898;p67"/>
          <p:cNvPicPr preferRelativeResize="0"/>
          <p:nvPr/>
        </p:nvPicPr>
        <p:blipFill>
          <a:blip r:embed="rId3">
            <a:alphaModFix/>
          </a:blip>
          <a:stretch>
            <a:fillRect/>
          </a:stretch>
        </p:blipFill>
        <p:spPr>
          <a:xfrm>
            <a:off x="8366800" y="0"/>
            <a:ext cx="777200" cy="58816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3" name="Shape 903"/>
        <p:cNvGrpSpPr/>
        <p:nvPr/>
      </p:nvGrpSpPr>
      <p:grpSpPr>
        <a:xfrm>
          <a:off x="0" y="0"/>
          <a:ext cx="0" cy="0"/>
          <a:chOff x="0" y="0"/>
          <a:chExt cx="0" cy="0"/>
        </a:xfrm>
      </p:grpSpPr>
      <p:sp>
        <p:nvSpPr>
          <p:cNvPr id="904" name="Google Shape;904;p68"/>
          <p:cNvSpPr/>
          <p:nvPr/>
        </p:nvSpPr>
        <p:spPr>
          <a:xfrm>
            <a:off x="609600" y="609600"/>
            <a:ext cx="81627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F6FD0"/>
              </a:buClr>
              <a:buSzPts val="1500"/>
              <a:buFont typeface="Inter"/>
              <a:buNone/>
            </a:pPr>
            <a:r>
              <a:t/>
            </a:r>
            <a:endParaRPr b="0" i="0" sz="1500" u="none" cap="none" strike="noStrike">
              <a:solidFill>
                <a:schemeClr val="dk1"/>
              </a:solidFill>
              <a:latin typeface="Calibri"/>
              <a:ea typeface="Calibri"/>
              <a:cs typeface="Calibri"/>
              <a:sym typeface="Calibri"/>
            </a:endParaRPr>
          </a:p>
        </p:txBody>
      </p:sp>
      <p:sp>
        <p:nvSpPr>
          <p:cNvPr id="905" name="Google Shape;905;p68"/>
          <p:cNvSpPr/>
          <p:nvPr/>
        </p:nvSpPr>
        <p:spPr>
          <a:xfrm>
            <a:off x="609600" y="942975"/>
            <a:ext cx="8162700" cy="391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6213E"/>
              </a:buClr>
              <a:buSzPts val="2600"/>
              <a:buFont typeface="Inter"/>
              <a:buNone/>
            </a:pPr>
            <a:r>
              <a:rPr b="1" i="0" lang="en" sz="2600" u="none" cap="none" strike="noStrike">
                <a:solidFill>
                  <a:srgbClr val="16213E"/>
                </a:solidFill>
                <a:latin typeface="Inter"/>
                <a:ea typeface="Inter"/>
                <a:cs typeface="Inter"/>
                <a:sym typeface="Inter"/>
              </a:rPr>
              <a:t>Autonom, solange es reversibel ist</a:t>
            </a:r>
            <a:endParaRPr b="0" i="0" sz="2600" u="none" cap="none" strike="noStrike">
              <a:solidFill>
                <a:schemeClr val="dk1"/>
              </a:solidFill>
              <a:latin typeface="Calibri"/>
              <a:ea typeface="Calibri"/>
              <a:cs typeface="Calibri"/>
              <a:sym typeface="Calibri"/>
            </a:endParaRPr>
          </a:p>
        </p:txBody>
      </p:sp>
      <p:sp>
        <p:nvSpPr>
          <p:cNvPr id="906" name="Google Shape;906;p68"/>
          <p:cNvSpPr/>
          <p:nvPr/>
        </p:nvSpPr>
        <p:spPr>
          <a:xfrm>
            <a:off x="609600" y="1543997"/>
            <a:ext cx="1273200" cy="457200"/>
          </a:xfrm>
          <a:prstGeom prst="roundRect">
            <a:avLst>
              <a:gd fmla="val 8333"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7" name="Google Shape;907;p68"/>
          <p:cNvSpPr/>
          <p:nvPr/>
        </p:nvSpPr>
        <p:spPr>
          <a:xfrm>
            <a:off x="666750" y="1658297"/>
            <a:ext cx="1197000" cy="247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13E"/>
              </a:buClr>
              <a:buSzPts val="1500"/>
              <a:buFont typeface="Inter"/>
              <a:buNone/>
            </a:pPr>
            <a:r>
              <a:rPr b="1" i="0" lang="en" sz="1500" u="none" cap="none" strike="noStrike">
                <a:solidFill>
                  <a:srgbClr val="16213E"/>
                </a:solidFill>
                <a:latin typeface="Inter"/>
                <a:ea typeface="Inter"/>
                <a:cs typeface="Inter"/>
                <a:sym typeface="Inter"/>
              </a:rPr>
              <a:t>Branch</a:t>
            </a:r>
            <a:endParaRPr b="0" i="0" sz="1500" u="none" cap="none" strike="noStrike">
              <a:solidFill>
                <a:schemeClr val="dk1"/>
              </a:solidFill>
              <a:latin typeface="Calibri"/>
              <a:ea typeface="Calibri"/>
              <a:cs typeface="Calibri"/>
              <a:sym typeface="Calibri"/>
            </a:endParaRPr>
          </a:p>
        </p:txBody>
      </p:sp>
      <p:sp>
        <p:nvSpPr>
          <p:cNvPr id="908" name="Google Shape;908;p68"/>
          <p:cNvSpPr/>
          <p:nvPr/>
        </p:nvSpPr>
        <p:spPr>
          <a:xfrm>
            <a:off x="1939907" y="1543997"/>
            <a:ext cx="1273200" cy="457200"/>
          </a:xfrm>
          <a:prstGeom prst="roundRect">
            <a:avLst>
              <a:gd fmla="val 8333"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9" name="Google Shape;909;p68"/>
          <p:cNvSpPr/>
          <p:nvPr/>
        </p:nvSpPr>
        <p:spPr>
          <a:xfrm>
            <a:off x="1997057" y="1658297"/>
            <a:ext cx="1197000" cy="247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13E"/>
              </a:buClr>
              <a:buSzPts val="1500"/>
              <a:buFont typeface="Inter"/>
              <a:buNone/>
            </a:pPr>
            <a:r>
              <a:rPr b="1" i="0" lang="en" sz="1500" u="none" cap="none" strike="noStrike">
                <a:solidFill>
                  <a:srgbClr val="16213E"/>
                </a:solidFill>
                <a:latin typeface="Inter"/>
                <a:ea typeface="Inter"/>
                <a:cs typeface="Inter"/>
                <a:sym typeface="Inter"/>
              </a:rPr>
              <a:t>TDD</a:t>
            </a:r>
            <a:endParaRPr b="0" i="0" sz="1500" u="none" cap="none" strike="noStrike">
              <a:solidFill>
                <a:schemeClr val="dk1"/>
              </a:solidFill>
              <a:latin typeface="Calibri"/>
              <a:ea typeface="Calibri"/>
              <a:cs typeface="Calibri"/>
              <a:sym typeface="Calibri"/>
            </a:endParaRPr>
          </a:p>
        </p:txBody>
      </p:sp>
      <p:sp>
        <p:nvSpPr>
          <p:cNvPr id="910" name="Google Shape;910;p68"/>
          <p:cNvSpPr/>
          <p:nvPr/>
        </p:nvSpPr>
        <p:spPr>
          <a:xfrm>
            <a:off x="3270241" y="1543997"/>
            <a:ext cx="1273200" cy="457200"/>
          </a:xfrm>
          <a:prstGeom prst="roundRect">
            <a:avLst>
              <a:gd fmla="val 8333"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1" name="Google Shape;911;p68"/>
          <p:cNvSpPr/>
          <p:nvPr/>
        </p:nvSpPr>
        <p:spPr>
          <a:xfrm>
            <a:off x="3327391" y="1658297"/>
            <a:ext cx="1197000" cy="247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13E"/>
              </a:buClr>
              <a:buSzPts val="1500"/>
              <a:buFont typeface="Inter"/>
              <a:buNone/>
            </a:pPr>
            <a:r>
              <a:rPr b="1" i="0" lang="en" sz="1500" u="none" cap="none" strike="noStrike">
                <a:solidFill>
                  <a:srgbClr val="16213E"/>
                </a:solidFill>
                <a:latin typeface="Inter"/>
                <a:ea typeface="Inter"/>
                <a:cs typeface="Inter"/>
                <a:sym typeface="Inter"/>
              </a:rPr>
              <a:t>PR</a:t>
            </a:r>
            <a:endParaRPr b="0" i="0" sz="1500" u="none" cap="none" strike="noStrike">
              <a:solidFill>
                <a:schemeClr val="dk1"/>
              </a:solidFill>
              <a:latin typeface="Calibri"/>
              <a:ea typeface="Calibri"/>
              <a:cs typeface="Calibri"/>
              <a:sym typeface="Calibri"/>
            </a:endParaRPr>
          </a:p>
        </p:txBody>
      </p:sp>
      <p:sp>
        <p:nvSpPr>
          <p:cNvPr id="912" name="Google Shape;912;p68"/>
          <p:cNvSpPr/>
          <p:nvPr/>
        </p:nvSpPr>
        <p:spPr>
          <a:xfrm>
            <a:off x="4600548" y="1543997"/>
            <a:ext cx="1273200" cy="457200"/>
          </a:xfrm>
          <a:prstGeom prst="roundRect">
            <a:avLst>
              <a:gd fmla="val 8333"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3" name="Google Shape;913;p68"/>
          <p:cNvSpPr/>
          <p:nvPr/>
        </p:nvSpPr>
        <p:spPr>
          <a:xfrm>
            <a:off x="4657698" y="1658297"/>
            <a:ext cx="1197000" cy="247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13E"/>
              </a:buClr>
              <a:buSzPts val="1500"/>
              <a:buFont typeface="Inter"/>
              <a:buNone/>
            </a:pPr>
            <a:r>
              <a:rPr b="1" i="0" lang="en" sz="1500" u="none" cap="none" strike="noStrike">
                <a:solidFill>
                  <a:srgbClr val="16213E"/>
                </a:solidFill>
                <a:latin typeface="Inter"/>
                <a:ea typeface="Inter"/>
                <a:cs typeface="Inter"/>
                <a:sym typeface="Inter"/>
              </a:rPr>
              <a:t>CI</a:t>
            </a:r>
            <a:endParaRPr b="0" i="0" sz="1500" u="none" cap="none" strike="noStrike">
              <a:solidFill>
                <a:schemeClr val="dk1"/>
              </a:solidFill>
              <a:latin typeface="Calibri"/>
              <a:ea typeface="Calibri"/>
              <a:cs typeface="Calibri"/>
              <a:sym typeface="Calibri"/>
            </a:endParaRPr>
          </a:p>
        </p:txBody>
      </p:sp>
      <p:sp>
        <p:nvSpPr>
          <p:cNvPr id="914" name="Google Shape;914;p68"/>
          <p:cNvSpPr/>
          <p:nvPr/>
        </p:nvSpPr>
        <p:spPr>
          <a:xfrm>
            <a:off x="5930882" y="1543997"/>
            <a:ext cx="1273200" cy="457200"/>
          </a:xfrm>
          <a:prstGeom prst="roundRect">
            <a:avLst>
              <a:gd fmla="val 8333"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5" name="Google Shape;915;p68"/>
          <p:cNvSpPr/>
          <p:nvPr/>
        </p:nvSpPr>
        <p:spPr>
          <a:xfrm>
            <a:off x="5988032" y="1658297"/>
            <a:ext cx="1197000" cy="247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13E"/>
              </a:buClr>
              <a:buSzPts val="1500"/>
              <a:buFont typeface="Inter"/>
              <a:buNone/>
            </a:pPr>
            <a:r>
              <a:rPr b="1" i="0" lang="en" sz="1500" u="none" cap="none" strike="noStrike">
                <a:solidFill>
                  <a:srgbClr val="16213E"/>
                </a:solidFill>
                <a:latin typeface="Inter"/>
                <a:ea typeface="Inter"/>
                <a:cs typeface="Inter"/>
                <a:sym typeface="Inter"/>
              </a:rPr>
              <a:t>Staging</a:t>
            </a:r>
            <a:endParaRPr b="0" i="0" sz="1500" u="none" cap="none" strike="noStrike">
              <a:solidFill>
                <a:schemeClr val="dk1"/>
              </a:solidFill>
              <a:latin typeface="Calibri"/>
              <a:ea typeface="Calibri"/>
              <a:cs typeface="Calibri"/>
              <a:sym typeface="Calibri"/>
            </a:endParaRPr>
          </a:p>
        </p:txBody>
      </p:sp>
      <p:sp>
        <p:nvSpPr>
          <p:cNvPr id="916" name="Google Shape;916;p68"/>
          <p:cNvSpPr/>
          <p:nvPr/>
        </p:nvSpPr>
        <p:spPr>
          <a:xfrm>
            <a:off x="7261216" y="1543997"/>
            <a:ext cx="1273200" cy="457200"/>
          </a:xfrm>
          <a:prstGeom prst="roundRect">
            <a:avLst>
              <a:gd fmla="val 8333" name="adj"/>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7" name="Google Shape;917;p68"/>
          <p:cNvSpPr/>
          <p:nvPr/>
        </p:nvSpPr>
        <p:spPr>
          <a:xfrm>
            <a:off x="7318366" y="1658297"/>
            <a:ext cx="1197000" cy="247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500"/>
              <a:buFont typeface="Inter"/>
              <a:buNone/>
            </a:pPr>
            <a:r>
              <a:rPr b="1" i="0" lang="en" sz="1500" u="none" cap="none" strike="noStrike">
                <a:solidFill>
                  <a:srgbClr val="FFFFFF"/>
                </a:solidFill>
                <a:latin typeface="Inter"/>
                <a:ea typeface="Inter"/>
                <a:cs typeface="Inter"/>
                <a:sym typeface="Inter"/>
              </a:rPr>
              <a:t>Prod</a:t>
            </a:r>
            <a:endParaRPr b="0" i="0" sz="1500" u="none" cap="none" strike="noStrike">
              <a:solidFill>
                <a:schemeClr val="dk1"/>
              </a:solidFill>
              <a:latin typeface="Calibri"/>
              <a:ea typeface="Calibri"/>
              <a:cs typeface="Calibri"/>
              <a:sym typeface="Calibri"/>
            </a:endParaRPr>
          </a:p>
        </p:txBody>
      </p:sp>
      <p:cxnSp>
        <p:nvCxnSpPr>
          <p:cNvPr id="918" name="Google Shape;918;p68"/>
          <p:cNvCxnSpPr/>
          <p:nvPr/>
        </p:nvCxnSpPr>
        <p:spPr>
          <a:xfrm>
            <a:off x="609600" y="2091685"/>
            <a:ext cx="6531000" cy="0"/>
          </a:xfrm>
          <a:prstGeom prst="straightConnector1">
            <a:avLst/>
          </a:prstGeom>
          <a:noFill/>
          <a:ln cap="flat" cmpd="sng" w="47625">
            <a:solidFill>
              <a:srgbClr val="1D7A68"/>
            </a:solidFill>
            <a:prstDash val="solid"/>
            <a:round/>
            <a:headEnd len="sm" w="sm" type="none"/>
            <a:tailEnd len="sm" w="sm" type="none"/>
          </a:ln>
        </p:spPr>
      </p:cxnSp>
      <p:sp>
        <p:nvSpPr>
          <p:cNvPr id="919" name="Google Shape;919;p68"/>
          <p:cNvSpPr/>
          <p:nvPr/>
        </p:nvSpPr>
        <p:spPr>
          <a:xfrm>
            <a:off x="628650" y="2181307"/>
            <a:ext cx="66876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7A68"/>
              </a:buClr>
              <a:buSzPts val="1500"/>
              <a:buFont typeface="Inter"/>
              <a:buNone/>
            </a:pPr>
            <a:r>
              <a:rPr b="1" i="0" lang="en" sz="1500" u="none" cap="none" strike="noStrike">
                <a:solidFill>
                  <a:srgbClr val="1D7A68"/>
                </a:solidFill>
                <a:latin typeface="Inter"/>
                <a:ea typeface="Inter"/>
                <a:cs typeface="Inter"/>
                <a:sym typeface="Inter"/>
              </a:rPr>
              <a:t>zurücknehmbar · Agent</a:t>
            </a:r>
            <a:endParaRPr b="0" i="0" sz="1500" u="none" cap="none" strike="noStrike">
              <a:solidFill>
                <a:schemeClr val="dk1"/>
              </a:solidFill>
              <a:latin typeface="Calibri"/>
              <a:ea typeface="Calibri"/>
              <a:cs typeface="Calibri"/>
              <a:sym typeface="Calibri"/>
            </a:endParaRPr>
          </a:p>
        </p:txBody>
      </p:sp>
      <p:cxnSp>
        <p:nvCxnSpPr>
          <p:cNvPr id="920" name="Google Shape;920;p68"/>
          <p:cNvCxnSpPr/>
          <p:nvPr/>
        </p:nvCxnSpPr>
        <p:spPr>
          <a:xfrm>
            <a:off x="7197734" y="2091685"/>
            <a:ext cx="1336800" cy="0"/>
          </a:xfrm>
          <a:prstGeom prst="straightConnector1">
            <a:avLst/>
          </a:prstGeom>
          <a:noFill/>
          <a:ln cap="flat" cmpd="sng" w="47625">
            <a:solidFill>
              <a:srgbClr val="C0392B"/>
            </a:solidFill>
            <a:prstDash val="solid"/>
            <a:round/>
            <a:headEnd len="sm" w="sm" type="none"/>
            <a:tailEnd len="sm" w="sm" type="none"/>
          </a:ln>
        </p:spPr>
      </p:cxnSp>
      <p:sp>
        <p:nvSpPr>
          <p:cNvPr id="921" name="Google Shape;921;p68"/>
          <p:cNvSpPr/>
          <p:nvPr/>
        </p:nvSpPr>
        <p:spPr>
          <a:xfrm>
            <a:off x="7216784" y="2181307"/>
            <a:ext cx="13377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0392B"/>
              </a:buClr>
              <a:buSzPts val="1500"/>
              <a:buFont typeface="Inter"/>
              <a:buNone/>
            </a:pPr>
            <a:r>
              <a:rPr b="1" i="0" lang="en" sz="1500" u="none" cap="none" strike="noStrike">
                <a:solidFill>
                  <a:srgbClr val="C0392B"/>
                </a:solidFill>
                <a:latin typeface="Inter"/>
                <a:ea typeface="Inter"/>
                <a:cs typeface="Inter"/>
                <a:sym typeface="Inter"/>
              </a:rPr>
              <a:t>Mensch</a:t>
            </a:r>
            <a:endParaRPr b="0" i="0" sz="1500" u="none" cap="none" strike="noStrike">
              <a:solidFill>
                <a:schemeClr val="dk1"/>
              </a:solidFill>
              <a:latin typeface="Calibri"/>
              <a:ea typeface="Calibri"/>
              <a:cs typeface="Calibri"/>
              <a:sym typeface="Calibri"/>
            </a:endParaRPr>
          </a:p>
        </p:txBody>
      </p:sp>
      <p:sp>
        <p:nvSpPr>
          <p:cNvPr id="922" name="Google Shape;922;p68"/>
          <p:cNvSpPr/>
          <p:nvPr/>
        </p:nvSpPr>
        <p:spPr>
          <a:xfrm>
            <a:off x="609600" y="2743275"/>
            <a:ext cx="7944900" cy="918300"/>
          </a:xfrm>
          <a:prstGeom prst="roundRect">
            <a:avLst>
              <a:gd fmla="val 5187"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3" name="Google Shape;923;p68"/>
          <p:cNvSpPr/>
          <p:nvPr/>
        </p:nvSpPr>
        <p:spPr>
          <a:xfrm>
            <a:off x="781050" y="2914725"/>
            <a:ext cx="7386900" cy="746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13E"/>
              </a:buClr>
              <a:buSzPts val="1700"/>
              <a:buFont typeface="Inter"/>
              <a:buNone/>
            </a:pPr>
            <a:r>
              <a:rPr b="1" lang="en" sz="1700">
                <a:solidFill>
                  <a:srgbClr val="16213E"/>
                </a:solidFill>
                <a:latin typeface="Inter"/>
                <a:ea typeface="Inter"/>
                <a:cs typeface="Inter"/>
                <a:sym typeface="Inter"/>
              </a:rPr>
              <a:t>Staging kann im schlimmsten Fall neu aufgesetzt werden.</a:t>
            </a:r>
            <a:endParaRPr b="1" sz="1700">
              <a:solidFill>
                <a:srgbClr val="16213E"/>
              </a:solidFill>
              <a:latin typeface="Inter"/>
              <a:ea typeface="Inter"/>
              <a:cs typeface="Inter"/>
              <a:sym typeface="Inter"/>
            </a:endParaRPr>
          </a:p>
          <a:p>
            <a:pPr indent="0" lvl="0" marL="0" marR="0" rtl="0" algn="l">
              <a:lnSpc>
                <a:spcPct val="120000"/>
              </a:lnSpc>
              <a:spcBef>
                <a:spcPts val="0"/>
              </a:spcBef>
              <a:spcAft>
                <a:spcPts val="0"/>
              </a:spcAft>
              <a:buClr>
                <a:srgbClr val="16213E"/>
              </a:buClr>
              <a:buSzPts val="1700"/>
              <a:buFont typeface="Inter"/>
              <a:buNone/>
            </a:pPr>
            <a:r>
              <a:rPr b="1" lang="en" sz="1700">
                <a:solidFill>
                  <a:srgbClr val="16213E"/>
                </a:solidFill>
                <a:latin typeface="Inter"/>
                <a:ea typeface="Inter"/>
                <a:cs typeface="Inter"/>
                <a:sym typeface="Inter"/>
              </a:rPr>
              <a:t>Prod muss aber stabil sein.</a:t>
            </a:r>
            <a:endParaRPr b="0" i="0" sz="1700" u="none" cap="none" strike="noStrike">
              <a:solidFill>
                <a:schemeClr val="dk1"/>
              </a:solidFill>
              <a:latin typeface="Calibri"/>
              <a:ea typeface="Calibri"/>
              <a:cs typeface="Calibri"/>
              <a:sym typeface="Calibri"/>
            </a:endParaRPr>
          </a:p>
        </p:txBody>
      </p:sp>
      <p:sp>
        <p:nvSpPr>
          <p:cNvPr id="924" name="Google Shape;924;p68"/>
          <p:cNvSpPr/>
          <p:nvPr/>
        </p:nvSpPr>
        <p:spPr>
          <a:xfrm>
            <a:off x="781050" y="3223319"/>
            <a:ext cx="36495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768"/>
              </a:buClr>
              <a:buSzPts val="1500"/>
              <a:buFont typeface="Inter"/>
              <a:buNone/>
            </a:pPr>
            <a:r>
              <a:t/>
            </a:r>
            <a:endParaRPr b="0" i="0" sz="1500" u="none" cap="none" strike="noStrike">
              <a:solidFill>
                <a:schemeClr val="dk1"/>
              </a:solidFill>
              <a:latin typeface="Calibri"/>
              <a:ea typeface="Calibri"/>
              <a:cs typeface="Calibri"/>
              <a:sym typeface="Calibri"/>
            </a:endParaRPr>
          </a:p>
        </p:txBody>
      </p:sp>
      <p:sp>
        <p:nvSpPr>
          <p:cNvPr id="925" name="Google Shape;925;p68"/>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Lukas Gröning</a:t>
            </a:r>
            <a:endParaRPr sz="1100"/>
          </a:p>
        </p:txBody>
      </p:sp>
      <p:sp>
        <p:nvSpPr>
          <p:cNvPr id="926" name="Google Shape;926;p68"/>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39</a:t>
            </a:r>
            <a:endParaRPr sz="1100"/>
          </a:p>
        </p:txBody>
      </p:sp>
      <p:pic>
        <p:nvPicPr>
          <p:cNvPr id="927" name="Google Shape;927;p68"/>
          <p:cNvPicPr preferRelativeResize="0"/>
          <p:nvPr/>
        </p:nvPicPr>
        <p:blipFill>
          <a:blip r:embed="rId3">
            <a:alphaModFix/>
          </a:blip>
          <a:stretch>
            <a:fillRect/>
          </a:stretch>
        </p:blipFill>
        <p:spPr>
          <a:xfrm>
            <a:off x="8366800" y="0"/>
            <a:ext cx="777200" cy="58816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2" name="Shape 932"/>
        <p:cNvGrpSpPr/>
        <p:nvPr/>
      </p:nvGrpSpPr>
      <p:grpSpPr>
        <a:xfrm>
          <a:off x="0" y="0"/>
          <a:ext cx="0" cy="0"/>
          <a:chOff x="0" y="0"/>
          <a:chExt cx="0" cy="0"/>
        </a:xfrm>
      </p:grpSpPr>
      <p:sp>
        <p:nvSpPr>
          <p:cNvPr id="933" name="Google Shape;933;p69"/>
          <p:cNvSpPr/>
          <p:nvPr/>
        </p:nvSpPr>
        <p:spPr>
          <a:xfrm>
            <a:off x="609600" y="609600"/>
            <a:ext cx="81627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F6FD0"/>
              </a:buClr>
              <a:buSzPts val="1500"/>
              <a:buFont typeface="Inter"/>
              <a:buNone/>
            </a:pPr>
            <a:r>
              <a:t/>
            </a:r>
            <a:endParaRPr b="0" i="0" sz="1500" u="none" cap="none" strike="noStrike">
              <a:solidFill>
                <a:schemeClr val="dk1"/>
              </a:solidFill>
              <a:latin typeface="Calibri"/>
              <a:ea typeface="Calibri"/>
              <a:cs typeface="Calibri"/>
              <a:sym typeface="Calibri"/>
            </a:endParaRPr>
          </a:p>
        </p:txBody>
      </p:sp>
      <p:sp>
        <p:nvSpPr>
          <p:cNvPr id="934" name="Google Shape;934;p69"/>
          <p:cNvSpPr/>
          <p:nvPr/>
        </p:nvSpPr>
        <p:spPr>
          <a:xfrm>
            <a:off x="609600" y="942975"/>
            <a:ext cx="8162700" cy="391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6213E"/>
              </a:buClr>
              <a:buSzPts val="2600"/>
              <a:buFont typeface="Inter"/>
              <a:buNone/>
            </a:pPr>
            <a:r>
              <a:rPr b="1" i="0" lang="en" sz="2600" u="none" cap="none" strike="noStrike">
                <a:solidFill>
                  <a:srgbClr val="16213E"/>
                </a:solidFill>
                <a:latin typeface="Inter"/>
                <a:ea typeface="Inter"/>
                <a:cs typeface="Inter"/>
                <a:sym typeface="Inter"/>
              </a:rPr>
              <a:t>Zugriff: Hermes statt Agent per SSH</a:t>
            </a:r>
            <a:endParaRPr b="0" i="0" sz="2600" u="none" cap="none" strike="noStrike">
              <a:solidFill>
                <a:schemeClr val="dk1"/>
              </a:solidFill>
              <a:latin typeface="Calibri"/>
              <a:ea typeface="Calibri"/>
              <a:cs typeface="Calibri"/>
              <a:sym typeface="Calibri"/>
            </a:endParaRPr>
          </a:p>
        </p:txBody>
      </p:sp>
      <p:sp>
        <p:nvSpPr>
          <p:cNvPr id="935" name="Google Shape;935;p69"/>
          <p:cNvSpPr/>
          <p:nvPr/>
        </p:nvSpPr>
        <p:spPr>
          <a:xfrm>
            <a:off x="609600" y="1563047"/>
            <a:ext cx="1651200" cy="861000"/>
          </a:xfrm>
          <a:prstGeom prst="roundRect">
            <a:avLst>
              <a:gd fmla="val 5531"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6" name="Google Shape;936;p69"/>
          <p:cNvSpPr/>
          <p:nvPr/>
        </p:nvSpPr>
        <p:spPr>
          <a:xfrm>
            <a:off x="762000" y="1715447"/>
            <a:ext cx="1386600" cy="27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13E"/>
              </a:buClr>
              <a:buSzPts val="1700"/>
              <a:buFont typeface="Inter"/>
              <a:buNone/>
            </a:pPr>
            <a:r>
              <a:rPr b="1" i="0" lang="en" sz="1700" u="none" cap="none" strike="noStrike">
                <a:solidFill>
                  <a:srgbClr val="16213E"/>
                </a:solidFill>
                <a:latin typeface="Inter"/>
                <a:ea typeface="Inter"/>
                <a:cs typeface="Inter"/>
                <a:sym typeface="Inter"/>
              </a:rPr>
              <a:t>Team</a:t>
            </a:r>
            <a:endParaRPr b="0" i="0" sz="1700" u="none" cap="none" strike="noStrike">
              <a:solidFill>
                <a:schemeClr val="dk1"/>
              </a:solidFill>
              <a:latin typeface="Calibri"/>
              <a:ea typeface="Calibri"/>
              <a:cs typeface="Calibri"/>
              <a:sym typeface="Calibri"/>
            </a:endParaRPr>
          </a:p>
        </p:txBody>
      </p:sp>
      <p:sp>
        <p:nvSpPr>
          <p:cNvPr id="937" name="Google Shape;937;p69"/>
          <p:cNvSpPr/>
          <p:nvPr/>
        </p:nvSpPr>
        <p:spPr>
          <a:xfrm>
            <a:off x="762000" y="2004986"/>
            <a:ext cx="13866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768"/>
              </a:buClr>
              <a:buSzPts val="1500"/>
              <a:buFont typeface="Inter"/>
              <a:buNone/>
            </a:pPr>
            <a:r>
              <a:rPr b="0" i="0" lang="en" sz="1500" u="none" cap="none" strike="noStrike">
                <a:solidFill>
                  <a:srgbClr val="4B5768"/>
                </a:solidFill>
                <a:latin typeface="Inter"/>
                <a:ea typeface="Inter"/>
                <a:cs typeface="Inter"/>
                <a:sym typeface="Inter"/>
              </a:rPr>
              <a:t>Discord</a:t>
            </a:r>
            <a:endParaRPr b="0" i="0" sz="1500" u="none" cap="none" strike="noStrike">
              <a:solidFill>
                <a:schemeClr val="dk1"/>
              </a:solidFill>
              <a:latin typeface="Calibri"/>
              <a:ea typeface="Calibri"/>
              <a:cs typeface="Calibri"/>
              <a:sym typeface="Calibri"/>
            </a:endParaRPr>
          </a:p>
        </p:txBody>
      </p:sp>
      <p:sp>
        <p:nvSpPr>
          <p:cNvPr id="938" name="Google Shape;938;p69"/>
          <p:cNvSpPr/>
          <p:nvPr/>
        </p:nvSpPr>
        <p:spPr>
          <a:xfrm>
            <a:off x="2637376" y="1704000"/>
            <a:ext cx="9012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F6FD0"/>
              </a:buClr>
              <a:buSzPts val="1500"/>
              <a:buFont typeface="Inter"/>
              <a:buNone/>
            </a:pPr>
            <a:r>
              <a:rPr b="1" i="0" lang="en" sz="1500" u="none" cap="none" strike="noStrike">
                <a:solidFill>
                  <a:srgbClr val="2F6FD0"/>
                </a:solidFill>
                <a:latin typeface="Inter"/>
                <a:ea typeface="Inter"/>
                <a:cs typeface="Inter"/>
                <a:sym typeface="Inter"/>
              </a:rPr>
              <a:t>Allowlist</a:t>
            </a:r>
            <a:endParaRPr b="0" i="0" sz="1500" u="none" cap="none" strike="noStrike">
              <a:solidFill>
                <a:schemeClr val="dk1"/>
              </a:solidFill>
              <a:latin typeface="Calibri"/>
              <a:ea typeface="Calibri"/>
              <a:cs typeface="Calibri"/>
              <a:sym typeface="Calibri"/>
            </a:endParaRPr>
          </a:p>
        </p:txBody>
      </p:sp>
      <p:sp>
        <p:nvSpPr>
          <p:cNvPr id="939" name="Google Shape;939;p69"/>
          <p:cNvSpPr/>
          <p:nvPr/>
        </p:nvSpPr>
        <p:spPr>
          <a:xfrm>
            <a:off x="2898766" y="1989752"/>
            <a:ext cx="247800" cy="312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A97A8"/>
              </a:buClr>
              <a:buSzPts val="1700"/>
              <a:buFont typeface="Inter"/>
              <a:buNone/>
            </a:pPr>
            <a:r>
              <a:rPr b="0" i="0" lang="en" sz="1700" u="none" cap="none" strike="noStrike">
                <a:solidFill>
                  <a:srgbClr val="8A97A8"/>
                </a:solidFill>
                <a:latin typeface="Inter"/>
                <a:ea typeface="Inter"/>
                <a:cs typeface="Inter"/>
                <a:sym typeface="Inter"/>
              </a:rPr>
              <a:t>→</a:t>
            </a:r>
            <a:endParaRPr b="0" i="0" sz="1700" u="none" cap="none" strike="noStrike">
              <a:solidFill>
                <a:schemeClr val="dk1"/>
              </a:solidFill>
              <a:latin typeface="Calibri"/>
              <a:ea typeface="Calibri"/>
              <a:cs typeface="Calibri"/>
              <a:sym typeface="Calibri"/>
            </a:endParaRPr>
          </a:p>
        </p:txBody>
      </p:sp>
      <p:sp>
        <p:nvSpPr>
          <p:cNvPr id="940" name="Google Shape;940;p69"/>
          <p:cNvSpPr/>
          <p:nvPr/>
        </p:nvSpPr>
        <p:spPr>
          <a:xfrm>
            <a:off x="3746491" y="1563047"/>
            <a:ext cx="1651200" cy="861000"/>
          </a:xfrm>
          <a:prstGeom prst="roundRect">
            <a:avLst>
              <a:gd fmla="val 5531" name="adj"/>
            </a:avLst>
          </a:prstGeom>
          <a:solidFill>
            <a:srgbClr val="16213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1" name="Google Shape;941;p69"/>
          <p:cNvSpPr/>
          <p:nvPr/>
        </p:nvSpPr>
        <p:spPr>
          <a:xfrm>
            <a:off x="3898891" y="1715447"/>
            <a:ext cx="1386600" cy="27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700"/>
              <a:buFont typeface="Inter"/>
              <a:buNone/>
            </a:pPr>
            <a:r>
              <a:rPr b="1" i="0" lang="en" sz="1700" u="none" cap="none" strike="noStrike">
                <a:solidFill>
                  <a:srgbClr val="FFFFFF"/>
                </a:solidFill>
                <a:latin typeface="Inter"/>
                <a:ea typeface="Inter"/>
                <a:cs typeface="Inter"/>
                <a:sym typeface="Inter"/>
              </a:rPr>
              <a:t>Hermes</a:t>
            </a:r>
            <a:endParaRPr b="0" i="0" sz="1700" u="none" cap="none" strike="noStrike">
              <a:solidFill>
                <a:schemeClr val="dk1"/>
              </a:solidFill>
              <a:latin typeface="Calibri"/>
              <a:ea typeface="Calibri"/>
              <a:cs typeface="Calibri"/>
              <a:sym typeface="Calibri"/>
            </a:endParaRPr>
          </a:p>
        </p:txBody>
      </p:sp>
      <p:sp>
        <p:nvSpPr>
          <p:cNvPr id="942" name="Google Shape;942;p69"/>
          <p:cNvSpPr/>
          <p:nvPr/>
        </p:nvSpPr>
        <p:spPr>
          <a:xfrm>
            <a:off x="3898891" y="2004986"/>
            <a:ext cx="13866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B6C6"/>
              </a:buClr>
              <a:buSzPts val="1500"/>
              <a:buFont typeface="Inter"/>
              <a:buNone/>
            </a:pPr>
            <a:r>
              <a:rPr b="0" i="0" lang="en" sz="1500" u="none" cap="none" strike="noStrike">
                <a:solidFill>
                  <a:srgbClr val="AAB6C6"/>
                </a:solidFill>
                <a:latin typeface="Inter"/>
                <a:ea typeface="Inter"/>
                <a:cs typeface="Inter"/>
                <a:sym typeface="Inter"/>
              </a:rPr>
              <a:t>Container</a:t>
            </a:r>
            <a:endParaRPr b="0" i="0" sz="1500" u="none" cap="none" strike="noStrike">
              <a:solidFill>
                <a:schemeClr val="dk1"/>
              </a:solidFill>
              <a:latin typeface="Calibri"/>
              <a:ea typeface="Calibri"/>
              <a:cs typeface="Calibri"/>
              <a:sym typeface="Calibri"/>
            </a:endParaRPr>
          </a:p>
        </p:txBody>
      </p:sp>
      <p:sp>
        <p:nvSpPr>
          <p:cNvPr id="943" name="Google Shape;943;p69"/>
          <p:cNvSpPr/>
          <p:nvPr/>
        </p:nvSpPr>
        <p:spPr>
          <a:xfrm>
            <a:off x="5774303" y="1704000"/>
            <a:ext cx="9012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F6FD0"/>
              </a:buClr>
              <a:buSzPts val="1500"/>
              <a:buFont typeface="Inter"/>
              <a:buNone/>
            </a:pPr>
            <a:r>
              <a:rPr b="1" i="0" lang="en" sz="1500" u="none" cap="none" strike="noStrike">
                <a:solidFill>
                  <a:srgbClr val="2F6FD0"/>
                </a:solidFill>
                <a:latin typeface="Inter"/>
                <a:ea typeface="Inter"/>
                <a:cs typeface="Inter"/>
                <a:sym typeface="Inter"/>
              </a:rPr>
              <a:t>Allowlist</a:t>
            </a:r>
            <a:endParaRPr b="0" i="0" sz="1500" u="none" cap="none" strike="noStrike">
              <a:solidFill>
                <a:schemeClr val="dk1"/>
              </a:solidFill>
              <a:latin typeface="Calibri"/>
              <a:ea typeface="Calibri"/>
              <a:cs typeface="Calibri"/>
              <a:sym typeface="Calibri"/>
            </a:endParaRPr>
          </a:p>
        </p:txBody>
      </p:sp>
      <p:sp>
        <p:nvSpPr>
          <p:cNvPr id="944" name="Google Shape;944;p69"/>
          <p:cNvSpPr/>
          <p:nvPr/>
        </p:nvSpPr>
        <p:spPr>
          <a:xfrm>
            <a:off x="6035684" y="1989752"/>
            <a:ext cx="247800" cy="312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A97A8"/>
              </a:buClr>
              <a:buSzPts val="1700"/>
              <a:buFont typeface="Inter"/>
              <a:buNone/>
            </a:pPr>
            <a:r>
              <a:rPr b="0" i="0" lang="en" sz="1700" u="none" cap="none" strike="noStrike">
                <a:solidFill>
                  <a:srgbClr val="8A97A8"/>
                </a:solidFill>
                <a:latin typeface="Inter"/>
                <a:ea typeface="Inter"/>
                <a:cs typeface="Inter"/>
                <a:sym typeface="Inter"/>
              </a:rPr>
              <a:t>→</a:t>
            </a:r>
            <a:endParaRPr b="0" i="0" sz="1700" u="none" cap="none" strike="noStrike">
              <a:solidFill>
                <a:schemeClr val="dk1"/>
              </a:solidFill>
              <a:latin typeface="Calibri"/>
              <a:ea typeface="Calibri"/>
              <a:cs typeface="Calibri"/>
              <a:sym typeface="Calibri"/>
            </a:endParaRPr>
          </a:p>
        </p:txBody>
      </p:sp>
      <p:sp>
        <p:nvSpPr>
          <p:cNvPr id="945" name="Google Shape;945;p69"/>
          <p:cNvSpPr/>
          <p:nvPr/>
        </p:nvSpPr>
        <p:spPr>
          <a:xfrm>
            <a:off x="6883409" y="1563047"/>
            <a:ext cx="1651200" cy="861000"/>
          </a:xfrm>
          <a:prstGeom prst="roundRect">
            <a:avLst>
              <a:gd fmla="val 5531" name="adj"/>
            </a:avLst>
          </a:prstGeom>
          <a:solidFill>
            <a:srgbClr val="F3F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6" name="Google Shape;946;p69"/>
          <p:cNvSpPr/>
          <p:nvPr/>
        </p:nvSpPr>
        <p:spPr>
          <a:xfrm>
            <a:off x="7035809" y="1715447"/>
            <a:ext cx="1386600" cy="27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13E"/>
              </a:buClr>
              <a:buSzPts val="1700"/>
              <a:buFont typeface="Inter"/>
              <a:buNone/>
            </a:pPr>
            <a:r>
              <a:rPr b="1" i="0" lang="en" sz="1700" u="none" cap="none" strike="noStrike">
                <a:solidFill>
                  <a:srgbClr val="16213E"/>
                </a:solidFill>
                <a:latin typeface="Inter"/>
                <a:ea typeface="Inter"/>
                <a:cs typeface="Inter"/>
                <a:sym typeface="Inter"/>
              </a:rPr>
              <a:t>Prod-VM</a:t>
            </a:r>
            <a:endParaRPr b="0" i="0" sz="1700" u="none" cap="none" strike="noStrike">
              <a:solidFill>
                <a:schemeClr val="dk1"/>
              </a:solidFill>
              <a:latin typeface="Calibri"/>
              <a:ea typeface="Calibri"/>
              <a:cs typeface="Calibri"/>
              <a:sym typeface="Calibri"/>
            </a:endParaRPr>
          </a:p>
        </p:txBody>
      </p:sp>
      <p:sp>
        <p:nvSpPr>
          <p:cNvPr id="947" name="Google Shape;947;p69"/>
          <p:cNvSpPr/>
          <p:nvPr/>
        </p:nvSpPr>
        <p:spPr>
          <a:xfrm>
            <a:off x="7035809" y="2004986"/>
            <a:ext cx="13866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768"/>
              </a:buClr>
              <a:buSzPts val="1500"/>
              <a:buFont typeface="Inter"/>
              <a:buNone/>
            </a:pPr>
            <a:r>
              <a:rPr b="0" i="0" lang="en" sz="1500" u="none" cap="none" strike="noStrike">
                <a:solidFill>
                  <a:srgbClr val="4B5768"/>
                </a:solidFill>
                <a:latin typeface="Inter"/>
                <a:ea typeface="Inter"/>
                <a:cs typeface="Inter"/>
                <a:sym typeface="Inter"/>
              </a:rPr>
              <a:t>nur lesen</a:t>
            </a:r>
            <a:endParaRPr b="0" i="0" sz="1500" u="none" cap="none" strike="noStrike">
              <a:solidFill>
                <a:schemeClr val="dk1"/>
              </a:solidFill>
              <a:latin typeface="Calibri"/>
              <a:ea typeface="Calibri"/>
              <a:cs typeface="Calibri"/>
              <a:sym typeface="Calibri"/>
            </a:endParaRPr>
          </a:p>
        </p:txBody>
      </p:sp>
      <p:sp>
        <p:nvSpPr>
          <p:cNvPr id="948" name="Google Shape;948;p69"/>
          <p:cNvSpPr/>
          <p:nvPr/>
        </p:nvSpPr>
        <p:spPr>
          <a:xfrm>
            <a:off x="609600" y="2671736"/>
            <a:ext cx="8162700" cy="3021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6213E"/>
              </a:buClr>
              <a:buSzPts val="1700"/>
              <a:buFont typeface="Inter"/>
              <a:buNone/>
            </a:pPr>
            <a:r>
              <a:rPr b="1" i="0" lang="en" sz="1700" u="none" cap="none" strike="noStrike">
                <a:solidFill>
                  <a:srgbClr val="16213E"/>
                </a:solidFill>
                <a:latin typeface="Inter"/>
                <a:ea typeface="Inter"/>
                <a:cs typeface="Inter"/>
                <a:sym typeface="Inter"/>
              </a:rPr>
              <a:t>Zwei Filter: </a:t>
            </a:r>
            <a:r>
              <a:rPr b="1" i="0" lang="en" sz="1700" u="none" cap="none" strike="noStrike">
                <a:solidFill>
                  <a:srgbClr val="2F6FD0"/>
                </a:solidFill>
                <a:latin typeface="Inter"/>
                <a:ea typeface="Inter"/>
                <a:cs typeface="Inter"/>
                <a:sym typeface="Inter"/>
              </a:rPr>
              <a:t>wer reden darf</a:t>
            </a:r>
            <a:r>
              <a:rPr b="1" i="0" lang="en" sz="1700" u="none" cap="none" strike="noStrike">
                <a:solidFill>
                  <a:srgbClr val="16213E"/>
                </a:solidFill>
                <a:latin typeface="Inter"/>
                <a:ea typeface="Inter"/>
                <a:cs typeface="Inter"/>
                <a:sym typeface="Inter"/>
              </a:rPr>
              <a:t> · </a:t>
            </a:r>
            <a:r>
              <a:rPr b="1" i="0" lang="en" sz="1700" u="none" cap="none" strike="noStrike">
                <a:solidFill>
                  <a:srgbClr val="2F6FD0"/>
                </a:solidFill>
                <a:latin typeface="Inter"/>
                <a:ea typeface="Inter"/>
                <a:cs typeface="Inter"/>
                <a:sym typeface="Inter"/>
              </a:rPr>
              <a:t>was er tun darf</a:t>
            </a:r>
            <a:endParaRPr b="0" i="0" sz="1700" u="none" cap="none" strike="noStrike">
              <a:solidFill>
                <a:schemeClr val="dk1"/>
              </a:solidFill>
              <a:latin typeface="Calibri"/>
              <a:ea typeface="Calibri"/>
              <a:cs typeface="Calibri"/>
              <a:sym typeface="Calibri"/>
            </a:endParaRPr>
          </a:p>
        </p:txBody>
      </p:sp>
      <p:sp>
        <p:nvSpPr>
          <p:cNvPr id="949" name="Google Shape;949;p69"/>
          <p:cNvSpPr/>
          <p:nvPr/>
        </p:nvSpPr>
        <p:spPr>
          <a:xfrm>
            <a:off x="619125" y="3211793"/>
            <a:ext cx="7905900" cy="914400"/>
          </a:xfrm>
          <a:prstGeom prst="roundRect">
            <a:avLst>
              <a:gd fmla="val 4167" name="adj"/>
            </a:avLst>
          </a:prstGeom>
          <a:solidFill>
            <a:srgbClr val="FFFFFF"/>
          </a:solidFill>
          <a:ln cap="flat" cmpd="sng" w="19050">
            <a:solidFill>
              <a:srgbClr val="2F6F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rgbClr val="5B9BF0"/>
              </a:solidFill>
            </a:endParaRPr>
          </a:p>
        </p:txBody>
      </p:sp>
      <p:sp>
        <p:nvSpPr>
          <p:cNvPr id="950" name="Google Shape;950;p69"/>
          <p:cNvSpPr/>
          <p:nvPr/>
        </p:nvSpPr>
        <p:spPr>
          <a:xfrm>
            <a:off x="800100" y="3373718"/>
            <a:ext cx="77700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0392B"/>
              </a:buClr>
              <a:buSzPts val="1500"/>
              <a:buFont typeface="Inter"/>
              <a:buNone/>
            </a:pPr>
            <a:r>
              <a:rPr b="1" lang="en" sz="1500">
                <a:solidFill>
                  <a:srgbClr val="2F6FD0"/>
                </a:solidFill>
                <a:latin typeface="Inter"/>
                <a:ea typeface="Inter"/>
                <a:cs typeface="Inter"/>
                <a:sym typeface="Inter"/>
              </a:rPr>
              <a:t>Noch Offen</a:t>
            </a:r>
            <a:endParaRPr b="0" i="0" sz="1500" u="none" cap="none" strike="noStrike">
              <a:solidFill>
                <a:srgbClr val="2F6FD0"/>
              </a:solidFill>
              <a:latin typeface="Calibri"/>
              <a:ea typeface="Calibri"/>
              <a:cs typeface="Calibri"/>
              <a:sym typeface="Calibri"/>
            </a:endParaRPr>
          </a:p>
        </p:txBody>
      </p:sp>
      <p:sp>
        <p:nvSpPr>
          <p:cNvPr id="951" name="Google Shape;951;p69"/>
          <p:cNvSpPr/>
          <p:nvPr/>
        </p:nvSpPr>
        <p:spPr>
          <a:xfrm>
            <a:off x="800100" y="3697568"/>
            <a:ext cx="77700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768"/>
              </a:buClr>
              <a:buSzPts val="1500"/>
              <a:buFont typeface="Inter"/>
              <a:buNone/>
            </a:pPr>
            <a:r>
              <a:rPr b="1" lang="en" sz="1500">
                <a:solidFill>
                  <a:srgbClr val="4B5768"/>
                </a:solidFill>
                <a:latin typeface="Inter"/>
                <a:ea typeface="Inter"/>
                <a:cs typeface="Inter"/>
                <a:sym typeface="Inter"/>
              </a:rPr>
              <a:t>Dev-Agent -&gt; Hermes ? </a:t>
            </a:r>
            <a:r>
              <a:rPr lang="en" sz="1500">
                <a:solidFill>
                  <a:srgbClr val="4B5768"/>
                </a:solidFill>
                <a:latin typeface="Inter"/>
                <a:ea typeface="Inter"/>
                <a:cs typeface="Inter"/>
                <a:sym typeface="Inter"/>
              </a:rPr>
              <a:t>Kommunikation</a:t>
            </a:r>
            <a:r>
              <a:rPr lang="en" sz="1500">
                <a:solidFill>
                  <a:srgbClr val="4B5768"/>
                </a:solidFill>
                <a:latin typeface="Inter"/>
                <a:ea typeface="Inter"/>
                <a:cs typeface="Inter"/>
                <a:sym typeface="Inter"/>
              </a:rPr>
              <a:t> bisher nur über Discord</a:t>
            </a:r>
            <a:endParaRPr i="0" sz="1500" u="none" cap="none" strike="noStrike">
              <a:solidFill>
                <a:schemeClr val="dk1"/>
              </a:solidFill>
              <a:latin typeface="Calibri"/>
              <a:ea typeface="Calibri"/>
              <a:cs typeface="Calibri"/>
              <a:sym typeface="Calibri"/>
            </a:endParaRPr>
          </a:p>
        </p:txBody>
      </p:sp>
      <p:sp>
        <p:nvSpPr>
          <p:cNvPr id="952" name="Google Shape;952;p69"/>
          <p:cNvSpPr txBox="1"/>
          <p:nvPr/>
        </p:nvSpPr>
        <p:spPr>
          <a:xfrm>
            <a:off x="457429" y="4786884"/>
            <a:ext cx="24003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Lukas Gröning</a:t>
            </a:r>
            <a:endParaRPr sz="1100"/>
          </a:p>
        </p:txBody>
      </p:sp>
      <p:sp>
        <p:nvSpPr>
          <p:cNvPr id="953" name="Google Shape;953;p69"/>
          <p:cNvSpPr txBox="1"/>
          <p:nvPr/>
        </p:nvSpPr>
        <p:spPr>
          <a:xfrm>
            <a:off x="8001229" y="4786884"/>
            <a:ext cx="685800" cy="2310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b="1" lang="en" sz="1500">
                <a:solidFill>
                  <a:srgbClr val="0F172A"/>
                </a:solidFill>
                <a:latin typeface="Plus Jakarta Sans"/>
                <a:ea typeface="Plus Jakarta Sans"/>
                <a:cs typeface="Plus Jakarta Sans"/>
                <a:sym typeface="Plus Jakarta Sans"/>
              </a:rPr>
              <a:t>40</a:t>
            </a:r>
            <a:endParaRPr sz="1100"/>
          </a:p>
        </p:txBody>
      </p:sp>
      <p:pic>
        <p:nvPicPr>
          <p:cNvPr id="954" name="Google Shape;954;p69"/>
          <p:cNvPicPr preferRelativeResize="0"/>
          <p:nvPr/>
        </p:nvPicPr>
        <p:blipFill>
          <a:blip r:embed="rId3">
            <a:alphaModFix/>
          </a:blip>
          <a:stretch>
            <a:fillRect/>
          </a:stretch>
        </p:blipFill>
        <p:spPr>
          <a:xfrm>
            <a:off x="8366800" y="0"/>
            <a:ext cx="777200" cy="58816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70"/>
          <p:cNvSpPr/>
          <p:nvPr/>
        </p:nvSpPr>
        <p:spPr>
          <a:xfrm>
            <a:off x="672750" y="1843550"/>
            <a:ext cx="7739700" cy="2447400"/>
          </a:xfrm>
          <a:prstGeom prst="roundRect">
            <a:avLst>
              <a:gd fmla="val 7664" name="adj"/>
            </a:avLst>
          </a:prstGeom>
          <a:solidFill>
            <a:schemeClr val="lt2"/>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highlight>
                <a:schemeClr val="lt2"/>
              </a:highlight>
              <a:latin typeface="Calibri"/>
              <a:ea typeface="Calibri"/>
              <a:cs typeface="Calibri"/>
              <a:sym typeface="Calibri"/>
            </a:endParaRPr>
          </a:p>
        </p:txBody>
      </p:sp>
      <p:sp>
        <p:nvSpPr>
          <p:cNvPr id="960" name="Google Shape;960;p70"/>
          <p:cNvSpPr txBox="1"/>
          <p:nvPr>
            <p:ph type="ctrTitle"/>
          </p:nvPr>
        </p:nvSpPr>
        <p:spPr>
          <a:xfrm>
            <a:off x="672750" y="1843550"/>
            <a:ext cx="7739700" cy="1754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solidFill>
                  <a:srgbClr val="2C2C2C"/>
                </a:solidFill>
              </a:rPr>
              <a:t>Danke für eure Aufmerksamkeit!</a:t>
            </a:r>
            <a:endParaRPr>
              <a:solidFill>
                <a:srgbClr val="2C2C2C"/>
              </a:solidFill>
            </a:endParaRPr>
          </a:p>
        </p:txBody>
      </p:sp>
      <p:sp>
        <p:nvSpPr>
          <p:cNvPr id="961" name="Google Shape;961;p70"/>
          <p:cNvSpPr txBox="1"/>
          <p:nvPr>
            <p:ph idx="1" type="subTitle"/>
          </p:nvPr>
        </p:nvSpPr>
        <p:spPr>
          <a:xfrm>
            <a:off x="672750" y="3508225"/>
            <a:ext cx="7739700" cy="73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t>Fragen?</a:t>
            </a:r>
            <a:endParaRPr sz="2300"/>
          </a:p>
        </p:txBody>
      </p:sp>
      <p:pic>
        <p:nvPicPr>
          <p:cNvPr id="962" name="Google Shape;962;p70"/>
          <p:cNvPicPr preferRelativeResize="0"/>
          <p:nvPr/>
        </p:nvPicPr>
        <p:blipFill>
          <a:blip r:embed="rId3">
            <a:alphaModFix/>
          </a:blip>
          <a:stretch>
            <a:fillRect/>
          </a:stretch>
        </p:blipFill>
        <p:spPr>
          <a:xfrm>
            <a:off x="7252838" y="0"/>
            <a:ext cx="1891175" cy="1431150"/>
          </a:xfrm>
          <a:prstGeom prst="rect">
            <a:avLst/>
          </a:prstGeom>
          <a:noFill/>
          <a:ln>
            <a:noFill/>
          </a:ln>
        </p:spPr>
      </p:pic>
      <p:sp>
        <p:nvSpPr>
          <p:cNvPr id="963" name="Google Shape;963;p70"/>
          <p:cNvSpPr txBox="1"/>
          <p:nvPr/>
        </p:nvSpPr>
        <p:spPr>
          <a:xfrm>
            <a:off x="351825" y="4539400"/>
            <a:ext cx="3739500" cy="4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AFC"/>
        </a:solidFill>
      </p:bgPr>
    </p:bg>
    <p:spTree>
      <p:nvGrpSpPr>
        <p:cNvPr id="967" name="Shape 967"/>
        <p:cNvGrpSpPr/>
        <p:nvPr/>
      </p:nvGrpSpPr>
      <p:grpSpPr>
        <a:xfrm>
          <a:off x="0" y="0"/>
          <a:ext cx="0" cy="0"/>
          <a:chOff x="0" y="0"/>
          <a:chExt cx="0" cy="0"/>
        </a:xfrm>
      </p:grpSpPr>
      <p:sp>
        <p:nvSpPr>
          <p:cNvPr id="968" name="Google Shape;968;p71"/>
          <p:cNvSpPr/>
          <p:nvPr/>
        </p:nvSpPr>
        <p:spPr>
          <a:xfrm>
            <a:off x="457150" y="2824978"/>
            <a:ext cx="7731000" cy="17913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69" name="Google Shape;969;p71"/>
          <p:cNvSpPr/>
          <p:nvPr/>
        </p:nvSpPr>
        <p:spPr>
          <a:xfrm>
            <a:off x="457150" y="891353"/>
            <a:ext cx="7731000" cy="17913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70" name="Google Shape;970;p71"/>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Dozenten - Konfigurierung</a:t>
            </a:r>
            <a:endParaRPr sz="2000">
              <a:solidFill>
                <a:schemeClr val="dk1"/>
              </a:solidFill>
            </a:endParaRPr>
          </a:p>
        </p:txBody>
      </p:sp>
      <p:sp>
        <p:nvSpPr>
          <p:cNvPr id="971" name="Google Shape;971;p71"/>
          <p:cNvSpPr txBox="1"/>
          <p:nvPr/>
        </p:nvSpPr>
        <p:spPr>
          <a:xfrm>
            <a:off x="603856" y="1010075"/>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2000">
                <a:latin typeface="Inter"/>
                <a:ea typeface="Inter"/>
                <a:cs typeface="Inter"/>
                <a:sym typeface="Inter"/>
              </a:rPr>
              <a:t>Vorkonfigurierte Images </a:t>
            </a:r>
            <a:endParaRPr b="1" sz="2000">
              <a:latin typeface="Inter"/>
              <a:ea typeface="Inter"/>
              <a:cs typeface="Inter"/>
              <a:sym typeface="Inter"/>
            </a:endParaRPr>
          </a:p>
        </p:txBody>
      </p:sp>
      <p:sp>
        <p:nvSpPr>
          <p:cNvPr id="972" name="Google Shape;972;p71"/>
          <p:cNvSpPr txBox="1"/>
          <p:nvPr/>
        </p:nvSpPr>
        <p:spPr>
          <a:xfrm>
            <a:off x="650275" y="3028800"/>
            <a:ext cx="7391100" cy="7386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Clr>
                <a:schemeClr val="dk1"/>
              </a:buClr>
              <a:buFont typeface="Arial"/>
              <a:buNone/>
            </a:pPr>
            <a:r>
              <a:rPr b="1" lang="en" sz="2000">
                <a:solidFill>
                  <a:schemeClr val="dk1"/>
                </a:solidFill>
                <a:latin typeface="Inter"/>
                <a:ea typeface="Inter"/>
                <a:cs typeface="Inter"/>
                <a:sym typeface="Inter"/>
              </a:rPr>
              <a:t>Nachträgliche Konfigurierung  </a:t>
            </a:r>
            <a:endParaRPr b="1" sz="2000">
              <a:solidFill>
                <a:schemeClr val="dk1"/>
              </a:solidFill>
              <a:latin typeface="Inter"/>
              <a:ea typeface="Inter"/>
              <a:cs typeface="Inter"/>
              <a:sym typeface="Inter"/>
            </a:endParaRPr>
          </a:p>
          <a:p>
            <a:pPr indent="0" lvl="0" marL="0" marR="0" rtl="0" algn="l">
              <a:lnSpc>
                <a:spcPct val="139925"/>
              </a:lnSpc>
              <a:spcBef>
                <a:spcPts val="0"/>
              </a:spcBef>
              <a:spcAft>
                <a:spcPts val="0"/>
              </a:spcAft>
              <a:buNone/>
            </a:pPr>
            <a:r>
              <a:t/>
            </a:r>
            <a:endParaRPr b="1" sz="2000">
              <a:solidFill>
                <a:schemeClr val="dk1"/>
              </a:solidFill>
              <a:latin typeface="Inter"/>
              <a:ea typeface="Inter"/>
              <a:cs typeface="Inter"/>
              <a:sym typeface="Inter"/>
            </a:endParaRPr>
          </a:p>
        </p:txBody>
      </p:sp>
      <p:sp>
        <p:nvSpPr>
          <p:cNvPr id="973" name="Google Shape;973;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74" name="Google Shape;974;p71"/>
          <p:cNvSpPr txBox="1"/>
          <p:nvPr/>
        </p:nvSpPr>
        <p:spPr>
          <a:xfrm>
            <a:off x="603856" y="1384625"/>
            <a:ext cx="7391100" cy="101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2000">
                <a:solidFill>
                  <a:srgbClr val="434343"/>
                </a:solidFill>
                <a:highlight>
                  <a:schemeClr val="lt1"/>
                </a:highlight>
                <a:latin typeface="Inter"/>
                <a:ea typeface="Inter"/>
                <a:cs typeface="Inter"/>
                <a:sym typeface="Inter"/>
              </a:rPr>
              <a:t>Als Dozent möchte ich auf einen zentralen Katalog mit fertigen Standard-VM-Images zugreifen können, um meine Vorbereitungszeit für Lehrveranstaltungen zu minimieren.</a:t>
            </a:r>
            <a:endParaRPr sz="2000">
              <a:solidFill>
                <a:srgbClr val="434343"/>
              </a:solidFill>
              <a:highlight>
                <a:schemeClr val="lt1"/>
              </a:highlight>
              <a:latin typeface="Inter"/>
              <a:ea typeface="Inter"/>
              <a:cs typeface="Inter"/>
              <a:sym typeface="Inter"/>
            </a:endParaRPr>
          </a:p>
        </p:txBody>
      </p:sp>
      <p:sp>
        <p:nvSpPr>
          <p:cNvPr id="975" name="Google Shape;975;p71"/>
          <p:cNvSpPr txBox="1"/>
          <p:nvPr/>
        </p:nvSpPr>
        <p:spPr>
          <a:xfrm>
            <a:off x="650281" y="3375450"/>
            <a:ext cx="7391100" cy="101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2000">
                <a:solidFill>
                  <a:srgbClr val="434343"/>
                </a:solidFill>
                <a:latin typeface="Inter"/>
                <a:ea typeface="Inter"/>
                <a:cs typeface="Inter"/>
                <a:sym typeface="Inter"/>
              </a:rPr>
              <a:t>Als Dozent möchte ich Softwarepakete und Skripte in meinen bestehenden Templates bearbeiten können, um sie an geänderte Vorlesungsanforderungen anzupassen.</a:t>
            </a:r>
            <a:endParaRPr sz="2000">
              <a:solidFill>
                <a:srgbClr val="434343"/>
              </a:solidFill>
              <a:latin typeface="Inter"/>
              <a:ea typeface="Inter"/>
              <a:cs typeface="Inter"/>
              <a:sym typeface="Inter"/>
            </a:endParaRPr>
          </a:p>
        </p:txBody>
      </p:sp>
      <p:pic>
        <p:nvPicPr>
          <p:cNvPr id="976" name="Google Shape;976;p71"/>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977" name="Google Shape;977;p71"/>
          <p:cNvSpPr txBox="1"/>
          <p:nvPr/>
        </p:nvSpPr>
        <p:spPr>
          <a:xfrm>
            <a:off x="2822650" y="475860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300">
                <a:solidFill>
                  <a:srgbClr val="434343"/>
                </a:solidFill>
                <a:latin typeface="Inter Light"/>
                <a:ea typeface="Inter Light"/>
                <a:cs typeface="Inter Light"/>
                <a:sym typeface="Inter Light"/>
              </a:rPr>
              <a:t>Nhi </a:t>
            </a:r>
            <a:endParaRPr sz="1300">
              <a:latin typeface="Inter Light"/>
              <a:ea typeface="Inter Light"/>
              <a:cs typeface="Inter Light"/>
              <a:sym typeface="Inter Ligh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AFC"/>
        </a:solidFill>
      </p:bgPr>
    </p:bg>
    <p:spTree>
      <p:nvGrpSpPr>
        <p:cNvPr id="981" name="Shape 981"/>
        <p:cNvGrpSpPr/>
        <p:nvPr/>
      </p:nvGrpSpPr>
      <p:grpSpPr>
        <a:xfrm>
          <a:off x="0" y="0"/>
          <a:ext cx="0" cy="0"/>
          <a:chOff x="0" y="0"/>
          <a:chExt cx="0" cy="0"/>
        </a:xfrm>
      </p:grpSpPr>
      <p:sp>
        <p:nvSpPr>
          <p:cNvPr id="982" name="Google Shape;982;p72"/>
          <p:cNvSpPr/>
          <p:nvPr/>
        </p:nvSpPr>
        <p:spPr>
          <a:xfrm>
            <a:off x="457150" y="899400"/>
            <a:ext cx="7731000" cy="18594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83" name="Google Shape;983;p72"/>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Dozenten - UX/UI</a:t>
            </a:r>
            <a:endParaRPr sz="2000">
              <a:solidFill>
                <a:schemeClr val="dk1"/>
              </a:solidFill>
            </a:endParaRPr>
          </a:p>
        </p:txBody>
      </p:sp>
      <p:sp>
        <p:nvSpPr>
          <p:cNvPr id="984" name="Google Shape;984;p72"/>
          <p:cNvSpPr txBox="1"/>
          <p:nvPr/>
        </p:nvSpPr>
        <p:spPr>
          <a:xfrm>
            <a:off x="627044" y="106885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2000">
                <a:latin typeface="Inter"/>
                <a:ea typeface="Inter"/>
                <a:cs typeface="Inter"/>
                <a:sym typeface="Inter"/>
              </a:rPr>
              <a:t>Einheitliches Design (Self-Service UI)</a:t>
            </a:r>
            <a:endParaRPr b="1" sz="2000">
              <a:latin typeface="Inter"/>
              <a:ea typeface="Inter"/>
              <a:cs typeface="Inter"/>
              <a:sym typeface="Inter"/>
            </a:endParaRPr>
          </a:p>
        </p:txBody>
      </p:sp>
      <p:sp>
        <p:nvSpPr>
          <p:cNvPr id="985" name="Google Shape;985;p72"/>
          <p:cNvSpPr/>
          <p:nvPr/>
        </p:nvSpPr>
        <p:spPr>
          <a:xfrm>
            <a:off x="503525" y="2907175"/>
            <a:ext cx="7731000" cy="18594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86" name="Google Shape;986;p72"/>
          <p:cNvSpPr txBox="1"/>
          <p:nvPr/>
        </p:nvSpPr>
        <p:spPr>
          <a:xfrm>
            <a:off x="673463" y="29945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2000">
                <a:solidFill>
                  <a:schemeClr val="dk1"/>
                </a:solidFill>
                <a:latin typeface="Inter"/>
                <a:ea typeface="Inter"/>
                <a:cs typeface="Inter"/>
                <a:sym typeface="Inter"/>
              </a:rPr>
              <a:t>Intuitive Dozenten-Oberfläche (UX/UI)</a:t>
            </a:r>
            <a:endParaRPr b="1" sz="2000">
              <a:solidFill>
                <a:schemeClr val="dk1"/>
              </a:solidFill>
              <a:latin typeface="Inter"/>
              <a:ea typeface="Inter"/>
              <a:cs typeface="Inter"/>
              <a:sym typeface="Inter"/>
            </a:endParaRPr>
          </a:p>
        </p:txBody>
      </p:sp>
      <p:sp>
        <p:nvSpPr>
          <p:cNvPr id="987" name="Google Shape;987;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88" name="Google Shape;988;p72"/>
          <p:cNvSpPr txBox="1"/>
          <p:nvPr/>
        </p:nvSpPr>
        <p:spPr>
          <a:xfrm>
            <a:off x="627044" y="1443400"/>
            <a:ext cx="7391100" cy="101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 sz="2000">
                <a:solidFill>
                  <a:srgbClr val="434343"/>
                </a:solidFill>
                <a:latin typeface="Inter"/>
                <a:ea typeface="Inter"/>
                <a:cs typeface="Inter"/>
                <a:sym typeface="Inter"/>
              </a:rPr>
              <a:t>Als Dozent möchte ich, dass der AppStore das visuelle Design des Self-Service-Portals nutzt, damit ich mich optisch sofort zurechtfinde</a:t>
            </a:r>
            <a:endParaRPr sz="2000">
              <a:solidFill>
                <a:srgbClr val="434343"/>
              </a:solidFill>
              <a:latin typeface="Inter"/>
              <a:ea typeface="Inter"/>
              <a:cs typeface="Inter"/>
              <a:sym typeface="Inter"/>
            </a:endParaRPr>
          </a:p>
        </p:txBody>
      </p:sp>
      <p:sp>
        <p:nvSpPr>
          <p:cNvPr id="989" name="Google Shape;989;p72"/>
          <p:cNvSpPr txBox="1"/>
          <p:nvPr/>
        </p:nvSpPr>
        <p:spPr>
          <a:xfrm>
            <a:off x="673469" y="3387975"/>
            <a:ext cx="7391100" cy="1369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 sz="2000">
                <a:solidFill>
                  <a:srgbClr val="434343"/>
                </a:solidFill>
                <a:latin typeface="Inter"/>
                <a:ea typeface="Inter"/>
                <a:cs typeface="Inter"/>
                <a:sym typeface="Inter"/>
              </a:rPr>
              <a:t>Als Dozent möchte ich eine einfache &amp; übersichtliche Oberfläche im AppStore, damit ich meine Vorlesungsumgebungen auch </a:t>
            </a:r>
            <a:r>
              <a:rPr lang="en" sz="2000">
                <a:solidFill>
                  <a:srgbClr val="434343"/>
                </a:solidFill>
                <a:latin typeface="Inter"/>
                <a:ea typeface="Inter"/>
                <a:cs typeface="Inter"/>
                <a:sym typeface="Inter"/>
              </a:rPr>
              <a:t>ohne</a:t>
            </a:r>
            <a:r>
              <a:rPr lang="en" sz="2000">
                <a:solidFill>
                  <a:srgbClr val="434343"/>
                </a:solidFill>
                <a:latin typeface="Inter"/>
                <a:ea typeface="Inter"/>
                <a:cs typeface="Inter"/>
                <a:sym typeface="Inter"/>
              </a:rPr>
              <a:t> Cloud-Wissen leicht verwalten kann.</a:t>
            </a:r>
            <a:endParaRPr sz="2000">
              <a:solidFill>
                <a:srgbClr val="434343"/>
              </a:solidFill>
              <a:latin typeface="Inter"/>
              <a:ea typeface="Inter"/>
              <a:cs typeface="Inter"/>
              <a:sym typeface="Inter"/>
            </a:endParaRPr>
          </a:p>
        </p:txBody>
      </p:sp>
      <p:pic>
        <p:nvPicPr>
          <p:cNvPr id="990" name="Google Shape;990;p72"/>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991" name="Google Shape;991;p72"/>
          <p:cNvSpPr txBox="1"/>
          <p:nvPr/>
        </p:nvSpPr>
        <p:spPr>
          <a:xfrm>
            <a:off x="2822650" y="475860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300">
                <a:solidFill>
                  <a:srgbClr val="434343"/>
                </a:solidFill>
                <a:latin typeface="Inter Light"/>
                <a:ea typeface="Inter Light"/>
                <a:cs typeface="Inter Light"/>
                <a:sym typeface="Inter Light"/>
              </a:rPr>
              <a:t>Nhi </a:t>
            </a:r>
            <a:endParaRPr sz="1300">
              <a:latin typeface="Inter Light"/>
              <a:ea typeface="Inter Light"/>
              <a:cs typeface="Inter Light"/>
              <a:sym typeface="Inter Ligh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AFC"/>
        </a:solidFill>
      </p:bgPr>
    </p:bg>
    <p:spTree>
      <p:nvGrpSpPr>
        <p:cNvPr id="995" name="Shape 995"/>
        <p:cNvGrpSpPr/>
        <p:nvPr/>
      </p:nvGrpSpPr>
      <p:grpSpPr>
        <a:xfrm>
          <a:off x="0" y="0"/>
          <a:ext cx="0" cy="0"/>
          <a:chOff x="0" y="0"/>
          <a:chExt cx="0" cy="0"/>
        </a:xfrm>
      </p:grpSpPr>
      <p:sp>
        <p:nvSpPr>
          <p:cNvPr id="996" name="Google Shape;996;p73"/>
          <p:cNvSpPr/>
          <p:nvPr/>
        </p:nvSpPr>
        <p:spPr>
          <a:xfrm>
            <a:off x="433950" y="834625"/>
            <a:ext cx="7731000" cy="16761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97" name="Google Shape;997;p73"/>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Dozenten - weiteres</a:t>
            </a:r>
            <a:endParaRPr sz="2000">
              <a:solidFill>
                <a:schemeClr val="dk1"/>
              </a:solidFill>
            </a:endParaRPr>
          </a:p>
        </p:txBody>
      </p:sp>
      <p:sp>
        <p:nvSpPr>
          <p:cNvPr id="998" name="Google Shape;998;p73"/>
          <p:cNvSpPr txBox="1"/>
          <p:nvPr/>
        </p:nvSpPr>
        <p:spPr>
          <a:xfrm>
            <a:off x="603906" y="9116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2000">
                <a:solidFill>
                  <a:srgbClr val="1F1F1F"/>
                </a:solidFill>
                <a:latin typeface="Inter"/>
                <a:ea typeface="Inter"/>
                <a:cs typeface="Inter"/>
                <a:sym typeface="Inter"/>
              </a:rPr>
              <a:t>Rollenbasierte Rechteverwaltung</a:t>
            </a:r>
            <a:endParaRPr b="1" sz="2000">
              <a:latin typeface="Inter"/>
              <a:ea typeface="Inter"/>
              <a:cs typeface="Inter"/>
              <a:sym typeface="Inter"/>
            </a:endParaRPr>
          </a:p>
        </p:txBody>
      </p:sp>
      <p:sp>
        <p:nvSpPr>
          <p:cNvPr id="999" name="Google Shape;999;p73"/>
          <p:cNvSpPr/>
          <p:nvPr/>
        </p:nvSpPr>
        <p:spPr>
          <a:xfrm>
            <a:off x="503475" y="2713900"/>
            <a:ext cx="7731000" cy="18771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000" name="Google Shape;1000;p73"/>
          <p:cNvSpPr txBox="1"/>
          <p:nvPr/>
        </p:nvSpPr>
        <p:spPr>
          <a:xfrm>
            <a:off x="627100" y="292985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2000">
                <a:solidFill>
                  <a:schemeClr val="dk1"/>
                </a:solidFill>
                <a:latin typeface="Inter"/>
                <a:ea typeface="Inter"/>
                <a:cs typeface="Inter"/>
                <a:sym typeface="Inter"/>
              </a:rPr>
              <a:t>Moodle Integration Authentifizierung</a:t>
            </a:r>
            <a:endParaRPr b="1" sz="2000">
              <a:solidFill>
                <a:schemeClr val="dk1"/>
              </a:solidFill>
              <a:latin typeface="Inter"/>
              <a:ea typeface="Inter"/>
              <a:cs typeface="Inter"/>
              <a:sym typeface="Inter"/>
            </a:endParaRPr>
          </a:p>
        </p:txBody>
      </p:sp>
      <p:sp>
        <p:nvSpPr>
          <p:cNvPr id="1001" name="Google Shape;1001;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02" name="Google Shape;1002;p73"/>
          <p:cNvSpPr txBox="1"/>
          <p:nvPr/>
        </p:nvSpPr>
        <p:spPr>
          <a:xfrm>
            <a:off x="603906" y="1286150"/>
            <a:ext cx="7391100" cy="101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2000">
                <a:solidFill>
                  <a:srgbClr val="434343"/>
                </a:solidFill>
                <a:highlight>
                  <a:schemeClr val="lt1"/>
                </a:highlight>
                <a:latin typeface="Inter"/>
                <a:ea typeface="Inter"/>
                <a:cs typeface="Inter"/>
                <a:sym typeface="Inter"/>
              </a:rPr>
              <a:t>Als Dozent möchte ich, dass das System zwischen den Rollen Dozent und Student unterscheidet, damit meine Studierenden keine administrativen Rechte besitzen.</a:t>
            </a:r>
            <a:endParaRPr sz="2000">
              <a:solidFill>
                <a:srgbClr val="434343"/>
              </a:solidFill>
              <a:highlight>
                <a:schemeClr val="lt1"/>
              </a:highlight>
              <a:latin typeface="Inter"/>
              <a:ea typeface="Inter"/>
              <a:cs typeface="Inter"/>
              <a:sym typeface="Inter"/>
            </a:endParaRPr>
          </a:p>
        </p:txBody>
      </p:sp>
      <p:sp>
        <p:nvSpPr>
          <p:cNvPr id="1003" name="Google Shape;1003;p73"/>
          <p:cNvSpPr txBox="1"/>
          <p:nvPr/>
        </p:nvSpPr>
        <p:spPr>
          <a:xfrm>
            <a:off x="627106" y="3341250"/>
            <a:ext cx="7391100" cy="101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2000">
                <a:solidFill>
                  <a:srgbClr val="434343"/>
                </a:solidFill>
                <a:latin typeface="Inter"/>
                <a:ea typeface="Inter"/>
                <a:cs typeface="Inter"/>
                <a:sym typeface="Inter"/>
              </a:rPr>
              <a:t>Als Dozent möchte ich beim Anzeigen einer VM in Moodle automatisch via OIDC authentifiziert werden, damit ich mir eine erneute Passworteingabe spare</a:t>
            </a:r>
            <a:endParaRPr sz="2000">
              <a:solidFill>
                <a:srgbClr val="434343"/>
              </a:solidFill>
              <a:latin typeface="Inter"/>
              <a:ea typeface="Inter"/>
              <a:cs typeface="Inter"/>
              <a:sym typeface="Inter"/>
            </a:endParaRPr>
          </a:p>
        </p:txBody>
      </p:sp>
      <p:pic>
        <p:nvPicPr>
          <p:cNvPr id="1004" name="Google Shape;1004;p73"/>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1005" name="Google Shape;1005;p73"/>
          <p:cNvSpPr txBox="1"/>
          <p:nvPr/>
        </p:nvSpPr>
        <p:spPr>
          <a:xfrm>
            <a:off x="2822650" y="475860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300">
                <a:solidFill>
                  <a:srgbClr val="434343"/>
                </a:solidFill>
                <a:latin typeface="Inter Light"/>
                <a:ea typeface="Inter Light"/>
                <a:cs typeface="Inter Light"/>
                <a:sym typeface="Inter Light"/>
              </a:rPr>
              <a:t>Nhi </a:t>
            </a:r>
            <a:endParaRPr sz="1300">
              <a:latin typeface="Inter Light"/>
              <a:ea typeface="Inter Light"/>
              <a:cs typeface="Inter Light"/>
              <a:sym typeface="Inter Ligh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AFC"/>
        </a:solidFill>
      </p:bgPr>
    </p:bg>
    <p:spTree>
      <p:nvGrpSpPr>
        <p:cNvPr id="1009" name="Shape 1009"/>
        <p:cNvGrpSpPr/>
        <p:nvPr/>
      </p:nvGrpSpPr>
      <p:grpSpPr>
        <a:xfrm>
          <a:off x="0" y="0"/>
          <a:ext cx="0" cy="0"/>
          <a:chOff x="0" y="0"/>
          <a:chExt cx="0" cy="0"/>
        </a:xfrm>
      </p:grpSpPr>
      <p:sp>
        <p:nvSpPr>
          <p:cNvPr id="1010" name="Google Shape;1010;p74"/>
          <p:cNvSpPr/>
          <p:nvPr/>
        </p:nvSpPr>
        <p:spPr>
          <a:xfrm>
            <a:off x="457200" y="925050"/>
            <a:ext cx="8211600" cy="17865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011" name="Google Shape;1011;p74"/>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Advanced IT Dozent</a:t>
            </a:r>
            <a:endParaRPr sz="2000">
              <a:solidFill>
                <a:schemeClr val="dk1"/>
              </a:solidFill>
            </a:endParaRPr>
          </a:p>
        </p:txBody>
      </p:sp>
      <p:sp>
        <p:nvSpPr>
          <p:cNvPr id="1012" name="Google Shape;1012;p74"/>
          <p:cNvSpPr txBox="1"/>
          <p:nvPr/>
        </p:nvSpPr>
        <p:spPr>
          <a:xfrm>
            <a:off x="627094" y="1145325"/>
            <a:ext cx="7391100" cy="2925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None/>
            </a:pPr>
            <a:r>
              <a:rPr b="1" lang="en" sz="1900">
                <a:solidFill>
                  <a:schemeClr val="dk1"/>
                </a:solidFill>
                <a:latin typeface="Inter"/>
                <a:ea typeface="Inter"/>
                <a:cs typeface="Inter"/>
                <a:sym typeface="Inter"/>
              </a:rPr>
              <a:t>Standardisierte Linux-Entwicklungsumgebung</a:t>
            </a:r>
            <a:endParaRPr b="1" sz="1900">
              <a:latin typeface="Inter"/>
              <a:ea typeface="Inter"/>
              <a:cs typeface="Inter"/>
              <a:sym typeface="Inter"/>
            </a:endParaRPr>
          </a:p>
        </p:txBody>
      </p:sp>
      <p:sp>
        <p:nvSpPr>
          <p:cNvPr id="1013" name="Google Shape;1013;p74"/>
          <p:cNvSpPr/>
          <p:nvPr/>
        </p:nvSpPr>
        <p:spPr>
          <a:xfrm>
            <a:off x="457200" y="2971975"/>
            <a:ext cx="8211600" cy="17865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014" name="Google Shape;1014;p74"/>
          <p:cNvSpPr txBox="1"/>
          <p:nvPr/>
        </p:nvSpPr>
        <p:spPr>
          <a:xfrm>
            <a:off x="673463" y="3075275"/>
            <a:ext cx="7391100" cy="2925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1900">
                <a:solidFill>
                  <a:schemeClr val="dk1"/>
                </a:solidFill>
                <a:latin typeface="Inter"/>
                <a:ea typeface="Inter"/>
                <a:cs typeface="Inter"/>
                <a:sym typeface="Inter"/>
              </a:rPr>
              <a:t>Standardisierte Linux-Entwicklungsumgebung</a:t>
            </a:r>
            <a:endParaRPr b="1" sz="1900">
              <a:solidFill>
                <a:schemeClr val="dk1"/>
              </a:solidFill>
              <a:latin typeface="Inter"/>
              <a:ea typeface="Inter"/>
              <a:cs typeface="Inter"/>
              <a:sym typeface="Inter"/>
            </a:endParaRPr>
          </a:p>
        </p:txBody>
      </p:sp>
      <p:sp>
        <p:nvSpPr>
          <p:cNvPr id="1015" name="Google Shape;1015;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16" name="Google Shape;1016;p74"/>
          <p:cNvSpPr txBox="1"/>
          <p:nvPr/>
        </p:nvSpPr>
        <p:spPr>
          <a:xfrm>
            <a:off x="627100" y="1584625"/>
            <a:ext cx="7995300" cy="965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900">
                <a:solidFill>
                  <a:srgbClr val="434343"/>
                </a:solidFill>
                <a:latin typeface="Inter"/>
                <a:ea typeface="Inter"/>
                <a:cs typeface="Inter"/>
                <a:sym typeface="Inter"/>
              </a:rPr>
              <a:t>Als Dozent möchte ich, dass Tools wie Java, Eclipse, IntelliJ und Unix-Shell bereits vorinstalliert sind, damit Studierende ohne eigenes Setup direkt programmieren können.</a:t>
            </a:r>
            <a:endParaRPr sz="1900">
              <a:solidFill>
                <a:srgbClr val="454545"/>
              </a:solidFill>
              <a:latin typeface="Inter"/>
              <a:ea typeface="Inter"/>
              <a:cs typeface="Inter"/>
              <a:sym typeface="Inter"/>
            </a:endParaRPr>
          </a:p>
        </p:txBody>
      </p:sp>
      <p:sp>
        <p:nvSpPr>
          <p:cNvPr id="1017" name="Google Shape;1017;p74"/>
          <p:cNvSpPr txBox="1"/>
          <p:nvPr/>
        </p:nvSpPr>
        <p:spPr>
          <a:xfrm>
            <a:off x="673475" y="3446688"/>
            <a:ext cx="7995300" cy="1233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 sz="1800">
                <a:solidFill>
                  <a:schemeClr val="dk2"/>
                </a:solidFill>
                <a:latin typeface="Inter"/>
                <a:ea typeface="Inter"/>
                <a:cs typeface="Inter"/>
                <a:sym typeface="Inter"/>
              </a:rPr>
              <a:t>Als Advanced IT Dozent möchte ich, dass die VMs untereinander netzwerktechnisch so konfiguriert sind, dass sie sich gegenseitig UDP Nachrichten schicken können, damit Übungen zu verbindungslosen Netzwerkprotokollen durchgeführt werden können.</a:t>
            </a:r>
            <a:endParaRPr sz="1800">
              <a:solidFill>
                <a:schemeClr val="dk2"/>
              </a:solidFill>
              <a:latin typeface="Inter"/>
              <a:ea typeface="Inter"/>
              <a:cs typeface="Inter"/>
              <a:sym typeface="Inter"/>
            </a:endParaRPr>
          </a:p>
        </p:txBody>
      </p:sp>
      <p:sp>
        <p:nvSpPr>
          <p:cNvPr id="1018" name="Google Shape;1018;p74"/>
          <p:cNvSpPr txBox="1"/>
          <p:nvPr/>
        </p:nvSpPr>
        <p:spPr>
          <a:xfrm>
            <a:off x="457200" y="707850"/>
            <a:ext cx="86868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800">
              <a:solidFill>
                <a:schemeClr val="dk1"/>
              </a:solidFill>
            </a:endParaRPr>
          </a:p>
        </p:txBody>
      </p:sp>
      <p:pic>
        <p:nvPicPr>
          <p:cNvPr id="1019" name="Google Shape;1019;p74"/>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1020" name="Google Shape;1020;p74"/>
          <p:cNvSpPr txBox="1"/>
          <p:nvPr/>
        </p:nvSpPr>
        <p:spPr>
          <a:xfrm>
            <a:off x="2822650" y="475860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300">
                <a:solidFill>
                  <a:srgbClr val="434343"/>
                </a:solidFill>
                <a:latin typeface="Inter Light"/>
                <a:ea typeface="Inter Light"/>
                <a:cs typeface="Inter Light"/>
                <a:sym typeface="Inter Light"/>
              </a:rPr>
              <a:t>Christina Schultz</a:t>
            </a:r>
            <a:endParaRPr sz="1300">
              <a:latin typeface="Inter Light"/>
              <a:ea typeface="Inter Light"/>
              <a:cs typeface="Inter Light"/>
              <a:sym typeface="Inter Light"/>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AFC"/>
        </a:solidFill>
      </p:bgPr>
    </p:bg>
    <p:spTree>
      <p:nvGrpSpPr>
        <p:cNvPr id="1024" name="Shape 1024"/>
        <p:cNvGrpSpPr/>
        <p:nvPr/>
      </p:nvGrpSpPr>
      <p:grpSpPr>
        <a:xfrm>
          <a:off x="0" y="0"/>
          <a:ext cx="0" cy="0"/>
          <a:chOff x="0" y="0"/>
          <a:chExt cx="0" cy="0"/>
        </a:xfrm>
      </p:grpSpPr>
      <p:sp>
        <p:nvSpPr>
          <p:cNvPr id="1025" name="Google Shape;1025;p75"/>
          <p:cNvSpPr/>
          <p:nvPr/>
        </p:nvSpPr>
        <p:spPr>
          <a:xfrm>
            <a:off x="457200" y="925050"/>
            <a:ext cx="8211600" cy="17865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026" name="Google Shape;1026;p75"/>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Datenbanken Dozent</a:t>
            </a:r>
            <a:endParaRPr sz="2000">
              <a:solidFill>
                <a:schemeClr val="dk1"/>
              </a:solidFill>
            </a:endParaRPr>
          </a:p>
        </p:txBody>
      </p:sp>
      <p:sp>
        <p:nvSpPr>
          <p:cNvPr id="1027" name="Google Shape;1027;p75"/>
          <p:cNvSpPr txBox="1"/>
          <p:nvPr/>
        </p:nvSpPr>
        <p:spPr>
          <a:xfrm>
            <a:off x="627094" y="1145325"/>
            <a:ext cx="7391100" cy="2925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None/>
            </a:pPr>
            <a:r>
              <a:rPr b="1" lang="en" sz="1900">
                <a:solidFill>
                  <a:schemeClr val="dk1"/>
                </a:solidFill>
                <a:latin typeface="Inter"/>
                <a:ea typeface="Inter"/>
                <a:cs typeface="Inter"/>
                <a:sym typeface="Inter"/>
              </a:rPr>
              <a:t>Deployment vorkonfigurierter Datenbank-Server</a:t>
            </a:r>
            <a:endParaRPr b="1" sz="1900">
              <a:solidFill>
                <a:schemeClr val="dk1"/>
              </a:solidFill>
              <a:latin typeface="Inter"/>
              <a:ea typeface="Inter"/>
              <a:cs typeface="Inter"/>
              <a:sym typeface="Inter"/>
            </a:endParaRPr>
          </a:p>
        </p:txBody>
      </p:sp>
      <p:sp>
        <p:nvSpPr>
          <p:cNvPr id="1028" name="Google Shape;1028;p75"/>
          <p:cNvSpPr/>
          <p:nvPr/>
        </p:nvSpPr>
        <p:spPr>
          <a:xfrm>
            <a:off x="457200" y="2971975"/>
            <a:ext cx="8211600" cy="17865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029" name="Google Shape;1029;p75"/>
          <p:cNvSpPr txBox="1"/>
          <p:nvPr/>
        </p:nvSpPr>
        <p:spPr>
          <a:xfrm>
            <a:off x="673463" y="3075275"/>
            <a:ext cx="7391100" cy="7017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Clr>
                <a:schemeClr val="dk1"/>
              </a:buClr>
              <a:buFont typeface="Arial"/>
              <a:buNone/>
            </a:pPr>
            <a:r>
              <a:rPr b="1" lang="en" sz="1900">
                <a:solidFill>
                  <a:schemeClr val="dk1"/>
                </a:solidFill>
                <a:latin typeface="Inter"/>
                <a:ea typeface="Inter"/>
                <a:cs typeface="Inter"/>
                <a:sym typeface="Inter"/>
              </a:rPr>
              <a:t>Vorbereiteter Beispieldatensatz</a:t>
            </a:r>
            <a:endParaRPr b="1" sz="1900">
              <a:solidFill>
                <a:schemeClr val="dk1"/>
              </a:solidFill>
              <a:latin typeface="Inter"/>
              <a:ea typeface="Inter"/>
              <a:cs typeface="Inter"/>
              <a:sym typeface="Inter"/>
            </a:endParaRPr>
          </a:p>
          <a:p>
            <a:pPr indent="0" lvl="0" marL="0" marR="0" rtl="0" algn="l">
              <a:lnSpc>
                <a:spcPct val="139925"/>
              </a:lnSpc>
              <a:spcBef>
                <a:spcPts val="0"/>
              </a:spcBef>
              <a:spcAft>
                <a:spcPts val="0"/>
              </a:spcAft>
              <a:buNone/>
            </a:pPr>
            <a:r>
              <a:t/>
            </a:r>
            <a:endParaRPr b="1" sz="1900">
              <a:solidFill>
                <a:schemeClr val="dk1"/>
              </a:solidFill>
              <a:latin typeface="Inter"/>
              <a:ea typeface="Inter"/>
              <a:cs typeface="Inter"/>
              <a:sym typeface="Inter"/>
            </a:endParaRPr>
          </a:p>
        </p:txBody>
      </p:sp>
      <p:sp>
        <p:nvSpPr>
          <p:cNvPr id="1030" name="Google Shape;1030;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31" name="Google Shape;1031;p75"/>
          <p:cNvSpPr txBox="1"/>
          <p:nvPr/>
        </p:nvSpPr>
        <p:spPr>
          <a:xfrm>
            <a:off x="627100" y="1584625"/>
            <a:ext cx="7995300" cy="11109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None/>
            </a:pPr>
            <a:r>
              <a:rPr lang="en" sz="1900">
                <a:solidFill>
                  <a:srgbClr val="334155"/>
                </a:solidFill>
                <a:latin typeface="Inter"/>
                <a:ea typeface="Inter"/>
                <a:cs typeface="Inter"/>
                <a:sym typeface="Inter"/>
              </a:rPr>
              <a:t>Als Datenbank Dozent möchte ich einen lauffähigen Datenbank Server (z.B. MySQL/ PostgreSQL) per Klick deployen können, damit eine zentrale Umgebung für SQL-Übungen gegeben ist.</a:t>
            </a:r>
            <a:endParaRPr sz="1900">
              <a:solidFill>
                <a:srgbClr val="434343"/>
              </a:solidFill>
              <a:latin typeface="Inter"/>
              <a:ea typeface="Inter"/>
              <a:cs typeface="Inter"/>
              <a:sym typeface="Inter"/>
            </a:endParaRPr>
          </a:p>
        </p:txBody>
      </p:sp>
      <p:sp>
        <p:nvSpPr>
          <p:cNvPr id="1032" name="Google Shape;1032;p75"/>
          <p:cNvSpPr txBox="1"/>
          <p:nvPr/>
        </p:nvSpPr>
        <p:spPr>
          <a:xfrm>
            <a:off x="673475" y="3446688"/>
            <a:ext cx="7995300" cy="1301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1100"/>
              <a:buNone/>
            </a:pPr>
            <a:r>
              <a:rPr lang="en" sz="1900">
                <a:solidFill>
                  <a:srgbClr val="434343"/>
                </a:solidFill>
                <a:latin typeface="Inter"/>
                <a:ea typeface="Inter"/>
                <a:cs typeface="Inter"/>
                <a:sym typeface="Inter"/>
              </a:rPr>
              <a:t>Als Datenbank-Dozent möchte ich, dass die Datenbank VM bereits mit einem vorgefüllten Beispieldatensatz (Dummy-Daten) startet, damit die Studierenden in der Übung sofort mit den Abfragen beginnen können.</a:t>
            </a:r>
            <a:endParaRPr sz="1900">
              <a:solidFill>
                <a:schemeClr val="dk2"/>
              </a:solidFill>
              <a:latin typeface="Inter"/>
              <a:ea typeface="Inter"/>
              <a:cs typeface="Inter"/>
              <a:sym typeface="Inter"/>
            </a:endParaRPr>
          </a:p>
        </p:txBody>
      </p:sp>
      <p:sp>
        <p:nvSpPr>
          <p:cNvPr id="1033" name="Google Shape;1033;p75"/>
          <p:cNvSpPr txBox="1"/>
          <p:nvPr/>
        </p:nvSpPr>
        <p:spPr>
          <a:xfrm>
            <a:off x="457200" y="707850"/>
            <a:ext cx="86868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800">
              <a:solidFill>
                <a:schemeClr val="dk1"/>
              </a:solidFill>
            </a:endParaRPr>
          </a:p>
        </p:txBody>
      </p:sp>
      <p:pic>
        <p:nvPicPr>
          <p:cNvPr id="1034" name="Google Shape;1034;p75"/>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1035" name="Google Shape;1035;p75"/>
          <p:cNvSpPr txBox="1"/>
          <p:nvPr/>
        </p:nvSpPr>
        <p:spPr>
          <a:xfrm>
            <a:off x="2822650" y="475860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300">
                <a:solidFill>
                  <a:srgbClr val="434343"/>
                </a:solidFill>
                <a:latin typeface="Inter Light"/>
                <a:ea typeface="Inter Light"/>
                <a:cs typeface="Inter Light"/>
                <a:sym typeface="Inter Light"/>
              </a:rPr>
              <a:t>Christina Schultz</a:t>
            </a:r>
            <a:endParaRPr sz="1300">
              <a:latin typeface="Inter Light"/>
              <a:ea typeface="Inter Light"/>
              <a:cs typeface="Inter Light"/>
              <a:sym typeface="Inter 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AFC"/>
        </a:solidFill>
      </p:bgPr>
    </p:bg>
    <p:spTree>
      <p:nvGrpSpPr>
        <p:cNvPr id="1039" name="Shape 1039"/>
        <p:cNvGrpSpPr/>
        <p:nvPr/>
      </p:nvGrpSpPr>
      <p:grpSpPr>
        <a:xfrm>
          <a:off x="0" y="0"/>
          <a:ext cx="0" cy="0"/>
          <a:chOff x="0" y="0"/>
          <a:chExt cx="0" cy="0"/>
        </a:xfrm>
      </p:grpSpPr>
      <p:sp>
        <p:nvSpPr>
          <p:cNvPr id="1040" name="Google Shape;1040;p76"/>
          <p:cNvSpPr/>
          <p:nvPr/>
        </p:nvSpPr>
        <p:spPr>
          <a:xfrm>
            <a:off x="457200" y="925050"/>
            <a:ext cx="8211600" cy="17865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041" name="Google Shape;1041;p76"/>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IT Security Dozent</a:t>
            </a:r>
            <a:endParaRPr sz="2000">
              <a:solidFill>
                <a:schemeClr val="dk1"/>
              </a:solidFill>
            </a:endParaRPr>
          </a:p>
        </p:txBody>
      </p:sp>
      <p:sp>
        <p:nvSpPr>
          <p:cNvPr id="1042" name="Google Shape;1042;p76"/>
          <p:cNvSpPr txBox="1"/>
          <p:nvPr/>
        </p:nvSpPr>
        <p:spPr>
          <a:xfrm>
            <a:off x="627094" y="1145325"/>
            <a:ext cx="7391100" cy="7017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None/>
            </a:pPr>
            <a:r>
              <a:rPr b="1" lang="en" sz="1900">
                <a:solidFill>
                  <a:schemeClr val="dk1"/>
                </a:solidFill>
                <a:latin typeface="Inter"/>
                <a:ea typeface="Inter"/>
                <a:cs typeface="Inter"/>
                <a:sym typeface="Inter"/>
              </a:rPr>
              <a:t>Bereitstellung von Pentesting Umgebungen</a:t>
            </a:r>
            <a:endParaRPr b="1" sz="1900">
              <a:solidFill>
                <a:schemeClr val="dk1"/>
              </a:solidFill>
              <a:latin typeface="Inter"/>
              <a:ea typeface="Inter"/>
              <a:cs typeface="Inter"/>
              <a:sym typeface="Inter"/>
            </a:endParaRPr>
          </a:p>
          <a:p>
            <a:pPr indent="0" lvl="0" marL="0" rtl="0" algn="l">
              <a:lnSpc>
                <a:spcPct val="139925"/>
              </a:lnSpc>
              <a:spcBef>
                <a:spcPts val="0"/>
              </a:spcBef>
              <a:spcAft>
                <a:spcPts val="0"/>
              </a:spcAft>
              <a:buNone/>
            </a:pPr>
            <a:r>
              <a:t/>
            </a:r>
            <a:endParaRPr b="1" sz="1900">
              <a:solidFill>
                <a:schemeClr val="dk1"/>
              </a:solidFill>
              <a:latin typeface="Inter"/>
              <a:ea typeface="Inter"/>
              <a:cs typeface="Inter"/>
              <a:sym typeface="Inter"/>
            </a:endParaRPr>
          </a:p>
        </p:txBody>
      </p:sp>
      <p:sp>
        <p:nvSpPr>
          <p:cNvPr id="1043" name="Google Shape;1043;p76"/>
          <p:cNvSpPr/>
          <p:nvPr/>
        </p:nvSpPr>
        <p:spPr>
          <a:xfrm>
            <a:off x="457200" y="2971975"/>
            <a:ext cx="8211600" cy="17865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044" name="Google Shape;1044;p76"/>
          <p:cNvSpPr txBox="1"/>
          <p:nvPr/>
        </p:nvSpPr>
        <p:spPr>
          <a:xfrm>
            <a:off x="673463" y="3075275"/>
            <a:ext cx="7391100" cy="7017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Clr>
                <a:schemeClr val="dk1"/>
              </a:buClr>
              <a:buFont typeface="Arial"/>
              <a:buNone/>
            </a:pPr>
            <a:r>
              <a:rPr b="1" lang="en" sz="1900">
                <a:solidFill>
                  <a:schemeClr val="dk1"/>
                </a:solidFill>
                <a:latin typeface="Inter"/>
                <a:ea typeface="Inter"/>
                <a:cs typeface="Inter"/>
                <a:sym typeface="Inter"/>
              </a:rPr>
              <a:t>Vorinstallierte</a:t>
            </a:r>
            <a:r>
              <a:rPr b="1" lang="en" sz="1900">
                <a:solidFill>
                  <a:schemeClr val="dk1"/>
                </a:solidFill>
                <a:latin typeface="Inter"/>
                <a:ea typeface="Inter"/>
                <a:cs typeface="Inter"/>
                <a:sym typeface="Inter"/>
              </a:rPr>
              <a:t> Programme</a:t>
            </a:r>
            <a:endParaRPr b="1" sz="1900">
              <a:solidFill>
                <a:schemeClr val="dk1"/>
              </a:solidFill>
              <a:latin typeface="Inter"/>
              <a:ea typeface="Inter"/>
              <a:cs typeface="Inter"/>
              <a:sym typeface="Inter"/>
            </a:endParaRPr>
          </a:p>
          <a:p>
            <a:pPr indent="0" lvl="0" marL="0" marR="0" rtl="0" algn="l">
              <a:lnSpc>
                <a:spcPct val="139925"/>
              </a:lnSpc>
              <a:spcBef>
                <a:spcPts val="0"/>
              </a:spcBef>
              <a:spcAft>
                <a:spcPts val="0"/>
              </a:spcAft>
              <a:buNone/>
            </a:pPr>
            <a:r>
              <a:t/>
            </a:r>
            <a:endParaRPr b="1" sz="1900">
              <a:solidFill>
                <a:schemeClr val="dk1"/>
              </a:solidFill>
              <a:latin typeface="Inter"/>
              <a:ea typeface="Inter"/>
              <a:cs typeface="Inter"/>
              <a:sym typeface="Inter"/>
            </a:endParaRPr>
          </a:p>
        </p:txBody>
      </p:sp>
      <p:sp>
        <p:nvSpPr>
          <p:cNvPr id="1045" name="Google Shape;1045;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46" name="Google Shape;1046;p76"/>
          <p:cNvSpPr txBox="1"/>
          <p:nvPr/>
        </p:nvSpPr>
        <p:spPr>
          <a:xfrm>
            <a:off x="627100" y="1584625"/>
            <a:ext cx="7995300" cy="1301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900">
                <a:solidFill>
                  <a:srgbClr val="434343"/>
                </a:solidFill>
                <a:latin typeface="Inter"/>
                <a:ea typeface="Inter"/>
                <a:cs typeface="Inter"/>
                <a:sym typeface="Inter"/>
              </a:rPr>
              <a:t>Als IT Security Dozent möchte ich ein vorkonfiguriertes Kali Linux Image deployen können, damit Studierenden eine standardisierte Angriffs Umgebung für Penetration Tests zur Verfügung haben.</a:t>
            </a:r>
            <a:endParaRPr sz="1900">
              <a:solidFill>
                <a:srgbClr val="434343"/>
              </a:solidFill>
              <a:latin typeface="Inter"/>
              <a:ea typeface="Inter"/>
              <a:cs typeface="Inter"/>
              <a:sym typeface="Inter"/>
            </a:endParaRPr>
          </a:p>
          <a:p>
            <a:pPr indent="0" lvl="0" marL="0" rtl="0" algn="l">
              <a:lnSpc>
                <a:spcPct val="139925"/>
              </a:lnSpc>
              <a:spcBef>
                <a:spcPts val="0"/>
              </a:spcBef>
              <a:spcAft>
                <a:spcPts val="0"/>
              </a:spcAft>
              <a:buNone/>
            </a:pPr>
            <a:r>
              <a:rPr lang="en" sz="1900">
                <a:solidFill>
                  <a:srgbClr val="334155"/>
                </a:solidFill>
                <a:latin typeface="Inter"/>
                <a:ea typeface="Inter"/>
                <a:cs typeface="Inter"/>
                <a:sym typeface="Inter"/>
              </a:rPr>
              <a:t> </a:t>
            </a:r>
            <a:endParaRPr sz="1900">
              <a:solidFill>
                <a:srgbClr val="334155"/>
              </a:solidFill>
              <a:latin typeface="Inter"/>
              <a:ea typeface="Inter"/>
              <a:cs typeface="Inter"/>
              <a:sym typeface="Inter"/>
            </a:endParaRPr>
          </a:p>
        </p:txBody>
      </p:sp>
      <p:sp>
        <p:nvSpPr>
          <p:cNvPr id="1047" name="Google Shape;1047;p76"/>
          <p:cNvSpPr txBox="1"/>
          <p:nvPr/>
        </p:nvSpPr>
        <p:spPr>
          <a:xfrm>
            <a:off x="673475" y="3446688"/>
            <a:ext cx="7995300" cy="1637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Font typeface="Arial"/>
              <a:buNone/>
            </a:pPr>
            <a:r>
              <a:rPr lang="en" sz="1900">
                <a:solidFill>
                  <a:srgbClr val="434343"/>
                </a:solidFill>
                <a:latin typeface="Inter"/>
                <a:ea typeface="Inter"/>
                <a:cs typeface="Inter"/>
                <a:sym typeface="Inter"/>
              </a:rPr>
              <a:t>Als IT Security Dozent möchte ich, dass rechenintensive Offline Cracking Tools, wie Hashcat und John the Ripper vorinstalliert und einsatzbereit sind, damit Übungen zur Passwortsicherheit ohne Installationsverzögerungen starten können. </a:t>
            </a:r>
            <a:endParaRPr sz="1900">
              <a:solidFill>
                <a:srgbClr val="434343"/>
              </a:solidFill>
              <a:latin typeface="Inter"/>
              <a:ea typeface="Inter"/>
              <a:cs typeface="Inter"/>
              <a:sym typeface="Inter"/>
            </a:endParaRPr>
          </a:p>
          <a:p>
            <a:pPr indent="0" lvl="0" marL="0" rtl="0" algn="l">
              <a:lnSpc>
                <a:spcPct val="115000"/>
              </a:lnSpc>
              <a:spcBef>
                <a:spcPts val="0"/>
              </a:spcBef>
              <a:spcAft>
                <a:spcPts val="0"/>
              </a:spcAft>
              <a:buSzPts val="1100"/>
              <a:buNone/>
            </a:pPr>
            <a:r>
              <a:t/>
            </a:r>
            <a:endParaRPr sz="1900">
              <a:solidFill>
                <a:srgbClr val="434343"/>
              </a:solidFill>
              <a:latin typeface="Inter"/>
              <a:ea typeface="Inter"/>
              <a:cs typeface="Inter"/>
              <a:sym typeface="Inter"/>
            </a:endParaRPr>
          </a:p>
        </p:txBody>
      </p:sp>
      <p:sp>
        <p:nvSpPr>
          <p:cNvPr id="1048" name="Google Shape;1048;p76"/>
          <p:cNvSpPr txBox="1"/>
          <p:nvPr/>
        </p:nvSpPr>
        <p:spPr>
          <a:xfrm>
            <a:off x="457200" y="707850"/>
            <a:ext cx="8686800" cy="292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900">
              <a:solidFill>
                <a:schemeClr val="dk1"/>
              </a:solidFill>
            </a:endParaRPr>
          </a:p>
        </p:txBody>
      </p:sp>
      <p:pic>
        <p:nvPicPr>
          <p:cNvPr id="1049" name="Google Shape;1049;p76"/>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1050" name="Google Shape;1050;p76"/>
          <p:cNvSpPr txBox="1"/>
          <p:nvPr/>
        </p:nvSpPr>
        <p:spPr>
          <a:xfrm>
            <a:off x="2822650" y="475860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300">
                <a:solidFill>
                  <a:srgbClr val="434343"/>
                </a:solidFill>
                <a:latin typeface="Inter Light"/>
                <a:ea typeface="Inter Light"/>
                <a:cs typeface="Inter Light"/>
                <a:sym typeface="Inter Light"/>
              </a:rPr>
              <a:t>Christina Schultz</a:t>
            </a:r>
            <a:endParaRPr sz="1300">
              <a:latin typeface="Inter Light"/>
              <a:ea typeface="Inter Light"/>
              <a:cs typeface="Inter Light"/>
              <a:sym typeface="Inter Ligh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AFC"/>
        </a:solidFill>
      </p:bgPr>
    </p:bg>
    <p:spTree>
      <p:nvGrpSpPr>
        <p:cNvPr id="1054" name="Shape 1054"/>
        <p:cNvGrpSpPr/>
        <p:nvPr/>
      </p:nvGrpSpPr>
      <p:grpSpPr>
        <a:xfrm>
          <a:off x="0" y="0"/>
          <a:ext cx="0" cy="0"/>
          <a:chOff x="0" y="0"/>
          <a:chExt cx="0" cy="0"/>
        </a:xfrm>
      </p:grpSpPr>
      <p:sp>
        <p:nvSpPr>
          <p:cNvPr id="1055" name="Google Shape;1055;p77"/>
          <p:cNvSpPr/>
          <p:nvPr/>
        </p:nvSpPr>
        <p:spPr>
          <a:xfrm>
            <a:off x="457200" y="925050"/>
            <a:ext cx="8211600" cy="17865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056" name="Google Shape;1056;p77"/>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a:t>
            </a:r>
            <a:r>
              <a:rPr b="1" lang="en" sz="2000">
                <a:solidFill>
                  <a:schemeClr val="dk1"/>
                </a:solidFill>
                <a:latin typeface="Inter"/>
                <a:ea typeface="Inter"/>
                <a:cs typeface="Inter"/>
                <a:sym typeface="Inter"/>
              </a:rPr>
              <a:t>Maschinenbau Dozent</a:t>
            </a:r>
            <a:endParaRPr sz="2000">
              <a:solidFill>
                <a:schemeClr val="dk1"/>
              </a:solidFill>
            </a:endParaRPr>
          </a:p>
        </p:txBody>
      </p:sp>
      <p:sp>
        <p:nvSpPr>
          <p:cNvPr id="1057" name="Google Shape;1057;p77"/>
          <p:cNvSpPr txBox="1"/>
          <p:nvPr/>
        </p:nvSpPr>
        <p:spPr>
          <a:xfrm>
            <a:off x="627094" y="1145325"/>
            <a:ext cx="7391100" cy="7017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None/>
            </a:pPr>
            <a:r>
              <a:rPr b="1" lang="en" sz="1900">
                <a:solidFill>
                  <a:schemeClr val="dk1"/>
                </a:solidFill>
                <a:latin typeface="Inter"/>
                <a:ea typeface="Inter"/>
                <a:cs typeface="Inter"/>
                <a:sym typeface="Inter"/>
              </a:rPr>
              <a:t>Spezifische Template-Suche</a:t>
            </a:r>
            <a:endParaRPr b="1" sz="1900">
              <a:solidFill>
                <a:schemeClr val="dk1"/>
              </a:solidFill>
              <a:latin typeface="Inter"/>
              <a:ea typeface="Inter"/>
              <a:cs typeface="Inter"/>
              <a:sym typeface="Inter"/>
            </a:endParaRPr>
          </a:p>
          <a:p>
            <a:pPr indent="0" lvl="0" marL="0" rtl="0" algn="l">
              <a:lnSpc>
                <a:spcPct val="139925"/>
              </a:lnSpc>
              <a:spcBef>
                <a:spcPts val="0"/>
              </a:spcBef>
              <a:spcAft>
                <a:spcPts val="0"/>
              </a:spcAft>
              <a:buNone/>
            </a:pPr>
            <a:r>
              <a:t/>
            </a:r>
            <a:endParaRPr b="1" sz="1900">
              <a:solidFill>
                <a:schemeClr val="dk1"/>
              </a:solidFill>
              <a:latin typeface="Inter"/>
              <a:ea typeface="Inter"/>
              <a:cs typeface="Inter"/>
              <a:sym typeface="Inter"/>
            </a:endParaRPr>
          </a:p>
        </p:txBody>
      </p:sp>
      <p:sp>
        <p:nvSpPr>
          <p:cNvPr id="1058" name="Google Shape;1058;p77"/>
          <p:cNvSpPr/>
          <p:nvPr/>
        </p:nvSpPr>
        <p:spPr>
          <a:xfrm>
            <a:off x="457200" y="2971975"/>
            <a:ext cx="8211600" cy="17865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059" name="Google Shape;1059;p77"/>
          <p:cNvSpPr txBox="1"/>
          <p:nvPr/>
        </p:nvSpPr>
        <p:spPr>
          <a:xfrm>
            <a:off x="673463" y="3075275"/>
            <a:ext cx="7391100" cy="7017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Clr>
                <a:schemeClr val="dk1"/>
              </a:buClr>
              <a:buFont typeface="Arial"/>
              <a:buNone/>
            </a:pPr>
            <a:r>
              <a:rPr b="1" lang="en" sz="1900">
                <a:solidFill>
                  <a:schemeClr val="dk1"/>
                </a:solidFill>
                <a:latin typeface="Inter"/>
                <a:ea typeface="Inter"/>
                <a:cs typeface="Inter"/>
                <a:sym typeface="Inter"/>
              </a:rPr>
              <a:t>Autodesk und SolidWorks</a:t>
            </a:r>
            <a:endParaRPr b="1" sz="1900">
              <a:solidFill>
                <a:schemeClr val="dk1"/>
              </a:solidFill>
              <a:latin typeface="Inter"/>
              <a:ea typeface="Inter"/>
              <a:cs typeface="Inter"/>
              <a:sym typeface="Inter"/>
            </a:endParaRPr>
          </a:p>
          <a:p>
            <a:pPr indent="0" lvl="0" marL="0" marR="0" rtl="0" algn="l">
              <a:lnSpc>
                <a:spcPct val="139925"/>
              </a:lnSpc>
              <a:spcBef>
                <a:spcPts val="0"/>
              </a:spcBef>
              <a:spcAft>
                <a:spcPts val="0"/>
              </a:spcAft>
              <a:buNone/>
            </a:pPr>
            <a:r>
              <a:t/>
            </a:r>
            <a:endParaRPr b="1" sz="1900">
              <a:solidFill>
                <a:schemeClr val="dk1"/>
              </a:solidFill>
              <a:latin typeface="Inter"/>
              <a:ea typeface="Inter"/>
              <a:cs typeface="Inter"/>
              <a:sym typeface="Inter"/>
            </a:endParaRPr>
          </a:p>
        </p:txBody>
      </p:sp>
      <p:sp>
        <p:nvSpPr>
          <p:cNvPr id="1060" name="Google Shape;1060;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61" name="Google Shape;1061;p77"/>
          <p:cNvSpPr txBox="1"/>
          <p:nvPr/>
        </p:nvSpPr>
        <p:spPr>
          <a:xfrm>
            <a:off x="627100" y="1584625"/>
            <a:ext cx="7995300" cy="1301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 sz="1900">
                <a:solidFill>
                  <a:srgbClr val="434343"/>
                </a:solidFill>
                <a:highlight>
                  <a:schemeClr val="lt1"/>
                </a:highlight>
                <a:latin typeface="Inter"/>
                <a:ea typeface="Inter"/>
                <a:cs typeface="Inter"/>
                <a:sym typeface="Inter"/>
              </a:rPr>
              <a:t>Als Maschinenbau Dozent möchte ich die Templates nach Fachbereichen (z.B. Maschinenbau) filtern können, um nur für mein Studiengang relevante Anwendungen zu sehen.</a:t>
            </a:r>
            <a:endParaRPr sz="1900">
              <a:solidFill>
                <a:srgbClr val="434343"/>
              </a:solidFill>
              <a:highlight>
                <a:schemeClr val="lt1"/>
              </a:highlight>
              <a:latin typeface="Inter"/>
              <a:ea typeface="Inter"/>
              <a:cs typeface="Inter"/>
              <a:sym typeface="Inter"/>
            </a:endParaRPr>
          </a:p>
          <a:p>
            <a:pPr indent="0" lvl="0" marL="0" rtl="0" algn="l">
              <a:lnSpc>
                <a:spcPct val="139925"/>
              </a:lnSpc>
              <a:spcBef>
                <a:spcPts val="0"/>
              </a:spcBef>
              <a:spcAft>
                <a:spcPts val="0"/>
              </a:spcAft>
              <a:buNone/>
            </a:pPr>
            <a:r>
              <a:t/>
            </a:r>
            <a:endParaRPr sz="1900">
              <a:solidFill>
                <a:srgbClr val="434343"/>
              </a:solidFill>
              <a:latin typeface="Inter"/>
              <a:ea typeface="Inter"/>
              <a:cs typeface="Inter"/>
              <a:sym typeface="Inter"/>
            </a:endParaRPr>
          </a:p>
        </p:txBody>
      </p:sp>
      <p:sp>
        <p:nvSpPr>
          <p:cNvPr id="1062" name="Google Shape;1062;p77"/>
          <p:cNvSpPr txBox="1"/>
          <p:nvPr/>
        </p:nvSpPr>
        <p:spPr>
          <a:xfrm>
            <a:off x="673475" y="3446688"/>
            <a:ext cx="7995300" cy="1301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1100"/>
              <a:buNone/>
            </a:pPr>
            <a:r>
              <a:rPr lang="en" sz="1900">
                <a:solidFill>
                  <a:schemeClr val="dk2"/>
                </a:solidFill>
                <a:latin typeface="Inter"/>
                <a:ea typeface="Inter"/>
                <a:cs typeface="Inter"/>
                <a:sym typeface="Inter"/>
              </a:rPr>
              <a:t>Als Maschinenbau Dozent möchte ich ein vorkonfiguriertes Image deployen können, damit meinen Studierenden direkten Zugriff auf komplexe Software wie Autodesk Inventor und SolidWorks haben.</a:t>
            </a:r>
            <a:endParaRPr sz="1900">
              <a:solidFill>
                <a:schemeClr val="dk2"/>
              </a:solidFill>
              <a:latin typeface="Inter"/>
              <a:ea typeface="Inter"/>
              <a:cs typeface="Inter"/>
              <a:sym typeface="Inter"/>
            </a:endParaRPr>
          </a:p>
          <a:p>
            <a:pPr indent="0" lvl="0" marL="0" rtl="0" algn="l">
              <a:lnSpc>
                <a:spcPct val="115000"/>
              </a:lnSpc>
              <a:spcBef>
                <a:spcPts val="0"/>
              </a:spcBef>
              <a:spcAft>
                <a:spcPts val="0"/>
              </a:spcAft>
              <a:buSzPts val="1100"/>
              <a:buNone/>
            </a:pPr>
            <a:r>
              <a:t/>
            </a:r>
            <a:endParaRPr sz="1900">
              <a:solidFill>
                <a:srgbClr val="434343"/>
              </a:solidFill>
              <a:latin typeface="Inter"/>
              <a:ea typeface="Inter"/>
              <a:cs typeface="Inter"/>
              <a:sym typeface="Inter"/>
            </a:endParaRPr>
          </a:p>
        </p:txBody>
      </p:sp>
      <p:sp>
        <p:nvSpPr>
          <p:cNvPr id="1063" name="Google Shape;1063;p77"/>
          <p:cNvSpPr txBox="1"/>
          <p:nvPr/>
        </p:nvSpPr>
        <p:spPr>
          <a:xfrm>
            <a:off x="457200" y="707850"/>
            <a:ext cx="8686800" cy="292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900">
              <a:solidFill>
                <a:schemeClr val="dk1"/>
              </a:solidFill>
            </a:endParaRPr>
          </a:p>
        </p:txBody>
      </p:sp>
      <p:pic>
        <p:nvPicPr>
          <p:cNvPr id="1064" name="Google Shape;1064;p77"/>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1065" name="Google Shape;1065;p77"/>
          <p:cNvSpPr txBox="1"/>
          <p:nvPr/>
        </p:nvSpPr>
        <p:spPr>
          <a:xfrm>
            <a:off x="2822650" y="475860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300">
                <a:solidFill>
                  <a:srgbClr val="434343"/>
                </a:solidFill>
                <a:latin typeface="Inter Light"/>
                <a:ea typeface="Inter Light"/>
                <a:cs typeface="Inter Light"/>
                <a:sym typeface="Inter Light"/>
              </a:rPr>
              <a:t>Christina Schultz</a:t>
            </a:r>
            <a:endParaRPr sz="1300">
              <a:latin typeface="Inter Light"/>
              <a:ea typeface="Inter Light"/>
              <a:cs typeface="Inter Light"/>
              <a:sym typeface="Inter 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AFC"/>
        </a:solidFill>
      </p:bgPr>
    </p:bg>
    <p:spTree>
      <p:nvGrpSpPr>
        <p:cNvPr id="1069" name="Shape 1069"/>
        <p:cNvGrpSpPr/>
        <p:nvPr/>
      </p:nvGrpSpPr>
      <p:grpSpPr>
        <a:xfrm>
          <a:off x="0" y="0"/>
          <a:ext cx="0" cy="0"/>
          <a:chOff x="0" y="0"/>
          <a:chExt cx="0" cy="0"/>
        </a:xfrm>
      </p:grpSpPr>
      <p:sp>
        <p:nvSpPr>
          <p:cNvPr id="1070" name="Google Shape;1070;p78"/>
          <p:cNvSpPr/>
          <p:nvPr/>
        </p:nvSpPr>
        <p:spPr>
          <a:xfrm>
            <a:off x="457200" y="925050"/>
            <a:ext cx="8211600" cy="17865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071" name="Google Shape;1071;p78"/>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Perspektive Maschinenbau Dozent</a:t>
            </a:r>
            <a:endParaRPr sz="2000">
              <a:solidFill>
                <a:schemeClr val="dk1"/>
              </a:solidFill>
            </a:endParaRPr>
          </a:p>
        </p:txBody>
      </p:sp>
      <p:sp>
        <p:nvSpPr>
          <p:cNvPr id="1072" name="Google Shape;1072;p78"/>
          <p:cNvSpPr txBox="1"/>
          <p:nvPr/>
        </p:nvSpPr>
        <p:spPr>
          <a:xfrm>
            <a:off x="627094" y="1145325"/>
            <a:ext cx="7391100" cy="2925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None/>
            </a:pPr>
            <a:r>
              <a:rPr b="1" lang="en" sz="1900">
                <a:solidFill>
                  <a:schemeClr val="dk1"/>
                </a:solidFill>
                <a:latin typeface="Inter"/>
                <a:ea typeface="Inter"/>
                <a:cs typeface="Inter"/>
                <a:sym typeface="Inter"/>
              </a:rPr>
              <a:t>Matlab Applikation</a:t>
            </a:r>
            <a:endParaRPr b="1" sz="1900">
              <a:solidFill>
                <a:schemeClr val="dk1"/>
              </a:solidFill>
              <a:latin typeface="Inter"/>
              <a:ea typeface="Inter"/>
              <a:cs typeface="Inter"/>
              <a:sym typeface="Inter"/>
            </a:endParaRPr>
          </a:p>
        </p:txBody>
      </p:sp>
      <p:sp>
        <p:nvSpPr>
          <p:cNvPr id="1073" name="Google Shape;1073;p78"/>
          <p:cNvSpPr/>
          <p:nvPr/>
        </p:nvSpPr>
        <p:spPr>
          <a:xfrm>
            <a:off x="457200" y="2971975"/>
            <a:ext cx="8211600" cy="17865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074" name="Google Shape;1074;p78"/>
          <p:cNvSpPr txBox="1"/>
          <p:nvPr/>
        </p:nvSpPr>
        <p:spPr>
          <a:xfrm>
            <a:off x="673463" y="3075275"/>
            <a:ext cx="7391100" cy="7017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Clr>
                <a:schemeClr val="dk1"/>
              </a:buClr>
              <a:buFont typeface="Arial"/>
              <a:buNone/>
            </a:pPr>
            <a:r>
              <a:rPr b="1" lang="en" sz="1900">
                <a:solidFill>
                  <a:schemeClr val="dk1"/>
                </a:solidFill>
                <a:latin typeface="Inter"/>
                <a:ea typeface="Inter"/>
                <a:cs typeface="Inter"/>
                <a:sym typeface="Inter"/>
              </a:rPr>
              <a:t>Vorbereitete Matlab Skripte</a:t>
            </a:r>
            <a:endParaRPr b="1" sz="1900">
              <a:solidFill>
                <a:schemeClr val="dk1"/>
              </a:solidFill>
              <a:latin typeface="Inter"/>
              <a:ea typeface="Inter"/>
              <a:cs typeface="Inter"/>
              <a:sym typeface="Inter"/>
            </a:endParaRPr>
          </a:p>
          <a:p>
            <a:pPr indent="0" lvl="0" marL="0" marR="0" rtl="0" algn="l">
              <a:lnSpc>
                <a:spcPct val="139925"/>
              </a:lnSpc>
              <a:spcBef>
                <a:spcPts val="0"/>
              </a:spcBef>
              <a:spcAft>
                <a:spcPts val="0"/>
              </a:spcAft>
              <a:buNone/>
            </a:pPr>
            <a:r>
              <a:t/>
            </a:r>
            <a:endParaRPr b="1" sz="1900">
              <a:solidFill>
                <a:schemeClr val="dk1"/>
              </a:solidFill>
              <a:latin typeface="Inter"/>
              <a:ea typeface="Inter"/>
              <a:cs typeface="Inter"/>
              <a:sym typeface="Inter"/>
            </a:endParaRPr>
          </a:p>
        </p:txBody>
      </p:sp>
      <p:sp>
        <p:nvSpPr>
          <p:cNvPr id="1075" name="Google Shape;1075;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76" name="Google Shape;1076;p78"/>
          <p:cNvSpPr txBox="1"/>
          <p:nvPr/>
        </p:nvSpPr>
        <p:spPr>
          <a:xfrm>
            <a:off x="627100" y="1584625"/>
            <a:ext cx="7995300" cy="965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SzPts val="1100"/>
              <a:buNone/>
            </a:pPr>
            <a:r>
              <a:rPr lang="en" sz="1900">
                <a:solidFill>
                  <a:schemeClr val="dk2"/>
                </a:solidFill>
                <a:latin typeface="Inter"/>
                <a:ea typeface="Inter"/>
                <a:cs typeface="Inter"/>
                <a:sym typeface="Inter"/>
              </a:rPr>
              <a:t>Als Maschinenbau Dozent möchte ich Matlab als standardisierte Applikation für meine Vorlesung deployen können, damit zur Vorlesungszeit individuelle Installationsprobleme verhindert werden.</a:t>
            </a:r>
            <a:endParaRPr sz="1900">
              <a:solidFill>
                <a:srgbClr val="434343"/>
              </a:solidFill>
              <a:highlight>
                <a:schemeClr val="lt1"/>
              </a:highlight>
              <a:latin typeface="Inter"/>
              <a:ea typeface="Inter"/>
              <a:cs typeface="Inter"/>
              <a:sym typeface="Inter"/>
            </a:endParaRPr>
          </a:p>
        </p:txBody>
      </p:sp>
      <p:sp>
        <p:nvSpPr>
          <p:cNvPr id="1077" name="Google Shape;1077;p78"/>
          <p:cNvSpPr txBox="1"/>
          <p:nvPr/>
        </p:nvSpPr>
        <p:spPr>
          <a:xfrm>
            <a:off x="673475" y="3446688"/>
            <a:ext cx="7995300" cy="179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lang="en" sz="1900">
                <a:solidFill>
                  <a:schemeClr val="dk2"/>
                </a:solidFill>
                <a:latin typeface="Inter"/>
                <a:ea typeface="Inter"/>
                <a:cs typeface="Inter"/>
                <a:sym typeface="Inter"/>
              </a:rPr>
              <a:t>Als Maschinenbau Dozent möchte ich meine vorbereiteten Matlab Skripte und Datensätze direkt in das Vorlesungs Template integrieren können, damit zum Beginn der Veranstaltung alle Studierenden automatisch den identischen Arbeitsstand haben.</a:t>
            </a:r>
            <a:endParaRPr sz="1900">
              <a:solidFill>
                <a:schemeClr val="dk2"/>
              </a:solidFill>
              <a:latin typeface="Inter"/>
              <a:ea typeface="Inter"/>
              <a:cs typeface="Inter"/>
              <a:sym typeface="Inter"/>
            </a:endParaRPr>
          </a:p>
          <a:p>
            <a:pPr indent="0" lvl="0" marL="0" rtl="0" algn="l">
              <a:lnSpc>
                <a:spcPct val="115000"/>
              </a:lnSpc>
              <a:spcBef>
                <a:spcPts val="1200"/>
              </a:spcBef>
              <a:spcAft>
                <a:spcPts val="0"/>
              </a:spcAft>
              <a:buSzPts val="1100"/>
              <a:buNone/>
            </a:pPr>
            <a:r>
              <a:t/>
            </a:r>
            <a:endParaRPr sz="1900">
              <a:solidFill>
                <a:schemeClr val="dk2"/>
              </a:solidFill>
              <a:latin typeface="Inter"/>
              <a:ea typeface="Inter"/>
              <a:cs typeface="Inter"/>
              <a:sym typeface="Inter"/>
            </a:endParaRPr>
          </a:p>
        </p:txBody>
      </p:sp>
      <p:sp>
        <p:nvSpPr>
          <p:cNvPr id="1078" name="Google Shape;1078;p78"/>
          <p:cNvSpPr txBox="1"/>
          <p:nvPr/>
        </p:nvSpPr>
        <p:spPr>
          <a:xfrm>
            <a:off x="457200" y="707850"/>
            <a:ext cx="8686800" cy="292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900">
              <a:solidFill>
                <a:schemeClr val="dk1"/>
              </a:solidFill>
            </a:endParaRPr>
          </a:p>
        </p:txBody>
      </p:sp>
      <p:pic>
        <p:nvPicPr>
          <p:cNvPr id="1079" name="Google Shape;1079;p78"/>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1080" name="Google Shape;1080;p78"/>
          <p:cNvSpPr txBox="1"/>
          <p:nvPr/>
        </p:nvSpPr>
        <p:spPr>
          <a:xfrm>
            <a:off x="2822650" y="475860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300">
                <a:solidFill>
                  <a:srgbClr val="434343"/>
                </a:solidFill>
                <a:latin typeface="Inter Light"/>
                <a:ea typeface="Inter Light"/>
                <a:cs typeface="Inter Light"/>
                <a:sym typeface="Inter Light"/>
              </a:rPr>
              <a:t>Christina Schultz</a:t>
            </a:r>
            <a:endParaRPr sz="1300">
              <a:latin typeface="Inter Light"/>
              <a:ea typeface="Inter Light"/>
              <a:cs typeface="Inter Light"/>
              <a:sym typeface="Inter 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AFC"/>
        </a:solidFill>
      </p:bgPr>
    </p:bg>
    <p:spTree>
      <p:nvGrpSpPr>
        <p:cNvPr id="1084" name="Shape 1084"/>
        <p:cNvGrpSpPr/>
        <p:nvPr/>
      </p:nvGrpSpPr>
      <p:grpSpPr>
        <a:xfrm>
          <a:off x="0" y="0"/>
          <a:ext cx="0" cy="0"/>
          <a:chOff x="0" y="0"/>
          <a:chExt cx="0" cy="0"/>
        </a:xfrm>
      </p:grpSpPr>
      <p:sp>
        <p:nvSpPr>
          <p:cNvPr id="1085" name="Google Shape;1085;p79"/>
          <p:cNvSpPr/>
          <p:nvPr/>
        </p:nvSpPr>
        <p:spPr>
          <a:xfrm>
            <a:off x="457200" y="871650"/>
            <a:ext cx="7731000" cy="18765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Inter"/>
              <a:ea typeface="Inter"/>
              <a:cs typeface="Inter"/>
              <a:sym typeface="Inter"/>
            </a:endParaRPr>
          </a:p>
        </p:txBody>
      </p:sp>
      <p:sp>
        <p:nvSpPr>
          <p:cNvPr id="1086" name="Google Shape;1086;p79"/>
          <p:cNvSpPr txBox="1"/>
          <p:nvPr/>
        </p:nvSpPr>
        <p:spPr>
          <a:xfrm>
            <a:off x="457200" y="400050"/>
            <a:ext cx="868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chemeClr val="dk1"/>
                </a:solidFill>
                <a:latin typeface="Inter"/>
                <a:ea typeface="Inter"/>
                <a:cs typeface="Inter"/>
                <a:sym typeface="Inter"/>
              </a:rPr>
              <a:t>USER STORIES </a:t>
            </a:r>
            <a:r>
              <a:rPr b="1" lang="en" sz="2000">
                <a:solidFill>
                  <a:schemeClr val="dk1"/>
                </a:solidFill>
                <a:latin typeface="Inter"/>
                <a:ea typeface="Inter"/>
                <a:cs typeface="Inter"/>
                <a:sym typeface="Inter"/>
              </a:rPr>
              <a:t>· weitere Perspektiven</a:t>
            </a:r>
            <a:endParaRPr sz="2000">
              <a:solidFill>
                <a:schemeClr val="dk1"/>
              </a:solidFill>
              <a:latin typeface="Inter"/>
              <a:ea typeface="Inter"/>
              <a:cs typeface="Inter"/>
              <a:sym typeface="Inter"/>
            </a:endParaRPr>
          </a:p>
        </p:txBody>
      </p:sp>
      <p:sp>
        <p:nvSpPr>
          <p:cNvPr id="1087" name="Google Shape;1087;p79"/>
          <p:cNvSpPr txBox="1"/>
          <p:nvPr/>
        </p:nvSpPr>
        <p:spPr>
          <a:xfrm>
            <a:off x="603956" y="10491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2000">
                <a:latin typeface="Inter"/>
                <a:ea typeface="Inter"/>
                <a:cs typeface="Inter"/>
                <a:sym typeface="Inter"/>
              </a:rPr>
              <a:t>Überschaubarer &amp; wartbarer Technologiestack</a:t>
            </a:r>
            <a:r>
              <a:rPr b="1" lang="en" sz="2000">
                <a:latin typeface="Inter"/>
                <a:ea typeface="Inter"/>
                <a:cs typeface="Inter"/>
                <a:sym typeface="Inter"/>
              </a:rPr>
              <a:t> </a:t>
            </a:r>
            <a:endParaRPr b="1" sz="2000">
              <a:latin typeface="Inter"/>
              <a:ea typeface="Inter"/>
              <a:cs typeface="Inter"/>
              <a:sym typeface="Inter"/>
            </a:endParaRPr>
          </a:p>
        </p:txBody>
      </p:sp>
      <p:sp>
        <p:nvSpPr>
          <p:cNvPr id="1088" name="Google Shape;1088;p79"/>
          <p:cNvSpPr/>
          <p:nvPr/>
        </p:nvSpPr>
        <p:spPr>
          <a:xfrm>
            <a:off x="503475" y="2859638"/>
            <a:ext cx="7731000" cy="1760700"/>
          </a:xfrm>
          <a:prstGeom prst="roundRect">
            <a:avLst>
              <a:gd fmla="val 7664"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i="0" sz="1400" u="none" cap="none" strike="noStrike">
              <a:solidFill>
                <a:schemeClr val="lt1"/>
              </a:solidFill>
              <a:latin typeface="Inter"/>
              <a:ea typeface="Inter"/>
              <a:cs typeface="Inter"/>
              <a:sym typeface="Inter"/>
            </a:endParaRPr>
          </a:p>
        </p:txBody>
      </p:sp>
      <p:sp>
        <p:nvSpPr>
          <p:cNvPr id="1089" name="Google Shape;1089;p79"/>
          <p:cNvSpPr txBox="1"/>
          <p:nvPr/>
        </p:nvSpPr>
        <p:spPr>
          <a:xfrm>
            <a:off x="650325" y="2958200"/>
            <a:ext cx="7391100" cy="3078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 sz="2000">
                <a:solidFill>
                  <a:schemeClr val="dk1"/>
                </a:solidFill>
                <a:latin typeface="Inter"/>
                <a:ea typeface="Inter"/>
                <a:cs typeface="Inter"/>
                <a:sym typeface="Inter"/>
              </a:rPr>
              <a:t>Stabile unkomplizierte Arbeitsumgebung</a:t>
            </a:r>
            <a:endParaRPr b="1" sz="2000">
              <a:solidFill>
                <a:schemeClr val="dk1"/>
              </a:solidFill>
              <a:latin typeface="Inter"/>
              <a:ea typeface="Inter"/>
              <a:cs typeface="Inter"/>
              <a:sym typeface="Inter"/>
            </a:endParaRPr>
          </a:p>
        </p:txBody>
      </p:sp>
      <p:sp>
        <p:nvSpPr>
          <p:cNvPr id="1090" name="Google Shape;1090;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Inter"/>
                <a:ea typeface="Inter"/>
                <a:cs typeface="Inter"/>
                <a:sym typeface="Inter"/>
              </a:rPr>
              <a:t>‹#›</a:t>
            </a:fld>
            <a:endParaRPr>
              <a:latin typeface="Inter"/>
              <a:ea typeface="Inter"/>
              <a:cs typeface="Inter"/>
              <a:sym typeface="Inter"/>
            </a:endParaRPr>
          </a:p>
        </p:txBody>
      </p:sp>
      <p:sp>
        <p:nvSpPr>
          <p:cNvPr id="1091" name="Google Shape;1091;p79"/>
          <p:cNvSpPr txBox="1"/>
          <p:nvPr/>
        </p:nvSpPr>
        <p:spPr>
          <a:xfrm>
            <a:off x="603956" y="1423650"/>
            <a:ext cx="7391100" cy="101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 sz="2000">
                <a:solidFill>
                  <a:srgbClr val="334155"/>
                </a:solidFill>
                <a:latin typeface="Inter"/>
                <a:ea typeface="Inter"/>
                <a:cs typeface="Inter"/>
                <a:sym typeface="Inter"/>
              </a:rPr>
              <a:t>Als Entwickler möchte ich auf modular strukturierten Code treffen, damit ich das Projekt im neuen Semester schnell verstehen und übernehmen zu kann.</a:t>
            </a:r>
            <a:endParaRPr sz="2000">
              <a:latin typeface="Inter"/>
              <a:ea typeface="Inter"/>
              <a:cs typeface="Inter"/>
              <a:sym typeface="Inter"/>
            </a:endParaRPr>
          </a:p>
        </p:txBody>
      </p:sp>
      <p:sp>
        <p:nvSpPr>
          <p:cNvPr id="1092" name="Google Shape;1092;p79"/>
          <p:cNvSpPr txBox="1"/>
          <p:nvPr/>
        </p:nvSpPr>
        <p:spPr>
          <a:xfrm>
            <a:off x="650331" y="3383550"/>
            <a:ext cx="7391100" cy="101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 sz="2000">
                <a:solidFill>
                  <a:srgbClr val="434343"/>
                </a:solidFill>
                <a:latin typeface="Inter"/>
                <a:ea typeface="Inter"/>
                <a:cs typeface="Inter"/>
                <a:sym typeface="Inter"/>
              </a:rPr>
              <a:t>Als Student wünsche ich mir eine stabile Arbeitsumgebung mit unkompliziertem Zugriff, damit ich fokussiert an meinen Aufgaben arbeiten kann.</a:t>
            </a:r>
            <a:endParaRPr sz="2000">
              <a:solidFill>
                <a:srgbClr val="434343"/>
              </a:solidFill>
              <a:latin typeface="Inter"/>
              <a:ea typeface="Inter"/>
              <a:cs typeface="Inter"/>
              <a:sym typeface="Inter"/>
            </a:endParaRPr>
          </a:p>
        </p:txBody>
      </p:sp>
      <p:pic>
        <p:nvPicPr>
          <p:cNvPr id="1093" name="Google Shape;1093;p79"/>
          <p:cNvPicPr preferRelativeResize="0"/>
          <p:nvPr/>
        </p:nvPicPr>
        <p:blipFill>
          <a:blip r:embed="rId3">
            <a:alphaModFix/>
          </a:blip>
          <a:stretch>
            <a:fillRect/>
          </a:stretch>
        </p:blipFill>
        <p:spPr>
          <a:xfrm>
            <a:off x="8366800" y="0"/>
            <a:ext cx="777200" cy="588162"/>
          </a:xfrm>
          <a:prstGeom prst="rect">
            <a:avLst/>
          </a:prstGeom>
          <a:noFill/>
          <a:ln>
            <a:noFill/>
          </a:ln>
        </p:spPr>
      </p:pic>
      <p:sp>
        <p:nvSpPr>
          <p:cNvPr id="1094" name="Google Shape;1094;p79"/>
          <p:cNvSpPr txBox="1"/>
          <p:nvPr/>
        </p:nvSpPr>
        <p:spPr>
          <a:xfrm>
            <a:off x="355750" y="616700"/>
            <a:ext cx="447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endParaRPr>
          </a:p>
        </p:txBody>
      </p:sp>
      <p:sp>
        <p:nvSpPr>
          <p:cNvPr id="1095" name="Google Shape;1095;p79"/>
          <p:cNvSpPr txBox="1"/>
          <p:nvPr/>
        </p:nvSpPr>
        <p:spPr>
          <a:xfrm>
            <a:off x="2822650" y="475860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300">
                <a:solidFill>
                  <a:srgbClr val="434343"/>
                </a:solidFill>
                <a:latin typeface="Inter Light"/>
                <a:ea typeface="Inter Light"/>
                <a:cs typeface="Inter Light"/>
                <a:sym typeface="Inter Light"/>
              </a:rPr>
              <a:t>Nhi </a:t>
            </a:r>
            <a:endParaRPr sz="1300">
              <a:latin typeface="Inter Light"/>
              <a:ea typeface="Inter Light"/>
              <a:cs typeface="Inter Light"/>
              <a:sym typeface="Inter 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