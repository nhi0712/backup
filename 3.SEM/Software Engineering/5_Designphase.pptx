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81" r:id="rId1"/>
  </p:sldMasterIdLst>
  <p:notesMasterIdLst>
    <p:notesMasterId r:id="rId18"/>
  </p:notesMasterIdLst>
  <p:sldIdLst>
    <p:sldId id="256" r:id="rId2"/>
    <p:sldId id="266" r:id="rId3"/>
    <p:sldId id="424" r:id="rId4"/>
    <p:sldId id="425" r:id="rId5"/>
    <p:sldId id="301" r:id="rId6"/>
    <p:sldId id="302" r:id="rId7"/>
    <p:sldId id="304" r:id="rId8"/>
    <p:sldId id="306" r:id="rId9"/>
    <p:sldId id="426" r:id="rId10"/>
    <p:sldId id="327" r:id="rId11"/>
    <p:sldId id="457" r:id="rId12"/>
    <p:sldId id="317" r:id="rId13"/>
    <p:sldId id="325" r:id="rId14"/>
    <p:sldId id="326" r:id="rId15"/>
    <p:sldId id="353" r:id="rId16"/>
    <p:sldId id="29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5F8EDCD-EBC0-8E43-9C7A-61B119E93136}">
          <p14:sldIdLst>
            <p14:sldId id="256"/>
            <p14:sldId id="266"/>
            <p14:sldId id="424"/>
          </p14:sldIdLst>
        </p14:section>
        <p14:section name="Designphase" id="{E464FC74-4596-C34A-8381-8A63E5D5574F}">
          <p14:sldIdLst>
            <p14:sldId id="425"/>
            <p14:sldId id="301"/>
            <p14:sldId id="302"/>
            <p14:sldId id="304"/>
            <p14:sldId id="306"/>
          </p14:sldIdLst>
        </p14:section>
        <p14:section name="High-Level-Architektur" id="{689C6A07-B7DF-4044-A7F5-FD86456C9D81}">
          <p14:sldIdLst>
            <p14:sldId id="426"/>
            <p14:sldId id="327"/>
            <p14:sldId id="457"/>
            <p14:sldId id="317"/>
            <p14:sldId id="325"/>
            <p14:sldId id="326"/>
            <p14:sldId id="353"/>
          </p14:sldIdLst>
        </p14:section>
        <p14:section name="Outro" id="{5B8354D6-5B84-C34A-85DD-04DFCE3C2B91}">
          <p14:sldIdLst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this Neunzig" initials="MN" lastIdx="1" clrIdx="0">
    <p:extLst>
      <p:ext uri="{19B8F6BF-5375-455C-9EA6-DF929625EA0E}">
        <p15:presenceInfo xmlns:p15="http://schemas.microsoft.com/office/powerpoint/2012/main" userId="6d5b6f694cad671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93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36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C2D8BE-6D4A-C54F-B23A-FCD554FA181F}" type="doc">
      <dgm:prSet loTypeId="urn:microsoft.com/office/officeart/2005/8/layout/chevron1" loCatId="cycl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GB"/>
        </a:p>
      </dgm:t>
    </dgm:pt>
    <dgm:pt modelId="{0F9CD01B-6957-C243-9D2A-2A2F17B865B9}">
      <dgm:prSet custT="1"/>
      <dgm:spPr/>
      <dgm:t>
        <a:bodyPr/>
        <a:lstStyle/>
        <a:p>
          <a:r>
            <a:rPr lang="de-DE" sz="1300" dirty="0"/>
            <a:t>Definitionsphase</a:t>
          </a:r>
          <a:endParaRPr lang="en-DE" sz="1300" dirty="0"/>
        </a:p>
      </dgm:t>
    </dgm:pt>
    <dgm:pt modelId="{505A29DA-5F6E-5E40-B194-79DE98B9B4EB}" type="parTrans" cxnId="{031DE1F2-BD48-B844-A026-02A2BEC0D681}">
      <dgm:prSet/>
      <dgm:spPr/>
      <dgm:t>
        <a:bodyPr/>
        <a:lstStyle/>
        <a:p>
          <a:endParaRPr lang="en-GB"/>
        </a:p>
      </dgm:t>
    </dgm:pt>
    <dgm:pt modelId="{6B25E4E0-A407-D840-8AD7-20BBBC1D9BD0}" type="sibTrans" cxnId="{031DE1F2-BD48-B844-A026-02A2BEC0D681}">
      <dgm:prSet/>
      <dgm:spPr/>
      <dgm:t>
        <a:bodyPr/>
        <a:lstStyle/>
        <a:p>
          <a:endParaRPr lang="en-GB"/>
        </a:p>
      </dgm:t>
    </dgm:pt>
    <dgm:pt modelId="{563689A2-260C-5049-B8F0-16C7C3C44EEE}">
      <dgm:prSet custT="1"/>
      <dgm:spPr/>
      <dgm:t>
        <a:bodyPr/>
        <a:lstStyle/>
        <a:p>
          <a:r>
            <a:rPr lang="de-DE" sz="1300" dirty="0"/>
            <a:t>Designphase</a:t>
          </a:r>
          <a:endParaRPr lang="en-DE" sz="1300" dirty="0"/>
        </a:p>
      </dgm:t>
    </dgm:pt>
    <dgm:pt modelId="{0EC4593F-F2E8-5044-B95F-510A8716FD04}" type="parTrans" cxnId="{33005FF8-9326-B34C-BD64-C3E0890C4BF6}">
      <dgm:prSet/>
      <dgm:spPr/>
      <dgm:t>
        <a:bodyPr/>
        <a:lstStyle/>
        <a:p>
          <a:endParaRPr lang="en-GB"/>
        </a:p>
      </dgm:t>
    </dgm:pt>
    <dgm:pt modelId="{D9CF2B0F-F973-0341-870E-99B8CA9979DD}" type="sibTrans" cxnId="{33005FF8-9326-B34C-BD64-C3E0890C4BF6}">
      <dgm:prSet/>
      <dgm:spPr/>
      <dgm:t>
        <a:bodyPr/>
        <a:lstStyle/>
        <a:p>
          <a:endParaRPr lang="en-GB"/>
        </a:p>
      </dgm:t>
    </dgm:pt>
    <dgm:pt modelId="{A8DB5E30-1D21-8344-9E6A-5C1A85266708}">
      <dgm:prSet custT="1"/>
      <dgm:spPr/>
      <dgm:t>
        <a:bodyPr/>
        <a:lstStyle/>
        <a:p>
          <a:r>
            <a:rPr lang="de-DE" sz="1300" dirty="0"/>
            <a:t>Implementierungs-phase</a:t>
          </a:r>
          <a:endParaRPr lang="en-DE" sz="1300" dirty="0"/>
        </a:p>
      </dgm:t>
    </dgm:pt>
    <dgm:pt modelId="{8F7D2465-2FBD-574B-9BE6-A0A08C24A058}" type="parTrans" cxnId="{18AB10A1-9D2E-1748-9D03-D51B75B41954}">
      <dgm:prSet/>
      <dgm:spPr/>
      <dgm:t>
        <a:bodyPr/>
        <a:lstStyle/>
        <a:p>
          <a:endParaRPr lang="en-GB"/>
        </a:p>
      </dgm:t>
    </dgm:pt>
    <dgm:pt modelId="{9BB301A2-3B34-9C4F-8A78-1EB0FFED60B3}" type="sibTrans" cxnId="{18AB10A1-9D2E-1748-9D03-D51B75B41954}">
      <dgm:prSet/>
      <dgm:spPr/>
      <dgm:t>
        <a:bodyPr/>
        <a:lstStyle/>
        <a:p>
          <a:endParaRPr lang="en-GB"/>
        </a:p>
      </dgm:t>
    </dgm:pt>
    <dgm:pt modelId="{66F5022C-3CA7-744A-86B3-2AFEA4D76D07}">
      <dgm:prSet custT="1"/>
      <dgm:spPr/>
      <dgm:t>
        <a:bodyPr/>
        <a:lstStyle/>
        <a:p>
          <a:r>
            <a:rPr lang="de-DE" sz="1300" dirty="0"/>
            <a:t>Testphase</a:t>
          </a:r>
          <a:endParaRPr lang="en-DE" sz="1300" dirty="0"/>
        </a:p>
      </dgm:t>
    </dgm:pt>
    <dgm:pt modelId="{3BBDE3F3-4A43-FF48-81D2-27148354F51F}" type="parTrans" cxnId="{179AB588-2D82-D24B-B13B-B433C7C7EB68}">
      <dgm:prSet/>
      <dgm:spPr/>
      <dgm:t>
        <a:bodyPr/>
        <a:lstStyle/>
        <a:p>
          <a:endParaRPr lang="en-GB"/>
        </a:p>
      </dgm:t>
    </dgm:pt>
    <dgm:pt modelId="{F631CE36-C8ED-4544-A6B5-943DCAB63C8B}" type="sibTrans" cxnId="{179AB588-2D82-D24B-B13B-B433C7C7EB68}">
      <dgm:prSet/>
      <dgm:spPr/>
      <dgm:t>
        <a:bodyPr/>
        <a:lstStyle/>
        <a:p>
          <a:endParaRPr lang="en-GB"/>
        </a:p>
      </dgm:t>
    </dgm:pt>
    <dgm:pt modelId="{EB74001B-8E55-7F48-8E95-1E2D9962CC08}">
      <dgm:prSet custT="1"/>
      <dgm:spPr/>
      <dgm:t>
        <a:bodyPr/>
        <a:lstStyle/>
        <a:p>
          <a:r>
            <a:rPr lang="de-DE" sz="1300" dirty="0"/>
            <a:t>Abnahmephase</a:t>
          </a:r>
          <a:endParaRPr lang="en-DE" sz="1300" dirty="0"/>
        </a:p>
      </dgm:t>
    </dgm:pt>
    <dgm:pt modelId="{0C022E03-56C3-2941-B516-3A34DB407770}" type="parTrans" cxnId="{40FD5AC7-AF66-0F4A-8F9D-28D59B704D84}">
      <dgm:prSet/>
      <dgm:spPr/>
      <dgm:t>
        <a:bodyPr/>
        <a:lstStyle/>
        <a:p>
          <a:endParaRPr lang="en-GB"/>
        </a:p>
      </dgm:t>
    </dgm:pt>
    <dgm:pt modelId="{86438FCC-8553-5840-A74A-44C0882E52F4}" type="sibTrans" cxnId="{40FD5AC7-AF66-0F4A-8F9D-28D59B704D84}">
      <dgm:prSet/>
      <dgm:spPr/>
      <dgm:t>
        <a:bodyPr/>
        <a:lstStyle/>
        <a:p>
          <a:endParaRPr lang="en-GB"/>
        </a:p>
      </dgm:t>
    </dgm:pt>
    <dgm:pt modelId="{AF74E190-CF4E-AF4C-8877-696E7044FD47}">
      <dgm:prSet custT="1"/>
      <dgm:spPr/>
      <dgm:t>
        <a:bodyPr/>
        <a:lstStyle/>
        <a:p>
          <a:r>
            <a:rPr lang="de-DE" sz="1300"/>
            <a:t>Wartungsphase</a:t>
          </a:r>
          <a:endParaRPr lang="en-DE" sz="1300"/>
        </a:p>
      </dgm:t>
    </dgm:pt>
    <dgm:pt modelId="{DDDA588E-100E-E040-99B0-F6D96140673F}" type="parTrans" cxnId="{0813610A-E4EB-5E4D-952F-49F8D30257E5}">
      <dgm:prSet/>
      <dgm:spPr/>
      <dgm:t>
        <a:bodyPr/>
        <a:lstStyle/>
        <a:p>
          <a:endParaRPr lang="en-GB"/>
        </a:p>
      </dgm:t>
    </dgm:pt>
    <dgm:pt modelId="{274B2EA8-97D5-6D4B-9E1B-52A012CE3023}" type="sibTrans" cxnId="{0813610A-E4EB-5E4D-952F-49F8D30257E5}">
      <dgm:prSet/>
      <dgm:spPr/>
      <dgm:t>
        <a:bodyPr/>
        <a:lstStyle/>
        <a:p>
          <a:endParaRPr lang="en-GB"/>
        </a:p>
      </dgm:t>
    </dgm:pt>
    <dgm:pt modelId="{8016DAB9-75EA-944C-80BD-3BC76BFBBB84}" type="pres">
      <dgm:prSet presAssocID="{9FC2D8BE-6D4A-C54F-B23A-FCD554FA181F}" presName="Name0" presStyleCnt="0">
        <dgm:presLayoutVars>
          <dgm:dir/>
          <dgm:animLvl val="lvl"/>
          <dgm:resizeHandles val="exact"/>
        </dgm:presLayoutVars>
      </dgm:prSet>
      <dgm:spPr/>
    </dgm:pt>
    <dgm:pt modelId="{54980543-1E1E-DF43-B67D-FBE1644BEA54}" type="pres">
      <dgm:prSet presAssocID="{0F9CD01B-6957-C243-9D2A-2A2F17B865B9}" presName="parTxOnly" presStyleLbl="node1" presStyleIdx="0" presStyleCnt="6" custScaleY="91528">
        <dgm:presLayoutVars>
          <dgm:chMax val="0"/>
          <dgm:chPref val="0"/>
          <dgm:bulletEnabled val="1"/>
        </dgm:presLayoutVars>
      </dgm:prSet>
      <dgm:spPr/>
    </dgm:pt>
    <dgm:pt modelId="{C79C840D-6ED0-7A4A-A8B5-B1D82C229819}" type="pres">
      <dgm:prSet presAssocID="{6B25E4E0-A407-D840-8AD7-20BBBC1D9BD0}" presName="parTxOnlySpace" presStyleCnt="0"/>
      <dgm:spPr/>
    </dgm:pt>
    <dgm:pt modelId="{B78C5092-1980-424C-A005-DE87E24D8F08}" type="pres">
      <dgm:prSet presAssocID="{563689A2-260C-5049-B8F0-16C7C3C44EEE}" presName="parTxOnly" presStyleLbl="node1" presStyleIdx="1" presStyleCnt="6" custScaleY="91528">
        <dgm:presLayoutVars>
          <dgm:chMax val="0"/>
          <dgm:chPref val="0"/>
          <dgm:bulletEnabled val="1"/>
        </dgm:presLayoutVars>
      </dgm:prSet>
      <dgm:spPr/>
    </dgm:pt>
    <dgm:pt modelId="{4AB694F4-214D-134B-A5B8-8F8BA3854E26}" type="pres">
      <dgm:prSet presAssocID="{D9CF2B0F-F973-0341-870E-99B8CA9979DD}" presName="parTxOnlySpace" presStyleCnt="0"/>
      <dgm:spPr/>
    </dgm:pt>
    <dgm:pt modelId="{284724A1-8D44-9248-8530-FF643B13E2FD}" type="pres">
      <dgm:prSet presAssocID="{A8DB5E30-1D21-8344-9E6A-5C1A85266708}" presName="parTxOnly" presStyleLbl="node1" presStyleIdx="2" presStyleCnt="6" custScaleY="91528">
        <dgm:presLayoutVars>
          <dgm:chMax val="0"/>
          <dgm:chPref val="0"/>
          <dgm:bulletEnabled val="1"/>
        </dgm:presLayoutVars>
      </dgm:prSet>
      <dgm:spPr/>
    </dgm:pt>
    <dgm:pt modelId="{0C448C17-132D-2F41-AC76-63363563A971}" type="pres">
      <dgm:prSet presAssocID="{9BB301A2-3B34-9C4F-8A78-1EB0FFED60B3}" presName="parTxOnlySpace" presStyleCnt="0"/>
      <dgm:spPr/>
    </dgm:pt>
    <dgm:pt modelId="{91FFD2B4-FDBA-E64E-9123-6898F0F9580B}" type="pres">
      <dgm:prSet presAssocID="{66F5022C-3CA7-744A-86B3-2AFEA4D76D07}" presName="parTxOnly" presStyleLbl="node1" presStyleIdx="3" presStyleCnt="6" custScaleY="91528">
        <dgm:presLayoutVars>
          <dgm:chMax val="0"/>
          <dgm:chPref val="0"/>
          <dgm:bulletEnabled val="1"/>
        </dgm:presLayoutVars>
      </dgm:prSet>
      <dgm:spPr/>
    </dgm:pt>
    <dgm:pt modelId="{A02B3C61-2DAC-884B-8397-B59F833B35BF}" type="pres">
      <dgm:prSet presAssocID="{F631CE36-C8ED-4544-A6B5-943DCAB63C8B}" presName="parTxOnlySpace" presStyleCnt="0"/>
      <dgm:spPr/>
    </dgm:pt>
    <dgm:pt modelId="{B53259EC-9202-3849-9143-024B1992000F}" type="pres">
      <dgm:prSet presAssocID="{EB74001B-8E55-7F48-8E95-1E2D9962CC08}" presName="parTxOnly" presStyleLbl="node1" presStyleIdx="4" presStyleCnt="6" custScaleY="91528">
        <dgm:presLayoutVars>
          <dgm:chMax val="0"/>
          <dgm:chPref val="0"/>
          <dgm:bulletEnabled val="1"/>
        </dgm:presLayoutVars>
      </dgm:prSet>
      <dgm:spPr/>
    </dgm:pt>
    <dgm:pt modelId="{E0664D5B-91C1-6745-BB75-9B7B8348647D}" type="pres">
      <dgm:prSet presAssocID="{86438FCC-8553-5840-A74A-44C0882E52F4}" presName="parTxOnlySpace" presStyleCnt="0"/>
      <dgm:spPr/>
    </dgm:pt>
    <dgm:pt modelId="{78903811-8164-B544-B160-6B2211283F2D}" type="pres">
      <dgm:prSet presAssocID="{AF74E190-CF4E-AF4C-8877-696E7044FD47}" presName="parTxOnly" presStyleLbl="node1" presStyleIdx="5" presStyleCnt="6" custScaleY="91528">
        <dgm:presLayoutVars>
          <dgm:chMax val="0"/>
          <dgm:chPref val="0"/>
          <dgm:bulletEnabled val="1"/>
        </dgm:presLayoutVars>
      </dgm:prSet>
      <dgm:spPr/>
    </dgm:pt>
  </dgm:ptLst>
  <dgm:cxnLst>
    <dgm:cxn modelId="{0813610A-E4EB-5E4D-952F-49F8D30257E5}" srcId="{9FC2D8BE-6D4A-C54F-B23A-FCD554FA181F}" destId="{AF74E190-CF4E-AF4C-8877-696E7044FD47}" srcOrd="5" destOrd="0" parTransId="{DDDA588E-100E-E040-99B0-F6D96140673F}" sibTransId="{274B2EA8-97D5-6D4B-9E1B-52A012CE3023}"/>
    <dgm:cxn modelId="{20223C3E-41F4-6F43-A08E-CC3AD5AEBE16}" type="presOf" srcId="{563689A2-260C-5049-B8F0-16C7C3C44EEE}" destId="{B78C5092-1980-424C-A005-DE87E24D8F08}" srcOrd="0" destOrd="0" presId="urn:microsoft.com/office/officeart/2005/8/layout/chevron1"/>
    <dgm:cxn modelId="{4F185847-AB4F-DC4C-80CE-800914D9EB35}" type="presOf" srcId="{EB74001B-8E55-7F48-8E95-1E2D9962CC08}" destId="{B53259EC-9202-3849-9143-024B1992000F}" srcOrd="0" destOrd="0" presId="urn:microsoft.com/office/officeart/2005/8/layout/chevron1"/>
    <dgm:cxn modelId="{99A7C84A-65BA-0341-88E6-F64955BB4B98}" type="presOf" srcId="{0F9CD01B-6957-C243-9D2A-2A2F17B865B9}" destId="{54980543-1E1E-DF43-B67D-FBE1644BEA54}" srcOrd="0" destOrd="0" presId="urn:microsoft.com/office/officeart/2005/8/layout/chevron1"/>
    <dgm:cxn modelId="{35C43E57-0D72-5448-BE03-538E0D34D80D}" type="presOf" srcId="{66F5022C-3CA7-744A-86B3-2AFEA4D76D07}" destId="{91FFD2B4-FDBA-E64E-9123-6898F0F9580B}" srcOrd="0" destOrd="0" presId="urn:microsoft.com/office/officeart/2005/8/layout/chevron1"/>
    <dgm:cxn modelId="{1A085883-6516-624E-95DB-FAEEF03239E1}" type="presOf" srcId="{A8DB5E30-1D21-8344-9E6A-5C1A85266708}" destId="{284724A1-8D44-9248-8530-FF643B13E2FD}" srcOrd="0" destOrd="0" presId="urn:microsoft.com/office/officeart/2005/8/layout/chevron1"/>
    <dgm:cxn modelId="{179AB588-2D82-D24B-B13B-B433C7C7EB68}" srcId="{9FC2D8BE-6D4A-C54F-B23A-FCD554FA181F}" destId="{66F5022C-3CA7-744A-86B3-2AFEA4D76D07}" srcOrd="3" destOrd="0" parTransId="{3BBDE3F3-4A43-FF48-81D2-27148354F51F}" sibTransId="{F631CE36-C8ED-4544-A6B5-943DCAB63C8B}"/>
    <dgm:cxn modelId="{18AB10A1-9D2E-1748-9D03-D51B75B41954}" srcId="{9FC2D8BE-6D4A-C54F-B23A-FCD554FA181F}" destId="{A8DB5E30-1D21-8344-9E6A-5C1A85266708}" srcOrd="2" destOrd="0" parTransId="{8F7D2465-2FBD-574B-9BE6-A0A08C24A058}" sibTransId="{9BB301A2-3B34-9C4F-8A78-1EB0FFED60B3}"/>
    <dgm:cxn modelId="{D6FD8AB0-4D03-4E4E-8BDF-ED23B7F24DB1}" type="presOf" srcId="{9FC2D8BE-6D4A-C54F-B23A-FCD554FA181F}" destId="{8016DAB9-75EA-944C-80BD-3BC76BFBBB84}" srcOrd="0" destOrd="0" presId="urn:microsoft.com/office/officeart/2005/8/layout/chevron1"/>
    <dgm:cxn modelId="{40FD5AC7-AF66-0F4A-8F9D-28D59B704D84}" srcId="{9FC2D8BE-6D4A-C54F-B23A-FCD554FA181F}" destId="{EB74001B-8E55-7F48-8E95-1E2D9962CC08}" srcOrd="4" destOrd="0" parTransId="{0C022E03-56C3-2941-B516-3A34DB407770}" sibTransId="{86438FCC-8553-5840-A74A-44C0882E52F4}"/>
    <dgm:cxn modelId="{AD00ABD9-D06E-D44F-9678-AE81EE79F490}" type="presOf" srcId="{AF74E190-CF4E-AF4C-8877-696E7044FD47}" destId="{78903811-8164-B544-B160-6B2211283F2D}" srcOrd="0" destOrd="0" presId="urn:microsoft.com/office/officeart/2005/8/layout/chevron1"/>
    <dgm:cxn modelId="{031DE1F2-BD48-B844-A026-02A2BEC0D681}" srcId="{9FC2D8BE-6D4A-C54F-B23A-FCD554FA181F}" destId="{0F9CD01B-6957-C243-9D2A-2A2F17B865B9}" srcOrd="0" destOrd="0" parTransId="{505A29DA-5F6E-5E40-B194-79DE98B9B4EB}" sibTransId="{6B25E4E0-A407-D840-8AD7-20BBBC1D9BD0}"/>
    <dgm:cxn modelId="{33005FF8-9326-B34C-BD64-C3E0890C4BF6}" srcId="{9FC2D8BE-6D4A-C54F-B23A-FCD554FA181F}" destId="{563689A2-260C-5049-B8F0-16C7C3C44EEE}" srcOrd="1" destOrd="0" parTransId="{0EC4593F-F2E8-5044-B95F-510A8716FD04}" sibTransId="{D9CF2B0F-F973-0341-870E-99B8CA9979DD}"/>
    <dgm:cxn modelId="{D02CE026-BAFB-A344-ACC2-BA32419F3C56}" type="presParOf" srcId="{8016DAB9-75EA-944C-80BD-3BC76BFBBB84}" destId="{54980543-1E1E-DF43-B67D-FBE1644BEA54}" srcOrd="0" destOrd="0" presId="urn:microsoft.com/office/officeart/2005/8/layout/chevron1"/>
    <dgm:cxn modelId="{D2064A4C-207E-6F49-BD65-5A17692BC46C}" type="presParOf" srcId="{8016DAB9-75EA-944C-80BD-3BC76BFBBB84}" destId="{C79C840D-6ED0-7A4A-A8B5-B1D82C229819}" srcOrd="1" destOrd="0" presId="urn:microsoft.com/office/officeart/2005/8/layout/chevron1"/>
    <dgm:cxn modelId="{A7D571AA-4861-1341-8E63-19DBEBD5A821}" type="presParOf" srcId="{8016DAB9-75EA-944C-80BD-3BC76BFBBB84}" destId="{B78C5092-1980-424C-A005-DE87E24D8F08}" srcOrd="2" destOrd="0" presId="urn:microsoft.com/office/officeart/2005/8/layout/chevron1"/>
    <dgm:cxn modelId="{B5838515-72F2-354B-97BE-840B5AB10289}" type="presParOf" srcId="{8016DAB9-75EA-944C-80BD-3BC76BFBBB84}" destId="{4AB694F4-214D-134B-A5B8-8F8BA3854E26}" srcOrd="3" destOrd="0" presId="urn:microsoft.com/office/officeart/2005/8/layout/chevron1"/>
    <dgm:cxn modelId="{5470613E-696D-D94F-BAEE-B5CF67299786}" type="presParOf" srcId="{8016DAB9-75EA-944C-80BD-3BC76BFBBB84}" destId="{284724A1-8D44-9248-8530-FF643B13E2FD}" srcOrd="4" destOrd="0" presId="urn:microsoft.com/office/officeart/2005/8/layout/chevron1"/>
    <dgm:cxn modelId="{C093C36E-3EB1-5E45-B579-CFEC2BD57A19}" type="presParOf" srcId="{8016DAB9-75EA-944C-80BD-3BC76BFBBB84}" destId="{0C448C17-132D-2F41-AC76-63363563A971}" srcOrd="5" destOrd="0" presId="urn:microsoft.com/office/officeart/2005/8/layout/chevron1"/>
    <dgm:cxn modelId="{CF1ACF17-6393-1846-A0E0-7C0ABE39ABF8}" type="presParOf" srcId="{8016DAB9-75EA-944C-80BD-3BC76BFBBB84}" destId="{91FFD2B4-FDBA-E64E-9123-6898F0F9580B}" srcOrd="6" destOrd="0" presId="urn:microsoft.com/office/officeart/2005/8/layout/chevron1"/>
    <dgm:cxn modelId="{E9018475-61E9-DB4C-B31D-881F6FCEE8AB}" type="presParOf" srcId="{8016DAB9-75EA-944C-80BD-3BC76BFBBB84}" destId="{A02B3C61-2DAC-884B-8397-B59F833B35BF}" srcOrd="7" destOrd="0" presId="urn:microsoft.com/office/officeart/2005/8/layout/chevron1"/>
    <dgm:cxn modelId="{0F996FF5-97D1-5A48-A674-4EFF052C3693}" type="presParOf" srcId="{8016DAB9-75EA-944C-80BD-3BC76BFBBB84}" destId="{B53259EC-9202-3849-9143-024B1992000F}" srcOrd="8" destOrd="0" presId="urn:microsoft.com/office/officeart/2005/8/layout/chevron1"/>
    <dgm:cxn modelId="{49284261-043B-6842-A714-D2EE891F92F3}" type="presParOf" srcId="{8016DAB9-75EA-944C-80BD-3BC76BFBBB84}" destId="{E0664D5B-91C1-6745-BB75-9B7B8348647D}" srcOrd="9" destOrd="0" presId="urn:microsoft.com/office/officeart/2005/8/layout/chevron1"/>
    <dgm:cxn modelId="{952A08BC-75C3-F542-942C-2A4F96E30747}" type="presParOf" srcId="{8016DAB9-75EA-944C-80BD-3BC76BFBBB84}" destId="{78903811-8164-B544-B160-6B2211283F2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980543-1E1E-DF43-B67D-FBE1644BEA54}">
      <dsp:nvSpPr>
        <dsp:cNvPr id="0" name=""/>
        <dsp:cNvSpPr/>
      </dsp:nvSpPr>
      <dsp:spPr>
        <a:xfrm>
          <a:off x="5728" y="686687"/>
          <a:ext cx="2131026" cy="78019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Definitionsphase</a:t>
          </a:r>
          <a:endParaRPr lang="en-DE" sz="1300" kern="1200" dirty="0"/>
        </a:p>
      </dsp:txBody>
      <dsp:txXfrm>
        <a:off x="395825" y="686687"/>
        <a:ext cx="1350832" cy="780194"/>
      </dsp:txXfrm>
    </dsp:sp>
    <dsp:sp modelId="{B78C5092-1980-424C-A005-DE87E24D8F08}">
      <dsp:nvSpPr>
        <dsp:cNvPr id="0" name=""/>
        <dsp:cNvSpPr/>
      </dsp:nvSpPr>
      <dsp:spPr>
        <a:xfrm>
          <a:off x="1923652" y="686687"/>
          <a:ext cx="2131026" cy="78019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Designphase</a:t>
          </a:r>
          <a:endParaRPr lang="en-DE" sz="1300" kern="1200" dirty="0"/>
        </a:p>
      </dsp:txBody>
      <dsp:txXfrm>
        <a:off x="2313749" y="686687"/>
        <a:ext cx="1350832" cy="780194"/>
      </dsp:txXfrm>
    </dsp:sp>
    <dsp:sp modelId="{284724A1-8D44-9248-8530-FF643B13E2FD}">
      <dsp:nvSpPr>
        <dsp:cNvPr id="0" name=""/>
        <dsp:cNvSpPr/>
      </dsp:nvSpPr>
      <dsp:spPr>
        <a:xfrm>
          <a:off x="3841576" y="686687"/>
          <a:ext cx="2131026" cy="78019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Implementierungs-phase</a:t>
          </a:r>
          <a:endParaRPr lang="en-DE" sz="1300" kern="1200" dirty="0"/>
        </a:p>
      </dsp:txBody>
      <dsp:txXfrm>
        <a:off x="4231673" y="686687"/>
        <a:ext cx="1350832" cy="780194"/>
      </dsp:txXfrm>
    </dsp:sp>
    <dsp:sp modelId="{91FFD2B4-FDBA-E64E-9123-6898F0F9580B}">
      <dsp:nvSpPr>
        <dsp:cNvPr id="0" name=""/>
        <dsp:cNvSpPr/>
      </dsp:nvSpPr>
      <dsp:spPr>
        <a:xfrm>
          <a:off x="5759500" y="686687"/>
          <a:ext cx="2131026" cy="78019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Testphase</a:t>
          </a:r>
          <a:endParaRPr lang="en-DE" sz="1300" kern="1200" dirty="0"/>
        </a:p>
      </dsp:txBody>
      <dsp:txXfrm>
        <a:off x="6149597" y="686687"/>
        <a:ext cx="1350832" cy="780194"/>
      </dsp:txXfrm>
    </dsp:sp>
    <dsp:sp modelId="{B53259EC-9202-3849-9143-024B1992000F}">
      <dsp:nvSpPr>
        <dsp:cNvPr id="0" name=""/>
        <dsp:cNvSpPr/>
      </dsp:nvSpPr>
      <dsp:spPr>
        <a:xfrm>
          <a:off x="7677424" y="686687"/>
          <a:ext cx="2131026" cy="78019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Abnahmephase</a:t>
          </a:r>
          <a:endParaRPr lang="en-DE" sz="1300" kern="1200" dirty="0"/>
        </a:p>
      </dsp:txBody>
      <dsp:txXfrm>
        <a:off x="8067521" y="686687"/>
        <a:ext cx="1350832" cy="780194"/>
      </dsp:txXfrm>
    </dsp:sp>
    <dsp:sp modelId="{78903811-8164-B544-B160-6B2211283F2D}">
      <dsp:nvSpPr>
        <dsp:cNvPr id="0" name=""/>
        <dsp:cNvSpPr/>
      </dsp:nvSpPr>
      <dsp:spPr>
        <a:xfrm>
          <a:off x="9595348" y="686687"/>
          <a:ext cx="2131026" cy="78019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Wartungsphase</a:t>
          </a:r>
          <a:endParaRPr lang="en-DE" sz="1300" kern="1200"/>
        </a:p>
      </dsp:txBody>
      <dsp:txXfrm>
        <a:off x="9985445" y="686687"/>
        <a:ext cx="1350832" cy="7801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95DACD-601E-466D-9638-760BEAC65B80}" type="datetimeFigureOut">
              <a:rPr lang="de-DE" smtClean="0"/>
              <a:t>01.09.25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6A5B1-F813-47EB-9481-05C05567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0487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2B93-E2BF-46AE-AE3F-9159DE545777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532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540D0-00B4-4B71-B162-5867C9E60F53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51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EB88-8A21-4F83-8EC2-BD70B26EE6BB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25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F4A9-EC96-4954-8548-84921D0A7D46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608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F16D9-DA17-45B4-AAC5-56A72B4EFDE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215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ED08E-EA10-4840-8711-1F486B61927C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308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01A2-BDBF-442C-BC21-C299270E037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397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82D8D-4263-4311-8150-CD045E94D943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130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A5B-6152-478A-AF27-134AAAAF158D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67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1F8EC-6AF3-4740-AD16-E5A0FD0AD27E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972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0DBAB-6010-490B-A096-37C1AAEBFBAE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73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94C2B-95D7-433F-AE64-0E38497C818E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800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pp.diagrams.net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5BE538-15A1-DC61-18E7-46147FB77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7125" y="1461587"/>
            <a:ext cx="7070155" cy="874388"/>
          </a:xfrm>
        </p:spPr>
        <p:txBody>
          <a:bodyPr>
            <a:normAutofit fontScale="90000"/>
          </a:bodyPr>
          <a:lstStyle/>
          <a:p>
            <a:pPr algn="l"/>
            <a:r>
              <a:rPr lang="de-DE" b="1">
                <a:solidFill>
                  <a:srgbClr val="0070C0"/>
                </a:solidFill>
                <a:latin typeface="+mn-lt"/>
              </a:rPr>
              <a:t>Software Engineering II</a:t>
            </a:r>
            <a:endParaRPr lang="de-DE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461B8F-E872-2F1C-ADCA-35ABACF67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7126" y="2335975"/>
            <a:ext cx="9144000" cy="3263736"/>
          </a:xfrm>
        </p:spPr>
        <p:txBody>
          <a:bodyPr>
            <a:normAutofit/>
          </a:bodyPr>
          <a:lstStyle/>
          <a:p>
            <a:pPr algn="l"/>
            <a:r>
              <a:rPr lang="de-DE" dirty="0">
                <a:solidFill>
                  <a:srgbClr val="0070C0"/>
                </a:solidFill>
              </a:rPr>
              <a:t>Designphase</a:t>
            </a:r>
          </a:p>
          <a:p>
            <a:pPr algn="l"/>
            <a:endParaRPr lang="de-DE" dirty="0">
              <a:solidFill>
                <a:srgbClr val="0070C0"/>
              </a:solidFill>
            </a:endParaRPr>
          </a:p>
          <a:p>
            <a:pPr algn="l"/>
            <a:br>
              <a:rPr lang="de-DE" dirty="0">
                <a:solidFill>
                  <a:srgbClr val="0070C0"/>
                </a:solidFill>
              </a:rPr>
            </a:br>
            <a:endParaRPr lang="de-DE" dirty="0"/>
          </a:p>
          <a:p>
            <a:pPr algn="l"/>
            <a:endParaRPr lang="de-DE" dirty="0"/>
          </a:p>
          <a:p>
            <a:pPr algn="l"/>
            <a:r>
              <a:rPr lang="de-DE" dirty="0"/>
              <a:t>Mathis Neunzig</a:t>
            </a:r>
            <a:br>
              <a:rPr lang="de-DE" dirty="0"/>
            </a:br>
            <a:r>
              <a:rPr lang="de-DE" dirty="0"/>
              <a:t>ABAP Developer at SAP</a:t>
            </a:r>
            <a:br>
              <a:rPr lang="de-DE" dirty="0"/>
            </a:br>
            <a:r>
              <a:rPr lang="de-DE" dirty="0" err="1"/>
              <a:t>mathis.neunzig@gmail.com</a:t>
            </a:r>
            <a:endParaRPr lang="de-D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BE0C42C-EAE7-F05A-28EB-3788C9E3F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584" y="2999824"/>
            <a:ext cx="4011542" cy="2044664"/>
          </a:xfrm>
          <a:prstGeom prst="roundRect">
            <a:avLst>
              <a:gd name="adj" fmla="val 33978"/>
            </a:avLst>
          </a:prstGeom>
          <a:noFill/>
          <a:effectLst>
            <a:softEdge rad="210687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8225487-E36A-9B35-D88C-5BBBB35D7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296" y="4432144"/>
            <a:ext cx="2360957" cy="116756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4344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FAC92A-BA94-5B79-696F-EBE20E5B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Disclaimer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698870-1F1B-A58F-3AC6-A3CC9C13F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30543" cy="4351338"/>
          </a:xfrm>
        </p:spPr>
        <p:txBody>
          <a:bodyPr>
            <a:normAutofit fontScale="77500" lnSpcReduction="20000"/>
          </a:bodyPr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Diese Präsentation sowie alle weiteren Materialien dieser Vorlesung sind kein Ersatz für Literatur und können nicht als Quellen für wissenschaftliche Arbeiten genutzt werden.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de-DE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Diese Präsentation sowie alle weiteren Materialien dieser Vorlesungen dürfen nur von den Studierenden des Kurses WI 2024 SE A zur Nachbereitung der Vorlesung genutzt werden. Eine kommerzielle Nutzung und Weitergabe ist verboten.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de-DE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Alle Präsentation sowie alle weiteren Materialien werden vor Beginn der jeweiligen Vorlesung hochgeladen.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de-DE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Zur besseren Lesbarkeit wird auf die gleichzeitige Nutzung von weiblichen &amp; männlichen Begriffen verzichtet. Es wird das generische Maskulinum verwendet. Dabei sind weibliche und sonstige Formen des Wortes gleichwertig mitgemeint. </a:t>
            </a:r>
            <a:br>
              <a:rPr lang="de-DE" dirty="0"/>
            </a:br>
            <a:r>
              <a:rPr lang="de-DE" dirty="0"/>
              <a:t>(Beispiel: statt “</a:t>
            </a:r>
            <a:r>
              <a:rPr lang="de-DE" dirty="0" err="1"/>
              <a:t>Kund:innen</a:t>
            </a:r>
            <a:r>
              <a:rPr lang="de-DE" dirty="0"/>
              <a:t>“ </a:t>
            </a:r>
            <a:r>
              <a:rPr lang="de-DE" dirty="0">
                <a:sym typeface="Wingdings" pitchFamily="2" charset="2"/>
              </a:rPr>
              <a:t> „Kunden“)</a:t>
            </a:r>
            <a:endParaRPr lang="de-DE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5F0520F-548D-3FD6-9147-25A716B6DA6E}"/>
              </a:ext>
            </a:extLst>
          </p:cNvPr>
          <p:cNvCxnSpPr>
            <a:cxnSpLocks/>
          </p:cNvCxnSpPr>
          <p:nvPr/>
        </p:nvCxnSpPr>
        <p:spPr>
          <a:xfrm>
            <a:off x="-101319" y="1492898"/>
            <a:ext cx="123946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C33DC4-3BA0-1160-AA91-09AC1C60C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425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698870-1F1B-A58F-3AC6-A3CC9C13F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30543" cy="4351338"/>
          </a:xfrm>
        </p:spPr>
        <p:txBody>
          <a:bodyPr>
            <a:normAutofit/>
          </a:bodyPr>
          <a:lstStyle/>
          <a:p>
            <a:pPr marL="514350" indent="-514350">
              <a:buClr>
                <a:srgbClr val="0070C0"/>
              </a:buClr>
              <a:buFont typeface="+mj-lt"/>
              <a:buAutoNum type="arabicPeriod"/>
            </a:pPr>
            <a:r>
              <a:rPr lang="de-DE" dirty="0"/>
              <a:t>Designphase</a:t>
            </a:r>
          </a:p>
          <a:p>
            <a:pPr marL="514350" indent="-514350">
              <a:buClr>
                <a:srgbClr val="0070C0"/>
              </a:buClr>
              <a:buFont typeface="+mj-lt"/>
              <a:buAutoNum type="arabicPeriod"/>
            </a:pPr>
            <a:r>
              <a:rPr lang="de-DE" dirty="0"/>
              <a:t>High-Level-Architektur</a:t>
            </a:r>
          </a:p>
          <a:p>
            <a:pPr marL="514350" indent="-514350">
              <a:buClr>
                <a:srgbClr val="0070C0"/>
              </a:buClr>
              <a:buFont typeface="+mj-lt"/>
              <a:buAutoNum type="arabicPeriod"/>
            </a:pPr>
            <a:r>
              <a:rPr lang="de-DE" dirty="0"/>
              <a:t>Modularchitektur / Modulspezifikationen</a:t>
            </a:r>
          </a:p>
          <a:p>
            <a:pPr marL="514350" indent="-514350">
              <a:buClr>
                <a:srgbClr val="0070C0"/>
              </a:buClr>
              <a:buFont typeface="+mj-lt"/>
              <a:buAutoNum type="arabicPeriod"/>
            </a:pPr>
            <a:r>
              <a:rPr lang="de-DE" dirty="0"/>
              <a:t>Datenbankmodell</a:t>
            </a:r>
          </a:p>
          <a:p>
            <a:pPr marL="514350" indent="-514350">
              <a:buClr>
                <a:srgbClr val="0070C0"/>
              </a:buClr>
              <a:buFont typeface="+mj-lt"/>
              <a:buAutoNum type="arabicPeriod"/>
            </a:pPr>
            <a:r>
              <a:rPr lang="de-DE" dirty="0"/>
              <a:t>Mockups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3069A9-9650-7D08-E7B3-B8D3891E0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EEA99B81-920B-A10C-B681-4E02F33DF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de-DE"/>
              <a:t>Agenda</a:t>
            </a:r>
            <a:endParaRPr lang="de-DE" dirty="0"/>
          </a:p>
        </p:txBody>
      </p:sp>
      <p:cxnSp>
        <p:nvCxnSpPr>
          <p:cNvPr id="9" name="Gerader Verbinder 4">
            <a:extLst>
              <a:ext uri="{FF2B5EF4-FFF2-40B4-BE49-F238E27FC236}">
                <a16:creationId xmlns:a16="http://schemas.microsoft.com/office/drawing/2014/main" id="{8E0E1B8A-BE6E-9203-267E-7AAD9B63A2EC}"/>
              </a:ext>
            </a:extLst>
          </p:cNvPr>
          <p:cNvCxnSpPr>
            <a:cxnSpLocks/>
          </p:cNvCxnSpPr>
          <p:nvPr/>
        </p:nvCxnSpPr>
        <p:spPr>
          <a:xfrm>
            <a:off x="-101319" y="1492898"/>
            <a:ext cx="123946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640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5BE538-15A1-DC61-18E7-46147FB77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7125" y="2060398"/>
            <a:ext cx="7070155" cy="874388"/>
          </a:xfrm>
        </p:spPr>
        <p:txBody>
          <a:bodyPr>
            <a:normAutofit fontScale="90000"/>
          </a:bodyPr>
          <a:lstStyle/>
          <a:p>
            <a:pPr algn="l"/>
            <a:r>
              <a:rPr lang="de-DE" b="1" dirty="0">
                <a:solidFill>
                  <a:srgbClr val="0070C0"/>
                </a:solidFill>
                <a:latin typeface="+mn-lt"/>
              </a:rPr>
              <a:t>Designphase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461B8F-E872-2F1C-ADCA-35ABACF67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7126" y="3163986"/>
            <a:ext cx="9144000" cy="2395242"/>
          </a:xfrm>
        </p:spPr>
        <p:txBody>
          <a:bodyPr>
            <a:normAutofit/>
          </a:bodyPr>
          <a:lstStyle/>
          <a:p>
            <a:pPr algn="l"/>
            <a:r>
              <a:rPr lang="de-DE" dirty="0"/>
              <a:t>Was passiert in der Designphase?</a:t>
            </a:r>
          </a:p>
          <a:p>
            <a:pPr algn="l"/>
            <a:r>
              <a:rPr lang="de-DE" dirty="0"/>
              <a:t>Welche Dokumente muss ich anlegen?</a:t>
            </a:r>
          </a:p>
        </p:txBody>
      </p:sp>
    </p:spTree>
    <p:extLst>
      <p:ext uri="{BB962C8B-B14F-4D97-AF65-F5344CB8AC3E}">
        <p14:creationId xmlns:p14="http://schemas.microsoft.com/office/powerpoint/2010/main" val="3207641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3069A9-9650-7D08-E7B3-B8D3891E0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EEA99B81-920B-A10C-B681-4E02F33DF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de-DE" dirty="0"/>
              <a:t>Input &amp; Output</a:t>
            </a:r>
          </a:p>
        </p:txBody>
      </p:sp>
      <p:cxnSp>
        <p:nvCxnSpPr>
          <p:cNvPr id="9" name="Gerader Verbinder 4">
            <a:extLst>
              <a:ext uri="{FF2B5EF4-FFF2-40B4-BE49-F238E27FC236}">
                <a16:creationId xmlns:a16="http://schemas.microsoft.com/office/drawing/2014/main" id="{8E0E1B8A-BE6E-9203-267E-7AAD9B63A2EC}"/>
              </a:ext>
            </a:extLst>
          </p:cNvPr>
          <p:cNvCxnSpPr>
            <a:cxnSpLocks/>
          </p:cNvCxnSpPr>
          <p:nvPr/>
        </p:nvCxnSpPr>
        <p:spPr>
          <a:xfrm>
            <a:off x="-101319" y="1492898"/>
            <a:ext cx="123946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1072576-D374-72DE-B8E6-8704AA3D20D6}"/>
              </a:ext>
            </a:extLst>
          </p:cNvPr>
          <p:cNvGraphicFramePr/>
          <p:nvPr/>
        </p:nvGraphicFramePr>
        <p:xfrm>
          <a:off x="229947" y="2734014"/>
          <a:ext cx="11732104" cy="2153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F419E2B-3E06-945B-56F2-8CBE10EDDF85}"/>
              </a:ext>
            </a:extLst>
          </p:cNvPr>
          <p:cNvSpPr txBox="1"/>
          <p:nvPr/>
        </p:nvSpPr>
        <p:spPr>
          <a:xfrm>
            <a:off x="173303" y="2055739"/>
            <a:ext cx="2304990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DE" dirty="0"/>
              <a:t>Kundenanforderungen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2DCE2D-A179-314D-BE14-FE590C4E32C1}"/>
              </a:ext>
            </a:extLst>
          </p:cNvPr>
          <p:cNvSpPr txBox="1"/>
          <p:nvPr/>
        </p:nvSpPr>
        <p:spPr>
          <a:xfrm>
            <a:off x="830347" y="5059127"/>
            <a:ext cx="1392817" cy="646331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DE" dirty="0"/>
              <a:t>Lastenheft</a:t>
            </a:r>
          </a:p>
          <a:p>
            <a:pPr algn="ctr"/>
            <a:r>
              <a:rPr lang="en-DE" dirty="0"/>
              <a:t>Pflichtenheft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E2D0569-54D2-C47F-A262-BC4BC67693E9}"/>
              </a:ext>
            </a:extLst>
          </p:cNvPr>
          <p:cNvCxnSpPr>
            <a:cxnSpLocks/>
          </p:cNvCxnSpPr>
          <p:nvPr/>
        </p:nvCxnSpPr>
        <p:spPr>
          <a:xfrm>
            <a:off x="613699" y="2400791"/>
            <a:ext cx="0" cy="1175889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5EE7E3F-E8D6-7339-1CCE-3E2FCC2FC596}"/>
              </a:ext>
            </a:extLst>
          </p:cNvPr>
          <p:cNvCxnSpPr>
            <a:cxnSpLocks/>
          </p:cNvCxnSpPr>
          <p:nvPr/>
        </p:nvCxnSpPr>
        <p:spPr>
          <a:xfrm>
            <a:off x="1925524" y="4191987"/>
            <a:ext cx="0" cy="8671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FF87C7C-368F-B49E-31F7-A8AFCB1CBC31}"/>
              </a:ext>
            </a:extLst>
          </p:cNvPr>
          <p:cNvSpPr txBox="1"/>
          <p:nvPr/>
        </p:nvSpPr>
        <p:spPr>
          <a:xfrm>
            <a:off x="2369194" y="2562471"/>
            <a:ext cx="1392817" cy="64633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DE" dirty="0"/>
              <a:t>Lastenheft</a:t>
            </a:r>
          </a:p>
          <a:p>
            <a:pPr algn="ctr"/>
            <a:r>
              <a:rPr lang="en-DE" dirty="0"/>
              <a:t>Pflichtenheft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9DB943-9A80-0B8E-741C-F10A0EAF840E}"/>
              </a:ext>
            </a:extLst>
          </p:cNvPr>
          <p:cNvSpPr txBox="1"/>
          <p:nvPr/>
        </p:nvSpPr>
        <p:spPr>
          <a:xfrm>
            <a:off x="2569281" y="5586168"/>
            <a:ext cx="1683153" cy="923330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DE" dirty="0"/>
              <a:t>Architektur</a:t>
            </a:r>
          </a:p>
          <a:p>
            <a:pPr algn="ctr"/>
            <a:r>
              <a:rPr lang="en-DE" dirty="0"/>
              <a:t>Modellierungen</a:t>
            </a:r>
          </a:p>
          <a:p>
            <a:pPr algn="ctr"/>
            <a:r>
              <a:rPr lang="en-DE" dirty="0"/>
              <a:t>Regeln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E892E8-EC0C-7FDD-AD89-19C0D34ABE5F}"/>
              </a:ext>
            </a:extLst>
          </p:cNvPr>
          <p:cNvCxnSpPr>
            <a:cxnSpLocks/>
          </p:cNvCxnSpPr>
          <p:nvPr/>
        </p:nvCxnSpPr>
        <p:spPr>
          <a:xfrm>
            <a:off x="2711801" y="3134595"/>
            <a:ext cx="0" cy="442085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2C14DD9-2079-67F8-9762-C3B6BF37E4F3}"/>
              </a:ext>
            </a:extLst>
          </p:cNvPr>
          <p:cNvCxnSpPr>
            <a:cxnSpLocks/>
          </p:cNvCxnSpPr>
          <p:nvPr/>
        </p:nvCxnSpPr>
        <p:spPr>
          <a:xfrm>
            <a:off x="3833733" y="4195187"/>
            <a:ext cx="0" cy="139098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783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FAC92A-BA94-5B79-696F-EBE20E5B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Softwaredesign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698870-1F1B-A58F-3AC6-A3CC9C13F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30543" cy="4351338"/>
          </a:xfrm>
        </p:spPr>
        <p:txBody>
          <a:bodyPr>
            <a:normAutofit/>
          </a:bodyPr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„Softwaredesign ist der Prozess, die Softwarearchitektur, -komponenten, -</a:t>
            </a:r>
            <a:r>
              <a:rPr lang="de-DE" dirty="0" err="1"/>
              <a:t>schnittstellen</a:t>
            </a:r>
            <a:r>
              <a:rPr lang="de-DE" dirty="0"/>
              <a:t> und andere Merkmale eines Systems oder einer Komponente zu definieren“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Ergebnis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Architektur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Modellierungen 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Implementierungsregeln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5F0520F-548D-3FD6-9147-25A716B6DA6E}"/>
              </a:ext>
            </a:extLst>
          </p:cNvPr>
          <p:cNvCxnSpPr>
            <a:cxnSpLocks/>
          </p:cNvCxnSpPr>
          <p:nvPr/>
        </p:nvCxnSpPr>
        <p:spPr>
          <a:xfrm>
            <a:off x="-101319" y="1492898"/>
            <a:ext cx="123946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C33DC4-3BA0-1160-AA91-09AC1C60C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911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FAC92A-BA94-5B79-696F-EBE20E5B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Softwaredesign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698870-1F1B-A58F-3AC6-A3CC9C13F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30543" cy="4351338"/>
          </a:xfrm>
        </p:spPr>
        <p:txBody>
          <a:bodyPr>
            <a:normAutofit/>
          </a:bodyPr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Statisch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Feste Struktur des Systems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Keine Änderung während der Laufzeit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Dynamisch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Verhalten während der Laufzeit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Logisch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Logische Programmfunktionen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Mathematische Programmfunktionen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5F0520F-548D-3FD6-9147-25A716B6DA6E}"/>
              </a:ext>
            </a:extLst>
          </p:cNvPr>
          <p:cNvCxnSpPr>
            <a:cxnSpLocks/>
          </p:cNvCxnSpPr>
          <p:nvPr/>
        </p:nvCxnSpPr>
        <p:spPr>
          <a:xfrm>
            <a:off x="-101319" y="1492898"/>
            <a:ext cx="123946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C33DC4-3BA0-1160-AA91-09AC1C60C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43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FAC92A-BA94-5B79-696F-EBE20E5B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Aktivitäten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698870-1F1B-A58F-3AC6-A3CC9C13F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30543" cy="4351338"/>
          </a:xfrm>
        </p:spPr>
        <p:txBody>
          <a:bodyPr>
            <a:normAutofit/>
          </a:bodyPr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High-Level-Design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Makroarchitektur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Beschreibung der Architektur auf hohem Abstraktionsniveau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Software-Komponenten identifizieren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Mockups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Detailkonzept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Mikroarchitektur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Detaillierte Beschreibung aller Einzelkomponenten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Mockups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5F0520F-548D-3FD6-9147-25A716B6DA6E}"/>
              </a:ext>
            </a:extLst>
          </p:cNvPr>
          <p:cNvCxnSpPr>
            <a:cxnSpLocks/>
          </p:cNvCxnSpPr>
          <p:nvPr/>
        </p:nvCxnSpPr>
        <p:spPr>
          <a:xfrm>
            <a:off x="-101319" y="1492898"/>
            <a:ext cx="123946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C33DC4-3BA0-1160-AA91-09AC1C60C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012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5BE538-15A1-DC61-18E7-46147FB77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7125" y="2060398"/>
            <a:ext cx="7070155" cy="874388"/>
          </a:xfrm>
        </p:spPr>
        <p:txBody>
          <a:bodyPr>
            <a:normAutofit fontScale="90000"/>
          </a:bodyPr>
          <a:lstStyle/>
          <a:p>
            <a:pPr algn="l"/>
            <a:r>
              <a:rPr lang="de-DE" b="1" dirty="0">
                <a:solidFill>
                  <a:srgbClr val="0070C0"/>
                </a:solidFill>
                <a:latin typeface="+mn-lt"/>
              </a:rPr>
              <a:t>High-Level-Architektur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461B8F-E872-2F1C-ADCA-35ABACF67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7126" y="3163986"/>
            <a:ext cx="9144000" cy="2395242"/>
          </a:xfrm>
        </p:spPr>
        <p:txBody>
          <a:bodyPr>
            <a:normAutofit/>
          </a:bodyPr>
          <a:lstStyle/>
          <a:p>
            <a:pPr algn="l"/>
            <a:r>
              <a:rPr lang="de-DE" dirty="0"/>
              <a:t>Was gehört in eine High-Level-Architektur?</a:t>
            </a:r>
          </a:p>
          <a:p>
            <a:pPr algn="l"/>
            <a:r>
              <a:rPr lang="de-DE" dirty="0"/>
              <a:t>Welche Architekturen gibt es?</a:t>
            </a:r>
          </a:p>
          <a:p>
            <a:pPr algn="l"/>
            <a:r>
              <a:rPr lang="de-DE" dirty="0"/>
              <a:t>Wie modelliere ich die High-Level-Architektur?</a:t>
            </a:r>
          </a:p>
          <a:p>
            <a:pPr algn="l"/>
            <a:r>
              <a:rPr lang="de-DE" dirty="0"/>
              <a:t>Was ist UML?</a:t>
            </a:r>
          </a:p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0980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FAC92A-BA94-5B79-696F-EBE20E5B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High-Level-Architektur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698870-1F1B-A58F-3AC6-A3CC9C13F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30543" cy="4351338"/>
          </a:xfrm>
        </p:spPr>
        <p:txBody>
          <a:bodyPr>
            <a:normAutofit/>
          </a:bodyPr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Grundlegende Architektur der Anwendung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Z.B. Klassendiagramm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Fragen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Welche Komponenten gibt es?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Frontend, Backend, Datenbank?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Welche Techniken werden dafür benutzt?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Welche Architekturmuster?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5F0520F-548D-3FD6-9147-25A716B6DA6E}"/>
              </a:ext>
            </a:extLst>
          </p:cNvPr>
          <p:cNvCxnSpPr>
            <a:cxnSpLocks/>
          </p:cNvCxnSpPr>
          <p:nvPr/>
        </p:nvCxnSpPr>
        <p:spPr>
          <a:xfrm>
            <a:off x="-101319" y="1492898"/>
            <a:ext cx="123946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C33DC4-3BA0-1160-AA91-09AC1C60C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710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076DE-04CB-3DE1-DA07-E5BD54BCA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1B97E7-F9F6-A18B-E1F4-0D7633D17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Unsere Architektur: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D84422-13FB-FE23-07FE-D098D8E42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321C973-ED51-97D8-266C-B175BB2D2145}"/>
              </a:ext>
            </a:extLst>
          </p:cNvPr>
          <p:cNvCxnSpPr>
            <a:cxnSpLocks/>
          </p:cNvCxnSpPr>
          <p:nvPr/>
        </p:nvCxnSpPr>
        <p:spPr>
          <a:xfrm>
            <a:off x="-101319" y="1492898"/>
            <a:ext cx="123946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n 6">
            <a:extLst>
              <a:ext uri="{FF2B5EF4-FFF2-40B4-BE49-F238E27FC236}">
                <a16:creationId xmlns:a16="http://schemas.microsoft.com/office/drawing/2014/main" id="{1F64356F-57CC-39EE-10F1-3BE88C04C9F4}"/>
              </a:ext>
            </a:extLst>
          </p:cNvPr>
          <p:cNvSpPr/>
          <p:nvPr/>
        </p:nvSpPr>
        <p:spPr>
          <a:xfrm>
            <a:off x="3522393" y="5134453"/>
            <a:ext cx="5147209" cy="1221897"/>
          </a:xfrm>
          <a:prstGeom prst="ca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Datenbank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371FF3-8E14-4DE9-F24A-2DDBEEB3CE29}"/>
              </a:ext>
            </a:extLst>
          </p:cNvPr>
          <p:cNvSpPr/>
          <p:nvPr/>
        </p:nvSpPr>
        <p:spPr>
          <a:xfrm>
            <a:off x="3551895" y="3147630"/>
            <a:ext cx="5088206" cy="175090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43593-00B3-575F-9D3A-97C0135B1C74}"/>
              </a:ext>
            </a:extLst>
          </p:cNvPr>
          <p:cNvSpPr/>
          <p:nvPr/>
        </p:nvSpPr>
        <p:spPr>
          <a:xfrm>
            <a:off x="3850965" y="4140846"/>
            <a:ext cx="4490070" cy="57696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EA15E5-948A-A4DA-32B7-7C290A1ED228}"/>
              </a:ext>
            </a:extLst>
          </p:cNvPr>
          <p:cNvSpPr/>
          <p:nvPr/>
        </p:nvSpPr>
        <p:spPr>
          <a:xfrm>
            <a:off x="3850962" y="3322334"/>
            <a:ext cx="2126694" cy="57696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Controller 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08CF01-F176-B741-8E13-100F0EF629DA}"/>
              </a:ext>
            </a:extLst>
          </p:cNvPr>
          <p:cNvSpPr/>
          <p:nvPr/>
        </p:nvSpPr>
        <p:spPr>
          <a:xfrm>
            <a:off x="6214345" y="3322334"/>
            <a:ext cx="2126695" cy="57696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Controller 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D5A0FD-A75F-AD26-8F8F-DC2F9950F1A3}"/>
              </a:ext>
            </a:extLst>
          </p:cNvPr>
          <p:cNvSpPr/>
          <p:nvPr/>
        </p:nvSpPr>
        <p:spPr>
          <a:xfrm>
            <a:off x="3551894" y="1649437"/>
            <a:ext cx="5088206" cy="8215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95A445-A9E0-3525-4568-EEFEDD343C1C}"/>
              </a:ext>
            </a:extLst>
          </p:cNvPr>
          <p:cNvSpPr/>
          <p:nvPr/>
        </p:nvSpPr>
        <p:spPr>
          <a:xfrm>
            <a:off x="3850965" y="1771707"/>
            <a:ext cx="4490070" cy="57696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EE2962-B885-90C7-7CF0-57E11C53D7B0}"/>
              </a:ext>
            </a:extLst>
          </p:cNvPr>
          <p:cNvSpPr txBox="1"/>
          <p:nvPr/>
        </p:nvSpPr>
        <p:spPr>
          <a:xfrm>
            <a:off x="6095997" y="2624333"/>
            <a:ext cx="63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C3E35B-93DA-829B-A0D0-90AD22AAE8D0}"/>
              </a:ext>
            </a:extLst>
          </p:cNvPr>
          <p:cNvCxnSpPr/>
          <p:nvPr/>
        </p:nvCxnSpPr>
        <p:spPr>
          <a:xfrm>
            <a:off x="5977656" y="2580509"/>
            <a:ext cx="0" cy="45698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137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FAC92A-BA94-5B79-696F-EBE20E5B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UML Klassendiagramm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5F0520F-548D-3FD6-9147-25A716B6DA6E}"/>
              </a:ext>
            </a:extLst>
          </p:cNvPr>
          <p:cNvCxnSpPr>
            <a:cxnSpLocks/>
          </p:cNvCxnSpPr>
          <p:nvPr/>
        </p:nvCxnSpPr>
        <p:spPr>
          <a:xfrm>
            <a:off x="-101319" y="1492898"/>
            <a:ext cx="123946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C33DC4-3BA0-1160-AA91-09AC1C60C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EFB1B8-4AF9-EE24-AB14-62CD05952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15427"/>
            <a:ext cx="7772400" cy="302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132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FAC92A-BA94-5B79-696F-EBE20E5B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Ziele von UML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698870-1F1B-A58F-3AC6-A3CC9C13F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30543" cy="4351338"/>
          </a:xfrm>
        </p:spPr>
        <p:txBody>
          <a:bodyPr>
            <a:normAutofit/>
          </a:bodyPr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Korrektheit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Genauigkeit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Prägnanz, nichts Überflüssiges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Konsistenz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Verständlichkeit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5F0520F-548D-3FD6-9147-25A716B6DA6E}"/>
              </a:ext>
            </a:extLst>
          </p:cNvPr>
          <p:cNvCxnSpPr>
            <a:cxnSpLocks/>
          </p:cNvCxnSpPr>
          <p:nvPr/>
        </p:nvCxnSpPr>
        <p:spPr>
          <a:xfrm>
            <a:off x="-101319" y="1492898"/>
            <a:ext cx="123946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C33DC4-3BA0-1160-AA91-09AC1C60C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243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FAC92A-BA94-5B79-696F-EBE20E5B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Kritik an UML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698870-1F1B-A58F-3AC6-A3CC9C13F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30543" cy="4351338"/>
          </a:xfrm>
        </p:spPr>
        <p:txBody>
          <a:bodyPr>
            <a:normAutofit/>
          </a:bodyPr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Sehr umfangreich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Schwer vollständig erlernbar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Anwendung kann missbräuchlich sein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Nicht präzise genug </a:t>
            </a:r>
            <a:r>
              <a:rPr lang="de-DE" dirty="0">
                <a:sym typeface="Wingdings" pitchFamily="2" charset="2"/>
              </a:rPr>
              <a:t> Kompromiss mit Lesbarkeit</a:t>
            </a:r>
            <a:endParaRPr lang="de-DE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5F0520F-548D-3FD6-9147-25A716B6DA6E}"/>
              </a:ext>
            </a:extLst>
          </p:cNvPr>
          <p:cNvCxnSpPr>
            <a:cxnSpLocks/>
          </p:cNvCxnSpPr>
          <p:nvPr/>
        </p:nvCxnSpPr>
        <p:spPr>
          <a:xfrm>
            <a:off x="-101319" y="1492898"/>
            <a:ext cx="123946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C33DC4-3BA0-1160-AA91-09AC1C60C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602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FAC92A-BA94-5B79-696F-EBE20E5B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Tools: </a:t>
            </a:r>
            <a:r>
              <a:rPr lang="de-DE" dirty="0" err="1"/>
              <a:t>Draw.io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698870-1F1B-A58F-3AC6-A3CC9C13F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30543" cy="4351338"/>
          </a:xfrm>
        </p:spPr>
        <p:txBody>
          <a:bodyPr>
            <a:normAutofit/>
          </a:bodyPr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Früher </a:t>
            </a:r>
            <a:r>
              <a:rPr lang="de-DE" dirty="0" err="1"/>
              <a:t>draw.io</a:t>
            </a:r>
            <a:r>
              <a:rPr lang="de-DE" dirty="0"/>
              <a:t>, jetzt </a:t>
            </a:r>
            <a:r>
              <a:rPr lang="de-DE" dirty="0" err="1"/>
              <a:t>app.diagrams.net</a:t>
            </a:r>
            <a:endParaRPr lang="de-DE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GitHub-Integrierung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Export als Bilder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/>
              <a:t>Direkt auf GitHub als Commit speichern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de-DE" dirty="0">
                <a:hlinkClick r:id="rId2"/>
              </a:rPr>
              <a:t>https://app.diagrams.net/</a:t>
            </a:r>
            <a:endParaRPr lang="de-DE" dirty="0"/>
          </a:p>
          <a:p>
            <a:pPr marL="0" indent="0">
              <a:buClr>
                <a:srgbClr val="0070C0"/>
              </a:buClr>
              <a:buNone/>
            </a:pPr>
            <a:endParaRPr lang="de-DE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5F0520F-548D-3FD6-9147-25A716B6DA6E}"/>
              </a:ext>
            </a:extLst>
          </p:cNvPr>
          <p:cNvCxnSpPr>
            <a:cxnSpLocks/>
          </p:cNvCxnSpPr>
          <p:nvPr/>
        </p:nvCxnSpPr>
        <p:spPr>
          <a:xfrm>
            <a:off x="-101319" y="1492898"/>
            <a:ext cx="123946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C33DC4-3BA0-1160-AA91-09AC1C60C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759492-DD5F-A86F-DC89-16D5BD625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958" y="396875"/>
            <a:ext cx="25781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782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5BE538-15A1-DC61-18E7-46147FB77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5117" y="1898781"/>
            <a:ext cx="4078686" cy="874388"/>
          </a:xfrm>
        </p:spPr>
        <p:txBody>
          <a:bodyPr>
            <a:normAutofit fontScale="90000"/>
          </a:bodyPr>
          <a:lstStyle/>
          <a:p>
            <a:pPr algn="l"/>
            <a:r>
              <a:rPr lang="de-DE" b="1" dirty="0">
                <a:solidFill>
                  <a:srgbClr val="0070C0"/>
                </a:solidFill>
                <a:latin typeface="+mn-lt"/>
              </a:rPr>
              <a:t>Danke!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461B8F-E872-2F1C-ADCA-35ABACF67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5117" y="2773169"/>
            <a:ext cx="9144000" cy="3263736"/>
          </a:xfrm>
        </p:spPr>
        <p:txBody>
          <a:bodyPr>
            <a:normAutofit/>
          </a:bodyPr>
          <a:lstStyle/>
          <a:p>
            <a:pPr algn="l"/>
            <a:endParaRPr lang="de-DE" dirty="0"/>
          </a:p>
          <a:p>
            <a:pPr algn="l"/>
            <a:r>
              <a:rPr lang="de-DE" dirty="0"/>
              <a:t>Mathis Neunzig</a:t>
            </a:r>
            <a:br>
              <a:rPr lang="de-DE" dirty="0"/>
            </a:br>
            <a:r>
              <a:rPr lang="de-DE" dirty="0" err="1"/>
              <a:t>mathis.neunzig@gmail.com</a:t>
            </a:r>
            <a:endParaRPr lang="de-DE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73104EA-44BD-2AA7-3702-BBCFA67F1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5232" y="1750837"/>
            <a:ext cx="4011542" cy="2044664"/>
          </a:xfrm>
          <a:prstGeom prst="roundRect">
            <a:avLst>
              <a:gd name="adj" fmla="val 33978"/>
            </a:avLst>
          </a:prstGeom>
          <a:noFill/>
          <a:effectLst>
            <a:softEdge rad="210687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5DEF5ADB-8884-85BE-48DB-CA5665C66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295" y="3237470"/>
            <a:ext cx="2360957" cy="116756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5657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10200</TotalTime>
  <Words>402</Words>
  <Application>Microsoft Macintosh PowerPoint</Application>
  <PresentationFormat>Widescreen</PresentationFormat>
  <Paragraphs>116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</vt:lpstr>
      <vt:lpstr>Software Engineering II</vt:lpstr>
      <vt:lpstr>Disclaimer</vt:lpstr>
      <vt:lpstr>Agenda</vt:lpstr>
      <vt:lpstr>Designphase</vt:lpstr>
      <vt:lpstr>Input &amp; Output</vt:lpstr>
      <vt:lpstr>Softwaredesign</vt:lpstr>
      <vt:lpstr>Softwaredesign</vt:lpstr>
      <vt:lpstr>Aktivitäten</vt:lpstr>
      <vt:lpstr>High-Level-Architektur</vt:lpstr>
      <vt:lpstr>High-Level-Architektur</vt:lpstr>
      <vt:lpstr>Unsere Architektur:</vt:lpstr>
      <vt:lpstr>UML Klassendiagramm</vt:lpstr>
      <vt:lpstr>Ziele von UML</vt:lpstr>
      <vt:lpstr>Kritik an UML</vt:lpstr>
      <vt:lpstr>Tools: Draw.io</vt:lpstr>
      <vt:lpstr>Danke!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ABAP I</dc:title>
  <dc:creator>Mathis Neunzig</dc:creator>
  <cp:lastModifiedBy>Mathis Neunzig</cp:lastModifiedBy>
  <cp:revision>42</cp:revision>
  <dcterms:created xsi:type="dcterms:W3CDTF">2023-07-29T10:27:32Z</dcterms:created>
  <dcterms:modified xsi:type="dcterms:W3CDTF">2025-09-01T13:43:35Z</dcterms:modified>
</cp:coreProperties>
</file>