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handoutMasterIdLst>
    <p:handoutMasterId r:id="rId65"/>
  </p:handoutMasterIdLst>
  <p:sldIdLst>
    <p:sldId id="336" r:id="rId2"/>
    <p:sldId id="289" r:id="rId3"/>
    <p:sldId id="286" r:id="rId4"/>
    <p:sldId id="303" r:id="rId5"/>
    <p:sldId id="304" r:id="rId6"/>
    <p:sldId id="305" r:id="rId7"/>
    <p:sldId id="306" r:id="rId8"/>
    <p:sldId id="307" r:id="rId9"/>
    <p:sldId id="309" r:id="rId10"/>
    <p:sldId id="308" r:id="rId11"/>
    <p:sldId id="310" r:id="rId12"/>
    <p:sldId id="345" r:id="rId13"/>
    <p:sldId id="346" r:id="rId14"/>
    <p:sldId id="311" r:id="rId15"/>
    <p:sldId id="331" r:id="rId16"/>
    <p:sldId id="347" r:id="rId17"/>
    <p:sldId id="344" r:id="rId18"/>
    <p:sldId id="332" r:id="rId19"/>
    <p:sldId id="349" r:id="rId20"/>
    <p:sldId id="350" r:id="rId21"/>
    <p:sldId id="351" r:id="rId22"/>
    <p:sldId id="348" r:id="rId23"/>
    <p:sldId id="340" r:id="rId24"/>
    <p:sldId id="330" r:id="rId25"/>
    <p:sldId id="341" r:id="rId26"/>
    <p:sldId id="342" r:id="rId27"/>
    <p:sldId id="343" r:id="rId28"/>
    <p:sldId id="313" r:id="rId29"/>
    <p:sldId id="312" r:id="rId30"/>
    <p:sldId id="368" r:id="rId31"/>
    <p:sldId id="320" r:id="rId32"/>
    <p:sldId id="333" r:id="rId33"/>
    <p:sldId id="314" r:id="rId34"/>
    <p:sldId id="334" r:id="rId35"/>
    <p:sldId id="352" r:id="rId36"/>
    <p:sldId id="353" r:id="rId37"/>
    <p:sldId id="316" r:id="rId38"/>
    <p:sldId id="335" r:id="rId39"/>
    <p:sldId id="354" r:id="rId40"/>
    <p:sldId id="355" r:id="rId41"/>
    <p:sldId id="317" r:id="rId42"/>
    <p:sldId id="356" r:id="rId43"/>
    <p:sldId id="357" r:id="rId44"/>
    <p:sldId id="358" r:id="rId45"/>
    <p:sldId id="359" r:id="rId46"/>
    <p:sldId id="360" r:id="rId47"/>
    <p:sldId id="366" r:id="rId48"/>
    <p:sldId id="367" r:id="rId49"/>
    <p:sldId id="319" r:id="rId50"/>
    <p:sldId id="361" r:id="rId51"/>
    <p:sldId id="363" r:id="rId52"/>
    <p:sldId id="362" r:id="rId53"/>
    <p:sldId id="364" r:id="rId54"/>
    <p:sldId id="369" r:id="rId55"/>
    <p:sldId id="318" r:id="rId56"/>
    <p:sldId id="321" r:id="rId57"/>
    <p:sldId id="326" r:id="rId58"/>
    <p:sldId id="365" r:id="rId59"/>
    <p:sldId id="322" r:id="rId60"/>
    <p:sldId id="323" r:id="rId61"/>
    <p:sldId id="324" r:id="rId62"/>
    <p:sldId id="325" r:id="rId63"/>
  </p:sldIdLst>
  <p:sldSz cx="9144000" cy="6858000" type="screen4x3"/>
  <p:notesSz cx="6877050" cy="9656763"/>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Designformatvorlage 1 - Akz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84" autoAdjust="0"/>
    <p:restoredTop sz="86893" autoAdjust="0"/>
  </p:normalViewPr>
  <p:slideViewPr>
    <p:cSldViewPr>
      <p:cViewPr varScale="1">
        <p:scale>
          <a:sx n="71" d="100"/>
          <a:sy n="71" d="100"/>
        </p:scale>
        <p:origin x="1651" y="283"/>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80055" cy="482838"/>
          </a:xfrm>
          <a:prstGeom prst="rect">
            <a:avLst/>
          </a:prstGeom>
        </p:spPr>
        <p:txBody>
          <a:bodyPr vert="horz" lIns="96442" tIns="48221" rIns="96442" bIns="48221" rtlCol="0"/>
          <a:lstStyle>
            <a:lvl1pPr algn="l">
              <a:defRPr sz="1300"/>
            </a:lvl1pPr>
          </a:lstStyle>
          <a:p>
            <a:endParaRPr lang="de-DE"/>
          </a:p>
        </p:txBody>
      </p:sp>
      <p:sp>
        <p:nvSpPr>
          <p:cNvPr id="3" name="Datumsplatzhalter 2"/>
          <p:cNvSpPr>
            <a:spLocks noGrp="1"/>
          </p:cNvSpPr>
          <p:nvPr>
            <p:ph type="dt" sz="quarter" idx="1"/>
          </p:nvPr>
        </p:nvSpPr>
        <p:spPr>
          <a:xfrm>
            <a:off x="3895404" y="0"/>
            <a:ext cx="2980055" cy="482838"/>
          </a:xfrm>
          <a:prstGeom prst="rect">
            <a:avLst/>
          </a:prstGeom>
        </p:spPr>
        <p:txBody>
          <a:bodyPr vert="horz" lIns="96442" tIns="48221" rIns="96442" bIns="48221" rtlCol="0"/>
          <a:lstStyle>
            <a:lvl1pPr algn="r">
              <a:defRPr sz="1300"/>
            </a:lvl1pPr>
          </a:lstStyle>
          <a:p>
            <a:fld id="{9A47658A-A0BB-4EFE-8951-03B4A5024938}" type="datetimeFigureOut">
              <a:rPr lang="de-DE" smtClean="0"/>
              <a:pPr/>
              <a:t>26.03.2025</a:t>
            </a:fld>
            <a:endParaRPr lang="de-DE"/>
          </a:p>
        </p:txBody>
      </p:sp>
      <p:sp>
        <p:nvSpPr>
          <p:cNvPr id="4" name="Fußzeilenplatzhalter 3"/>
          <p:cNvSpPr>
            <a:spLocks noGrp="1"/>
          </p:cNvSpPr>
          <p:nvPr>
            <p:ph type="ftr" sz="quarter" idx="2"/>
          </p:nvPr>
        </p:nvSpPr>
        <p:spPr>
          <a:xfrm>
            <a:off x="0" y="9172249"/>
            <a:ext cx="2980055" cy="482838"/>
          </a:xfrm>
          <a:prstGeom prst="rect">
            <a:avLst/>
          </a:prstGeom>
        </p:spPr>
        <p:txBody>
          <a:bodyPr vert="horz" lIns="96442" tIns="48221" rIns="96442" bIns="48221" rtlCol="0" anchor="b"/>
          <a:lstStyle>
            <a:lvl1pPr algn="l">
              <a:defRPr sz="1300"/>
            </a:lvl1pPr>
          </a:lstStyle>
          <a:p>
            <a:endParaRPr lang="de-DE"/>
          </a:p>
        </p:txBody>
      </p:sp>
      <p:sp>
        <p:nvSpPr>
          <p:cNvPr id="5" name="Foliennummernplatzhalter 4"/>
          <p:cNvSpPr>
            <a:spLocks noGrp="1"/>
          </p:cNvSpPr>
          <p:nvPr>
            <p:ph type="sldNum" sz="quarter" idx="3"/>
          </p:nvPr>
        </p:nvSpPr>
        <p:spPr>
          <a:xfrm>
            <a:off x="3895404" y="9172249"/>
            <a:ext cx="2980055" cy="482838"/>
          </a:xfrm>
          <a:prstGeom prst="rect">
            <a:avLst/>
          </a:prstGeom>
        </p:spPr>
        <p:txBody>
          <a:bodyPr vert="horz" lIns="96442" tIns="48221" rIns="96442" bIns="48221" rtlCol="0" anchor="b"/>
          <a:lstStyle>
            <a:lvl1pPr algn="r">
              <a:defRPr sz="1300"/>
            </a:lvl1pPr>
          </a:lstStyle>
          <a:p>
            <a:fld id="{5A144D25-A113-4301-A6FA-1EC30FB1180C}" type="slidenum">
              <a:rPr lang="de-DE" smtClean="0"/>
              <a:pPr/>
              <a:t>‹Nr.›</a:t>
            </a:fld>
            <a:endParaRPr lang="de-D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80055" cy="482838"/>
          </a:xfrm>
          <a:prstGeom prst="rect">
            <a:avLst/>
          </a:prstGeom>
        </p:spPr>
        <p:txBody>
          <a:bodyPr vert="horz" lIns="96442" tIns="48221" rIns="96442" bIns="48221" rtlCol="0"/>
          <a:lstStyle>
            <a:lvl1pPr algn="l">
              <a:defRPr sz="1300"/>
            </a:lvl1pPr>
          </a:lstStyle>
          <a:p>
            <a:endParaRPr lang="de-DE"/>
          </a:p>
        </p:txBody>
      </p:sp>
      <p:sp>
        <p:nvSpPr>
          <p:cNvPr id="3" name="Datumsplatzhalter 2"/>
          <p:cNvSpPr>
            <a:spLocks noGrp="1"/>
          </p:cNvSpPr>
          <p:nvPr>
            <p:ph type="dt" idx="1"/>
          </p:nvPr>
        </p:nvSpPr>
        <p:spPr>
          <a:xfrm>
            <a:off x="3895404" y="0"/>
            <a:ext cx="2980055" cy="482838"/>
          </a:xfrm>
          <a:prstGeom prst="rect">
            <a:avLst/>
          </a:prstGeom>
        </p:spPr>
        <p:txBody>
          <a:bodyPr vert="horz" lIns="96442" tIns="48221" rIns="96442" bIns="48221" rtlCol="0"/>
          <a:lstStyle>
            <a:lvl1pPr algn="r">
              <a:defRPr sz="1300"/>
            </a:lvl1pPr>
          </a:lstStyle>
          <a:p>
            <a:fld id="{3707D3C1-7F20-46F5-93B5-92667E661BA9}" type="datetimeFigureOut">
              <a:rPr lang="de-DE" smtClean="0"/>
              <a:pPr/>
              <a:t>26.03.2025</a:t>
            </a:fld>
            <a:endParaRPr lang="de-DE"/>
          </a:p>
        </p:txBody>
      </p:sp>
      <p:sp>
        <p:nvSpPr>
          <p:cNvPr id="4" name="Folienbildplatzhalter 3"/>
          <p:cNvSpPr>
            <a:spLocks noGrp="1" noRot="1" noChangeAspect="1"/>
          </p:cNvSpPr>
          <p:nvPr>
            <p:ph type="sldImg" idx="2"/>
          </p:nvPr>
        </p:nvSpPr>
        <p:spPr>
          <a:xfrm>
            <a:off x="1025525" y="725488"/>
            <a:ext cx="4826000" cy="3619500"/>
          </a:xfrm>
          <a:prstGeom prst="rect">
            <a:avLst/>
          </a:prstGeom>
          <a:noFill/>
          <a:ln w="12700">
            <a:solidFill>
              <a:prstClr val="black"/>
            </a:solidFill>
          </a:ln>
        </p:spPr>
        <p:txBody>
          <a:bodyPr vert="horz" lIns="96442" tIns="48221" rIns="96442" bIns="48221" rtlCol="0" anchor="ctr"/>
          <a:lstStyle/>
          <a:p>
            <a:endParaRPr lang="de-DE"/>
          </a:p>
        </p:txBody>
      </p:sp>
      <p:sp>
        <p:nvSpPr>
          <p:cNvPr id="5" name="Notizenplatzhalter 4"/>
          <p:cNvSpPr>
            <a:spLocks noGrp="1"/>
          </p:cNvSpPr>
          <p:nvPr>
            <p:ph type="body" sz="quarter" idx="3"/>
          </p:nvPr>
        </p:nvSpPr>
        <p:spPr>
          <a:xfrm>
            <a:off x="687706" y="4586963"/>
            <a:ext cx="5501640" cy="4345543"/>
          </a:xfrm>
          <a:prstGeom prst="rect">
            <a:avLst/>
          </a:prstGeom>
        </p:spPr>
        <p:txBody>
          <a:bodyPr vert="horz" lIns="96442" tIns="48221" rIns="96442" bIns="48221" rtlCol="0">
            <a:normAutofit/>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9172249"/>
            <a:ext cx="2980055" cy="482838"/>
          </a:xfrm>
          <a:prstGeom prst="rect">
            <a:avLst/>
          </a:prstGeom>
        </p:spPr>
        <p:txBody>
          <a:bodyPr vert="horz" lIns="96442" tIns="48221" rIns="96442" bIns="48221" rtlCol="0" anchor="b"/>
          <a:lstStyle>
            <a:lvl1pPr algn="l">
              <a:defRPr sz="1300"/>
            </a:lvl1pPr>
          </a:lstStyle>
          <a:p>
            <a:endParaRPr lang="de-DE"/>
          </a:p>
        </p:txBody>
      </p:sp>
      <p:sp>
        <p:nvSpPr>
          <p:cNvPr id="7" name="Foliennummernplatzhalter 6"/>
          <p:cNvSpPr>
            <a:spLocks noGrp="1"/>
          </p:cNvSpPr>
          <p:nvPr>
            <p:ph type="sldNum" sz="quarter" idx="5"/>
          </p:nvPr>
        </p:nvSpPr>
        <p:spPr>
          <a:xfrm>
            <a:off x="3895404" y="9172249"/>
            <a:ext cx="2980055" cy="482838"/>
          </a:xfrm>
          <a:prstGeom prst="rect">
            <a:avLst/>
          </a:prstGeom>
        </p:spPr>
        <p:txBody>
          <a:bodyPr vert="horz" lIns="96442" tIns="48221" rIns="96442" bIns="48221" rtlCol="0" anchor="b"/>
          <a:lstStyle>
            <a:lvl1pPr algn="r">
              <a:defRPr sz="1300"/>
            </a:lvl1pPr>
          </a:lstStyle>
          <a:p>
            <a:fld id="{80194BA5-679D-4B9E-A9E1-27DA23A3F922}" type="slidenum">
              <a:rPr lang="de-DE" smtClean="0"/>
              <a:pPr/>
              <a:t>‹Nr.›</a:t>
            </a:fld>
            <a:endParaRPr lang="de-D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80194BA5-679D-4B9E-A9E1-27DA23A3F922}" type="slidenum">
              <a:rPr lang="de-DE" smtClean="0"/>
              <a:pPr/>
              <a:t>1</a:t>
            </a:fld>
            <a:endParaRPr lang="de-DE"/>
          </a:p>
        </p:txBody>
      </p:sp>
    </p:spTree>
    <p:extLst>
      <p:ext uri="{BB962C8B-B14F-4D97-AF65-F5344CB8AC3E}">
        <p14:creationId xmlns:p14="http://schemas.microsoft.com/office/powerpoint/2010/main" val="9951293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Systematische Abschlussbuchungen ansprechen für ausgewählte (IK-typische) Aktivkonten, Passivkonten, Aufwandskonten, Ertragskonten (unter Einbezug des IKR im Anhang des Buches)</a:t>
            </a:r>
          </a:p>
        </p:txBody>
      </p:sp>
      <p:sp>
        <p:nvSpPr>
          <p:cNvPr id="4" name="Foliennummernplatzhalter 3"/>
          <p:cNvSpPr>
            <a:spLocks noGrp="1"/>
          </p:cNvSpPr>
          <p:nvPr>
            <p:ph type="sldNum" sz="quarter" idx="10"/>
          </p:nvPr>
        </p:nvSpPr>
        <p:spPr/>
        <p:txBody>
          <a:bodyPr/>
          <a:lstStyle/>
          <a:p>
            <a:fld id="{80194BA5-679D-4B9E-A9E1-27DA23A3F922}" type="slidenum">
              <a:rPr lang="de-DE" smtClean="0"/>
              <a:pPr/>
              <a:t>2</a:t>
            </a:fld>
            <a:endParaRPr lang="de-DE"/>
          </a:p>
        </p:txBody>
      </p:sp>
    </p:spTree>
    <p:extLst>
      <p:ext uri="{BB962C8B-B14F-4D97-AF65-F5344CB8AC3E}">
        <p14:creationId xmlns:p14="http://schemas.microsoft.com/office/powerpoint/2010/main" val="35235947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Entspricht der einführenden Darstellung im Buch SD zum Kapitel D ( = „Jahresabschluss“): hier Kap. D1, S. 236</a:t>
            </a:r>
          </a:p>
          <a:p>
            <a:r>
              <a:rPr lang="de-DE" dirty="0"/>
              <a:t>Zu 1) im Folgenden dargestellt am Bsp. der Ermittlung einer Position gegenüber dem FA per 31.12. durch Saldieren von Vorsteuer-Forderungen (2600) mit </a:t>
            </a:r>
            <a:r>
              <a:rPr lang="de-DE" dirty="0" err="1"/>
              <a:t>USt</a:t>
            </a:r>
            <a:r>
              <a:rPr lang="de-DE" dirty="0"/>
              <a:t>-Verbindlichkeiten (4800); weitere im Buch (auch nur) genannte Beispiele (Bezugskosten, Nachlässe, Erlösberichtigungen) ohne gesonderte Darstellung!</a:t>
            </a:r>
          </a:p>
          <a:p>
            <a:r>
              <a:rPr lang="de-DE" dirty="0"/>
              <a:t>Zu 2) als Bsp. für UV: Differenzen in der Kasse, im Bestand der RHB bzw. der Fertigen/Unfertigen Erzeugnisse</a:t>
            </a:r>
          </a:p>
          <a:p>
            <a:r>
              <a:rPr lang="de-DE" dirty="0"/>
              <a:t>Zu 3) als Bsp. für Abschreibungen: Ab a Sach-AV sowie ausgewählte UV-Positionen (Vorräte, Forderungen, Wertpapiere) </a:t>
            </a:r>
          </a:p>
          <a:p>
            <a:r>
              <a:rPr lang="de-DE" dirty="0"/>
              <a:t>Zu 4) Transitorische Posten, Antizipative Posten und Rückstellungen</a:t>
            </a:r>
          </a:p>
          <a:p>
            <a:r>
              <a:rPr lang="de-DE" dirty="0"/>
              <a:t>Zu 5) Gliederungsvorschriften von HGB bzw. IAS/IFRS (Buch Kap. H2 und H3 (S. 523 – 527)      </a:t>
            </a:r>
          </a:p>
        </p:txBody>
      </p:sp>
      <p:sp>
        <p:nvSpPr>
          <p:cNvPr id="4" name="Foliennummernplatzhalter 3"/>
          <p:cNvSpPr>
            <a:spLocks noGrp="1"/>
          </p:cNvSpPr>
          <p:nvPr>
            <p:ph type="sldNum" sz="quarter" idx="10"/>
          </p:nvPr>
        </p:nvSpPr>
        <p:spPr/>
        <p:txBody>
          <a:bodyPr/>
          <a:lstStyle/>
          <a:p>
            <a:fld id="{80194BA5-679D-4B9E-A9E1-27DA23A3F922}" type="slidenum">
              <a:rPr lang="de-DE" smtClean="0"/>
              <a:pPr/>
              <a:t>3</a:t>
            </a:fld>
            <a:endParaRPr lang="de-D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err="1"/>
              <a:t>MWSt</a:t>
            </a:r>
            <a:r>
              <a:rPr lang="de-DE" dirty="0"/>
              <a:t>-Position gegenüber dem FA = (unterjährig) „Zahllast“;</a:t>
            </a:r>
          </a:p>
          <a:p>
            <a:r>
              <a:rPr lang="de-DE" dirty="0"/>
              <a:t>Situation entspricht der Buch-Aufgabe Nr. 104, vgl. Lösung dazu! +Annahme (abweichend von der Aufgabe): keine weiteren Geschäftsfälle mehr bis zum 31.12. !   </a:t>
            </a:r>
          </a:p>
        </p:txBody>
      </p:sp>
      <p:sp>
        <p:nvSpPr>
          <p:cNvPr id="4" name="Foliennummernplatzhalter 3"/>
          <p:cNvSpPr>
            <a:spLocks noGrp="1"/>
          </p:cNvSpPr>
          <p:nvPr>
            <p:ph type="sldNum" sz="quarter" idx="10"/>
          </p:nvPr>
        </p:nvSpPr>
        <p:spPr/>
        <p:txBody>
          <a:bodyPr/>
          <a:lstStyle/>
          <a:p>
            <a:fld id="{80194BA5-679D-4B9E-A9E1-27DA23A3F922}" type="slidenum">
              <a:rPr lang="de-DE" smtClean="0"/>
              <a:pPr/>
              <a:t>4</a:t>
            </a:fld>
            <a:endParaRPr lang="de-DE"/>
          </a:p>
        </p:txBody>
      </p:sp>
    </p:spTree>
    <p:extLst>
      <p:ext uri="{BB962C8B-B14F-4D97-AF65-F5344CB8AC3E}">
        <p14:creationId xmlns:p14="http://schemas.microsoft.com/office/powerpoint/2010/main" val="6525674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Die vorbereitende Abschlussbuchung wird im Buch im Sammelbeleg 27 (siehe Seite 118) abgebildet. Mündlicher Hinweis auf weitere Vorgehensweise: Eröffnung der beiden kurzfristigen Bestandskonten und Ermittlung </a:t>
            </a:r>
            <a:r>
              <a:rPr lang="de-DE"/>
              <a:t>und Abführung </a:t>
            </a:r>
            <a:r>
              <a:rPr lang="de-DE" dirty="0"/>
              <a:t>der Zahllast zum nächsten Stichtag.    </a:t>
            </a:r>
          </a:p>
        </p:txBody>
      </p:sp>
      <p:sp>
        <p:nvSpPr>
          <p:cNvPr id="4" name="Foliennummernplatzhalter 3"/>
          <p:cNvSpPr>
            <a:spLocks noGrp="1"/>
          </p:cNvSpPr>
          <p:nvPr>
            <p:ph type="sldNum" sz="quarter" idx="10"/>
          </p:nvPr>
        </p:nvSpPr>
        <p:spPr/>
        <p:txBody>
          <a:bodyPr/>
          <a:lstStyle/>
          <a:p>
            <a:fld id="{80194BA5-679D-4B9E-A9E1-27DA23A3F922}" type="slidenum">
              <a:rPr lang="de-DE" smtClean="0"/>
              <a:pPr/>
              <a:t>5</a:t>
            </a:fld>
            <a:endParaRPr lang="de-DE"/>
          </a:p>
        </p:txBody>
      </p:sp>
    </p:spTree>
    <p:extLst>
      <p:ext uri="{BB962C8B-B14F-4D97-AF65-F5344CB8AC3E}">
        <p14:creationId xmlns:p14="http://schemas.microsoft.com/office/powerpoint/2010/main" val="942337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 Wiederholung von SD Kap. B 2.1 – 2.3, S. 12 ff. </a:t>
            </a:r>
          </a:p>
        </p:txBody>
      </p:sp>
      <p:sp>
        <p:nvSpPr>
          <p:cNvPr id="4" name="Foliennummernplatzhalter 3"/>
          <p:cNvSpPr>
            <a:spLocks noGrp="1"/>
          </p:cNvSpPr>
          <p:nvPr>
            <p:ph type="sldNum" sz="quarter" idx="10"/>
          </p:nvPr>
        </p:nvSpPr>
        <p:spPr/>
        <p:txBody>
          <a:bodyPr/>
          <a:lstStyle/>
          <a:p>
            <a:fld id="{80194BA5-679D-4B9E-A9E1-27DA23A3F922}" type="slidenum">
              <a:rPr lang="de-DE" smtClean="0"/>
              <a:pPr/>
              <a:t>6</a:t>
            </a:fld>
            <a:endParaRPr lang="de-DE"/>
          </a:p>
        </p:txBody>
      </p:sp>
    </p:spTree>
    <p:extLst>
      <p:ext uri="{BB962C8B-B14F-4D97-AF65-F5344CB8AC3E}">
        <p14:creationId xmlns:p14="http://schemas.microsoft.com/office/powerpoint/2010/main" val="36369872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Typische Beispiele für Inventurdifferenzen: Kasse, Bestände an RHB sowie Fertigen/Unfertigen Erzeugnissen</a:t>
            </a:r>
          </a:p>
        </p:txBody>
      </p:sp>
      <p:sp>
        <p:nvSpPr>
          <p:cNvPr id="4" name="Foliennummernplatzhalter 3"/>
          <p:cNvSpPr>
            <a:spLocks noGrp="1"/>
          </p:cNvSpPr>
          <p:nvPr>
            <p:ph type="sldNum" sz="quarter" idx="10"/>
          </p:nvPr>
        </p:nvSpPr>
        <p:spPr/>
        <p:txBody>
          <a:bodyPr/>
          <a:lstStyle/>
          <a:p>
            <a:fld id="{80194BA5-679D-4B9E-A9E1-27DA23A3F922}" type="slidenum">
              <a:rPr lang="de-DE" smtClean="0"/>
              <a:pPr/>
              <a:t>7</a:t>
            </a:fld>
            <a:endParaRPr lang="de-DE"/>
          </a:p>
        </p:txBody>
      </p:sp>
    </p:spTree>
    <p:extLst>
      <p:ext uri="{BB962C8B-B14F-4D97-AF65-F5344CB8AC3E}">
        <p14:creationId xmlns:p14="http://schemas.microsoft.com/office/powerpoint/2010/main" val="40198141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80194BA5-679D-4B9E-A9E1-27DA23A3F922}" type="slidenum">
              <a:rPr lang="de-DE" smtClean="0"/>
              <a:pPr/>
              <a:t>8</a:t>
            </a:fld>
            <a:endParaRPr lang="de-DE"/>
          </a:p>
        </p:txBody>
      </p:sp>
    </p:spTree>
    <p:extLst>
      <p:ext uri="{BB962C8B-B14F-4D97-AF65-F5344CB8AC3E}">
        <p14:creationId xmlns:p14="http://schemas.microsoft.com/office/powerpoint/2010/main" val="705373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Zu 1) Lösungsbuch S. 112, Nr. 306 a und b</a:t>
            </a:r>
          </a:p>
          <a:p>
            <a:r>
              <a:rPr lang="de-DE" dirty="0"/>
              <a:t>Zu 2) Lösungsbuch S. 51, Nr. 104, vorbereitende Abschlussbuchung mit (Sammel-)Beleg Nr. 27: Kasse an </a:t>
            </a:r>
            <a:r>
              <a:rPr lang="de-DE" dirty="0" err="1"/>
              <a:t>SbE</a:t>
            </a:r>
            <a:r>
              <a:rPr lang="de-DE" dirty="0"/>
              <a:t> mit festgestelltem KÜ in Höhe von 160,30 EUR</a:t>
            </a:r>
          </a:p>
        </p:txBody>
      </p:sp>
      <p:sp>
        <p:nvSpPr>
          <p:cNvPr id="4" name="Foliennummernplatzhalter 3"/>
          <p:cNvSpPr>
            <a:spLocks noGrp="1"/>
          </p:cNvSpPr>
          <p:nvPr>
            <p:ph type="sldNum" sz="quarter" idx="10"/>
          </p:nvPr>
        </p:nvSpPr>
        <p:spPr/>
        <p:txBody>
          <a:bodyPr/>
          <a:lstStyle/>
          <a:p>
            <a:fld id="{80194BA5-679D-4B9E-A9E1-27DA23A3F922}" type="slidenum">
              <a:rPr lang="de-DE" smtClean="0"/>
              <a:pPr/>
              <a:t>9</a:t>
            </a:fld>
            <a:endParaRPr lang="de-DE"/>
          </a:p>
        </p:txBody>
      </p:sp>
    </p:spTree>
    <p:extLst>
      <p:ext uri="{BB962C8B-B14F-4D97-AF65-F5344CB8AC3E}">
        <p14:creationId xmlns:p14="http://schemas.microsoft.com/office/powerpoint/2010/main" val="4750030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IST-Bestand</a:t>
            </a:r>
            <a:r>
              <a:rPr lang="de-DE" dirty="0"/>
              <a:t> der Inventur in Aufgabenstellung IV 2. gegeben!</a:t>
            </a:r>
          </a:p>
          <a:p>
            <a:r>
              <a:rPr lang="de-DE" dirty="0"/>
              <a:t>Zur Ermittlung des Buchbestandes: manuelle Herleitung mit geführtem HK Betriebsstoffe (2030) und EB am 27.12. = 48.000 EUR gem. Buch S. 105 und Soll-Buchung (Bestandserhöhung) gem. Beleg 11 vom 29.12. in Höhe des Nettobetrages von 3.660 EUR.</a:t>
            </a:r>
          </a:p>
          <a:p>
            <a:r>
              <a:rPr lang="de-DE" b="1" dirty="0"/>
              <a:t>Im Falle einer positiven Inventurdifferenz (</a:t>
            </a:r>
            <a:r>
              <a:rPr lang="de-DE" b="1" dirty="0" err="1"/>
              <a:t>IST-Bestand</a:t>
            </a:r>
            <a:r>
              <a:rPr lang="de-DE" b="1" dirty="0"/>
              <a:t> &gt; Buchbestand) lautet die „anpassende“ vorbereitende Abschlussbuchung:</a:t>
            </a:r>
          </a:p>
          <a:p>
            <a:r>
              <a:rPr lang="de-DE" dirty="0"/>
              <a:t>Betriebsstoffe (2030) an Aufwand für BS (6030) in Höhe des Differenzbetrages  </a:t>
            </a:r>
          </a:p>
        </p:txBody>
      </p:sp>
      <p:sp>
        <p:nvSpPr>
          <p:cNvPr id="4" name="Foliennummernplatzhalter 3"/>
          <p:cNvSpPr>
            <a:spLocks noGrp="1"/>
          </p:cNvSpPr>
          <p:nvPr>
            <p:ph type="sldNum" sz="quarter" idx="10"/>
          </p:nvPr>
        </p:nvSpPr>
        <p:spPr/>
        <p:txBody>
          <a:bodyPr/>
          <a:lstStyle/>
          <a:p>
            <a:fld id="{80194BA5-679D-4B9E-A9E1-27DA23A3F922}" type="slidenum">
              <a:rPr lang="de-DE" smtClean="0"/>
              <a:pPr/>
              <a:t>10</a:t>
            </a:fld>
            <a:endParaRPr lang="de-DE"/>
          </a:p>
        </p:txBody>
      </p:sp>
    </p:spTree>
    <p:extLst>
      <p:ext uri="{BB962C8B-B14F-4D97-AF65-F5344CB8AC3E}">
        <p14:creationId xmlns:p14="http://schemas.microsoft.com/office/powerpoint/2010/main" val="25471769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Jeweils manuelle Herleitung gem. gesondertem Notizblatt!</a:t>
            </a:r>
          </a:p>
          <a:p>
            <a:r>
              <a:rPr lang="de-DE" dirty="0"/>
              <a:t>Zu 1) (F.E.) Positive Inventurdifferenz führt in der Doppik zu a) Bestandserhöhung in der SB und zu b) einem Ansatz als Ertragserhöhung in Höhe der (hier vorgegebenen!) Herstellkosten als Gegengröße für die bei der Herstellung angefallenen Aufwendungen in der GuV. Gegebenenfalls Erklärung über den Analogieansatz als Ertrag aus Umsatzerlösen (dann allerdings mit realisiertem Gewinnaufschlag) bei Verkauf dieser Erzeugnisse noch vor dem 31.12.    </a:t>
            </a:r>
          </a:p>
          <a:p>
            <a:r>
              <a:rPr lang="de-DE" dirty="0"/>
              <a:t>Zu 2) (U.E.) hier entsprechend Korrektur des zu hohen Ertrages aus gebuchten U.E. bei negativer Inventurdifferenz in SB und GuV.</a:t>
            </a:r>
          </a:p>
        </p:txBody>
      </p:sp>
      <p:sp>
        <p:nvSpPr>
          <p:cNvPr id="4" name="Foliennummernplatzhalter 3"/>
          <p:cNvSpPr>
            <a:spLocks noGrp="1"/>
          </p:cNvSpPr>
          <p:nvPr>
            <p:ph type="sldNum" sz="quarter" idx="10"/>
          </p:nvPr>
        </p:nvSpPr>
        <p:spPr/>
        <p:txBody>
          <a:bodyPr/>
          <a:lstStyle/>
          <a:p>
            <a:fld id="{80194BA5-679D-4B9E-A9E1-27DA23A3F922}" type="slidenum">
              <a:rPr lang="de-DE" smtClean="0"/>
              <a:pPr/>
              <a:t>11</a:t>
            </a:fld>
            <a:endParaRPr lang="de-DE"/>
          </a:p>
        </p:txBody>
      </p:sp>
    </p:spTree>
    <p:extLst>
      <p:ext uri="{BB962C8B-B14F-4D97-AF65-F5344CB8AC3E}">
        <p14:creationId xmlns:p14="http://schemas.microsoft.com/office/powerpoint/2010/main" val="26882029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Mündliche Wiederholung des Themas „Abschreibungen“: grundsätzliche Aufgabe = Doppik-Erfassung von (ordentlichen und </a:t>
            </a:r>
            <a:r>
              <a:rPr lang="de-DE" dirty="0" err="1"/>
              <a:t>ao</a:t>
            </a:r>
            <a:r>
              <a:rPr lang="de-DE" dirty="0"/>
              <a:t> ) Wertminderungen als Bestandsminderung und als Aufwand, damit: Verteilung der AK auf die Jahre der Nutzung (= periodengerechte Erfolgsermittlung!); dabei zulässige Verfahren zum Ansatz von AW, Abschreibungsdauer n und Abschreibungsverfahren ansprechen ...   </a:t>
            </a:r>
          </a:p>
        </p:txBody>
      </p:sp>
      <p:sp>
        <p:nvSpPr>
          <p:cNvPr id="4" name="Foliennummernplatzhalter 3"/>
          <p:cNvSpPr>
            <a:spLocks noGrp="1"/>
          </p:cNvSpPr>
          <p:nvPr>
            <p:ph type="sldNum" sz="quarter" idx="10"/>
          </p:nvPr>
        </p:nvSpPr>
        <p:spPr/>
        <p:txBody>
          <a:bodyPr/>
          <a:lstStyle/>
          <a:p>
            <a:fld id="{80194BA5-679D-4B9E-A9E1-27DA23A3F922}" type="slidenum">
              <a:rPr lang="de-DE" smtClean="0"/>
              <a:pPr/>
              <a:t>14</a:t>
            </a:fld>
            <a:endParaRPr lang="de-DE"/>
          </a:p>
        </p:txBody>
      </p:sp>
    </p:spTree>
    <p:extLst>
      <p:ext uri="{BB962C8B-B14F-4D97-AF65-F5344CB8AC3E}">
        <p14:creationId xmlns:p14="http://schemas.microsoft.com/office/powerpoint/2010/main" val="2416030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Mündliche Wiederholung des Themas „Abschreibungen“: grundsätzliche Aufgabe = Doppik-Erfassung von (ordentlichen und </a:t>
            </a:r>
            <a:r>
              <a:rPr lang="de-DE" dirty="0" err="1"/>
              <a:t>ao</a:t>
            </a:r>
            <a:r>
              <a:rPr lang="de-DE" dirty="0"/>
              <a:t> ) Wertminderungen als Bestandsminderung und als Aufwand, damit: Verteilung der AK auf die Jahre der Nutzung (= periodengerechte Erfolgsermittlung!); dabei zulässige Verfahren zum Ansatz von AW, Abschreibungsdauer n und Abschreibungsverfahren ansprechen ...   </a:t>
            </a:r>
          </a:p>
        </p:txBody>
      </p:sp>
      <p:sp>
        <p:nvSpPr>
          <p:cNvPr id="4" name="Foliennummernplatzhalter 3"/>
          <p:cNvSpPr>
            <a:spLocks noGrp="1"/>
          </p:cNvSpPr>
          <p:nvPr>
            <p:ph type="sldNum" sz="quarter" idx="10"/>
          </p:nvPr>
        </p:nvSpPr>
        <p:spPr/>
        <p:txBody>
          <a:bodyPr/>
          <a:lstStyle/>
          <a:p>
            <a:fld id="{80194BA5-679D-4B9E-A9E1-27DA23A3F922}" type="slidenum">
              <a:rPr lang="de-DE" smtClean="0"/>
              <a:pPr/>
              <a:t>15</a:t>
            </a:fld>
            <a:endParaRPr lang="de-DE"/>
          </a:p>
        </p:txBody>
      </p:sp>
    </p:spTree>
    <p:extLst>
      <p:ext uri="{BB962C8B-B14F-4D97-AF65-F5344CB8AC3E}">
        <p14:creationId xmlns:p14="http://schemas.microsoft.com/office/powerpoint/2010/main" val="24468006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  </a:t>
            </a:r>
          </a:p>
        </p:txBody>
      </p:sp>
      <p:sp>
        <p:nvSpPr>
          <p:cNvPr id="4" name="Foliennummernplatzhalter 3"/>
          <p:cNvSpPr>
            <a:spLocks noGrp="1"/>
          </p:cNvSpPr>
          <p:nvPr>
            <p:ph type="sldNum" sz="quarter" idx="10"/>
          </p:nvPr>
        </p:nvSpPr>
        <p:spPr/>
        <p:txBody>
          <a:bodyPr/>
          <a:lstStyle/>
          <a:p>
            <a:fld id="{80194BA5-679D-4B9E-A9E1-27DA23A3F922}" type="slidenum">
              <a:rPr lang="de-DE" smtClean="0"/>
              <a:pPr/>
              <a:t>16</a:t>
            </a:fld>
            <a:endParaRPr lang="de-DE"/>
          </a:p>
        </p:txBody>
      </p:sp>
    </p:spTree>
    <p:extLst>
      <p:ext uri="{BB962C8B-B14F-4D97-AF65-F5344CB8AC3E}">
        <p14:creationId xmlns:p14="http://schemas.microsoft.com/office/powerpoint/2010/main" val="15354689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1" dirty="0"/>
              <a:t>Legende</a:t>
            </a:r>
            <a:r>
              <a:rPr lang="de-DE" dirty="0"/>
              <a:t>: </a:t>
            </a:r>
            <a:r>
              <a:rPr lang="de-DE" b="1" dirty="0"/>
              <a:t>Zeile 1</a:t>
            </a:r>
            <a:r>
              <a:rPr lang="de-DE" dirty="0"/>
              <a:t> = Bemessungsgrundlage für die vorzunehmende Abschreibung; </a:t>
            </a:r>
            <a:r>
              <a:rPr lang="de-DE" b="1" dirty="0"/>
              <a:t>Zeile 2</a:t>
            </a:r>
            <a:r>
              <a:rPr lang="de-DE" dirty="0"/>
              <a:t> = Abschreibungsmethode,</a:t>
            </a:r>
          </a:p>
          <a:p>
            <a:r>
              <a:rPr lang="de-DE" b="1" dirty="0"/>
              <a:t>Zeile 3</a:t>
            </a:r>
            <a:r>
              <a:rPr lang="de-DE" dirty="0"/>
              <a:t> = unterstellte Nutzungszeit des Vermögensgegenstandes, </a:t>
            </a:r>
            <a:r>
              <a:rPr lang="de-DE" b="1" dirty="0"/>
              <a:t>Zeile 4 </a:t>
            </a:r>
            <a:r>
              <a:rPr lang="de-DE" dirty="0"/>
              <a:t>= Ermittlung des jährlichen Abschreibungsbetrages, </a:t>
            </a:r>
            <a:r>
              <a:rPr lang="de-DE" b="1" dirty="0"/>
              <a:t>Zeile 5</a:t>
            </a:r>
            <a:r>
              <a:rPr lang="de-DE" dirty="0"/>
              <a:t> = erforderliche Maßnahme bei der Überleitung des Abschreibungsbetrages vom Rechnungskreis I (Aufwand in der </a:t>
            </a:r>
            <a:r>
              <a:rPr lang="de-DE" dirty="0" err="1"/>
              <a:t>Fibu</a:t>
            </a:r>
            <a:r>
              <a:rPr lang="de-DE" dirty="0"/>
              <a:t>) in den Rechnungskreis II (Kosten in der KLR)  </a:t>
            </a:r>
          </a:p>
        </p:txBody>
      </p:sp>
      <p:sp>
        <p:nvSpPr>
          <p:cNvPr id="4" name="Foliennummernplatzhalter 3"/>
          <p:cNvSpPr>
            <a:spLocks noGrp="1"/>
          </p:cNvSpPr>
          <p:nvPr>
            <p:ph type="sldNum" sz="quarter" idx="5"/>
          </p:nvPr>
        </p:nvSpPr>
        <p:spPr/>
        <p:txBody>
          <a:bodyPr/>
          <a:lstStyle/>
          <a:p>
            <a:fld id="{80194BA5-679D-4B9E-A9E1-27DA23A3F922}" type="slidenum">
              <a:rPr lang="de-DE" smtClean="0"/>
              <a:pPr/>
              <a:t>17</a:t>
            </a:fld>
            <a:endParaRPr lang="de-DE"/>
          </a:p>
        </p:txBody>
      </p:sp>
    </p:spTree>
    <p:extLst>
      <p:ext uri="{BB962C8B-B14F-4D97-AF65-F5344CB8AC3E}">
        <p14:creationId xmlns:p14="http://schemas.microsoft.com/office/powerpoint/2010/main" val="34094311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NWP = Niederstwertprinzip gem. § 253 HGB; allgemeine Darstellung im Buch SD Kap. D 4.6  </a:t>
            </a:r>
          </a:p>
          <a:p>
            <a:r>
              <a:rPr lang="de-DE" dirty="0"/>
              <a:t>Darstellung der Sammelbewertung im Buch SD Kap. D 4.6.1, S. 264 – 266</a:t>
            </a:r>
          </a:p>
          <a:p>
            <a:r>
              <a:rPr lang="de-DE" dirty="0"/>
              <a:t>Ermittlung der durchschnittlichen AK über a) gewogener Durchschnitt oder b) zulässige Verbrauchsfolgeannahmen (Fifo, </a:t>
            </a:r>
            <a:r>
              <a:rPr lang="de-DE" dirty="0" err="1"/>
              <a:t>Lifo</a:t>
            </a:r>
            <a:r>
              <a:rPr lang="de-DE" dirty="0"/>
              <a:t>)   </a:t>
            </a:r>
          </a:p>
        </p:txBody>
      </p:sp>
      <p:sp>
        <p:nvSpPr>
          <p:cNvPr id="4" name="Foliennummernplatzhalter 3"/>
          <p:cNvSpPr>
            <a:spLocks noGrp="1"/>
          </p:cNvSpPr>
          <p:nvPr>
            <p:ph type="sldNum" sz="quarter" idx="10"/>
          </p:nvPr>
        </p:nvSpPr>
        <p:spPr/>
        <p:txBody>
          <a:bodyPr/>
          <a:lstStyle/>
          <a:p>
            <a:fld id="{80194BA5-679D-4B9E-A9E1-27DA23A3F922}" type="slidenum">
              <a:rPr lang="de-DE" smtClean="0"/>
              <a:pPr/>
              <a:t>18</a:t>
            </a:fld>
            <a:endParaRPr lang="de-DE"/>
          </a:p>
        </p:txBody>
      </p:sp>
    </p:spTree>
    <p:extLst>
      <p:ext uri="{BB962C8B-B14F-4D97-AF65-F5344CB8AC3E}">
        <p14:creationId xmlns:p14="http://schemas.microsoft.com/office/powerpoint/2010/main" val="12807914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Die sich aus </a:t>
            </a:r>
            <a:r>
              <a:rPr lang="de-DE"/>
              <a:t>dem Niederstwertprinzip </a:t>
            </a:r>
            <a:r>
              <a:rPr lang="de-DE" dirty="0"/>
              <a:t>ergebende „Ungleichbehandlung“ der nicht realisierten Erfolge wird in der Fachterminologie auch als „Imparitätsprinzip“ bezeichnet</a:t>
            </a:r>
          </a:p>
        </p:txBody>
      </p:sp>
      <p:sp>
        <p:nvSpPr>
          <p:cNvPr id="4" name="Foliennummernplatzhalter 3"/>
          <p:cNvSpPr>
            <a:spLocks noGrp="1"/>
          </p:cNvSpPr>
          <p:nvPr>
            <p:ph type="sldNum" sz="quarter" idx="5"/>
          </p:nvPr>
        </p:nvSpPr>
        <p:spPr/>
        <p:txBody>
          <a:bodyPr/>
          <a:lstStyle/>
          <a:p>
            <a:fld id="{80194BA5-679D-4B9E-A9E1-27DA23A3F922}" type="slidenum">
              <a:rPr lang="de-DE" smtClean="0"/>
              <a:pPr/>
              <a:t>20</a:t>
            </a:fld>
            <a:endParaRPr lang="de-DE"/>
          </a:p>
        </p:txBody>
      </p:sp>
    </p:spTree>
    <p:extLst>
      <p:ext uri="{BB962C8B-B14F-4D97-AF65-F5344CB8AC3E}">
        <p14:creationId xmlns:p14="http://schemas.microsoft.com/office/powerpoint/2010/main" val="8088321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 Anlehnung an SD Kap. D 4.6.2 (S.269 – 277) </a:t>
            </a:r>
          </a:p>
        </p:txBody>
      </p:sp>
      <p:sp>
        <p:nvSpPr>
          <p:cNvPr id="4" name="Foliennummernplatzhalt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194BA5-679D-4B9E-A9E1-27DA23A3F922}" type="slidenum">
              <a:rPr kumimoji="0" lang="de-DE"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de-DE"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281814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80194BA5-679D-4B9E-A9E1-27DA23A3F922}" type="slidenum">
              <a:rPr lang="de-DE" smtClean="0"/>
              <a:pPr/>
              <a:t>24</a:t>
            </a:fld>
            <a:endParaRPr lang="de-DE"/>
          </a:p>
        </p:txBody>
      </p:sp>
    </p:spTree>
    <p:extLst>
      <p:ext uri="{BB962C8B-B14F-4D97-AF65-F5344CB8AC3E}">
        <p14:creationId xmlns:p14="http://schemas.microsoft.com/office/powerpoint/2010/main" val="5628792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1) Anpassung der EWB von Bilanzstichtag zu Bilanzstichtag! Bei Erhöhung: Aufwand für die Neubildung (6952); bei Herabsetzung: Ertrag aus der Auflösung (5450); vgl. auch SD S.272 u.</a:t>
            </a:r>
          </a:p>
          <a:p>
            <a:r>
              <a:rPr lang="de-DE" dirty="0"/>
              <a:t>2) Vorschriften zum Zeitpunkt der </a:t>
            </a:r>
            <a:r>
              <a:rPr lang="de-DE" dirty="0" err="1"/>
              <a:t>Ust</a:t>
            </a:r>
            <a:r>
              <a:rPr lang="de-DE" dirty="0"/>
              <a:t>-Korrektur: vgl. SD S. 269 u. </a:t>
            </a:r>
          </a:p>
        </p:txBody>
      </p:sp>
      <p:sp>
        <p:nvSpPr>
          <p:cNvPr id="4" name="Foliennummernplatzhalt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194BA5-679D-4B9E-A9E1-27DA23A3F922}" type="slidenum">
              <a:rPr kumimoji="0" lang="de-DE"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de-DE"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053059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 </a:t>
            </a:r>
          </a:p>
        </p:txBody>
      </p:sp>
      <p:sp>
        <p:nvSpPr>
          <p:cNvPr id="4" name="Foliennummernplatzhalt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194BA5-679D-4B9E-A9E1-27DA23A3F922}" type="slidenum">
              <a:rPr kumimoji="0" lang="de-DE"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de-DE"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399719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 </a:t>
            </a:r>
          </a:p>
        </p:txBody>
      </p:sp>
      <p:sp>
        <p:nvSpPr>
          <p:cNvPr id="4" name="Foliennummernplatzhalt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194BA5-679D-4B9E-A9E1-27DA23A3F922}" type="slidenum">
              <a:rPr kumimoji="0" lang="de-DE"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de-DE"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284614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Vorab als Hintergrundwissen: Wertpapierarten im Überblick (für IK) in SD Kap. C 5.5.1, S. 202</a:t>
            </a:r>
          </a:p>
          <a:p>
            <a:r>
              <a:rPr lang="de-DE" dirty="0"/>
              <a:t>„Gemildertes NWP“ erlaubt die Beibehaltung der AK, sofern die Wertminderung als „vorübergehend“ eingeschätzt wird: dann ist keine Abschreibung erforderlich!</a:t>
            </a:r>
          </a:p>
          <a:p>
            <a:endParaRPr lang="de-DE" dirty="0"/>
          </a:p>
        </p:txBody>
      </p:sp>
      <p:sp>
        <p:nvSpPr>
          <p:cNvPr id="4" name="Foliennummernplatzhalt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194BA5-679D-4B9E-A9E1-27DA23A3F922}" type="slidenum">
              <a:rPr kumimoji="0" lang="de-DE"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de-DE"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366523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Analog zum NWP beim Bewerten der Aktiva. Beides zusammen entspricht dem im HGB geforderten Vorsichtsprinzip: „Mehr Sein als Schein“ </a:t>
            </a:r>
          </a:p>
        </p:txBody>
      </p:sp>
      <p:sp>
        <p:nvSpPr>
          <p:cNvPr id="4" name="Foliennummernplatzhalter 3"/>
          <p:cNvSpPr>
            <a:spLocks noGrp="1"/>
          </p:cNvSpPr>
          <p:nvPr>
            <p:ph type="sldNum" sz="quarter" idx="10"/>
          </p:nvPr>
        </p:nvSpPr>
        <p:spPr/>
        <p:txBody>
          <a:bodyPr/>
          <a:lstStyle/>
          <a:p>
            <a:fld id="{80194BA5-679D-4B9E-A9E1-27DA23A3F922}" type="slidenum">
              <a:rPr lang="de-DE" smtClean="0"/>
              <a:pPr/>
              <a:t>29</a:t>
            </a:fld>
            <a:endParaRPr lang="de-DE"/>
          </a:p>
        </p:txBody>
      </p:sp>
    </p:spTree>
    <p:extLst>
      <p:ext uri="{BB962C8B-B14F-4D97-AF65-F5344CB8AC3E}">
        <p14:creationId xmlns:p14="http://schemas.microsoft.com/office/powerpoint/2010/main" val="28402132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Entspricht der einführenden Darstellung im Buch SD zum Kapitel D ( = „Jahresabschluss“): hier Kap. D1, S. 236</a:t>
            </a:r>
          </a:p>
          <a:p>
            <a:r>
              <a:rPr lang="de-DE" dirty="0"/>
              <a:t>Zu 1) im Folgenden dargestellt am Bsp. der Ermittlung einer Position gegenüber dem FA per 31.12. durch Saldieren von Vorsteuer-Forderungen (2600) mit </a:t>
            </a:r>
            <a:r>
              <a:rPr lang="de-DE" dirty="0" err="1"/>
              <a:t>USt</a:t>
            </a:r>
            <a:r>
              <a:rPr lang="de-DE" dirty="0"/>
              <a:t>-Verbindlichkeiten (4800); weitere im Buch (auch nur) genannte Beispiele (Bezugskosten, Nachlässe, Erlösberichtigungen) ohne gesonderte Darstellung!</a:t>
            </a:r>
          </a:p>
          <a:p>
            <a:r>
              <a:rPr lang="de-DE" dirty="0"/>
              <a:t>Zu 2) als Bsp. für UV: Differenzen in der Kasse, im Bestand der RHB bzw. der Fertigen/Unfertigen Erzeugnisse</a:t>
            </a:r>
          </a:p>
          <a:p>
            <a:r>
              <a:rPr lang="de-DE" dirty="0"/>
              <a:t>Zu 3) als Bsp. für Abschreibungen: Ab a Sach-AV sowie ausgewählte UV-Positionen (Vorräte, Forderungen, Wertpapiere) </a:t>
            </a:r>
          </a:p>
          <a:p>
            <a:r>
              <a:rPr lang="de-DE" dirty="0"/>
              <a:t>Zu 4) Transitorische Posten, Antizipative Posten und Rückstellungen</a:t>
            </a:r>
          </a:p>
          <a:p>
            <a:r>
              <a:rPr lang="de-DE" dirty="0"/>
              <a:t>Zu 5) Gliederungsvorschriften von HGB bzw. IAS/IFRS (Buch Kap. H2 und H3 (S. 523 – 527)      </a:t>
            </a:r>
          </a:p>
        </p:txBody>
      </p:sp>
      <p:sp>
        <p:nvSpPr>
          <p:cNvPr id="4" name="Foliennummernplatzhalter 3"/>
          <p:cNvSpPr>
            <a:spLocks noGrp="1"/>
          </p:cNvSpPr>
          <p:nvPr>
            <p:ph type="sldNum" sz="quarter" idx="10"/>
          </p:nvPr>
        </p:nvSpPr>
        <p:spPr/>
        <p:txBody>
          <a:bodyPr/>
          <a:lstStyle/>
          <a:p>
            <a:fld id="{80194BA5-679D-4B9E-A9E1-27DA23A3F922}" type="slidenum">
              <a:rPr lang="de-DE" smtClean="0"/>
              <a:pPr/>
              <a:t>30</a:t>
            </a:fld>
            <a:endParaRPr lang="de-DE"/>
          </a:p>
        </p:txBody>
      </p:sp>
    </p:spTree>
    <p:extLst>
      <p:ext uri="{BB962C8B-B14F-4D97-AF65-F5344CB8AC3E}">
        <p14:creationId xmlns:p14="http://schemas.microsoft.com/office/powerpoint/2010/main" val="34185173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80194BA5-679D-4B9E-A9E1-27DA23A3F922}" type="slidenum">
              <a:rPr lang="de-DE" smtClean="0"/>
              <a:pPr/>
              <a:t>31</a:t>
            </a:fld>
            <a:endParaRPr lang="de-DE"/>
          </a:p>
        </p:txBody>
      </p:sp>
    </p:spTree>
    <p:extLst>
      <p:ext uri="{BB962C8B-B14F-4D97-AF65-F5344CB8AC3E}">
        <p14:creationId xmlns:p14="http://schemas.microsoft.com/office/powerpoint/2010/main" val="12684649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80194BA5-679D-4B9E-A9E1-27DA23A3F922}" type="slidenum">
              <a:rPr lang="de-DE" smtClean="0"/>
              <a:pPr/>
              <a:t>32</a:t>
            </a:fld>
            <a:endParaRPr lang="de-DE"/>
          </a:p>
        </p:txBody>
      </p:sp>
    </p:spTree>
    <p:extLst>
      <p:ext uri="{BB962C8B-B14F-4D97-AF65-F5344CB8AC3E}">
        <p14:creationId xmlns:p14="http://schemas.microsoft.com/office/powerpoint/2010/main" val="37522545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80194BA5-679D-4B9E-A9E1-27DA23A3F922}" type="slidenum">
              <a:rPr lang="de-DE" smtClean="0"/>
              <a:pPr/>
              <a:t>33</a:t>
            </a:fld>
            <a:endParaRPr lang="de-DE"/>
          </a:p>
        </p:txBody>
      </p:sp>
    </p:spTree>
    <p:extLst>
      <p:ext uri="{BB962C8B-B14F-4D97-AF65-F5344CB8AC3E}">
        <p14:creationId xmlns:p14="http://schemas.microsoft.com/office/powerpoint/2010/main" val="28426692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80194BA5-679D-4B9E-A9E1-27DA23A3F922}" type="slidenum">
              <a:rPr lang="de-DE" smtClean="0"/>
              <a:pPr/>
              <a:t>34</a:t>
            </a:fld>
            <a:endParaRPr lang="de-DE"/>
          </a:p>
        </p:txBody>
      </p:sp>
    </p:spTree>
    <p:extLst>
      <p:ext uri="{BB962C8B-B14F-4D97-AF65-F5344CB8AC3E}">
        <p14:creationId xmlns:p14="http://schemas.microsoft.com/office/powerpoint/2010/main" val="41360177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Die Abgrenzungsbuchung stellt gleichzeitig ( = Doppik) zwei Aspekte sicher: Zum Einen, dass, unabhängig vom Zeitpunkt der Zahlung die GuV der betroffenen Jahre mit dem jeweiligen Anteil an der Zahlung (als </a:t>
            </a:r>
            <a:r>
              <a:rPr lang="de-DE" b="1" dirty="0"/>
              <a:t>Aufwand</a:t>
            </a:r>
            <a:r>
              <a:rPr lang="de-DE" dirty="0"/>
              <a:t>) „belastet“ wird und zum Anderen, dass die Bilanz die zum Stichtag bestehende „</a:t>
            </a:r>
            <a:r>
              <a:rPr lang="de-DE" b="1" dirty="0"/>
              <a:t>Forderung auf Leistung</a:t>
            </a:r>
            <a:r>
              <a:rPr lang="de-DE" dirty="0"/>
              <a:t>“ in Höhe von 1.000 EUR ( = der Gegenwert von noch zwei Monaten Nutzungsdauer des Leasinggutes) ausweist.     </a:t>
            </a:r>
          </a:p>
        </p:txBody>
      </p:sp>
      <p:sp>
        <p:nvSpPr>
          <p:cNvPr id="4" name="Foliennummernplatzhalter 3"/>
          <p:cNvSpPr>
            <a:spLocks noGrp="1"/>
          </p:cNvSpPr>
          <p:nvPr>
            <p:ph type="sldNum" sz="quarter" idx="5"/>
          </p:nvPr>
        </p:nvSpPr>
        <p:spPr/>
        <p:txBody>
          <a:bodyPr/>
          <a:lstStyle/>
          <a:p>
            <a:fld id="{80194BA5-679D-4B9E-A9E1-27DA23A3F922}" type="slidenum">
              <a:rPr lang="de-DE" smtClean="0"/>
              <a:pPr/>
              <a:t>35</a:t>
            </a:fld>
            <a:endParaRPr lang="de-DE"/>
          </a:p>
        </p:txBody>
      </p:sp>
    </p:spTree>
    <p:extLst>
      <p:ext uri="{BB962C8B-B14F-4D97-AF65-F5344CB8AC3E}">
        <p14:creationId xmlns:p14="http://schemas.microsoft.com/office/powerpoint/2010/main" val="22953370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Analog sorgt hier die Abgrenzungsbuchung – unabhängig vom Zeitpunkt der erhaltenen Zahlung (im alten Jahr) - für eine „periodengerechte“ Zuordnung der damit verbundenen </a:t>
            </a:r>
            <a:r>
              <a:rPr lang="de-DE" b="1" dirty="0"/>
              <a:t>Erträge</a:t>
            </a:r>
            <a:r>
              <a:rPr lang="de-DE" dirty="0"/>
              <a:t> auf die betroffen Geschäftsjahre. Zudem zeigt hier die Bilanz die zum Stichtag bestehende „</a:t>
            </a:r>
            <a:r>
              <a:rPr lang="de-DE" b="1" dirty="0"/>
              <a:t>Verbindlichkeit auf Leistung</a:t>
            </a:r>
            <a:r>
              <a:rPr lang="de-DE" dirty="0"/>
              <a:t>“ ( hier = Bereitstellung des Mietraums auch noch für die nächsten drei Monate)</a:t>
            </a:r>
          </a:p>
        </p:txBody>
      </p:sp>
      <p:sp>
        <p:nvSpPr>
          <p:cNvPr id="4" name="Foliennummernplatzhalter 3"/>
          <p:cNvSpPr>
            <a:spLocks noGrp="1"/>
          </p:cNvSpPr>
          <p:nvPr>
            <p:ph type="sldNum" sz="quarter" idx="5"/>
          </p:nvPr>
        </p:nvSpPr>
        <p:spPr/>
        <p:txBody>
          <a:bodyPr/>
          <a:lstStyle/>
          <a:p>
            <a:fld id="{80194BA5-679D-4B9E-A9E1-27DA23A3F922}" type="slidenum">
              <a:rPr lang="de-DE" smtClean="0"/>
              <a:pPr/>
              <a:t>36</a:t>
            </a:fld>
            <a:endParaRPr lang="de-DE"/>
          </a:p>
        </p:txBody>
      </p:sp>
    </p:spTree>
    <p:extLst>
      <p:ext uri="{BB962C8B-B14F-4D97-AF65-F5344CB8AC3E}">
        <p14:creationId xmlns:p14="http://schemas.microsoft.com/office/powerpoint/2010/main" val="35466688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80194BA5-679D-4B9E-A9E1-27DA23A3F922}" type="slidenum">
              <a:rPr lang="de-DE" smtClean="0"/>
              <a:pPr/>
              <a:t>37</a:t>
            </a:fld>
            <a:endParaRPr lang="de-DE"/>
          </a:p>
        </p:txBody>
      </p:sp>
    </p:spTree>
    <p:extLst>
      <p:ext uri="{BB962C8B-B14F-4D97-AF65-F5344CB8AC3E}">
        <p14:creationId xmlns:p14="http://schemas.microsoft.com/office/powerpoint/2010/main" val="24754495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80194BA5-679D-4B9E-A9E1-27DA23A3F922}" type="slidenum">
              <a:rPr lang="de-DE" smtClean="0"/>
              <a:pPr/>
              <a:t>38</a:t>
            </a:fld>
            <a:endParaRPr lang="de-DE"/>
          </a:p>
        </p:txBody>
      </p:sp>
    </p:spTree>
    <p:extLst>
      <p:ext uri="{BB962C8B-B14F-4D97-AF65-F5344CB8AC3E}">
        <p14:creationId xmlns:p14="http://schemas.microsoft.com/office/powerpoint/2010/main" val="35371894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1" dirty="0"/>
              <a:t>Korrekt wäre hier festzustellen</a:t>
            </a:r>
            <a:r>
              <a:rPr lang="de-DE" dirty="0"/>
              <a:t>, dass, unabhängig vom Zeitpunkt der Zahlung (erst im nächsten Jahr) der im alten Jahr verursachte (!)  </a:t>
            </a:r>
            <a:r>
              <a:rPr lang="de-DE" b="1" dirty="0"/>
              <a:t>Aufwand</a:t>
            </a:r>
            <a:r>
              <a:rPr lang="de-DE" dirty="0"/>
              <a:t> (im Sinne der geforderten periodengerechten Erfolgsermittlung) mit der </a:t>
            </a:r>
            <a:r>
              <a:rPr lang="de-DE" b="1" dirty="0"/>
              <a:t>Abgrenzungsbuchung</a:t>
            </a:r>
            <a:r>
              <a:rPr lang="de-DE" dirty="0"/>
              <a:t> antizipiert ( = vorweggenommen) werden muss und sich daher in der </a:t>
            </a:r>
            <a:r>
              <a:rPr lang="de-DE" b="1" dirty="0"/>
              <a:t>GuV </a:t>
            </a:r>
            <a:r>
              <a:rPr lang="de-DE" dirty="0"/>
              <a:t>des alten Jahres niederschlägt. Auch hier stellt die Abgrenzungsbuchung (im Sinne der Doppik) gleichzeitig sicher, dass die zum 31.12. bestehende „</a:t>
            </a:r>
            <a:r>
              <a:rPr lang="de-DE" b="1" dirty="0"/>
              <a:t>Verbindlichkeit auf (Zahlung von ) Geld</a:t>
            </a:r>
            <a:r>
              <a:rPr lang="de-DE" dirty="0"/>
              <a:t>“ auf der </a:t>
            </a:r>
            <a:r>
              <a:rPr lang="de-DE" b="1" dirty="0"/>
              <a:t>Passivseite </a:t>
            </a:r>
            <a:r>
              <a:rPr lang="de-DE" dirty="0"/>
              <a:t>der Bilanz zum Ausweis kommt.           </a:t>
            </a:r>
          </a:p>
        </p:txBody>
      </p:sp>
      <p:sp>
        <p:nvSpPr>
          <p:cNvPr id="4" name="Foliennummernplatzhalter 3"/>
          <p:cNvSpPr>
            <a:spLocks noGrp="1"/>
          </p:cNvSpPr>
          <p:nvPr>
            <p:ph type="sldNum" sz="quarter" idx="5"/>
          </p:nvPr>
        </p:nvSpPr>
        <p:spPr/>
        <p:txBody>
          <a:bodyPr/>
          <a:lstStyle/>
          <a:p>
            <a:fld id="{80194BA5-679D-4B9E-A9E1-27DA23A3F922}" type="slidenum">
              <a:rPr lang="de-DE" smtClean="0"/>
              <a:pPr/>
              <a:t>39</a:t>
            </a:fld>
            <a:endParaRPr lang="de-DE"/>
          </a:p>
        </p:txBody>
      </p:sp>
    </p:spTree>
    <p:extLst>
      <p:ext uri="{BB962C8B-B14F-4D97-AF65-F5344CB8AC3E}">
        <p14:creationId xmlns:p14="http://schemas.microsoft.com/office/powerpoint/2010/main" val="20370133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1" dirty="0"/>
              <a:t>Korrekt wäre hier festzustellen</a:t>
            </a:r>
            <a:r>
              <a:rPr lang="de-DE" dirty="0"/>
              <a:t>, dass, unabhängig vom Zeitpunkt der Zahlung (erst im nächsten Jahr) der im alten Jahr erzielte (!)  </a:t>
            </a:r>
            <a:r>
              <a:rPr lang="de-DE" b="1" dirty="0"/>
              <a:t>Ertrag</a:t>
            </a:r>
            <a:r>
              <a:rPr lang="de-DE" dirty="0"/>
              <a:t> (im Sinne der geforderten periodengerechten Erfolgsermittlung) mit der </a:t>
            </a:r>
            <a:r>
              <a:rPr lang="de-DE" b="1" dirty="0"/>
              <a:t>Abgrenzungsbuchung</a:t>
            </a:r>
            <a:r>
              <a:rPr lang="de-DE" dirty="0"/>
              <a:t> antizipiert ( = vorweggenommen) werden muss und sich daher in der </a:t>
            </a:r>
            <a:r>
              <a:rPr lang="de-DE" b="1" dirty="0"/>
              <a:t>GuV</a:t>
            </a:r>
            <a:r>
              <a:rPr lang="de-DE" dirty="0"/>
              <a:t> des alten Jahres niederschlägt. Auch hier stellt die Abgrenzungsbuchung (im Sinne der Doppik) gleichzeitig sicher, dass die hier zum 31.12. bestehende „</a:t>
            </a:r>
            <a:r>
              <a:rPr lang="de-DE" b="1" dirty="0"/>
              <a:t>Forderung auf (Zahlung von ) Geld</a:t>
            </a:r>
            <a:r>
              <a:rPr lang="de-DE" dirty="0"/>
              <a:t>“ auf der </a:t>
            </a:r>
            <a:r>
              <a:rPr lang="de-DE" b="1" dirty="0"/>
              <a:t>Aktivseite</a:t>
            </a:r>
            <a:r>
              <a:rPr lang="de-DE" dirty="0"/>
              <a:t> der Bilanz zum Ausweis kommt.           </a:t>
            </a:r>
          </a:p>
          <a:p>
            <a:endParaRPr lang="de-DE" dirty="0"/>
          </a:p>
        </p:txBody>
      </p:sp>
      <p:sp>
        <p:nvSpPr>
          <p:cNvPr id="4" name="Foliennummernplatzhalter 3"/>
          <p:cNvSpPr>
            <a:spLocks noGrp="1"/>
          </p:cNvSpPr>
          <p:nvPr>
            <p:ph type="sldNum" sz="quarter" idx="5"/>
          </p:nvPr>
        </p:nvSpPr>
        <p:spPr/>
        <p:txBody>
          <a:bodyPr/>
          <a:lstStyle/>
          <a:p>
            <a:fld id="{80194BA5-679D-4B9E-A9E1-27DA23A3F922}" type="slidenum">
              <a:rPr lang="de-DE" smtClean="0"/>
              <a:pPr/>
              <a:t>40</a:t>
            </a:fld>
            <a:endParaRPr lang="de-DE"/>
          </a:p>
        </p:txBody>
      </p:sp>
    </p:spTree>
    <p:extLst>
      <p:ext uri="{BB962C8B-B14F-4D97-AF65-F5344CB8AC3E}">
        <p14:creationId xmlns:p14="http://schemas.microsoft.com/office/powerpoint/2010/main" val="33603935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Gemäß Buch SD Kap. D 3.3, S. 280 (Theorie), praktisches Bsp. S. 282 unten wird in Folie 48 (mit Auflösung für den Fall 3) aufgegriffen, Fall1 und 2 siehe Buch S. 283; Übungen Nr. 318, 319, 320, 321 und 324  </a:t>
            </a:r>
          </a:p>
        </p:txBody>
      </p:sp>
      <p:sp>
        <p:nvSpPr>
          <p:cNvPr id="4" name="Foliennummernplatzhalter 3"/>
          <p:cNvSpPr>
            <a:spLocks noGrp="1"/>
          </p:cNvSpPr>
          <p:nvPr>
            <p:ph type="sldNum" sz="quarter" idx="10"/>
          </p:nvPr>
        </p:nvSpPr>
        <p:spPr/>
        <p:txBody>
          <a:bodyPr/>
          <a:lstStyle/>
          <a:p>
            <a:fld id="{80194BA5-679D-4B9E-A9E1-27DA23A3F922}" type="slidenum">
              <a:rPr lang="de-DE" smtClean="0"/>
              <a:pPr/>
              <a:t>41</a:t>
            </a:fld>
            <a:endParaRPr lang="de-DE"/>
          </a:p>
        </p:txBody>
      </p:sp>
    </p:spTree>
    <p:extLst>
      <p:ext uri="{BB962C8B-B14F-4D97-AF65-F5344CB8AC3E}">
        <p14:creationId xmlns:p14="http://schemas.microsoft.com/office/powerpoint/2010/main" val="12380977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80194BA5-679D-4B9E-A9E1-27DA23A3F922}" type="slidenum">
              <a:rPr lang="de-DE" smtClean="0"/>
              <a:pPr/>
              <a:t>42</a:t>
            </a:fld>
            <a:endParaRPr lang="de-DE"/>
          </a:p>
        </p:txBody>
      </p:sp>
    </p:spTree>
    <p:extLst>
      <p:ext uri="{BB962C8B-B14F-4D97-AF65-F5344CB8AC3E}">
        <p14:creationId xmlns:p14="http://schemas.microsoft.com/office/powerpoint/2010/main" val="363957721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Weitere Beispiele im Buch SD Kap. 3.3</a:t>
            </a:r>
          </a:p>
        </p:txBody>
      </p:sp>
      <p:sp>
        <p:nvSpPr>
          <p:cNvPr id="4" name="Foliennummernplatzhalter 3"/>
          <p:cNvSpPr>
            <a:spLocks noGrp="1"/>
          </p:cNvSpPr>
          <p:nvPr>
            <p:ph type="sldNum" sz="quarter" idx="5"/>
          </p:nvPr>
        </p:nvSpPr>
        <p:spPr/>
        <p:txBody>
          <a:bodyPr/>
          <a:lstStyle/>
          <a:p>
            <a:fld id="{80194BA5-679D-4B9E-A9E1-27DA23A3F922}" type="slidenum">
              <a:rPr lang="de-DE" smtClean="0"/>
              <a:pPr/>
              <a:t>43</a:t>
            </a:fld>
            <a:endParaRPr lang="de-DE"/>
          </a:p>
        </p:txBody>
      </p:sp>
    </p:spTree>
    <p:extLst>
      <p:ext uri="{BB962C8B-B14F-4D97-AF65-F5344CB8AC3E}">
        <p14:creationId xmlns:p14="http://schemas.microsoft.com/office/powerpoint/2010/main" val="36185969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 Anlehnung an das Beispiel aus SD Kapitel 3.3: „Zum Bilanzstichtag wird noch mit einer Gewerbesteuernachzahlung für das abgeschlossene Jahr in Höhe von 4.500 EUR gerechnet“</a:t>
            </a:r>
          </a:p>
          <a:p>
            <a:r>
              <a:rPr lang="de-DE" dirty="0"/>
              <a:t>Wenn der Betrag der Zahlung feststeht (hier mit einem Steuerbescheid) wird die Rückstellung aufgelöst. Häufig weicht der Betrag der Zahlung ( = Z) von der Höhe der gebildeten Rückstellung ( = R) ab. Ist Z &gt; R (wie im Bsp. oben) wird eine zusätzliche (periodenfremde) Aufwandsbuchung erforderlich. Ist Z &lt; R kann der Unterschiedsbetrag als außerordentlicher Ertrag vereinnahmt werden.     </a:t>
            </a:r>
          </a:p>
        </p:txBody>
      </p:sp>
      <p:sp>
        <p:nvSpPr>
          <p:cNvPr id="4" name="Foliennummernplatzhalter 3"/>
          <p:cNvSpPr>
            <a:spLocks noGrp="1"/>
          </p:cNvSpPr>
          <p:nvPr>
            <p:ph type="sldNum" sz="quarter" idx="5"/>
          </p:nvPr>
        </p:nvSpPr>
        <p:spPr/>
        <p:txBody>
          <a:bodyPr/>
          <a:lstStyle/>
          <a:p>
            <a:fld id="{80194BA5-679D-4B9E-A9E1-27DA23A3F922}" type="slidenum">
              <a:rPr lang="de-DE" smtClean="0"/>
              <a:pPr/>
              <a:t>44</a:t>
            </a:fld>
            <a:endParaRPr lang="de-DE"/>
          </a:p>
        </p:txBody>
      </p:sp>
    </p:spTree>
    <p:extLst>
      <p:ext uri="{BB962C8B-B14F-4D97-AF65-F5344CB8AC3E}">
        <p14:creationId xmlns:p14="http://schemas.microsoft.com/office/powerpoint/2010/main" val="258607901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Idealtypisches Beispiel anhand einer betrieblichen Pensionszusage über 300.000 EUR für einen neu eingestellten „leitenden Angestellten“ nach 30 Jahren Betriebszugehörigkeit: Verpflichtung (!)  zu einer jährlichen Bildung/Zuführung einer Pensionsrückstellung über (nominal ! ) 10.000 EUR</a:t>
            </a:r>
          </a:p>
          <a:p>
            <a:endParaRPr lang="de-DE" dirty="0"/>
          </a:p>
          <a:p>
            <a:r>
              <a:rPr lang="de-DE" dirty="0"/>
              <a:t>Weitere Beispiele im Buch SD Kap. D 3.3</a:t>
            </a:r>
          </a:p>
        </p:txBody>
      </p:sp>
      <p:sp>
        <p:nvSpPr>
          <p:cNvPr id="4" name="Foliennummernplatzhalter 3"/>
          <p:cNvSpPr>
            <a:spLocks noGrp="1"/>
          </p:cNvSpPr>
          <p:nvPr>
            <p:ph type="sldNum" sz="quarter" idx="5"/>
          </p:nvPr>
        </p:nvSpPr>
        <p:spPr/>
        <p:txBody>
          <a:bodyPr/>
          <a:lstStyle/>
          <a:p>
            <a:fld id="{80194BA5-679D-4B9E-A9E1-27DA23A3F922}" type="slidenum">
              <a:rPr lang="de-DE" smtClean="0"/>
              <a:pPr/>
              <a:t>45</a:t>
            </a:fld>
            <a:endParaRPr lang="de-DE"/>
          </a:p>
        </p:txBody>
      </p:sp>
    </p:spTree>
    <p:extLst>
      <p:ext uri="{BB962C8B-B14F-4D97-AF65-F5344CB8AC3E}">
        <p14:creationId xmlns:p14="http://schemas.microsoft.com/office/powerpoint/2010/main" val="98322755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Vgl. Teil B der Vorlesung „Grundzüge der Jahresabschlussanalyse“: Kennziffer „Cash </a:t>
            </a:r>
            <a:r>
              <a:rPr lang="de-DE" dirty="0" err="1"/>
              <a:t>flow</a:t>
            </a:r>
            <a:r>
              <a:rPr lang="de-DE"/>
              <a:t>“</a:t>
            </a:r>
            <a:endParaRPr lang="de-DE" dirty="0"/>
          </a:p>
        </p:txBody>
      </p:sp>
      <p:sp>
        <p:nvSpPr>
          <p:cNvPr id="4" name="Foliennummernplatzhalter 3"/>
          <p:cNvSpPr>
            <a:spLocks noGrp="1"/>
          </p:cNvSpPr>
          <p:nvPr>
            <p:ph type="sldNum" sz="quarter" idx="5"/>
          </p:nvPr>
        </p:nvSpPr>
        <p:spPr/>
        <p:txBody>
          <a:bodyPr/>
          <a:lstStyle/>
          <a:p>
            <a:fld id="{80194BA5-679D-4B9E-A9E1-27DA23A3F922}" type="slidenum">
              <a:rPr lang="de-DE" smtClean="0"/>
              <a:pPr/>
              <a:t>46</a:t>
            </a:fld>
            <a:endParaRPr lang="de-DE"/>
          </a:p>
        </p:txBody>
      </p:sp>
    </p:spTree>
    <p:extLst>
      <p:ext uri="{BB962C8B-B14F-4D97-AF65-F5344CB8AC3E}">
        <p14:creationId xmlns:p14="http://schemas.microsoft.com/office/powerpoint/2010/main" val="373453402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Zu Aufgabe 416: nur die Belege 24, 25, 30 – 36!</a:t>
            </a:r>
          </a:p>
          <a:p>
            <a:r>
              <a:rPr lang="de-DE" dirty="0"/>
              <a:t>Zu Aufgabe 348: abweichende Aufgabenstellung (nur) a) : Entwickeln Sie die Buchungssätze für die notwendigen vorbereitenden Abschlussbuchungen gemäß Abschlussangaben 1 – 10 sowie für die </a:t>
            </a:r>
            <a:r>
              <a:rPr lang="de-DE" dirty="0" err="1"/>
              <a:t>USt</a:t>
            </a:r>
            <a:r>
              <a:rPr lang="de-DE" dirty="0"/>
              <a:t>-Position gegenüber dem FA </a:t>
            </a:r>
          </a:p>
        </p:txBody>
      </p:sp>
      <p:sp>
        <p:nvSpPr>
          <p:cNvPr id="4" name="Foliennummernplatzhalter 3"/>
          <p:cNvSpPr>
            <a:spLocks noGrp="1"/>
          </p:cNvSpPr>
          <p:nvPr>
            <p:ph type="sldNum" sz="quarter" idx="10"/>
          </p:nvPr>
        </p:nvSpPr>
        <p:spPr/>
        <p:txBody>
          <a:bodyPr/>
          <a:lstStyle/>
          <a:p>
            <a:fld id="{80194BA5-679D-4B9E-A9E1-27DA23A3F922}" type="slidenum">
              <a:rPr lang="de-DE" smtClean="0"/>
              <a:pPr/>
              <a:t>49</a:t>
            </a:fld>
            <a:endParaRPr lang="de-DE"/>
          </a:p>
        </p:txBody>
      </p:sp>
    </p:spTree>
    <p:extLst>
      <p:ext uri="{BB962C8B-B14F-4D97-AF65-F5344CB8AC3E}">
        <p14:creationId xmlns:p14="http://schemas.microsoft.com/office/powerpoint/2010/main" val="219537606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Zu 25) = Bestand Vorsteuer (2600) am 27.12 ( = EUR 71.460) + Mehrungen aus den Belegen 1, 4, 6, 9, 12, 13 - Minderung aus Beleg 21 = (EUR 82104,75)</a:t>
            </a:r>
          </a:p>
          <a:p>
            <a:r>
              <a:rPr lang="de-DE" dirty="0"/>
              <a:t>Zu 30 und 31) in Analogie zu Folie 14</a:t>
            </a:r>
          </a:p>
          <a:p>
            <a:r>
              <a:rPr lang="de-DE" dirty="0"/>
              <a:t>Zu 32 und 33) in Analogie zu Folien 17 und 16</a:t>
            </a:r>
          </a:p>
          <a:p>
            <a:r>
              <a:rPr lang="de-DE" dirty="0"/>
              <a:t>Zu 34) in Analogie zu Folie 48</a:t>
            </a:r>
          </a:p>
          <a:p>
            <a:r>
              <a:rPr lang="de-DE" dirty="0"/>
              <a:t>Zu 35) in Analogie zu Folie 39; Zu 36) zu Folie 43</a:t>
            </a:r>
          </a:p>
          <a:p>
            <a:endParaRPr lang="de-DE" dirty="0"/>
          </a:p>
          <a:p>
            <a:endParaRPr lang="de-DE" dirty="0"/>
          </a:p>
        </p:txBody>
      </p:sp>
      <p:sp>
        <p:nvSpPr>
          <p:cNvPr id="4" name="Foliennummernplatzhalter 3"/>
          <p:cNvSpPr>
            <a:spLocks noGrp="1"/>
          </p:cNvSpPr>
          <p:nvPr>
            <p:ph type="sldNum" sz="quarter" idx="5"/>
          </p:nvPr>
        </p:nvSpPr>
        <p:spPr/>
        <p:txBody>
          <a:bodyPr/>
          <a:lstStyle/>
          <a:p>
            <a:fld id="{80194BA5-679D-4B9E-A9E1-27DA23A3F922}" type="slidenum">
              <a:rPr lang="de-DE" smtClean="0"/>
              <a:pPr/>
              <a:t>51</a:t>
            </a:fld>
            <a:endParaRPr lang="de-DE"/>
          </a:p>
        </p:txBody>
      </p:sp>
    </p:spTree>
    <p:extLst>
      <p:ext uri="{BB962C8B-B14F-4D97-AF65-F5344CB8AC3E}">
        <p14:creationId xmlns:p14="http://schemas.microsoft.com/office/powerpoint/2010/main" val="283405849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Lösung zu SD 348</a:t>
            </a:r>
          </a:p>
        </p:txBody>
      </p:sp>
      <p:sp>
        <p:nvSpPr>
          <p:cNvPr id="4" name="Foliennummernplatzhalter 3"/>
          <p:cNvSpPr>
            <a:spLocks noGrp="1"/>
          </p:cNvSpPr>
          <p:nvPr>
            <p:ph type="sldNum" sz="quarter" idx="5"/>
          </p:nvPr>
        </p:nvSpPr>
        <p:spPr/>
        <p:txBody>
          <a:bodyPr/>
          <a:lstStyle/>
          <a:p>
            <a:fld id="{80194BA5-679D-4B9E-A9E1-27DA23A3F922}" type="slidenum">
              <a:rPr lang="de-DE" smtClean="0"/>
              <a:pPr/>
              <a:t>53</a:t>
            </a:fld>
            <a:endParaRPr lang="de-DE"/>
          </a:p>
        </p:txBody>
      </p:sp>
    </p:spTree>
    <p:extLst>
      <p:ext uri="{BB962C8B-B14F-4D97-AF65-F5344CB8AC3E}">
        <p14:creationId xmlns:p14="http://schemas.microsoft.com/office/powerpoint/2010/main" val="174376047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Entspricht der einführenden Darstellung im Buch SD zum Kapitel D ( = „Jahresabschluss“): hier Kap. D1, S. 236</a:t>
            </a:r>
          </a:p>
          <a:p>
            <a:r>
              <a:rPr lang="de-DE" dirty="0"/>
              <a:t>Zu 1) im Folgenden dargestellt am Bsp. der Ermittlung einer Position gegenüber dem FA per 31.12. durch Saldieren von Vorsteuer-Forderungen (2600) mit </a:t>
            </a:r>
            <a:r>
              <a:rPr lang="de-DE" dirty="0" err="1"/>
              <a:t>USt</a:t>
            </a:r>
            <a:r>
              <a:rPr lang="de-DE" dirty="0"/>
              <a:t>-Verbindlichkeiten (4800); weitere im Buch (auch nur) genannte Beispiele (Bezugskosten, Nachlässe, Erlösberichtigungen) ohne gesonderte Darstellung!</a:t>
            </a:r>
          </a:p>
          <a:p>
            <a:r>
              <a:rPr lang="de-DE" dirty="0"/>
              <a:t>Zu 2) als Bsp. für UV: Differenzen in der Kasse, im Bestand der RHB bzw. der Fertigen/Unfertigen Erzeugnisse</a:t>
            </a:r>
          </a:p>
          <a:p>
            <a:r>
              <a:rPr lang="de-DE" dirty="0"/>
              <a:t>Zu 3) als Bsp. für Abschreibungen: Ab a Sach-AV sowie ausgewählte UV-Positionen (Vorräte, Forderungen, Wertpapiere) </a:t>
            </a:r>
          </a:p>
          <a:p>
            <a:r>
              <a:rPr lang="de-DE" dirty="0"/>
              <a:t>Zu 4) Transitorische Posten, Antizipative Posten und Rückstellungen</a:t>
            </a:r>
          </a:p>
          <a:p>
            <a:r>
              <a:rPr lang="de-DE" dirty="0"/>
              <a:t>Zu 5) Gliederungsvorschriften von HGB bzw. IAS/IFRS (Buch Kap. H2 und H3 (S. 523 – 527)      </a:t>
            </a:r>
          </a:p>
        </p:txBody>
      </p:sp>
      <p:sp>
        <p:nvSpPr>
          <p:cNvPr id="4" name="Foliennummernplatzhalter 3"/>
          <p:cNvSpPr>
            <a:spLocks noGrp="1"/>
          </p:cNvSpPr>
          <p:nvPr>
            <p:ph type="sldNum" sz="quarter" idx="10"/>
          </p:nvPr>
        </p:nvSpPr>
        <p:spPr/>
        <p:txBody>
          <a:bodyPr/>
          <a:lstStyle/>
          <a:p>
            <a:fld id="{80194BA5-679D-4B9E-A9E1-27DA23A3F922}" type="slidenum">
              <a:rPr lang="de-DE" smtClean="0"/>
              <a:pPr/>
              <a:t>54</a:t>
            </a:fld>
            <a:endParaRPr lang="de-DE"/>
          </a:p>
        </p:txBody>
      </p:sp>
    </p:spTree>
    <p:extLst>
      <p:ext uri="{BB962C8B-B14F-4D97-AF65-F5344CB8AC3E}">
        <p14:creationId xmlns:p14="http://schemas.microsoft.com/office/powerpoint/2010/main" val="3358785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80194BA5-679D-4B9E-A9E1-27DA23A3F922}" type="slidenum">
              <a:rPr lang="de-DE" smtClean="0"/>
              <a:pPr/>
              <a:t>55</a:t>
            </a:fld>
            <a:endParaRPr lang="de-DE"/>
          </a:p>
        </p:txBody>
      </p:sp>
    </p:spTree>
    <p:extLst>
      <p:ext uri="{BB962C8B-B14F-4D97-AF65-F5344CB8AC3E}">
        <p14:creationId xmlns:p14="http://schemas.microsoft.com/office/powerpoint/2010/main" val="281706028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80194BA5-679D-4B9E-A9E1-27DA23A3F922}" type="slidenum">
              <a:rPr lang="de-DE" smtClean="0"/>
              <a:pPr/>
              <a:t>56</a:t>
            </a:fld>
            <a:endParaRPr lang="de-DE"/>
          </a:p>
        </p:txBody>
      </p:sp>
    </p:spTree>
    <p:extLst>
      <p:ext uri="{BB962C8B-B14F-4D97-AF65-F5344CB8AC3E}">
        <p14:creationId xmlns:p14="http://schemas.microsoft.com/office/powerpoint/2010/main" val="297718664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Entnommen aus Lehrbuch SD, vgl. Anhang am Ende des Buches = Rückseite des IKR </a:t>
            </a:r>
          </a:p>
          <a:p>
            <a:r>
              <a:rPr lang="de-DE" dirty="0"/>
              <a:t>? Noch unklare Positionen?</a:t>
            </a:r>
          </a:p>
        </p:txBody>
      </p:sp>
      <p:sp>
        <p:nvSpPr>
          <p:cNvPr id="4" name="Foliennummernplatzhalter 3"/>
          <p:cNvSpPr>
            <a:spLocks noGrp="1"/>
          </p:cNvSpPr>
          <p:nvPr>
            <p:ph type="sldNum" sz="quarter" idx="10"/>
          </p:nvPr>
        </p:nvSpPr>
        <p:spPr/>
        <p:txBody>
          <a:bodyPr/>
          <a:lstStyle/>
          <a:p>
            <a:fld id="{80194BA5-679D-4B9E-A9E1-27DA23A3F922}" type="slidenum">
              <a:rPr lang="de-DE" smtClean="0"/>
              <a:pPr/>
              <a:t>57</a:t>
            </a:fld>
            <a:endParaRPr lang="de-DE"/>
          </a:p>
        </p:txBody>
      </p:sp>
    </p:spTree>
    <p:extLst>
      <p:ext uri="{BB962C8B-B14F-4D97-AF65-F5344CB8AC3E}">
        <p14:creationId xmlns:p14="http://schemas.microsoft.com/office/powerpoint/2010/main" val="183048670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Gegenüberstellung Rückstellungen versus Rücklagen anhand ausgewählter Kriterien</a:t>
            </a:r>
          </a:p>
        </p:txBody>
      </p:sp>
      <p:sp>
        <p:nvSpPr>
          <p:cNvPr id="4" name="Foliennummernplatzhalter 3"/>
          <p:cNvSpPr>
            <a:spLocks noGrp="1"/>
          </p:cNvSpPr>
          <p:nvPr>
            <p:ph type="sldNum" sz="quarter" idx="5"/>
          </p:nvPr>
        </p:nvSpPr>
        <p:spPr/>
        <p:txBody>
          <a:bodyPr/>
          <a:lstStyle/>
          <a:p>
            <a:fld id="{80194BA5-679D-4B9E-A9E1-27DA23A3F922}" type="slidenum">
              <a:rPr lang="de-DE" smtClean="0"/>
              <a:pPr/>
              <a:t>58</a:t>
            </a:fld>
            <a:endParaRPr lang="de-DE"/>
          </a:p>
        </p:txBody>
      </p:sp>
    </p:spTree>
    <p:extLst>
      <p:ext uri="{BB962C8B-B14F-4D97-AF65-F5344CB8AC3E}">
        <p14:creationId xmlns:p14="http://schemas.microsoft.com/office/powerpoint/2010/main" val="338988468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80194BA5-679D-4B9E-A9E1-27DA23A3F922}" type="slidenum">
              <a:rPr lang="de-DE" smtClean="0"/>
              <a:pPr/>
              <a:t>59</a:t>
            </a:fld>
            <a:endParaRPr lang="de-DE"/>
          </a:p>
        </p:txBody>
      </p:sp>
    </p:spTree>
    <p:extLst>
      <p:ext uri="{BB962C8B-B14F-4D97-AF65-F5344CB8AC3E}">
        <p14:creationId xmlns:p14="http://schemas.microsoft.com/office/powerpoint/2010/main" val="322506742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Analog SD Kap. D 6.1, S. 338</a:t>
            </a:r>
          </a:p>
        </p:txBody>
      </p:sp>
      <p:sp>
        <p:nvSpPr>
          <p:cNvPr id="4" name="Foliennummernplatzhalter 3"/>
          <p:cNvSpPr>
            <a:spLocks noGrp="1"/>
          </p:cNvSpPr>
          <p:nvPr>
            <p:ph type="sldNum" sz="quarter" idx="10"/>
          </p:nvPr>
        </p:nvSpPr>
        <p:spPr/>
        <p:txBody>
          <a:bodyPr/>
          <a:lstStyle/>
          <a:p>
            <a:fld id="{80194BA5-679D-4B9E-A9E1-27DA23A3F922}" type="slidenum">
              <a:rPr lang="de-DE" smtClean="0"/>
              <a:pPr/>
              <a:t>60</a:t>
            </a:fld>
            <a:endParaRPr lang="de-DE"/>
          </a:p>
        </p:txBody>
      </p:sp>
    </p:spTree>
    <p:extLst>
      <p:ext uri="{BB962C8B-B14F-4D97-AF65-F5344CB8AC3E}">
        <p14:creationId xmlns:p14="http://schemas.microsoft.com/office/powerpoint/2010/main" val="122626414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defTabSz="964418">
              <a:defRPr/>
            </a:pPr>
            <a:r>
              <a:rPr lang="de-DE" dirty="0"/>
              <a:t>Analog SD Kap. D 6.1, S. 339</a:t>
            </a:r>
          </a:p>
          <a:p>
            <a:endParaRPr lang="de-DE" dirty="0"/>
          </a:p>
        </p:txBody>
      </p:sp>
      <p:sp>
        <p:nvSpPr>
          <p:cNvPr id="4" name="Foliennummernplatzhalter 3"/>
          <p:cNvSpPr>
            <a:spLocks noGrp="1"/>
          </p:cNvSpPr>
          <p:nvPr>
            <p:ph type="sldNum" sz="quarter" idx="10"/>
          </p:nvPr>
        </p:nvSpPr>
        <p:spPr/>
        <p:txBody>
          <a:bodyPr/>
          <a:lstStyle/>
          <a:p>
            <a:fld id="{80194BA5-679D-4B9E-A9E1-27DA23A3F922}" type="slidenum">
              <a:rPr lang="de-DE" smtClean="0"/>
              <a:pPr/>
              <a:t>61</a:t>
            </a:fld>
            <a:endParaRPr lang="de-DE"/>
          </a:p>
        </p:txBody>
      </p:sp>
    </p:spTree>
    <p:extLst>
      <p:ext uri="{BB962C8B-B14F-4D97-AF65-F5344CB8AC3E}">
        <p14:creationId xmlns:p14="http://schemas.microsoft.com/office/powerpoint/2010/main" val="373006147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Details siehe SD Kap. D 6.1, S. </a:t>
            </a:r>
            <a:r>
              <a:rPr lang="de-DE"/>
              <a:t>340</a:t>
            </a:r>
            <a:endParaRPr lang="de-DE" dirty="0"/>
          </a:p>
        </p:txBody>
      </p:sp>
      <p:sp>
        <p:nvSpPr>
          <p:cNvPr id="4" name="Foliennummernplatzhalter 3"/>
          <p:cNvSpPr>
            <a:spLocks noGrp="1"/>
          </p:cNvSpPr>
          <p:nvPr>
            <p:ph type="sldNum" sz="quarter" idx="10"/>
          </p:nvPr>
        </p:nvSpPr>
        <p:spPr/>
        <p:txBody>
          <a:bodyPr/>
          <a:lstStyle/>
          <a:p>
            <a:fld id="{80194BA5-679D-4B9E-A9E1-27DA23A3F922}" type="slidenum">
              <a:rPr lang="de-DE" smtClean="0"/>
              <a:pPr/>
              <a:t>62</a:t>
            </a:fld>
            <a:endParaRPr lang="de-DE"/>
          </a:p>
        </p:txBody>
      </p:sp>
    </p:spTree>
    <p:extLst>
      <p:ext uri="{BB962C8B-B14F-4D97-AF65-F5344CB8AC3E}">
        <p14:creationId xmlns:p14="http://schemas.microsoft.com/office/powerpoint/2010/main" val="40596339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685800" y="2130425"/>
            <a:ext cx="7772400" cy="1470025"/>
          </a:xfrm>
        </p:spPr>
        <p:txBody>
          <a:bodyPr/>
          <a:lstStyle/>
          <a:p>
            <a:r>
              <a:rPr lang="de-DE"/>
              <a:t>Titelmasterformat durch Klicken bearbeiten</a:t>
            </a:r>
          </a:p>
        </p:txBody>
      </p:sp>
      <p:sp>
        <p:nvSpPr>
          <p:cNvPr id="3" name="Untertitel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a:t>Formatvorlage des Untertitelmasters durch Klicken bearbeiten</a:t>
            </a:r>
          </a:p>
        </p:txBody>
      </p:sp>
      <p:sp>
        <p:nvSpPr>
          <p:cNvPr id="4" name="Datumsplatzhalter 3"/>
          <p:cNvSpPr>
            <a:spLocks noGrp="1"/>
          </p:cNvSpPr>
          <p:nvPr>
            <p:ph type="dt" sz="half" idx="10"/>
          </p:nvPr>
        </p:nvSpPr>
        <p:spPr/>
        <p:txBody>
          <a:bodyPr/>
          <a:lstStyle/>
          <a:p>
            <a:fld id="{7B1C1C23-7667-4290-8725-1227B02F6CCA}" type="datetimeFigureOut">
              <a:rPr lang="de-DE" smtClean="0"/>
              <a:pPr/>
              <a:t>26.03.2025</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14CCBEBC-51D4-4282-9F7D-14EB4D4F745B}" type="slidenum">
              <a:rPr lang="de-DE" smtClean="0"/>
              <a:pPr/>
              <a:t>‹Nr.›</a:t>
            </a:fld>
            <a:endParaRPr lang="de-D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idx="1"/>
          </p:nvPr>
        </p:nvSpPr>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7B1C1C23-7667-4290-8725-1227B02F6CCA}" type="datetimeFigureOut">
              <a:rPr lang="de-DE" smtClean="0"/>
              <a:pPr/>
              <a:t>26.03.2025</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14CCBEBC-51D4-4282-9F7D-14EB4D4F745B}" type="slidenum">
              <a:rPr lang="de-DE" smtClean="0"/>
              <a:pPr/>
              <a:t>‹Nr.›</a:t>
            </a:fld>
            <a:endParaRPr lang="de-D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2313" y="4406900"/>
            <a:ext cx="7772400" cy="1362075"/>
          </a:xfrm>
        </p:spPr>
        <p:txBody>
          <a:bodyPr anchor="t"/>
          <a:lstStyle>
            <a:lvl1pPr algn="l">
              <a:defRPr sz="4000" b="1" cap="all"/>
            </a:lvl1pPr>
          </a:lstStyle>
          <a:p>
            <a:r>
              <a:rPr lang="de-DE"/>
              <a:t>Titelmasterformat durch Klicken bearbeiten</a:t>
            </a:r>
          </a:p>
        </p:txBody>
      </p:sp>
      <p:sp>
        <p:nvSpPr>
          <p:cNvPr id="3" name="Textplatzhalt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a:t>Textmasterformate durch Klicken bearbeiten</a:t>
            </a:r>
          </a:p>
        </p:txBody>
      </p:sp>
      <p:sp>
        <p:nvSpPr>
          <p:cNvPr id="4" name="Datumsplatzhalter 3"/>
          <p:cNvSpPr>
            <a:spLocks noGrp="1"/>
          </p:cNvSpPr>
          <p:nvPr>
            <p:ph type="dt" sz="half" idx="10"/>
          </p:nvPr>
        </p:nvSpPr>
        <p:spPr/>
        <p:txBody>
          <a:bodyPr/>
          <a:lstStyle/>
          <a:p>
            <a:fld id="{7B1C1C23-7667-4290-8725-1227B02F6CCA}" type="datetimeFigureOut">
              <a:rPr lang="de-DE" smtClean="0"/>
              <a:pPr/>
              <a:t>26.03.2025</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14CCBEBC-51D4-4282-9F7D-14EB4D4F745B}" type="slidenum">
              <a:rPr lang="de-DE" smtClean="0"/>
              <a:pPr/>
              <a:t>‹Nr.›</a:t>
            </a:fld>
            <a:endParaRPr lang="de-D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p:txBody>
          <a:bodyPr/>
          <a:lstStyle/>
          <a:p>
            <a:fld id="{7B1C1C23-7667-4290-8725-1227B02F6CCA}" type="datetimeFigureOut">
              <a:rPr lang="de-DE" smtClean="0"/>
              <a:pPr/>
              <a:t>26.03.2025</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14CCBEBC-51D4-4282-9F7D-14EB4D4F745B}" type="slidenum">
              <a:rPr lang="de-DE" smtClean="0"/>
              <a:pPr/>
              <a:t>‹Nr.›</a:t>
            </a:fld>
            <a:endParaRPr lang="de-D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a:t>Titelmasterformat durch Klicken bearbeiten</a:t>
            </a:r>
          </a:p>
        </p:txBody>
      </p:sp>
      <p:sp>
        <p:nvSpPr>
          <p:cNvPr id="3" name="Textplatzhalt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Textmasterformate durch Klicken bearbeiten</a:t>
            </a:r>
          </a:p>
        </p:txBody>
      </p:sp>
      <p:sp>
        <p:nvSpPr>
          <p:cNvPr id="4" name="Inhaltsplatzhalt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Textmasterformate durch Klicken bearbeiten</a:t>
            </a:r>
          </a:p>
        </p:txBody>
      </p:sp>
      <p:sp>
        <p:nvSpPr>
          <p:cNvPr id="6" name="Inhaltsplatzhalt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p:cNvSpPr>
            <a:spLocks noGrp="1"/>
          </p:cNvSpPr>
          <p:nvPr>
            <p:ph type="dt" sz="half" idx="10"/>
          </p:nvPr>
        </p:nvSpPr>
        <p:spPr/>
        <p:txBody>
          <a:bodyPr/>
          <a:lstStyle/>
          <a:p>
            <a:fld id="{7B1C1C23-7667-4290-8725-1227B02F6CCA}" type="datetimeFigureOut">
              <a:rPr lang="de-DE" smtClean="0"/>
              <a:pPr/>
              <a:t>26.03.2025</a:t>
            </a:fld>
            <a:endParaRPr lang="de-DE"/>
          </a:p>
        </p:txBody>
      </p:sp>
      <p:sp>
        <p:nvSpPr>
          <p:cNvPr id="8" name="Fußzeilenplatzhalter 7"/>
          <p:cNvSpPr>
            <a:spLocks noGrp="1"/>
          </p:cNvSpPr>
          <p:nvPr>
            <p:ph type="ftr" sz="quarter" idx="11"/>
          </p:nvPr>
        </p:nvSpPr>
        <p:spPr/>
        <p:txBody>
          <a:bodyPr/>
          <a:lstStyle/>
          <a:p>
            <a:endParaRPr lang="de-DE"/>
          </a:p>
        </p:txBody>
      </p:sp>
      <p:sp>
        <p:nvSpPr>
          <p:cNvPr id="9" name="Foliennummernplatzhalter 8"/>
          <p:cNvSpPr>
            <a:spLocks noGrp="1"/>
          </p:cNvSpPr>
          <p:nvPr>
            <p:ph type="sldNum" sz="quarter" idx="12"/>
          </p:nvPr>
        </p:nvSpPr>
        <p:spPr/>
        <p:txBody>
          <a:bodyPr/>
          <a:lstStyle/>
          <a:p>
            <a:fld id="{14CCBEBC-51D4-4282-9F7D-14EB4D4F745B}" type="slidenum">
              <a:rPr lang="de-DE" smtClean="0"/>
              <a:pPr/>
              <a:t>‹Nr.›</a:t>
            </a:fld>
            <a:endParaRPr lang="de-D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Datumsplatzhalter 2"/>
          <p:cNvSpPr>
            <a:spLocks noGrp="1"/>
          </p:cNvSpPr>
          <p:nvPr>
            <p:ph type="dt" sz="half" idx="10"/>
          </p:nvPr>
        </p:nvSpPr>
        <p:spPr/>
        <p:txBody>
          <a:bodyPr/>
          <a:lstStyle/>
          <a:p>
            <a:fld id="{7B1C1C23-7667-4290-8725-1227B02F6CCA}" type="datetimeFigureOut">
              <a:rPr lang="de-DE" smtClean="0"/>
              <a:pPr/>
              <a:t>26.03.2025</a:t>
            </a:fld>
            <a:endParaRPr lang="de-DE"/>
          </a:p>
        </p:txBody>
      </p:sp>
      <p:sp>
        <p:nvSpPr>
          <p:cNvPr id="4" name="Fußzeilenplatzhalter 3"/>
          <p:cNvSpPr>
            <a:spLocks noGrp="1"/>
          </p:cNvSpPr>
          <p:nvPr>
            <p:ph type="ftr" sz="quarter" idx="11"/>
          </p:nvPr>
        </p:nvSpPr>
        <p:spPr/>
        <p:txBody>
          <a:bodyPr/>
          <a:lstStyle/>
          <a:p>
            <a:endParaRPr lang="de-DE"/>
          </a:p>
        </p:txBody>
      </p:sp>
      <p:sp>
        <p:nvSpPr>
          <p:cNvPr id="5" name="Foliennummernplatzhalter 4"/>
          <p:cNvSpPr>
            <a:spLocks noGrp="1"/>
          </p:cNvSpPr>
          <p:nvPr>
            <p:ph type="sldNum" sz="quarter" idx="12"/>
          </p:nvPr>
        </p:nvSpPr>
        <p:spPr/>
        <p:txBody>
          <a:bodyPr/>
          <a:lstStyle/>
          <a:p>
            <a:fld id="{14CCBEBC-51D4-4282-9F7D-14EB4D4F745B}" type="slidenum">
              <a:rPr lang="de-DE" smtClean="0"/>
              <a:pPr/>
              <a:t>‹Nr.›</a:t>
            </a:fld>
            <a:endParaRPr lang="de-D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7B1C1C23-7667-4290-8725-1227B02F6CCA}" type="datetimeFigureOut">
              <a:rPr lang="de-DE" smtClean="0"/>
              <a:pPr/>
              <a:t>26.03.2025</a:t>
            </a:fld>
            <a:endParaRPr lang="de-DE"/>
          </a:p>
        </p:txBody>
      </p:sp>
      <p:sp>
        <p:nvSpPr>
          <p:cNvPr id="3" name="Fußzeilenplatzhalter 2"/>
          <p:cNvSpPr>
            <a:spLocks noGrp="1"/>
          </p:cNvSpPr>
          <p:nvPr>
            <p:ph type="ftr" sz="quarter" idx="11"/>
          </p:nvPr>
        </p:nvSpPr>
        <p:spPr/>
        <p:txBody>
          <a:bodyPr/>
          <a:lstStyle/>
          <a:p>
            <a:endParaRPr lang="de-DE"/>
          </a:p>
        </p:txBody>
      </p:sp>
      <p:sp>
        <p:nvSpPr>
          <p:cNvPr id="4" name="Foliennummernplatzhalter 3"/>
          <p:cNvSpPr>
            <a:spLocks noGrp="1"/>
          </p:cNvSpPr>
          <p:nvPr>
            <p:ph type="sldNum" sz="quarter" idx="12"/>
          </p:nvPr>
        </p:nvSpPr>
        <p:spPr/>
        <p:txBody>
          <a:bodyPr/>
          <a:lstStyle/>
          <a:p>
            <a:fld id="{14CCBEBC-51D4-4282-9F7D-14EB4D4F745B}" type="slidenum">
              <a:rPr lang="de-DE" smtClean="0"/>
              <a:pPr/>
              <a:t>‹Nr.›</a:t>
            </a:fld>
            <a:endParaRPr lang="de-D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457200" y="273050"/>
            <a:ext cx="3008313" cy="1162050"/>
          </a:xfrm>
        </p:spPr>
        <p:txBody>
          <a:bodyPr anchor="b"/>
          <a:lstStyle>
            <a:lvl1pPr algn="l">
              <a:defRPr sz="2000" b="1"/>
            </a:lvl1pPr>
          </a:lstStyle>
          <a:p>
            <a:r>
              <a:rPr lang="de-DE"/>
              <a:t>Titelmasterformat durch Klicken bearbeiten</a:t>
            </a:r>
          </a:p>
        </p:txBody>
      </p:sp>
      <p:sp>
        <p:nvSpPr>
          <p:cNvPr id="3" name="Inhaltsplatzhalt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Textmasterformate durch Klicken bearbeiten</a:t>
            </a:r>
          </a:p>
        </p:txBody>
      </p:sp>
      <p:sp>
        <p:nvSpPr>
          <p:cNvPr id="5" name="Datumsplatzhalter 4"/>
          <p:cNvSpPr>
            <a:spLocks noGrp="1"/>
          </p:cNvSpPr>
          <p:nvPr>
            <p:ph type="dt" sz="half" idx="10"/>
          </p:nvPr>
        </p:nvSpPr>
        <p:spPr/>
        <p:txBody>
          <a:bodyPr/>
          <a:lstStyle/>
          <a:p>
            <a:fld id="{7B1C1C23-7667-4290-8725-1227B02F6CCA}" type="datetimeFigureOut">
              <a:rPr lang="de-DE" smtClean="0"/>
              <a:pPr/>
              <a:t>26.03.2025</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14CCBEBC-51D4-4282-9F7D-14EB4D4F745B}" type="slidenum">
              <a:rPr lang="de-DE" smtClean="0"/>
              <a:pPr/>
              <a:t>‹Nr.›</a:t>
            </a:fld>
            <a:endParaRPr lang="de-D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1792288" y="4800600"/>
            <a:ext cx="5486400" cy="566738"/>
          </a:xfrm>
        </p:spPr>
        <p:txBody>
          <a:bodyPr anchor="b"/>
          <a:lstStyle>
            <a:lvl1pPr algn="l">
              <a:defRPr sz="2000" b="1"/>
            </a:lvl1pPr>
          </a:lstStyle>
          <a:p>
            <a:r>
              <a:rPr lang="de-DE"/>
              <a:t>Titelmasterformat durch Klicken bearbeiten</a:t>
            </a:r>
          </a:p>
        </p:txBody>
      </p:sp>
      <p:sp>
        <p:nvSpPr>
          <p:cNvPr id="3" name="Bildplatzhalt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Textmasterformate durch Klicken bearbeiten</a:t>
            </a:r>
          </a:p>
        </p:txBody>
      </p:sp>
      <p:sp>
        <p:nvSpPr>
          <p:cNvPr id="5" name="Datumsplatzhalter 4"/>
          <p:cNvSpPr>
            <a:spLocks noGrp="1"/>
          </p:cNvSpPr>
          <p:nvPr>
            <p:ph type="dt" sz="half" idx="10"/>
          </p:nvPr>
        </p:nvSpPr>
        <p:spPr/>
        <p:txBody>
          <a:bodyPr/>
          <a:lstStyle/>
          <a:p>
            <a:fld id="{7B1C1C23-7667-4290-8725-1227B02F6CCA}" type="datetimeFigureOut">
              <a:rPr lang="de-DE" smtClean="0"/>
              <a:pPr/>
              <a:t>26.03.2025</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14CCBEBC-51D4-4282-9F7D-14EB4D4F745B}" type="slidenum">
              <a:rPr lang="de-DE" smtClean="0"/>
              <a:pPr/>
              <a:t>‹Nr.›</a:t>
            </a:fld>
            <a:endParaRPr lang="de-D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Vertikaler Textplatzhalter 2"/>
          <p:cNvSpPr>
            <a:spLocks noGrp="1"/>
          </p:cNvSpPr>
          <p:nvPr>
            <p:ph type="body" orient="vert" idx="1"/>
          </p:nvPr>
        </p:nvSpPr>
        <p:spPr/>
        <p:txBody>
          <a:bodyPr vert="eaVert"/>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7B1C1C23-7667-4290-8725-1227B02F6CCA}" type="datetimeFigureOut">
              <a:rPr lang="de-DE" smtClean="0"/>
              <a:pPr/>
              <a:t>26.03.2025</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14CCBEBC-51D4-4282-9F7D-14EB4D4F745B}" type="slidenum">
              <a:rPr lang="de-DE" smtClean="0"/>
              <a:pPr/>
              <a:t>‹Nr.›</a:t>
            </a:fld>
            <a:endParaRPr lang="de-D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9400" y="274638"/>
            <a:ext cx="2057400" cy="5851525"/>
          </a:xfrm>
        </p:spPr>
        <p:txBody>
          <a:bodyPr vert="eaVert"/>
          <a:lstStyle/>
          <a:p>
            <a:r>
              <a:rPr lang="de-DE"/>
              <a:t>Titelmasterformat durch Klicken bearbeiten</a:t>
            </a:r>
          </a:p>
        </p:txBody>
      </p:sp>
      <p:sp>
        <p:nvSpPr>
          <p:cNvPr id="3" name="Vertikaler Textplatzhalter 2"/>
          <p:cNvSpPr>
            <a:spLocks noGrp="1"/>
          </p:cNvSpPr>
          <p:nvPr>
            <p:ph type="body" orient="vert" idx="1"/>
          </p:nvPr>
        </p:nvSpPr>
        <p:spPr>
          <a:xfrm>
            <a:off x="457200" y="274638"/>
            <a:ext cx="6019800" cy="5851525"/>
          </a:xfrm>
        </p:spPr>
        <p:txBody>
          <a:bodyPr vert="eaVert"/>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7B1C1C23-7667-4290-8725-1227B02F6CCA}" type="datetimeFigureOut">
              <a:rPr lang="de-DE" smtClean="0"/>
              <a:pPr/>
              <a:t>26.03.2025</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14CCBEBC-51D4-4282-9F7D-14EB4D4F745B}" type="slidenum">
              <a:rPr lang="de-DE" smtClean="0"/>
              <a:pPr/>
              <a:t>‹Nr.›</a:t>
            </a:fld>
            <a:endParaRPr lang="de-D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1C1C23-7667-4290-8725-1227B02F6CCA}" type="datetimeFigureOut">
              <a:rPr lang="de-DE" smtClean="0"/>
              <a:pPr/>
              <a:t>26.03.2025</a:t>
            </a:fld>
            <a:endParaRPr lang="de-DE"/>
          </a:p>
        </p:txBody>
      </p:sp>
      <p:sp>
        <p:nvSpPr>
          <p:cNvPr id="5" name="Fußzeilenplatzhalt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CCBEBC-51D4-4282-9F7D-14EB4D4F745B}" type="slidenum">
              <a:rPr lang="de-DE" smtClean="0"/>
              <a:pPr/>
              <a:t>‹Nr.›</a:t>
            </a:fld>
            <a:endParaRPr lang="de-D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8.xml"/><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77EFD02-F678-4916-9A68-B32F5457C2AC}"/>
              </a:ext>
            </a:extLst>
          </p:cNvPr>
          <p:cNvSpPr>
            <a:spLocks noGrp="1"/>
          </p:cNvSpPr>
          <p:nvPr>
            <p:ph type="ctrTitle"/>
          </p:nvPr>
        </p:nvSpPr>
        <p:spPr/>
        <p:txBody>
          <a:bodyPr>
            <a:noAutofit/>
          </a:bodyPr>
          <a:lstStyle/>
          <a:p>
            <a:r>
              <a:rPr lang="de-DE" sz="4800" dirty="0"/>
              <a:t>Jahresabschlussbuchungen im Industriebetrieb</a:t>
            </a:r>
          </a:p>
        </p:txBody>
      </p:sp>
      <p:sp>
        <p:nvSpPr>
          <p:cNvPr id="3" name="Untertitel 2">
            <a:extLst>
              <a:ext uri="{FF2B5EF4-FFF2-40B4-BE49-F238E27FC236}">
                <a16:creationId xmlns:a16="http://schemas.microsoft.com/office/drawing/2014/main" id="{0E1F3667-3F50-420A-B39D-6DE9E855F6DA}"/>
              </a:ext>
            </a:extLst>
          </p:cNvPr>
          <p:cNvSpPr>
            <a:spLocks noGrp="1"/>
          </p:cNvSpPr>
          <p:nvPr>
            <p:ph type="subTitle" idx="1"/>
          </p:nvPr>
        </p:nvSpPr>
        <p:spPr/>
        <p:txBody>
          <a:bodyPr>
            <a:normAutofit lnSpcReduction="10000"/>
          </a:bodyPr>
          <a:lstStyle/>
          <a:p>
            <a:r>
              <a:rPr lang="de-DE" sz="5400" dirty="0"/>
              <a:t>DHBW Mannheim</a:t>
            </a:r>
          </a:p>
          <a:p>
            <a:r>
              <a:rPr lang="de-DE" sz="5400" dirty="0"/>
              <a:t>WWI24SEA</a:t>
            </a:r>
          </a:p>
        </p:txBody>
      </p:sp>
    </p:spTree>
    <p:extLst>
      <p:ext uri="{BB962C8B-B14F-4D97-AF65-F5344CB8AC3E}">
        <p14:creationId xmlns:p14="http://schemas.microsoft.com/office/powerpoint/2010/main" val="33242267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Jahresabschluss erstellen</a:t>
            </a:r>
          </a:p>
        </p:txBody>
      </p:sp>
      <p:sp>
        <p:nvSpPr>
          <p:cNvPr id="7" name="Textplatzhalter 6">
            <a:extLst>
              <a:ext uri="{FF2B5EF4-FFF2-40B4-BE49-F238E27FC236}">
                <a16:creationId xmlns:a16="http://schemas.microsoft.com/office/drawing/2014/main" id="{6D56C874-DBA6-4EC8-931C-FAF1F2E4FB64}"/>
              </a:ext>
            </a:extLst>
          </p:cNvPr>
          <p:cNvSpPr>
            <a:spLocks noGrp="1"/>
          </p:cNvSpPr>
          <p:nvPr>
            <p:ph type="body" idx="1"/>
          </p:nvPr>
        </p:nvSpPr>
        <p:spPr/>
        <p:txBody>
          <a:bodyPr/>
          <a:lstStyle/>
          <a:p>
            <a:r>
              <a:rPr lang="de-DE" dirty="0"/>
              <a:t>Bestandskonten</a:t>
            </a:r>
          </a:p>
        </p:txBody>
      </p:sp>
      <p:sp>
        <p:nvSpPr>
          <p:cNvPr id="4" name="Inhaltsplatzhalter 3">
            <a:extLst>
              <a:ext uri="{FF2B5EF4-FFF2-40B4-BE49-F238E27FC236}">
                <a16:creationId xmlns:a16="http://schemas.microsoft.com/office/drawing/2014/main" id="{1EB3E6F2-7EB9-4A93-99ED-915E66D2EEBE}"/>
              </a:ext>
            </a:extLst>
          </p:cNvPr>
          <p:cNvSpPr>
            <a:spLocks noGrp="1"/>
          </p:cNvSpPr>
          <p:nvPr>
            <p:ph sz="half" idx="2"/>
          </p:nvPr>
        </p:nvSpPr>
        <p:spPr/>
        <p:txBody>
          <a:bodyPr/>
          <a:lstStyle/>
          <a:p>
            <a:r>
              <a:rPr lang="de-DE" dirty="0"/>
              <a:t>über SBK (8010)</a:t>
            </a:r>
          </a:p>
        </p:txBody>
      </p:sp>
      <p:sp>
        <p:nvSpPr>
          <p:cNvPr id="8" name="Textplatzhalter 7">
            <a:extLst>
              <a:ext uri="{FF2B5EF4-FFF2-40B4-BE49-F238E27FC236}">
                <a16:creationId xmlns:a16="http://schemas.microsoft.com/office/drawing/2014/main" id="{882FB634-E8A1-48E6-B94E-62892ADF1689}"/>
              </a:ext>
            </a:extLst>
          </p:cNvPr>
          <p:cNvSpPr>
            <a:spLocks noGrp="1"/>
          </p:cNvSpPr>
          <p:nvPr>
            <p:ph type="body" sz="quarter" idx="3"/>
          </p:nvPr>
        </p:nvSpPr>
        <p:spPr/>
        <p:txBody>
          <a:bodyPr/>
          <a:lstStyle/>
          <a:p>
            <a:r>
              <a:rPr lang="de-DE" dirty="0"/>
              <a:t>Erfolgskonten</a:t>
            </a:r>
          </a:p>
        </p:txBody>
      </p:sp>
      <p:sp>
        <p:nvSpPr>
          <p:cNvPr id="6" name="Inhaltsplatzhalter 5">
            <a:extLst>
              <a:ext uri="{FF2B5EF4-FFF2-40B4-BE49-F238E27FC236}">
                <a16:creationId xmlns:a16="http://schemas.microsoft.com/office/drawing/2014/main" id="{DD6312E7-69D5-4E96-892F-A6B266C4CB6C}"/>
              </a:ext>
            </a:extLst>
          </p:cNvPr>
          <p:cNvSpPr>
            <a:spLocks noGrp="1"/>
          </p:cNvSpPr>
          <p:nvPr>
            <p:ph sz="quarter" idx="4"/>
          </p:nvPr>
        </p:nvSpPr>
        <p:spPr/>
        <p:txBody>
          <a:bodyPr/>
          <a:lstStyle/>
          <a:p>
            <a:r>
              <a:rPr lang="de-DE" dirty="0"/>
              <a:t>über GuV-Konto (8020)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de-DE" dirty="0"/>
              <a:t>Jahresabschluss erstellen:</a:t>
            </a:r>
            <a:br>
              <a:rPr lang="de-DE" dirty="0"/>
            </a:br>
            <a:r>
              <a:rPr lang="de-DE" dirty="0"/>
              <a:t>zusätzliche Arbeiten im Überblick</a:t>
            </a:r>
          </a:p>
        </p:txBody>
      </p:sp>
      <p:sp>
        <p:nvSpPr>
          <p:cNvPr id="3" name="Inhaltsplatzhalter 2"/>
          <p:cNvSpPr>
            <a:spLocks noGrp="1"/>
          </p:cNvSpPr>
          <p:nvPr>
            <p:ph idx="1"/>
          </p:nvPr>
        </p:nvSpPr>
        <p:spPr/>
        <p:txBody>
          <a:bodyPr>
            <a:normAutofit fontScale="92500" lnSpcReduction="10000"/>
          </a:bodyPr>
          <a:lstStyle/>
          <a:p>
            <a:r>
              <a:rPr lang="de-DE" dirty="0"/>
              <a:t>Abschluss eventuell geführter </a:t>
            </a:r>
            <a:r>
              <a:rPr lang="de-DE" b="1" dirty="0"/>
              <a:t>Unterkonten</a:t>
            </a:r>
            <a:r>
              <a:rPr lang="de-DE" dirty="0"/>
              <a:t> über das dazugehörige Hauptbuchkonto</a:t>
            </a:r>
          </a:p>
          <a:p>
            <a:r>
              <a:rPr lang="de-DE" b="1" dirty="0"/>
              <a:t>Inventur</a:t>
            </a:r>
            <a:r>
              <a:rPr lang="de-DE" dirty="0"/>
              <a:t> der Vermögens - und Schuldenwerte</a:t>
            </a:r>
          </a:p>
          <a:p>
            <a:r>
              <a:rPr lang="de-DE" b="1" dirty="0"/>
              <a:t>Bewertung</a:t>
            </a:r>
            <a:r>
              <a:rPr lang="de-DE" dirty="0"/>
              <a:t> der Vermögens- und Schuldenwerte</a:t>
            </a:r>
          </a:p>
          <a:p>
            <a:r>
              <a:rPr lang="de-DE" b="1" dirty="0"/>
              <a:t>Zeitraum</a:t>
            </a:r>
            <a:r>
              <a:rPr lang="de-DE" dirty="0"/>
              <a:t>richtige Erfassung und Abgrenzung der Aufwendungen und Erträge zwecks </a:t>
            </a:r>
            <a:r>
              <a:rPr lang="de-DE" b="1" dirty="0"/>
              <a:t>periodengerechtem Ausweis des Jahreserfolgs </a:t>
            </a:r>
          </a:p>
          <a:p>
            <a:r>
              <a:rPr lang="de-DE" b="1" dirty="0"/>
              <a:t>Ordnungsmäßige</a:t>
            </a:r>
            <a:r>
              <a:rPr lang="de-DE" dirty="0"/>
              <a:t> Gliederung der Bilanz und der Gewinn- und Verlustrechnung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de-DE" dirty="0"/>
              <a:t>Ermittlung der </a:t>
            </a:r>
            <a:r>
              <a:rPr lang="de-DE" dirty="0" err="1"/>
              <a:t>MWSt</a:t>
            </a:r>
            <a:r>
              <a:rPr lang="de-DE" dirty="0"/>
              <a:t>-Position gegenüber dem FA</a:t>
            </a:r>
          </a:p>
        </p:txBody>
      </p:sp>
      <p:sp>
        <p:nvSpPr>
          <p:cNvPr id="3" name="Inhaltsplatzhalter 2"/>
          <p:cNvSpPr>
            <a:spLocks noGrp="1"/>
          </p:cNvSpPr>
          <p:nvPr>
            <p:ph idx="1"/>
          </p:nvPr>
        </p:nvSpPr>
        <p:spPr/>
        <p:txBody>
          <a:bodyPr>
            <a:normAutofit/>
          </a:bodyPr>
          <a:lstStyle/>
          <a:p>
            <a:pPr marL="0" indent="0">
              <a:buNone/>
            </a:pPr>
            <a:r>
              <a:rPr lang="de-DE" dirty="0"/>
              <a:t>Typische Situation am 31.12 (entnommen aus „Beleggeschäftsgang 1“ SD Kap. B11, S. 105 ff.):</a:t>
            </a:r>
          </a:p>
          <a:p>
            <a:pPr marL="0" indent="0">
              <a:buNone/>
            </a:pPr>
            <a:endParaRPr lang="de-DE" dirty="0"/>
          </a:p>
          <a:p>
            <a:pPr marL="0" indent="0">
              <a:buNone/>
            </a:pPr>
            <a:r>
              <a:rPr lang="de-DE" dirty="0"/>
              <a:t> </a:t>
            </a:r>
          </a:p>
          <a:p>
            <a:pPr marL="0" indent="0">
              <a:buNone/>
            </a:pPr>
            <a:endParaRPr lang="de-DE" dirty="0"/>
          </a:p>
          <a:p>
            <a:pPr marL="0" indent="0">
              <a:buNone/>
            </a:pPr>
            <a:r>
              <a:rPr lang="de-DE" dirty="0"/>
              <a:t>Erforderliche Vorgehensweise (Buchung) ?</a:t>
            </a:r>
          </a:p>
          <a:p>
            <a:endParaRPr lang="de-DE" dirty="0"/>
          </a:p>
        </p:txBody>
      </p:sp>
      <p:graphicFrame>
        <p:nvGraphicFramePr>
          <p:cNvPr id="4" name="Tabelle 3">
            <a:extLst>
              <a:ext uri="{FF2B5EF4-FFF2-40B4-BE49-F238E27FC236}">
                <a16:creationId xmlns:a16="http://schemas.microsoft.com/office/drawing/2014/main" id="{822F2C6D-3A51-42FC-AE82-4073D82CBC7F}"/>
              </a:ext>
            </a:extLst>
          </p:cNvPr>
          <p:cNvGraphicFramePr>
            <a:graphicFrameLocks noGrp="1"/>
          </p:cNvGraphicFramePr>
          <p:nvPr>
            <p:extLst>
              <p:ext uri="{D42A27DB-BD31-4B8C-83A1-F6EECF244321}">
                <p14:modId xmlns:p14="http://schemas.microsoft.com/office/powerpoint/2010/main" val="2949616589"/>
              </p:ext>
            </p:extLst>
          </p:nvPr>
        </p:nvGraphicFramePr>
        <p:xfrm>
          <a:off x="827584" y="2780928"/>
          <a:ext cx="7200800" cy="1146408"/>
        </p:xfrm>
        <a:graphic>
          <a:graphicData uri="http://schemas.openxmlformats.org/drawingml/2006/table">
            <a:tbl>
              <a:tblPr firstRow="1" bandRow="1">
                <a:tableStyleId>{5C22544A-7EE6-4342-B048-85BDC9FD1C3A}</a:tableStyleId>
              </a:tblPr>
              <a:tblGrid>
                <a:gridCol w="3600400">
                  <a:extLst>
                    <a:ext uri="{9D8B030D-6E8A-4147-A177-3AD203B41FA5}">
                      <a16:colId xmlns:a16="http://schemas.microsoft.com/office/drawing/2014/main" val="3950045082"/>
                    </a:ext>
                  </a:extLst>
                </a:gridCol>
                <a:gridCol w="3600400">
                  <a:extLst>
                    <a:ext uri="{9D8B030D-6E8A-4147-A177-3AD203B41FA5}">
                      <a16:colId xmlns:a16="http://schemas.microsoft.com/office/drawing/2014/main" val="1423530965"/>
                    </a:ext>
                  </a:extLst>
                </a:gridCol>
              </a:tblGrid>
              <a:tr h="563551">
                <a:tc>
                  <a:txBody>
                    <a:bodyPr/>
                    <a:lstStyle/>
                    <a:p>
                      <a:r>
                        <a:rPr lang="de-DE" dirty="0"/>
                        <a:t>Bestand Vorsteuer (2600)</a:t>
                      </a:r>
                    </a:p>
                  </a:txBody>
                  <a:tcPr/>
                </a:tc>
                <a:tc>
                  <a:txBody>
                    <a:bodyPr/>
                    <a:lstStyle/>
                    <a:p>
                      <a:r>
                        <a:rPr lang="de-DE" dirty="0"/>
                        <a:t>Bestand Umsatzsteuer (4800)</a:t>
                      </a:r>
                    </a:p>
                  </a:txBody>
                  <a:tcPr/>
                </a:tc>
                <a:extLst>
                  <a:ext uri="{0D108BD9-81ED-4DB2-BD59-A6C34878D82A}">
                    <a16:rowId xmlns:a16="http://schemas.microsoft.com/office/drawing/2014/main" val="4151227063"/>
                  </a:ext>
                </a:extLst>
              </a:tr>
              <a:tr h="582857">
                <a:tc>
                  <a:txBody>
                    <a:bodyPr/>
                    <a:lstStyle/>
                    <a:p>
                      <a:r>
                        <a:rPr lang="de-DE" dirty="0"/>
                        <a:t>61.200,00 EUR</a:t>
                      </a:r>
                    </a:p>
                  </a:txBody>
                  <a:tcPr/>
                </a:tc>
                <a:tc>
                  <a:txBody>
                    <a:bodyPr/>
                    <a:lstStyle/>
                    <a:p>
                      <a:r>
                        <a:rPr lang="de-DE" dirty="0"/>
                        <a:t>267.900,00 EUR</a:t>
                      </a:r>
                    </a:p>
                  </a:txBody>
                  <a:tcPr/>
                </a:tc>
                <a:extLst>
                  <a:ext uri="{0D108BD9-81ED-4DB2-BD59-A6C34878D82A}">
                    <a16:rowId xmlns:a16="http://schemas.microsoft.com/office/drawing/2014/main" val="3121137409"/>
                  </a:ext>
                </a:extLst>
              </a:tr>
            </a:tbl>
          </a:graphicData>
        </a:graphic>
      </p:graphicFrame>
    </p:spTree>
    <p:extLst>
      <p:ext uri="{BB962C8B-B14F-4D97-AF65-F5344CB8AC3E}">
        <p14:creationId xmlns:p14="http://schemas.microsoft.com/office/powerpoint/2010/main" val="983346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C628F37-A7FF-473C-BC0E-3269BB0258A7}"/>
              </a:ext>
            </a:extLst>
          </p:cNvPr>
          <p:cNvSpPr>
            <a:spLocks noGrp="1"/>
          </p:cNvSpPr>
          <p:nvPr>
            <p:ph type="title"/>
          </p:nvPr>
        </p:nvSpPr>
        <p:spPr/>
        <p:txBody>
          <a:bodyPr>
            <a:normAutofit fontScale="90000"/>
          </a:bodyPr>
          <a:lstStyle/>
          <a:p>
            <a:r>
              <a:rPr lang="de-DE" dirty="0"/>
              <a:t>Ermittlung der </a:t>
            </a:r>
            <a:r>
              <a:rPr lang="de-DE" dirty="0" err="1"/>
              <a:t>MWSt</a:t>
            </a:r>
            <a:r>
              <a:rPr lang="de-DE" dirty="0"/>
              <a:t>-Position gegenüber dem FA</a:t>
            </a:r>
          </a:p>
        </p:txBody>
      </p:sp>
      <p:sp>
        <p:nvSpPr>
          <p:cNvPr id="3" name="Inhaltsplatzhalter 2">
            <a:extLst>
              <a:ext uri="{FF2B5EF4-FFF2-40B4-BE49-F238E27FC236}">
                <a16:creationId xmlns:a16="http://schemas.microsoft.com/office/drawing/2014/main" id="{C857FECC-8BC2-4FF0-8086-793BEA9C3DE5}"/>
              </a:ext>
            </a:extLst>
          </p:cNvPr>
          <p:cNvSpPr>
            <a:spLocks noGrp="1"/>
          </p:cNvSpPr>
          <p:nvPr>
            <p:ph idx="1"/>
          </p:nvPr>
        </p:nvSpPr>
        <p:spPr/>
        <p:txBody>
          <a:bodyPr>
            <a:normAutofit lnSpcReduction="10000"/>
          </a:bodyPr>
          <a:lstStyle/>
          <a:p>
            <a:r>
              <a:rPr lang="de-DE" dirty="0"/>
              <a:t>Durch Saldieren von Vor- und Umsatzsteuer</a:t>
            </a:r>
          </a:p>
          <a:p>
            <a:r>
              <a:rPr lang="de-DE" dirty="0"/>
              <a:t>Buchungssatz (</a:t>
            </a:r>
            <a:r>
              <a:rPr lang="de-DE" sz="2800" b="1" dirty="0"/>
              <a:t>vorbereitende</a:t>
            </a:r>
            <a:r>
              <a:rPr lang="de-DE" sz="2800" dirty="0"/>
              <a:t> Abschlussbuchung</a:t>
            </a:r>
            <a:r>
              <a:rPr lang="de-DE" dirty="0"/>
              <a:t>):</a:t>
            </a:r>
          </a:p>
          <a:p>
            <a:pPr marL="0" indent="0">
              <a:buNone/>
            </a:pPr>
            <a:r>
              <a:rPr lang="de-DE" dirty="0"/>
              <a:t>    Umsatzsteuer (4800)  EUR 61.200,00 </a:t>
            </a:r>
          </a:p>
          <a:p>
            <a:pPr marL="0" indent="0">
              <a:buNone/>
            </a:pPr>
            <a:r>
              <a:rPr lang="de-DE" dirty="0"/>
              <a:t>    an Vorsteuer (2600)                     EUR 61.200,00 </a:t>
            </a:r>
          </a:p>
          <a:p>
            <a:r>
              <a:rPr lang="de-DE" dirty="0"/>
              <a:t>Ergebnis = </a:t>
            </a:r>
            <a:r>
              <a:rPr lang="de-DE" dirty="0" err="1"/>
              <a:t>MWSt</a:t>
            </a:r>
            <a:r>
              <a:rPr lang="de-DE" dirty="0"/>
              <a:t>-Position gegenüber dem FA:</a:t>
            </a:r>
          </a:p>
          <a:p>
            <a:pPr marL="0" indent="0">
              <a:buNone/>
            </a:pPr>
            <a:r>
              <a:rPr lang="de-DE" dirty="0"/>
              <a:t>    Verbindlichkeit in Höhe von EUR 206.700,00</a:t>
            </a:r>
          </a:p>
          <a:p>
            <a:pPr marL="0" indent="0">
              <a:buNone/>
            </a:pPr>
            <a:r>
              <a:rPr lang="de-DE" sz="2800" dirty="0"/>
              <a:t>    dazugehöriger Buchungssatz (</a:t>
            </a:r>
            <a:r>
              <a:rPr lang="de-DE" sz="2800" b="1" dirty="0"/>
              <a:t>Abschlussbuchung</a:t>
            </a:r>
            <a:r>
              <a:rPr lang="de-DE" sz="2800" dirty="0"/>
              <a:t>)</a:t>
            </a:r>
          </a:p>
          <a:p>
            <a:pPr marL="0" indent="0">
              <a:buNone/>
            </a:pPr>
            <a:r>
              <a:rPr lang="de-DE" sz="2800" dirty="0"/>
              <a:t>    Umsatzsteuer (4800) an SBK (8010) EUR 206.700,00 </a:t>
            </a:r>
          </a:p>
          <a:p>
            <a:pPr marL="0" indent="0">
              <a:buNone/>
            </a:pPr>
            <a:endParaRPr lang="de-DE" dirty="0"/>
          </a:p>
        </p:txBody>
      </p:sp>
    </p:spTree>
    <p:extLst>
      <p:ext uri="{BB962C8B-B14F-4D97-AF65-F5344CB8AC3E}">
        <p14:creationId xmlns:p14="http://schemas.microsoft.com/office/powerpoint/2010/main" val="635100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4FE182-98A7-45F2-B2DC-A0B10B536D48}"/>
              </a:ext>
            </a:extLst>
          </p:cNvPr>
          <p:cNvSpPr>
            <a:spLocks noGrp="1"/>
          </p:cNvSpPr>
          <p:nvPr>
            <p:ph type="title"/>
          </p:nvPr>
        </p:nvSpPr>
        <p:spPr/>
        <p:txBody>
          <a:bodyPr/>
          <a:lstStyle/>
          <a:p>
            <a:r>
              <a:rPr lang="de-DE" b="1" dirty="0"/>
              <a:t>Inventur </a:t>
            </a:r>
          </a:p>
        </p:txBody>
      </p:sp>
      <p:sp>
        <p:nvSpPr>
          <p:cNvPr id="3" name="Inhaltsplatzhalter 2">
            <a:extLst>
              <a:ext uri="{FF2B5EF4-FFF2-40B4-BE49-F238E27FC236}">
                <a16:creationId xmlns:a16="http://schemas.microsoft.com/office/drawing/2014/main" id="{74DD872F-2850-4A8C-9536-1ACC7D1D67D8}"/>
              </a:ext>
            </a:extLst>
          </p:cNvPr>
          <p:cNvSpPr>
            <a:spLocks noGrp="1"/>
          </p:cNvSpPr>
          <p:nvPr>
            <p:ph idx="1"/>
          </p:nvPr>
        </p:nvSpPr>
        <p:spPr/>
        <p:txBody>
          <a:bodyPr>
            <a:normAutofit lnSpcReduction="10000"/>
          </a:bodyPr>
          <a:lstStyle/>
          <a:p>
            <a:pPr marL="0" indent="0">
              <a:buNone/>
            </a:pPr>
            <a:r>
              <a:rPr lang="de-DE" dirty="0"/>
              <a:t>= gesetzlich (§ 240 HGB sowie §§ 140 ff. AO) vorgeschriebene (mengen- und wertmäßige) Bestandaufnahme aller Vermögensteile und Schulden eines Kaufmanns zu einem bestimmten Zeitpunkt</a:t>
            </a:r>
          </a:p>
          <a:p>
            <a:pPr marL="0" indent="0">
              <a:buNone/>
            </a:pPr>
            <a:endParaRPr lang="de-DE" dirty="0"/>
          </a:p>
          <a:p>
            <a:pPr marL="0" indent="0">
              <a:buNone/>
            </a:pPr>
            <a:endParaRPr lang="de-DE" dirty="0"/>
          </a:p>
          <a:p>
            <a:pPr marL="0" indent="0">
              <a:buNone/>
            </a:pPr>
            <a:r>
              <a:rPr lang="de-DE" dirty="0"/>
              <a:t>auch vor/für die </a:t>
            </a:r>
            <a:r>
              <a:rPr lang="de-DE" b="1" dirty="0"/>
              <a:t>Erstellung des JA </a:t>
            </a:r>
            <a:r>
              <a:rPr lang="de-DE" dirty="0"/>
              <a:t>vorgeschrieben!</a:t>
            </a:r>
          </a:p>
        </p:txBody>
      </p:sp>
      <p:sp>
        <p:nvSpPr>
          <p:cNvPr id="4" name="Pfeil: nach unten 3">
            <a:extLst>
              <a:ext uri="{FF2B5EF4-FFF2-40B4-BE49-F238E27FC236}">
                <a16:creationId xmlns:a16="http://schemas.microsoft.com/office/drawing/2014/main" id="{3CF05220-E152-4895-8A24-3EAE2E850360}"/>
              </a:ext>
            </a:extLst>
          </p:cNvPr>
          <p:cNvSpPr/>
          <p:nvPr/>
        </p:nvSpPr>
        <p:spPr>
          <a:xfrm>
            <a:off x="3275856" y="3891387"/>
            <a:ext cx="484632" cy="97840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2152787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68EF282-6808-4D41-B04A-F8D7DB237406}"/>
              </a:ext>
            </a:extLst>
          </p:cNvPr>
          <p:cNvSpPr>
            <a:spLocks noGrp="1"/>
          </p:cNvSpPr>
          <p:nvPr>
            <p:ph type="title"/>
          </p:nvPr>
        </p:nvSpPr>
        <p:spPr/>
        <p:txBody>
          <a:bodyPr/>
          <a:lstStyle/>
          <a:p>
            <a:r>
              <a:rPr lang="de-DE" dirty="0"/>
              <a:t>Inventur</a:t>
            </a:r>
          </a:p>
        </p:txBody>
      </p:sp>
      <p:sp>
        <p:nvSpPr>
          <p:cNvPr id="3" name="Inhaltsplatzhalter 2">
            <a:extLst>
              <a:ext uri="{FF2B5EF4-FFF2-40B4-BE49-F238E27FC236}">
                <a16:creationId xmlns:a16="http://schemas.microsoft.com/office/drawing/2014/main" id="{6D1DA33D-CACA-465E-BFF0-A877594A2F23}"/>
              </a:ext>
            </a:extLst>
          </p:cNvPr>
          <p:cNvSpPr>
            <a:spLocks noGrp="1"/>
          </p:cNvSpPr>
          <p:nvPr>
            <p:ph idx="1"/>
          </p:nvPr>
        </p:nvSpPr>
        <p:spPr/>
        <p:txBody>
          <a:bodyPr/>
          <a:lstStyle/>
          <a:p>
            <a:r>
              <a:rPr lang="de-DE" dirty="0"/>
              <a:t>Problem: Was tun bei Differenzen?</a:t>
            </a:r>
          </a:p>
        </p:txBody>
      </p:sp>
    </p:spTree>
    <p:extLst>
      <p:ext uri="{BB962C8B-B14F-4D97-AF65-F5344CB8AC3E}">
        <p14:creationId xmlns:p14="http://schemas.microsoft.com/office/powerpoint/2010/main" val="36674060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5185606-FC86-4D66-BCAC-E81BA0DB11B9}"/>
              </a:ext>
            </a:extLst>
          </p:cNvPr>
          <p:cNvSpPr>
            <a:spLocks noGrp="1"/>
          </p:cNvSpPr>
          <p:nvPr>
            <p:ph type="title"/>
          </p:nvPr>
        </p:nvSpPr>
        <p:spPr/>
        <p:txBody>
          <a:bodyPr/>
          <a:lstStyle/>
          <a:p>
            <a:r>
              <a:rPr lang="de-DE" dirty="0"/>
              <a:t>Vorgehen bei Inventurdifferenzen</a:t>
            </a:r>
          </a:p>
        </p:txBody>
      </p:sp>
      <p:sp>
        <p:nvSpPr>
          <p:cNvPr id="3" name="Inhaltsplatzhalter 2">
            <a:extLst>
              <a:ext uri="{FF2B5EF4-FFF2-40B4-BE49-F238E27FC236}">
                <a16:creationId xmlns:a16="http://schemas.microsoft.com/office/drawing/2014/main" id="{E929100B-671E-4ACE-910E-637A292D89AA}"/>
              </a:ext>
            </a:extLst>
          </p:cNvPr>
          <p:cNvSpPr>
            <a:spLocks noGrp="1"/>
          </p:cNvSpPr>
          <p:nvPr>
            <p:ph idx="1"/>
          </p:nvPr>
        </p:nvSpPr>
        <p:spPr/>
        <p:txBody>
          <a:bodyPr>
            <a:normAutofit/>
          </a:bodyPr>
          <a:lstStyle/>
          <a:p>
            <a:r>
              <a:rPr lang="de-DE" dirty="0"/>
              <a:t>Anpassen der gebuchten Soll-Bestände an die tatsächlich durch Inventur festgestellten Ist-Bestände!  </a:t>
            </a:r>
          </a:p>
        </p:txBody>
      </p:sp>
    </p:spTree>
    <p:extLst>
      <p:ext uri="{BB962C8B-B14F-4D97-AF65-F5344CB8AC3E}">
        <p14:creationId xmlns:p14="http://schemas.microsoft.com/office/powerpoint/2010/main" val="1345797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38BADD3-A398-4DE9-8730-C203715EC95E}"/>
              </a:ext>
            </a:extLst>
          </p:cNvPr>
          <p:cNvSpPr>
            <a:spLocks noGrp="1"/>
          </p:cNvSpPr>
          <p:nvPr>
            <p:ph type="title"/>
          </p:nvPr>
        </p:nvSpPr>
        <p:spPr/>
        <p:txBody>
          <a:bodyPr/>
          <a:lstStyle/>
          <a:p>
            <a:r>
              <a:rPr lang="de-DE" dirty="0"/>
              <a:t>Inventurdifferenzen in der Kasse</a:t>
            </a:r>
          </a:p>
        </p:txBody>
      </p:sp>
      <p:sp>
        <p:nvSpPr>
          <p:cNvPr id="3" name="Inhaltsplatzhalter 2">
            <a:extLst>
              <a:ext uri="{FF2B5EF4-FFF2-40B4-BE49-F238E27FC236}">
                <a16:creationId xmlns:a16="http://schemas.microsoft.com/office/drawing/2014/main" id="{E0B39E6B-9E0E-4BE5-8649-56FE0AB35C11}"/>
              </a:ext>
            </a:extLst>
          </p:cNvPr>
          <p:cNvSpPr>
            <a:spLocks noGrp="1"/>
          </p:cNvSpPr>
          <p:nvPr>
            <p:ph idx="1"/>
          </p:nvPr>
        </p:nvSpPr>
        <p:spPr/>
        <p:txBody>
          <a:bodyPr/>
          <a:lstStyle/>
          <a:p>
            <a:r>
              <a:rPr lang="de-DE" b="1" dirty="0"/>
              <a:t>Kasse</a:t>
            </a:r>
            <a:r>
              <a:rPr lang="de-DE" dirty="0"/>
              <a:t>ndifferenz(en) am Bsp. der Buch-Aufgabe Nr. 306, S. 269</a:t>
            </a:r>
          </a:p>
          <a:p>
            <a:r>
              <a:rPr lang="de-DE" dirty="0"/>
              <a:t>Anwendung auf „Beleggeschäftsgang 1“ SD Kap. B9, S. 116, Aufgabe 104, IV. 3. (</a:t>
            </a:r>
            <a:r>
              <a:rPr lang="de-DE" b="1" dirty="0"/>
              <a:t>Beleg 27</a:t>
            </a:r>
            <a:r>
              <a:rPr lang="de-DE" dirty="0"/>
              <a:t>) </a:t>
            </a:r>
          </a:p>
          <a:p>
            <a:endParaRPr lang="de-DE" dirty="0"/>
          </a:p>
        </p:txBody>
      </p:sp>
    </p:spTree>
    <p:extLst>
      <p:ext uri="{BB962C8B-B14F-4D97-AF65-F5344CB8AC3E}">
        <p14:creationId xmlns:p14="http://schemas.microsoft.com/office/powerpoint/2010/main" val="785036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1AEE0B-EB78-4B62-8792-E23A3701CBD0}"/>
              </a:ext>
            </a:extLst>
          </p:cNvPr>
          <p:cNvSpPr>
            <a:spLocks noGrp="1"/>
          </p:cNvSpPr>
          <p:nvPr>
            <p:ph type="title"/>
          </p:nvPr>
        </p:nvSpPr>
        <p:spPr/>
        <p:txBody>
          <a:bodyPr/>
          <a:lstStyle/>
          <a:p>
            <a:r>
              <a:rPr lang="de-DE" dirty="0"/>
              <a:t>Inventurdifferenzen bei RHB</a:t>
            </a:r>
          </a:p>
        </p:txBody>
      </p:sp>
      <p:sp>
        <p:nvSpPr>
          <p:cNvPr id="3" name="Inhaltsplatzhalter 2">
            <a:extLst>
              <a:ext uri="{FF2B5EF4-FFF2-40B4-BE49-F238E27FC236}">
                <a16:creationId xmlns:a16="http://schemas.microsoft.com/office/drawing/2014/main" id="{C5BE08E1-2C21-4699-9E98-32D0227654DB}"/>
              </a:ext>
            </a:extLst>
          </p:cNvPr>
          <p:cNvSpPr>
            <a:spLocks noGrp="1"/>
          </p:cNvSpPr>
          <p:nvPr>
            <p:ph idx="1"/>
          </p:nvPr>
        </p:nvSpPr>
        <p:spPr/>
        <p:txBody>
          <a:bodyPr>
            <a:normAutofit/>
          </a:bodyPr>
          <a:lstStyle/>
          <a:p>
            <a:r>
              <a:rPr lang="de-DE" dirty="0"/>
              <a:t>Anwendung auf „Beleggeschäftsgang 1“ SD Kap. B9, S. 116, Aufgabe 104, IV. 2. (</a:t>
            </a:r>
            <a:r>
              <a:rPr lang="de-DE" b="1" dirty="0"/>
              <a:t>Beleg 27</a:t>
            </a:r>
            <a:r>
              <a:rPr lang="de-DE" dirty="0"/>
              <a:t>)</a:t>
            </a:r>
          </a:p>
          <a:p>
            <a:pPr marL="0" indent="0">
              <a:buNone/>
            </a:pPr>
            <a:r>
              <a:rPr lang="de-DE" sz="2800" dirty="0"/>
              <a:t>Für die Betriebsstoffe gilt:</a:t>
            </a:r>
          </a:p>
          <a:p>
            <a:pPr marL="0" indent="0">
              <a:buNone/>
            </a:pPr>
            <a:r>
              <a:rPr lang="de-DE" sz="2800" dirty="0" err="1"/>
              <a:t>IST-Bestand</a:t>
            </a:r>
            <a:r>
              <a:rPr lang="de-DE" sz="2800" dirty="0"/>
              <a:t> (lt. Inventur) = 22.000 EUR</a:t>
            </a:r>
          </a:p>
          <a:p>
            <a:pPr marL="0" indent="0">
              <a:buNone/>
            </a:pPr>
            <a:r>
              <a:rPr lang="de-DE" sz="2800" dirty="0" err="1"/>
              <a:t>SOLL-Bestand</a:t>
            </a:r>
            <a:r>
              <a:rPr lang="de-DE" sz="2800" dirty="0"/>
              <a:t> (lt. Buchungen) = 51.660 EUR</a:t>
            </a:r>
          </a:p>
          <a:p>
            <a:pPr marL="0" indent="0">
              <a:buNone/>
            </a:pPr>
            <a:r>
              <a:rPr lang="de-DE" b="1" dirty="0"/>
              <a:t>Anpassung Buchbestand an </a:t>
            </a:r>
            <a:r>
              <a:rPr lang="de-DE" b="1" dirty="0" err="1"/>
              <a:t>IST-Bestand</a:t>
            </a:r>
            <a:r>
              <a:rPr lang="de-DE" b="1" dirty="0"/>
              <a:t> durch</a:t>
            </a:r>
            <a:r>
              <a:rPr lang="de-DE" dirty="0"/>
              <a:t>:</a:t>
            </a:r>
          </a:p>
          <a:p>
            <a:pPr marL="0" indent="0">
              <a:buNone/>
            </a:pPr>
            <a:r>
              <a:rPr lang="de-DE" dirty="0"/>
              <a:t>Aufwand für Betriebsstoffe (6030) 29.660 EUR</a:t>
            </a:r>
          </a:p>
          <a:p>
            <a:pPr marL="0" indent="0">
              <a:buNone/>
            </a:pPr>
            <a:r>
              <a:rPr lang="de-DE" dirty="0"/>
              <a:t>an Betriebsstoffe (2030)                       29.660 EUR</a:t>
            </a:r>
          </a:p>
          <a:p>
            <a:endParaRPr lang="de-DE" dirty="0"/>
          </a:p>
        </p:txBody>
      </p:sp>
    </p:spTree>
    <p:extLst>
      <p:ext uri="{BB962C8B-B14F-4D97-AF65-F5344CB8AC3E}">
        <p14:creationId xmlns:p14="http://schemas.microsoft.com/office/powerpoint/2010/main" val="3839361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FC6FC5A-F396-4DFA-AF74-D062A6BBC2B9}"/>
              </a:ext>
            </a:extLst>
          </p:cNvPr>
          <p:cNvSpPr>
            <a:spLocks noGrp="1"/>
          </p:cNvSpPr>
          <p:nvPr>
            <p:ph type="title"/>
          </p:nvPr>
        </p:nvSpPr>
        <p:spPr/>
        <p:txBody>
          <a:bodyPr>
            <a:normAutofit fontScale="90000"/>
          </a:bodyPr>
          <a:lstStyle/>
          <a:p>
            <a:r>
              <a:rPr lang="de-DE" dirty="0"/>
              <a:t>Inventurdifferenzen bei Erzeugnissen</a:t>
            </a:r>
          </a:p>
        </p:txBody>
      </p:sp>
      <p:sp>
        <p:nvSpPr>
          <p:cNvPr id="3" name="Inhaltsplatzhalter 2">
            <a:extLst>
              <a:ext uri="{FF2B5EF4-FFF2-40B4-BE49-F238E27FC236}">
                <a16:creationId xmlns:a16="http://schemas.microsoft.com/office/drawing/2014/main" id="{395526D2-D6FA-469B-8B93-06FDE9312453}"/>
              </a:ext>
            </a:extLst>
          </p:cNvPr>
          <p:cNvSpPr>
            <a:spLocks noGrp="1"/>
          </p:cNvSpPr>
          <p:nvPr>
            <p:ph idx="1"/>
          </p:nvPr>
        </p:nvSpPr>
        <p:spPr/>
        <p:txBody>
          <a:bodyPr/>
          <a:lstStyle/>
          <a:p>
            <a:r>
              <a:rPr lang="de-DE" dirty="0"/>
              <a:t>Anwendung auf „Beleggeschäftsgang 1“ SD Kap. B9, S. 116, Aufgabe 104, IV. 2. (</a:t>
            </a:r>
            <a:r>
              <a:rPr lang="de-DE" b="1" dirty="0"/>
              <a:t>Beleg 26</a:t>
            </a:r>
            <a:r>
              <a:rPr lang="de-DE" dirty="0"/>
              <a:t>)</a:t>
            </a:r>
          </a:p>
          <a:p>
            <a:r>
              <a:rPr lang="de-DE" dirty="0"/>
              <a:t>dabei zunächst Betrachtung der „Fertigerzeugnisse“</a:t>
            </a:r>
          </a:p>
          <a:p>
            <a:r>
              <a:rPr lang="de-DE" dirty="0"/>
              <a:t>dann der „Unfertigen Erzeugnisse“ </a:t>
            </a:r>
          </a:p>
        </p:txBody>
      </p:sp>
    </p:spTree>
    <p:extLst>
      <p:ext uri="{BB962C8B-B14F-4D97-AF65-F5344CB8AC3E}">
        <p14:creationId xmlns:p14="http://schemas.microsoft.com/office/powerpoint/2010/main" val="16814828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4DFBC692-3DEB-475B-9406-40191A8991FB}"/>
              </a:ext>
            </a:extLst>
          </p:cNvPr>
          <p:cNvSpPr>
            <a:spLocks noGrp="1"/>
          </p:cNvSpPr>
          <p:nvPr>
            <p:ph type="title"/>
          </p:nvPr>
        </p:nvSpPr>
        <p:spPr/>
        <p:txBody>
          <a:bodyPr/>
          <a:lstStyle/>
          <a:p>
            <a:r>
              <a:rPr lang="de-DE" dirty="0"/>
              <a:t>Fertigerzeugnisse (2200)</a:t>
            </a:r>
          </a:p>
        </p:txBody>
      </p:sp>
      <p:sp>
        <p:nvSpPr>
          <p:cNvPr id="5" name="Inhaltsplatzhalter 4">
            <a:extLst>
              <a:ext uri="{FF2B5EF4-FFF2-40B4-BE49-F238E27FC236}">
                <a16:creationId xmlns:a16="http://schemas.microsoft.com/office/drawing/2014/main" id="{BC5775BB-9701-4E03-9514-5A9568C4F759}"/>
              </a:ext>
            </a:extLst>
          </p:cNvPr>
          <p:cNvSpPr>
            <a:spLocks noGrp="1"/>
          </p:cNvSpPr>
          <p:nvPr>
            <p:ph sz="half" idx="1"/>
          </p:nvPr>
        </p:nvSpPr>
        <p:spPr>
          <a:xfrm>
            <a:off x="457200" y="1600200"/>
            <a:ext cx="4690864" cy="4525963"/>
          </a:xfrm>
        </p:spPr>
        <p:txBody>
          <a:bodyPr>
            <a:normAutofit fontScale="92500" lnSpcReduction="10000"/>
          </a:bodyPr>
          <a:lstStyle/>
          <a:p>
            <a:r>
              <a:rPr lang="de-DE" dirty="0"/>
              <a:t>Buchbestand (am 27.11)</a:t>
            </a:r>
          </a:p>
          <a:p>
            <a:r>
              <a:rPr lang="de-DE" dirty="0"/>
              <a:t>Lfd. Buchungen (bis 31.12)</a:t>
            </a:r>
          </a:p>
          <a:p>
            <a:r>
              <a:rPr lang="de-DE" dirty="0"/>
              <a:t>Buchbestand (am 31.12.)</a:t>
            </a:r>
          </a:p>
          <a:p>
            <a:r>
              <a:rPr lang="de-DE" dirty="0" err="1"/>
              <a:t>IST-Bestand</a:t>
            </a:r>
            <a:r>
              <a:rPr lang="de-DE" dirty="0"/>
              <a:t> (am 31.12.)</a:t>
            </a:r>
          </a:p>
          <a:p>
            <a:r>
              <a:rPr lang="de-DE" dirty="0"/>
              <a:t>Inventurdifferenz</a:t>
            </a:r>
          </a:p>
          <a:p>
            <a:r>
              <a:rPr lang="de-DE" b="1" dirty="0"/>
              <a:t>„vorbereitende“ Abschlussbuchung</a:t>
            </a:r>
          </a:p>
          <a:p>
            <a:r>
              <a:rPr lang="de-DE" dirty="0"/>
              <a:t>dann „normaler“ Abschluss des Bestandskontos und   des Erfolgskontos</a:t>
            </a:r>
          </a:p>
        </p:txBody>
      </p:sp>
      <p:sp>
        <p:nvSpPr>
          <p:cNvPr id="6" name="Inhaltsplatzhalter 5">
            <a:extLst>
              <a:ext uri="{FF2B5EF4-FFF2-40B4-BE49-F238E27FC236}">
                <a16:creationId xmlns:a16="http://schemas.microsoft.com/office/drawing/2014/main" id="{A81CFB27-170C-4BD5-83CE-5EBF76A6DBA2}"/>
              </a:ext>
            </a:extLst>
          </p:cNvPr>
          <p:cNvSpPr>
            <a:spLocks noGrp="1"/>
          </p:cNvSpPr>
          <p:nvPr>
            <p:ph sz="half" idx="2"/>
          </p:nvPr>
        </p:nvSpPr>
        <p:spPr>
          <a:xfrm>
            <a:off x="5364088" y="1628801"/>
            <a:ext cx="3528392" cy="4392488"/>
          </a:xfrm>
        </p:spPr>
        <p:txBody>
          <a:bodyPr>
            <a:normAutofit fontScale="92500" lnSpcReduction="10000"/>
          </a:bodyPr>
          <a:lstStyle/>
          <a:p>
            <a:r>
              <a:rPr lang="de-DE" dirty="0"/>
              <a:t>69.000,00 EUR</a:t>
            </a:r>
          </a:p>
          <a:p>
            <a:r>
              <a:rPr lang="de-DE" dirty="0"/>
              <a:t>keine</a:t>
            </a:r>
          </a:p>
          <a:p>
            <a:r>
              <a:rPr lang="de-DE" dirty="0"/>
              <a:t>69.000,00 EUR</a:t>
            </a:r>
          </a:p>
          <a:p>
            <a:r>
              <a:rPr lang="de-DE" dirty="0"/>
              <a:t>95.000,00 EUR</a:t>
            </a:r>
          </a:p>
          <a:p>
            <a:r>
              <a:rPr lang="de-DE" dirty="0"/>
              <a:t>+ 26.000,00 EUR</a:t>
            </a:r>
          </a:p>
          <a:p>
            <a:r>
              <a:rPr lang="de-DE" b="1" dirty="0"/>
              <a:t>2200</a:t>
            </a:r>
            <a:r>
              <a:rPr lang="de-DE" dirty="0"/>
              <a:t>     26.000           </a:t>
            </a:r>
            <a:r>
              <a:rPr lang="de-DE" b="1" dirty="0"/>
              <a:t>an 5202</a:t>
            </a:r>
            <a:r>
              <a:rPr lang="de-DE" dirty="0"/>
              <a:t>   26.000</a:t>
            </a:r>
          </a:p>
          <a:p>
            <a:endParaRPr lang="de-DE" dirty="0"/>
          </a:p>
          <a:p>
            <a:r>
              <a:rPr lang="de-DE" dirty="0"/>
              <a:t>8010/2200     95.000</a:t>
            </a:r>
          </a:p>
          <a:p>
            <a:r>
              <a:rPr lang="de-DE" dirty="0"/>
              <a:t>5202/8020     26.000</a:t>
            </a:r>
          </a:p>
          <a:p>
            <a:endParaRPr lang="de-DE" dirty="0"/>
          </a:p>
        </p:txBody>
      </p:sp>
    </p:spTree>
    <p:extLst>
      <p:ext uri="{BB962C8B-B14F-4D97-AF65-F5344CB8AC3E}">
        <p14:creationId xmlns:p14="http://schemas.microsoft.com/office/powerpoint/2010/main" val="1431585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4DFBC692-3DEB-475B-9406-40191A8991FB}"/>
              </a:ext>
            </a:extLst>
          </p:cNvPr>
          <p:cNvSpPr>
            <a:spLocks noGrp="1"/>
          </p:cNvSpPr>
          <p:nvPr>
            <p:ph type="title"/>
          </p:nvPr>
        </p:nvSpPr>
        <p:spPr/>
        <p:txBody>
          <a:bodyPr/>
          <a:lstStyle/>
          <a:p>
            <a:r>
              <a:rPr lang="de-DE" dirty="0"/>
              <a:t>Unfertige Erzeugnisse (2100)</a:t>
            </a:r>
          </a:p>
        </p:txBody>
      </p:sp>
      <p:sp>
        <p:nvSpPr>
          <p:cNvPr id="5" name="Inhaltsplatzhalter 4">
            <a:extLst>
              <a:ext uri="{FF2B5EF4-FFF2-40B4-BE49-F238E27FC236}">
                <a16:creationId xmlns:a16="http://schemas.microsoft.com/office/drawing/2014/main" id="{BC5775BB-9701-4E03-9514-5A9568C4F759}"/>
              </a:ext>
            </a:extLst>
          </p:cNvPr>
          <p:cNvSpPr>
            <a:spLocks noGrp="1"/>
          </p:cNvSpPr>
          <p:nvPr>
            <p:ph sz="half" idx="1"/>
          </p:nvPr>
        </p:nvSpPr>
        <p:spPr>
          <a:xfrm>
            <a:off x="457200" y="1600200"/>
            <a:ext cx="4690864" cy="4525963"/>
          </a:xfrm>
        </p:spPr>
        <p:txBody>
          <a:bodyPr>
            <a:normAutofit fontScale="92500" lnSpcReduction="10000"/>
          </a:bodyPr>
          <a:lstStyle/>
          <a:p>
            <a:r>
              <a:rPr lang="de-DE" dirty="0"/>
              <a:t>Buchbestand (am 27.11)</a:t>
            </a:r>
          </a:p>
          <a:p>
            <a:r>
              <a:rPr lang="de-DE" dirty="0"/>
              <a:t>Lfd. Buchungen (bis 31.12)</a:t>
            </a:r>
          </a:p>
          <a:p>
            <a:r>
              <a:rPr lang="de-DE" dirty="0"/>
              <a:t>Buchbestand (am 31.12.)</a:t>
            </a:r>
          </a:p>
          <a:p>
            <a:r>
              <a:rPr lang="de-DE" dirty="0" err="1"/>
              <a:t>IST-Bestand</a:t>
            </a:r>
            <a:r>
              <a:rPr lang="de-DE" dirty="0"/>
              <a:t> (am 31.12.)</a:t>
            </a:r>
          </a:p>
          <a:p>
            <a:r>
              <a:rPr lang="de-DE" dirty="0"/>
              <a:t>Inventurdifferenz</a:t>
            </a:r>
          </a:p>
          <a:p>
            <a:r>
              <a:rPr lang="de-DE" b="1" dirty="0"/>
              <a:t>„vorbereitende“ Abschlussbuchung</a:t>
            </a:r>
          </a:p>
          <a:p>
            <a:r>
              <a:rPr lang="de-DE" dirty="0"/>
              <a:t>dann „normaler“ Abschluss des Bestandskontos und   des Erfolgskontos</a:t>
            </a:r>
          </a:p>
        </p:txBody>
      </p:sp>
      <p:sp>
        <p:nvSpPr>
          <p:cNvPr id="6" name="Inhaltsplatzhalter 5">
            <a:extLst>
              <a:ext uri="{FF2B5EF4-FFF2-40B4-BE49-F238E27FC236}">
                <a16:creationId xmlns:a16="http://schemas.microsoft.com/office/drawing/2014/main" id="{A81CFB27-170C-4BD5-83CE-5EBF76A6DBA2}"/>
              </a:ext>
            </a:extLst>
          </p:cNvPr>
          <p:cNvSpPr>
            <a:spLocks noGrp="1"/>
          </p:cNvSpPr>
          <p:nvPr>
            <p:ph sz="half" idx="2"/>
          </p:nvPr>
        </p:nvSpPr>
        <p:spPr>
          <a:xfrm>
            <a:off x="5364088" y="1628801"/>
            <a:ext cx="3528392" cy="4392488"/>
          </a:xfrm>
        </p:spPr>
        <p:txBody>
          <a:bodyPr>
            <a:normAutofit fontScale="92500" lnSpcReduction="10000"/>
          </a:bodyPr>
          <a:lstStyle/>
          <a:p>
            <a:r>
              <a:rPr lang="de-DE" dirty="0"/>
              <a:t>28.000,00 EUR</a:t>
            </a:r>
          </a:p>
          <a:p>
            <a:r>
              <a:rPr lang="de-DE" dirty="0"/>
              <a:t>keine</a:t>
            </a:r>
          </a:p>
          <a:p>
            <a:r>
              <a:rPr lang="de-DE" dirty="0"/>
              <a:t>28.000,00 EUR</a:t>
            </a:r>
          </a:p>
          <a:p>
            <a:r>
              <a:rPr lang="de-DE" dirty="0"/>
              <a:t>15.000,00 EUR</a:t>
            </a:r>
          </a:p>
          <a:p>
            <a:r>
              <a:rPr lang="de-DE" dirty="0"/>
              <a:t>- 13.000,00 EUR</a:t>
            </a:r>
          </a:p>
          <a:p>
            <a:r>
              <a:rPr lang="de-DE" b="1" dirty="0"/>
              <a:t>5201</a:t>
            </a:r>
            <a:r>
              <a:rPr lang="de-DE" dirty="0"/>
              <a:t>     13.000           </a:t>
            </a:r>
            <a:r>
              <a:rPr lang="de-DE" b="1" dirty="0"/>
              <a:t>an 2100</a:t>
            </a:r>
            <a:r>
              <a:rPr lang="de-DE" dirty="0"/>
              <a:t>   13.000</a:t>
            </a:r>
          </a:p>
          <a:p>
            <a:endParaRPr lang="de-DE" dirty="0"/>
          </a:p>
          <a:p>
            <a:r>
              <a:rPr lang="de-DE" dirty="0"/>
              <a:t>8010/2100     15.000</a:t>
            </a:r>
          </a:p>
          <a:p>
            <a:r>
              <a:rPr lang="de-DE" dirty="0"/>
              <a:t>8020/5201     13.000</a:t>
            </a:r>
          </a:p>
          <a:p>
            <a:endParaRPr lang="de-DE" dirty="0"/>
          </a:p>
        </p:txBody>
      </p:sp>
    </p:spTree>
    <p:extLst>
      <p:ext uri="{BB962C8B-B14F-4D97-AF65-F5344CB8AC3E}">
        <p14:creationId xmlns:p14="http://schemas.microsoft.com/office/powerpoint/2010/main" val="42453645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1BF0AC1-24A7-4C97-8EAD-26B2AE59F8B4}"/>
              </a:ext>
            </a:extLst>
          </p:cNvPr>
          <p:cNvSpPr>
            <a:spLocks noGrp="1"/>
          </p:cNvSpPr>
          <p:nvPr>
            <p:ph type="title"/>
          </p:nvPr>
        </p:nvSpPr>
        <p:spPr/>
        <p:txBody>
          <a:bodyPr/>
          <a:lstStyle/>
          <a:p>
            <a:r>
              <a:rPr lang="de-DE" dirty="0"/>
              <a:t>Bewertung von Vermögenswerten</a:t>
            </a:r>
          </a:p>
        </p:txBody>
      </p:sp>
      <p:sp>
        <p:nvSpPr>
          <p:cNvPr id="3" name="Inhaltsplatzhalter 2">
            <a:extLst>
              <a:ext uri="{FF2B5EF4-FFF2-40B4-BE49-F238E27FC236}">
                <a16:creationId xmlns:a16="http://schemas.microsoft.com/office/drawing/2014/main" id="{20469A37-D718-48E9-AEFB-C12D2959D73E}"/>
              </a:ext>
            </a:extLst>
          </p:cNvPr>
          <p:cNvSpPr>
            <a:spLocks noGrp="1"/>
          </p:cNvSpPr>
          <p:nvPr>
            <p:ph idx="1"/>
          </p:nvPr>
        </p:nvSpPr>
        <p:spPr/>
        <p:txBody>
          <a:bodyPr/>
          <a:lstStyle/>
          <a:p>
            <a:r>
              <a:rPr lang="de-DE" dirty="0"/>
              <a:t>Sach-Anlagevermögen (z.B. </a:t>
            </a:r>
            <a:r>
              <a:rPr lang="de-DE" dirty="0" err="1"/>
              <a:t>TA+Maschinen</a:t>
            </a:r>
            <a:r>
              <a:rPr lang="de-DE" dirty="0"/>
              <a:t>, BGA, Fuhrpark)</a:t>
            </a:r>
          </a:p>
          <a:p>
            <a:r>
              <a:rPr lang="de-DE" dirty="0"/>
              <a:t>Wertpapiere im Finanz-Anlagevermögen und                                  Wertpapiere des Umlaufvermögens              </a:t>
            </a:r>
          </a:p>
          <a:p>
            <a:r>
              <a:rPr lang="de-DE" dirty="0"/>
              <a:t>Vorräte (an R,H,B)</a:t>
            </a:r>
          </a:p>
          <a:p>
            <a:r>
              <a:rPr lang="de-DE" dirty="0"/>
              <a:t>Forderungen</a:t>
            </a:r>
          </a:p>
          <a:p>
            <a:endParaRPr lang="de-DE" dirty="0"/>
          </a:p>
        </p:txBody>
      </p:sp>
    </p:spTree>
    <p:extLst>
      <p:ext uri="{BB962C8B-B14F-4D97-AF65-F5344CB8AC3E}">
        <p14:creationId xmlns:p14="http://schemas.microsoft.com/office/powerpoint/2010/main" val="29463627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1BF0AC1-24A7-4C97-8EAD-26B2AE59F8B4}"/>
              </a:ext>
            </a:extLst>
          </p:cNvPr>
          <p:cNvSpPr>
            <a:spLocks noGrp="1"/>
          </p:cNvSpPr>
          <p:nvPr>
            <p:ph type="title"/>
          </p:nvPr>
        </p:nvSpPr>
        <p:spPr/>
        <p:txBody>
          <a:bodyPr>
            <a:normAutofit/>
          </a:bodyPr>
          <a:lstStyle/>
          <a:p>
            <a:r>
              <a:rPr lang="de-DE" dirty="0"/>
              <a:t>Bewertung des Sach-AV</a:t>
            </a:r>
          </a:p>
        </p:txBody>
      </p:sp>
      <p:sp>
        <p:nvSpPr>
          <p:cNvPr id="3" name="Inhaltsplatzhalter 2">
            <a:extLst>
              <a:ext uri="{FF2B5EF4-FFF2-40B4-BE49-F238E27FC236}">
                <a16:creationId xmlns:a16="http://schemas.microsoft.com/office/drawing/2014/main" id="{20469A37-D718-48E9-AEFB-C12D2959D73E}"/>
              </a:ext>
            </a:extLst>
          </p:cNvPr>
          <p:cNvSpPr>
            <a:spLocks noGrp="1"/>
          </p:cNvSpPr>
          <p:nvPr>
            <p:ph idx="1"/>
          </p:nvPr>
        </p:nvSpPr>
        <p:spPr/>
        <p:txBody>
          <a:bodyPr/>
          <a:lstStyle/>
          <a:p>
            <a:r>
              <a:rPr lang="de-DE" dirty="0"/>
              <a:t>Abschreibungen auf SAV </a:t>
            </a:r>
          </a:p>
          <a:p>
            <a:r>
              <a:rPr lang="de-DE" dirty="0"/>
              <a:t>Anwendung auf „Beleggeschäftsgang 1“ SD Kap. B9, S. 116, Aufgabe 104, IV. 1. (</a:t>
            </a:r>
            <a:r>
              <a:rPr lang="de-DE" b="1" dirty="0"/>
              <a:t>Beleg 25</a:t>
            </a:r>
            <a:r>
              <a:rPr lang="de-DE" dirty="0"/>
              <a:t>)</a:t>
            </a:r>
          </a:p>
          <a:p>
            <a:r>
              <a:rPr lang="de-DE" dirty="0"/>
              <a:t>Buchungssatz?</a:t>
            </a:r>
          </a:p>
        </p:txBody>
      </p:sp>
    </p:spTree>
    <p:extLst>
      <p:ext uri="{BB962C8B-B14F-4D97-AF65-F5344CB8AC3E}">
        <p14:creationId xmlns:p14="http://schemas.microsoft.com/office/powerpoint/2010/main" val="36797722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1BF0AC1-24A7-4C97-8EAD-26B2AE59F8B4}"/>
              </a:ext>
            </a:extLst>
          </p:cNvPr>
          <p:cNvSpPr>
            <a:spLocks noGrp="1"/>
          </p:cNvSpPr>
          <p:nvPr>
            <p:ph type="title"/>
          </p:nvPr>
        </p:nvSpPr>
        <p:spPr/>
        <p:txBody>
          <a:bodyPr>
            <a:normAutofit/>
          </a:bodyPr>
          <a:lstStyle/>
          <a:p>
            <a:r>
              <a:rPr lang="de-DE" dirty="0"/>
              <a:t>Bewertung des Sach-AV</a:t>
            </a:r>
          </a:p>
        </p:txBody>
      </p:sp>
      <p:sp>
        <p:nvSpPr>
          <p:cNvPr id="3" name="Inhaltsplatzhalter 2">
            <a:extLst>
              <a:ext uri="{FF2B5EF4-FFF2-40B4-BE49-F238E27FC236}">
                <a16:creationId xmlns:a16="http://schemas.microsoft.com/office/drawing/2014/main" id="{20469A37-D718-48E9-AEFB-C12D2959D73E}"/>
              </a:ext>
            </a:extLst>
          </p:cNvPr>
          <p:cNvSpPr>
            <a:spLocks noGrp="1"/>
          </p:cNvSpPr>
          <p:nvPr>
            <p:ph idx="1"/>
          </p:nvPr>
        </p:nvSpPr>
        <p:spPr/>
        <p:txBody>
          <a:bodyPr/>
          <a:lstStyle/>
          <a:p>
            <a:r>
              <a:rPr lang="de-DE" dirty="0"/>
              <a:t> „Beleggeschäftsgang 1“ SD Kap. B11, S. 106, Aufgabe 104, Geschäftsfall IV. 1. (</a:t>
            </a:r>
            <a:r>
              <a:rPr lang="de-DE" b="1" dirty="0"/>
              <a:t>Beleg 25</a:t>
            </a:r>
            <a:r>
              <a:rPr lang="de-DE" dirty="0"/>
              <a:t>)</a:t>
            </a:r>
          </a:p>
          <a:p>
            <a:r>
              <a:rPr lang="de-DE" dirty="0"/>
              <a:t>Buchungssatz:</a:t>
            </a:r>
          </a:p>
          <a:p>
            <a:endParaRPr lang="de-DE" dirty="0"/>
          </a:p>
          <a:p>
            <a:r>
              <a:rPr lang="de-DE" dirty="0" err="1"/>
              <a:t>Abschreib.auf</a:t>
            </a:r>
            <a:r>
              <a:rPr lang="de-DE" dirty="0"/>
              <a:t> SA (6520)    140.000                     an TA + Maschinen (0700)                  110.000                   an BGA (0800)                                          30.000                  </a:t>
            </a:r>
          </a:p>
        </p:txBody>
      </p:sp>
    </p:spTree>
    <p:extLst>
      <p:ext uri="{BB962C8B-B14F-4D97-AF65-F5344CB8AC3E}">
        <p14:creationId xmlns:p14="http://schemas.microsoft.com/office/powerpoint/2010/main" val="21457668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406D3BBF-E2D0-4AA8-A889-28A272E542F6}"/>
              </a:ext>
            </a:extLst>
          </p:cNvPr>
          <p:cNvSpPr>
            <a:spLocks noGrp="1"/>
          </p:cNvSpPr>
          <p:nvPr>
            <p:ph type="title"/>
          </p:nvPr>
        </p:nvSpPr>
        <p:spPr/>
        <p:txBody>
          <a:bodyPr/>
          <a:lstStyle/>
          <a:p>
            <a:r>
              <a:rPr lang="de-DE" dirty="0"/>
              <a:t>Exkurs: Abschreibungen im </a:t>
            </a:r>
            <a:r>
              <a:rPr lang="de-DE" dirty="0" err="1"/>
              <a:t>ReWe</a:t>
            </a:r>
            <a:endParaRPr lang="de-DE" dirty="0"/>
          </a:p>
        </p:txBody>
      </p:sp>
      <p:sp>
        <p:nvSpPr>
          <p:cNvPr id="5" name="Textplatzhalter 4">
            <a:extLst>
              <a:ext uri="{FF2B5EF4-FFF2-40B4-BE49-F238E27FC236}">
                <a16:creationId xmlns:a16="http://schemas.microsoft.com/office/drawing/2014/main" id="{2D4F3D33-67AA-4A98-B6E0-5D06F4B91919}"/>
              </a:ext>
            </a:extLst>
          </p:cNvPr>
          <p:cNvSpPr>
            <a:spLocks noGrp="1"/>
          </p:cNvSpPr>
          <p:nvPr>
            <p:ph type="body" idx="1"/>
          </p:nvPr>
        </p:nvSpPr>
        <p:spPr/>
        <p:txBody>
          <a:bodyPr/>
          <a:lstStyle/>
          <a:p>
            <a:r>
              <a:rPr lang="de-DE" dirty="0"/>
              <a:t>externes RW: </a:t>
            </a:r>
            <a:r>
              <a:rPr lang="de-DE" dirty="0" err="1"/>
              <a:t>Fibu</a:t>
            </a:r>
            <a:endParaRPr lang="de-DE" dirty="0"/>
          </a:p>
        </p:txBody>
      </p:sp>
      <p:sp>
        <p:nvSpPr>
          <p:cNvPr id="6" name="Inhaltsplatzhalter 5">
            <a:extLst>
              <a:ext uri="{FF2B5EF4-FFF2-40B4-BE49-F238E27FC236}">
                <a16:creationId xmlns:a16="http://schemas.microsoft.com/office/drawing/2014/main" id="{BBD4807B-D907-4355-84CA-D14DA077C340}"/>
              </a:ext>
            </a:extLst>
          </p:cNvPr>
          <p:cNvSpPr>
            <a:spLocks noGrp="1"/>
          </p:cNvSpPr>
          <p:nvPr>
            <p:ph sz="half" idx="2"/>
          </p:nvPr>
        </p:nvSpPr>
        <p:spPr/>
        <p:txBody>
          <a:bodyPr>
            <a:normAutofit lnSpcReduction="10000"/>
          </a:bodyPr>
          <a:lstStyle/>
          <a:p>
            <a:r>
              <a:rPr lang="de-DE" dirty="0"/>
              <a:t>Anschaffungswert</a:t>
            </a:r>
          </a:p>
          <a:p>
            <a:r>
              <a:rPr lang="de-DE" dirty="0"/>
              <a:t>linear oder sofern zulässig </a:t>
            </a:r>
            <a:r>
              <a:rPr lang="de-DE" dirty="0" err="1"/>
              <a:t>geometr</a:t>
            </a:r>
            <a:r>
              <a:rPr lang="de-DE" dirty="0"/>
              <a:t>. degressiv</a:t>
            </a:r>
          </a:p>
          <a:p>
            <a:r>
              <a:rPr lang="de-DE" dirty="0"/>
              <a:t>gemäß Afa-Tabelle</a:t>
            </a:r>
          </a:p>
          <a:p>
            <a:endParaRPr lang="de-DE" dirty="0"/>
          </a:p>
          <a:p>
            <a:r>
              <a:rPr lang="de-DE" dirty="0"/>
              <a:t>a = AW/n </a:t>
            </a:r>
          </a:p>
          <a:p>
            <a:endParaRPr lang="de-DE" dirty="0"/>
          </a:p>
          <a:p>
            <a:r>
              <a:rPr lang="de-DE" dirty="0"/>
              <a:t>Jährliche Abgrenzung als neutraler Aufwand, wenn    a (extern) &gt; a (intern) </a:t>
            </a:r>
          </a:p>
        </p:txBody>
      </p:sp>
      <p:sp>
        <p:nvSpPr>
          <p:cNvPr id="7" name="Textplatzhalter 6">
            <a:extLst>
              <a:ext uri="{FF2B5EF4-FFF2-40B4-BE49-F238E27FC236}">
                <a16:creationId xmlns:a16="http://schemas.microsoft.com/office/drawing/2014/main" id="{09A1A22A-BA2B-474E-8E2E-AD04393F4D9D}"/>
              </a:ext>
            </a:extLst>
          </p:cNvPr>
          <p:cNvSpPr>
            <a:spLocks noGrp="1"/>
          </p:cNvSpPr>
          <p:nvPr>
            <p:ph type="body" sz="quarter" idx="3"/>
          </p:nvPr>
        </p:nvSpPr>
        <p:spPr/>
        <p:txBody>
          <a:bodyPr/>
          <a:lstStyle/>
          <a:p>
            <a:r>
              <a:rPr lang="de-DE" dirty="0"/>
              <a:t>Internes RW: KLR</a:t>
            </a:r>
          </a:p>
        </p:txBody>
      </p:sp>
      <p:sp>
        <p:nvSpPr>
          <p:cNvPr id="8" name="Inhaltsplatzhalter 7">
            <a:extLst>
              <a:ext uri="{FF2B5EF4-FFF2-40B4-BE49-F238E27FC236}">
                <a16:creationId xmlns:a16="http://schemas.microsoft.com/office/drawing/2014/main" id="{EFD97EB0-EB97-40DE-B2F7-7BD79B77B895}"/>
              </a:ext>
            </a:extLst>
          </p:cNvPr>
          <p:cNvSpPr>
            <a:spLocks noGrp="1"/>
          </p:cNvSpPr>
          <p:nvPr>
            <p:ph sz="quarter" idx="4"/>
          </p:nvPr>
        </p:nvSpPr>
        <p:spPr/>
        <p:txBody>
          <a:bodyPr>
            <a:normAutofit lnSpcReduction="10000"/>
          </a:bodyPr>
          <a:lstStyle/>
          <a:p>
            <a:r>
              <a:rPr lang="de-DE" dirty="0"/>
              <a:t>Wiederbeschaffungswert</a:t>
            </a:r>
          </a:p>
          <a:p>
            <a:r>
              <a:rPr lang="de-DE" dirty="0"/>
              <a:t>i.d.R. nur linear</a:t>
            </a:r>
          </a:p>
          <a:p>
            <a:endParaRPr lang="de-DE" dirty="0"/>
          </a:p>
          <a:p>
            <a:r>
              <a:rPr lang="de-DE" dirty="0"/>
              <a:t>tatsächliche Nutzungsdauer bis zum Ersatz</a:t>
            </a:r>
          </a:p>
          <a:p>
            <a:r>
              <a:rPr lang="de-DE" dirty="0"/>
              <a:t>a = WBW/n</a:t>
            </a:r>
          </a:p>
          <a:p>
            <a:endParaRPr lang="de-DE" dirty="0"/>
          </a:p>
          <a:p>
            <a:r>
              <a:rPr lang="de-DE" dirty="0"/>
              <a:t>Jährlicher Ansatz </a:t>
            </a:r>
            <a:r>
              <a:rPr lang="de-DE" dirty="0" err="1"/>
              <a:t>kalkulator</a:t>
            </a:r>
            <a:r>
              <a:rPr lang="de-DE" dirty="0"/>
              <a:t>. Zusatzkosten, wenn              a (extern) &lt; a (intern)</a:t>
            </a:r>
          </a:p>
        </p:txBody>
      </p:sp>
    </p:spTree>
    <p:extLst>
      <p:ext uri="{BB962C8B-B14F-4D97-AF65-F5344CB8AC3E}">
        <p14:creationId xmlns:p14="http://schemas.microsoft.com/office/powerpoint/2010/main" val="33327413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1BF0AC1-24A7-4C97-8EAD-26B2AE59F8B4}"/>
              </a:ext>
            </a:extLst>
          </p:cNvPr>
          <p:cNvSpPr>
            <a:spLocks noGrp="1"/>
          </p:cNvSpPr>
          <p:nvPr>
            <p:ph type="title"/>
          </p:nvPr>
        </p:nvSpPr>
        <p:spPr/>
        <p:txBody>
          <a:bodyPr/>
          <a:lstStyle/>
          <a:p>
            <a:r>
              <a:rPr lang="de-DE" dirty="0"/>
              <a:t>Bewertung von Vorräten (UV)</a:t>
            </a:r>
          </a:p>
        </p:txBody>
      </p:sp>
      <p:sp>
        <p:nvSpPr>
          <p:cNvPr id="4" name="Textplatzhalter 3">
            <a:extLst>
              <a:ext uri="{FF2B5EF4-FFF2-40B4-BE49-F238E27FC236}">
                <a16:creationId xmlns:a16="http://schemas.microsoft.com/office/drawing/2014/main" id="{B90BCF91-697A-49F2-8E1C-76BE06AFAD86}"/>
              </a:ext>
            </a:extLst>
          </p:cNvPr>
          <p:cNvSpPr>
            <a:spLocks noGrp="1"/>
          </p:cNvSpPr>
          <p:nvPr>
            <p:ph type="body" idx="1"/>
          </p:nvPr>
        </p:nvSpPr>
        <p:spPr/>
        <p:txBody>
          <a:bodyPr>
            <a:normAutofit/>
          </a:bodyPr>
          <a:lstStyle/>
          <a:p>
            <a:r>
              <a:rPr lang="de-DE" dirty="0"/>
              <a:t>Einzelbewertung</a:t>
            </a:r>
          </a:p>
        </p:txBody>
      </p:sp>
      <p:sp>
        <p:nvSpPr>
          <p:cNvPr id="3" name="Inhaltsplatzhalter 2">
            <a:extLst>
              <a:ext uri="{FF2B5EF4-FFF2-40B4-BE49-F238E27FC236}">
                <a16:creationId xmlns:a16="http://schemas.microsoft.com/office/drawing/2014/main" id="{20469A37-D718-48E9-AEFB-C12D2959D73E}"/>
              </a:ext>
            </a:extLst>
          </p:cNvPr>
          <p:cNvSpPr>
            <a:spLocks noGrp="1"/>
          </p:cNvSpPr>
          <p:nvPr>
            <p:ph sz="half" idx="2"/>
          </p:nvPr>
        </p:nvSpPr>
        <p:spPr/>
        <p:txBody>
          <a:bodyPr/>
          <a:lstStyle/>
          <a:p>
            <a:r>
              <a:rPr lang="de-DE" dirty="0"/>
              <a:t>Strenges NWP</a:t>
            </a:r>
          </a:p>
          <a:p>
            <a:r>
              <a:rPr lang="de-DE" dirty="0"/>
              <a:t>Vergleich Anschaffungs- bzw. Herstellkosten mit dem Tageswert am Bilanzstichtag   </a:t>
            </a:r>
          </a:p>
          <a:p>
            <a:endParaRPr lang="de-DE" dirty="0"/>
          </a:p>
          <a:p>
            <a:endParaRPr lang="de-DE" dirty="0"/>
          </a:p>
          <a:p>
            <a:endParaRPr lang="de-DE" dirty="0"/>
          </a:p>
          <a:p>
            <a:r>
              <a:rPr lang="de-DE" dirty="0"/>
              <a:t>Ansatz des niederen Wertes</a:t>
            </a:r>
          </a:p>
        </p:txBody>
      </p:sp>
      <p:sp>
        <p:nvSpPr>
          <p:cNvPr id="5" name="Textplatzhalter 4">
            <a:extLst>
              <a:ext uri="{FF2B5EF4-FFF2-40B4-BE49-F238E27FC236}">
                <a16:creationId xmlns:a16="http://schemas.microsoft.com/office/drawing/2014/main" id="{5B53FD0F-F007-44A3-A672-E0A324C597CE}"/>
              </a:ext>
            </a:extLst>
          </p:cNvPr>
          <p:cNvSpPr>
            <a:spLocks noGrp="1"/>
          </p:cNvSpPr>
          <p:nvPr>
            <p:ph type="body" sz="quarter" idx="3"/>
          </p:nvPr>
        </p:nvSpPr>
        <p:spPr/>
        <p:txBody>
          <a:bodyPr/>
          <a:lstStyle/>
          <a:p>
            <a:r>
              <a:rPr lang="de-DE" dirty="0"/>
              <a:t>Sammelbewertung</a:t>
            </a:r>
          </a:p>
        </p:txBody>
      </p:sp>
      <p:sp>
        <p:nvSpPr>
          <p:cNvPr id="6" name="Inhaltsplatzhalter 5">
            <a:extLst>
              <a:ext uri="{FF2B5EF4-FFF2-40B4-BE49-F238E27FC236}">
                <a16:creationId xmlns:a16="http://schemas.microsoft.com/office/drawing/2014/main" id="{108A891D-DC6E-4CE6-934F-8B007078D97E}"/>
              </a:ext>
            </a:extLst>
          </p:cNvPr>
          <p:cNvSpPr>
            <a:spLocks noGrp="1"/>
          </p:cNvSpPr>
          <p:nvPr>
            <p:ph sz="quarter" idx="4"/>
          </p:nvPr>
        </p:nvSpPr>
        <p:spPr/>
        <p:txBody>
          <a:bodyPr/>
          <a:lstStyle/>
          <a:p>
            <a:r>
              <a:rPr lang="de-DE" dirty="0"/>
              <a:t>Strenges NWP</a:t>
            </a:r>
          </a:p>
          <a:p>
            <a:r>
              <a:rPr lang="de-DE" dirty="0"/>
              <a:t>Vergleich der </a:t>
            </a:r>
            <a:r>
              <a:rPr lang="de-DE" b="1" dirty="0"/>
              <a:t>durchschnittlichen</a:t>
            </a:r>
            <a:r>
              <a:rPr lang="de-DE" dirty="0"/>
              <a:t> Anschaffungskosten mit dem Tageswert </a:t>
            </a:r>
          </a:p>
          <a:p>
            <a:endParaRPr lang="de-DE" dirty="0"/>
          </a:p>
          <a:p>
            <a:endParaRPr lang="de-DE" dirty="0"/>
          </a:p>
          <a:p>
            <a:endParaRPr lang="de-DE" dirty="0"/>
          </a:p>
          <a:p>
            <a:r>
              <a:rPr lang="de-DE" dirty="0"/>
              <a:t>Ansatz des niederen Wertes</a:t>
            </a:r>
          </a:p>
        </p:txBody>
      </p:sp>
      <p:sp>
        <p:nvSpPr>
          <p:cNvPr id="7" name="Pfeil: nach unten 6">
            <a:extLst>
              <a:ext uri="{FF2B5EF4-FFF2-40B4-BE49-F238E27FC236}">
                <a16:creationId xmlns:a16="http://schemas.microsoft.com/office/drawing/2014/main" id="{330BD12D-F9C6-4DED-92C5-15A0304C95E8}"/>
              </a:ext>
            </a:extLst>
          </p:cNvPr>
          <p:cNvSpPr/>
          <p:nvPr/>
        </p:nvSpPr>
        <p:spPr>
          <a:xfrm>
            <a:off x="2014383" y="3861048"/>
            <a:ext cx="484632" cy="97840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Pfeil: nach unten 7">
            <a:extLst>
              <a:ext uri="{FF2B5EF4-FFF2-40B4-BE49-F238E27FC236}">
                <a16:creationId xmlns:a16="http://schemas.microsoft.com/office/drawing/2014/main" id="{1B65049F-8273-4595-B811-211552E2C2A6}"/>
              </a:ext>
            </a:extLst>
          </p:cNvPr>
          <p:cNvSpPr/>
          <p:nvPr/>
        </p:nvSpPr>
        <p:spPr>
          <a:xfrm>
            <a:off x="6444208" y="4350252"/>
            <a:ext cx="484632" cy="97840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8026408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2B29DA7B-FD89-44F0-8C83-584A57BDC75E}"/>
              </a:ext>
            </a:extLst>
          </p:cNvPr>
          <p:cNvSpPr>
            <a:spLocks noGrp="1"/>
          </p:cNvSpPr>
          <p:nvPr>
            <p:ph type="title"/>
          </p:nvPr>
        </p:nvSpPr>
        <p:spPr/>
        <p:txBody>
          <a:bodyPr/>
          <a:lstStyle/>
          <a:p>
            <a:r>
              <a:rPr lang="de-DE" dirty="0"/>
              <a:t>Strenges Niederstwertprinzip</a:t>
            </a:r>
          </a:p>
        </p:txBody>
      </p:sp>
      <p:sp>
        <p:nvSpPr>
          <p:cNvPr id="8" name="Inhaltsplatzhalter 7">
            <a:extLst>
              <a:ext uri="{FF2B5EF4-FFF2-40B4-BE49-F238E27FC236}">
                <a16:creationId xmlns:a16="http://schemas.microsoft.com/office/drawing/2014/main" id="{0E869229-505B-4EC0-B6A2-9C3052595DD0}"/>
              </a:ext>
            </a:extLst>
          </p:cNvPr>
          <p:cNvSpPr>
            <a:spLocks noGrp="1"/>
          </p:cNvSpPr>
          <p:nvPr>
            <p:ph idx="1"/>
          </p:nvPr>
        </p:nvSpPr>
        <p:spPr/>
        <p:txBody>
          <a:bodyPr/>
          <a:lstStyle/>
          <a:p>
            <a:r>
              <a:rPr lang="de-DE" dirty="0"/>
              <a:t>Wirtschaftsgüter des UV dürfen höchstens mit ihren Herstellkosten bzw. Anschaffungskosten angesetzt werden. Liegt jedoch der Wert am Bilanzstichtag darunter, muss dieser niedrigere Wert in das Inventar und die Schlussbilanz eingesetzt werden (§ 254 Abs. 4 HGB) </a:t>
            </a:r>
          </a:p>
        </p:txBody>
      </p:sp>
    </p:spTree>
    <p:extLst>
      <p:ext uri="{BB962C8B-B14F-4D97-AF65-F5344CB8AC3E}">
        <p14:creationId xmlns:p14="http://schemas.microsoft.com/office/powerpoint/2010/main" val="12227533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26FE61EC-8CDC-4DA3-91F1-6A8FEC670BD3}"/>
              </a:ext>
            </a:extLst>
          </p:cNvPr>
          <p:cNvSpPr>
            <a:spLocks noGrp="1"/>
          </p:cNvSpPr>
          <p:nvPr>
            <p:ph type="title"/>
          </p:nvPr>
        </p:nvSpPr>
        <p:spPr/>
        <p:txBody>
          <a:bodyPr>
            <a:normAutofit fontScale="90000"/>
          </a:bodyPr>
          <a:lstStyle/>
          <a:p>
            <a:r>
              <a:rPr lang="de-DE" dirty="0"/>
              <a:t>Strenges NWP am Bsp. der Einzelbewertung</a:t>
            </a:r>
          </a:p>
        </p:txBody>
      </p:sp>
      <p:sp>
        <p:nvSpPr>
          <p:cNvPr id="5" name="Textplatzhalter 4">
            <a:extLst>
              <a:ext uri="{FF2B5EF4-FFF2-40B4-BE49-F238E27FC236}">
                <a16:creationId xmlns:a16="http://schemas.microsoft.com/office/drawing/2014/main" id="{F6403CF4-FBDD-4F88-B3CE-9245861B5667}"/>
              </a:ext>
            </a:extLst>
          </p:cNvPr>
          <p:cNvSpPr>
            <a:spLocks noGrp="1"/>
          </p:cNvSpPr>
          <p:nvPr>
            <p:ph type="body" idx="1"/>
          </p:nvPr>
        </p:nvSpPr>
        <p:spPr/>
        <p:txBody>
          <a:bodyPr/>
          <a:lstStyle/>
          <a:p>
            <a:pPr algn="ctr"/>
            <a:r>
              <a:rPr lang="de-DE" dirty="0"/>
              <a:t>TK &lt; AK</a:t>
            </a:r>
          </a:p>
        </p:txBody>
      </p:sp>
      <p:sp>
        <p:nvSpPr>
          <p:cNvPr id="6" name="Inhaltsplatzhalter 5">
            <a:extLst>
              <a:ext uri="{FF2B5EF4-FFF2-40B4-BE49-F238E27FC236}">
                <a16:creationId xmlns:a16="http://schemas.microsoft.com/office/drawing/2014/main" id="{BBCA4A8E-8C5F-4444-8F39-0833DA1E89B0}"/>
              </a:ext>
            </a:extLst>
          </p:cNvPr>
          <p:cNvSpPr>
            <a:spLocks noGrp="1"/>
          </p:cNvSpPr>
          <p:nvPr>
            <p:ph sz="half" idx="2"/>
          </p:nvPr>
        </p:nvSpPr>
        <p:spPr/>
        <p:txBody>
          <a:bodyPr>
            <a:normAutofit/>
          </a:bodyPr>
          <a:lstStyle/>
          <a:p>
            <a:r>
              <a:rPr lang="de-DE" dirty="0"/>
              <a:t>Ansatz des TK</a:t>
            </a:r>
          </a:p>
          <a:p>
            <a:endParaRPr lang="de-DE" dirty="0"/>
          </a:p>
          <a:p>
            <a:r>
              <a:rPr lang="de-DE" dirty="0"/>
              <a:t>Buchung einer Abschreibung erforderlich</a:t>
            </a:r>
          </a:p>
          <a:p>
            <a:r>
              <a:rPr lang="de-DE" dirty="0"/>
              <a:t>damit Ausweis der nicht realisierten Verluste als Vermögensminderung und als Aufwand   </a:t>
            </a:r>
          </a:p>
        </p:txBody>
      </p:sp>
      <p:sp>
        <p:nvSpPr>
          <p:cNvPr id="7" name="Textplatzhalter 6">
            <a:extLst>
              <a:ext uri="{FF2B5EF4-FFF2-40B4-BE49-F238E27FC236}">
                <a16:creationId xmlns:a16="http://schemas.microsoft.com/office/drawing/2014/main" id="{D15B8F62-42D6-49DE-8855-F3E4E5D2213A}"/>
              </a:ext>
            </a:extLst>
          </p:cNvPr>
          <p:cNvSpPr>
            <a:spLocks noGrp="1"/>
          </p:cNvSpPr>
          <p:nvPr>
            <p:ph type="body" sz="quarter" idx="3"/>
          </p:nvPr>
        </p:nvSpPr>
        <p:spPr/>
        <p:txBody>
          <a:bodyPr/>
          <a:lstStyle/>
          <a:p>
            <a:pPr algn="ctr"/>
            <a:r>
              <a:rPr lang="de-DE" dirty="0"/>
              <a:t>TK &gt; AK</a:t>
            </a:r>
          </a:p>
        </p:txBody>
      </p:sp>
      <p:sp>
        <p:nvSpPr>
          <p:cNvPr id="8" name="Inhaltsplatzhalter 7">
            <a:extLst>
              <a:ext uri="{FF2B5EF4-FFF2-40B4-BE49-F238E27FC236}">
                <a16:creationId xmlns:a16="http://schemas.microsoft.com/office/drawing/2014/main" id="{59291E60-19E7-433B-BFB8-1A2DAA54B8ED}"/>
              </a:ext>
            </a:extLst>
          </p:cNvPr>
          <p:cNvSpPr>
            <a:spLocks noGrp="1"/>
          </p:cNvSpPr>
          <p:nvPr>
            <p:ph sz="quarter" idx="4"/>
          </p:nvPr>
        </p:nvSpPr>
        <p:spPr/>
        <p:txBody>
          <a:bodyPr>
            <a:normAutofit/>
          </a:bodyPr>
          <a:lstStyle/>
          <a:p>
            <a:r>
              <a:rPr lang="de-DE" dirty="0"/>
              <a:t>Beibehaltung des  aktivierten AK</a:t>
            </a:r>
          </a:p>
          <a:p>
            <a:r>
              <a:rPr lang="de-DE" dirty="0"/>
              <a:t>keine Buchung</a:t>
            </a:r>
          </a:p>
          <a:p>
            <a:endParaRPr lang="de-DE" dirty="0"/>
          </a:p>
          <a:p>
            <a:r>
              <a:rPr lang="de-DE" dirty="0"/>
              <a:t>kein Ausweis der nicht realisierten Gewinne</a:t>
            </a:r>
          </a:p>
        </p:txBody>
      </p:sp>
    </p:spTree>
    <p:extLst>
      <p:ext uri="{BB962C8B-B14F-4D97-AF65-F5344CB8AC3E}">
        <p14:creationId xmlns:p14="http://schemas.microsoft.com/office/powerpoint/2010/main" val="9560385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FACA4A98-3D0E-41B1-B505-EDA74D332F58}"/>
              </a:ext>
            </a:extLst>
          </p:cNvPr>
          <p:cNvSpPr>
            <a:spLocks noGrp="1"/>
          </p:cNvSpPr>
          <p:nvPr>
            <p:ph type="title"/>
          </p:nvPr>
        </p:nvSpPr>
        <p:spPr/>
        <p:txBody>
          <a:bodyPr>
            <a:normAutofit fontScale="90000"/>
          </a:bodyPr>
          <a:lstStyle/>
          <a:p>
            <a:r>
              <a:rPr lang="de-DE" dirty="0"/>
              <a:t>Sammelbewertung 1</a:t>
            </a:r>
            <a:br>
              <a:rPr lang="de-DE" dirty="0"/>
            </a:br>
            <a:r>
              <a:rPr lang="de-DE" dirty="0"/>
              <a:t>Durchschnittsbewertung</a:t>
            </a:r>
          </a:p>
        </p:txBody>
      </p:sp>
      <p:sp>
        <p:nvSpPr>
          <p:cNvPr id="8" name="Inhaltsplatzhalter 7">
            <a:extLst>
              <a:ext uri="{FF2B5EF4-FFF2-40B4-BE49-F238E27FC236}">
                <a16:creationId xmlns:a16="http://schemas.microsoft.com/office/drawing/2014/main" id="{B3C59546-84DE-432D-9AF8-C16EADEFE040}"/>
              </a:ext>
            </a:extLst>
          </p:cNvPr>
          <p:cNvSpPr>
            <a:spLocks noGrp="1"/>
          </p:cNvSpPr>
          <p:nvPr>
            <p:ph idx="1"/>
          </p:nvPr>
        </p:nvSpPr>
        <p:spPr/>
        <p:txBody>
          <a:bodyPr/>
          <a:lstStyle/>
          <a:p>
            <a:r>
              <a:rPr lang="de-DE" dirty="0"/>
              <a:t>hier werden zur Ermittlung der </a:t>
            </a:r>
            <a:r>
              <a:rPr lang="de-DE" b="1" dirty="0"/>
              <a:t>durchschnittlichen Anschaffungskosten </a:t>
            </a:r>
            <a:r>
              <a:rPr lang="de-DE" dirty="0"/>
              <a:t>die Anschaffungsstückkosten mit den Mengen der jeweiligen Einkäufen multipliziert und durch die Gesamtmenge der Einkäufe geteilt  </a:t>
            </a:r>
          </a:p>
          <a:p>
            <a:r>
              <a:rPr lang="de-DE" dirty="0"/>
              <a:t>= „</a:t>
            </a:r>
            <a:r>
              <a:rPr lang="de-DE" b="1" dirty="0"/>
              <a:t>gewogener Durchschnitt</a:t>
            </a:r>
            <a:r>
              <a:rPr lang="de-DE" dirty="0"/>
              <a:t>“</a:t>
            </a:r>
          </a:p>
          <a:p>
            <a:r>
              <a:rPr lang="de-DE" dirty="0"/>
              <a:t>Vgl. Zahlenbeispiel im Buch SD Kapitel 4.6.1.1   </a:t>
            </a:r>
          </a:p>
        </p:txBody>
      </p:sp>
    </p:spTree>
    <p:extLst>
      <p:ext uri="{BB962C8B-B14F-4D97-AF65-F5344CB8AC3E}">
        <p14:creationId xmlns:p14="http://schemas.microsoft.com/office/powerpoint/2010/main" val="18432763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632BBE5-48FB-43BA-B041-B29F54DDBD41}"/>
              </a:ext>
            </a:extLst>
          </p:cNvPr>
          <p:cNvSpPr>
            <a:spLocks noGrp="1"/>
          </p:cNvSpPr>
          <p:nvPr>
            <p:ph type="title"/>
          </p:nvPr>
        </p:nvSpPr>
        <p:spPr/>
        <p:txBody>
          <a:bodyPr>
            <a:normAutofit fontScale="90000"/>
          </a:bodyPr>
          <a:lstStyle/>
          <a:p>
            <a:r>
              <a:rPr lang="de-DE" dirty="0"/>
              <a:t>Sammelbewertung 2 Verbrauchsfolgeverfahren</a:t>
            </a:r>
          </a:p>
        </p:txBody>
      </p:sp>
      <p:sp>
        <p:nvSpPr>
          <p:cNvPr id="3" name="Textplatzhalter 2">
            <a:extLst>
              <a:ext uri="{FF2B5EF4-FFF2-40B4-BE49-F238E27FC236}">
                <a16:creationId xmlns:a16="http://schemas.microsoft.com/office/drawing/2014/main" id="{89064EEC-82A8-4B96-8D96-B700B880CA85}"/>
              </a:ext>
            </a:extLst>
          </p:cNvPr>
          <p:cNvSpPr>
            <a:spLocks noGrp="1"/>
          </p:cNvSpPr>
          <p:nvPr>
            <p:ph type="body" idx="1"/>
          </p:nvPr>
        </p:nvSpPr>
        <p:spPr/>
        <p:txBody>
          <a:bodyPr/>
          <a:lstStyle/>
          <a:p>
            <a:r>
              <a:rPr lang="de-DE" dirty="0" err="1"/>
              <a:t>Fifo</a:t>
            </a:r>
            <a:r>
              <a:rPr lang="de-DE" dirty="0"/>
              <a:t>-Verfahren</a:t>
            </a:r>
          </a:p>
        </p:txBody>
      </p:sp>
      <p:sp>
        <p:nvSpPr>
          <p:cNvPr id="4" name="Inhaltsplatzhalter 3">
            <a:extLst>
              <a:ext uri="{FF2B5EF4-FFF2-40B4-BE49-F238E27FC236}">
                <a16:creationId xmlns:a16="http://schemas.microsoft.com/office/drawing/2014/main" id="{F242B690-F33E-47F2-9166-209EB22B307B}"/>
              </a:ext>
            </a:extLst>
          </p:cNvPr>
          <p:cNvSpPr>
            <a:spLocks noGrp="1"/>
          </p:cNvSpPr>
          <p:nvPr>
            <p:ph sz="half" idx="2"/>
          </p:nvPr>
        </p:nvSpPr>
        <p:spPr>
          <a:xfrm>
            <a:off x="444139" y="2204864"/>
            <a:ext cx="4040188" cy="3951288"/>
          </a:xfrm>
        </p:spPr>
        <p:txBody>
          <a:bodyPr/>
          <a:lstStyle/>
          <a:p>
            <a:r>
              <a:rPr lang="de-DE" dirty="0"/>
              <a:t>unterstellt, dass die zuerst angeschafften Vorräte auch zuerst verbraucht bzw. veräußert werden</a:t>
            </a:r>
          </a:p>
          <a:p>
            <a:r>
              <a:rPr lang="de-DE" dirty="0"/>
              <a:t>die noch vorhandenen Mengen werden mit den Preisen der zuletzt eingekauften Vorräte bewertet</a:t>
            </a:r>
          </a:p>
          <a:p>
            <a:endParaRPr lang="de-DE" dirty="0"/>
          </a:p>
        </p:txBody>
      </p:sp>
      <p:sp>
        <p:nvSpPr>
          <p:cNvPr id="5" name="Textplatzhalter 4">
            <a:extLst>
              <a:ext uri="{FF2B5EF4-FFF2-40B4-BE49-F238E27FC236}">
                <a16:creationId xmlns:a16="http://schemas.microsoft.com/office/drawing/2014/main" id="{E38D46F1-76DD-4763-817E-7E821D442889}"/>
              </a:ext>
            </a:extLst>
          </p:cNvPr>
          <p:cNvSpPr>
            <a:spLocks noGrp="1"/>
          </p:cNvSpPr>
          <p:nvPr>
            <p:ph type="body" sz="quarter" idx="3"/>
          </p:nvPr>
        </p:nvSpPr>
        <p:spPr/>
        <p:txBody>
          <a:bodyPr/>
          <a:lstStyle/>
          <a:p>
            <a:r>
              <a:rPr lang="de-DE" dirty="0" err="1"/>
              <a:t>Lifo</a:t>
            </a:r>
            <a:r>
              <a:rPr lang="de-DE" dirty="0"/>
              <a:t>-Verfahren</a:t>
            </a:r>
          </a:p>
        </p:txBody>
      </p:sp>
      <p:sp>
        <p:nvSpPr>
          <p:cNvPr id="6" name="Inhaltsplatzhalter 5">
            <a:extLst>
              <a:ext uri="{FF2B5EF4-FFF2-40B4-BE49-F238E27FC236}">
                <a16:creationId xmlns:a16="http://schemas.microsoft.com/office/drawing/2014/main" id="{75095EEE-E7EA-413F-A3ED-C8BAD19BFAF0}"/>
              </a:ext>
            </a:extLst>
          </p:cNvPr>
          <p:cNvSpPr>
            <a:spLocks noGrp="1"/>
          </p:cNvSpPr>
          <p:nvPr>
            <p:ph sz="quarter" idx="4"/>
          </p:nvPr>
        </p:nvSpPr>
        <p:spPr/>
        <p:txBody>
          <a:bodyPr/>
          <a:lstStyle/>
          <a:p>
            <a:r>
              <a:rPr lang="de-DE" dirty="0"/>
              <a:t>unterstellt, dass die zuletzt angeschafften Vorräte  zuerst verbraucht bzw. veräußert werden</a:t>
            </a:r>
          </a:p>
          <a:p>
            <a:r>
              <a:rPr lang="de-DE" dirty="0"/>
              <a:t>die noch vorhandenen Mengen werden mit den Preisen der zuerst eingekauften Vorräte bewertet</a:t>
            </a:r>
          </a:p>
          <a:p>
            <a:endParaRPr lang="de-DE" dirty="0"/>
          </a:p>
        </p:txBody>
      </p:sp>
    </p:spTree>
    <p:extLst>
      <p:ext uri="{BB962C8B-B14F-4D97-AF65-F5344CB8AC3E}">
        <p14:creationId xmlns:p14="http://schemas.microsoft.com/office/powerpoint/2010/main" val="21655222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1BF0AC1-24A7-4C97-8EAD-26B2AE59F8B4}"/>
              </a:ext>
            </a:extLst>
          </p:cNvPr>
          <p:cNvSpPr>
            <a:spLocks noGrp="1"/>
          </p:cNvSpPr>
          <p:nvPr>
            <p:ph type="title"/>
          </p:nvPr>
        </p:nvSpPr>
        <p:spPr/>
        <p:txBody>
          <a:bodyPr>
            <a:normAutofit/>
          </a:bodyPr>
          <a:lstStyle/>
          <a:p>
            <a:r>
              <a:rPr lang="de-DE" dirty="0"/>
              <a:t>Bewertung von Forderungen</a:t>
            </a:r>
          </a:p>
        </p:txBody>
      </p:sp>
      <p:sp>
        <p:nvSpPr>
          <p:cNvPr id="3" name="Inhaltsplatzhalter 2">
            <a:extLst>
              <a:ext uri="{FF2B5EF4-FFF2-40B4-BE49-F238E27FC236}">
                <a16:creationId xmlns:a16="http://schemas.microsoft.com/office/drawing/2014/main" id="{20469A37-D718-48E9-AEFB-C12D2959D73E}"/>
              </a:ext>
            </a:extLst>
          </p:cNvPr>
          <p:cNvSpPr>
            <a:spLocks noGrp="1"/>
          </p:cNvSpPr>
          <p:nvPr>
            <p:ph idx="1"/>
          </p:nvPr>
        </p:nvSpPr>
        <p:spPr>
          <a:xfrm>
            <a:off x="457200" y="1605063"/>
            <a:ext cx="8229600" cy="4525963"/>
          </a:xfrm>
        </p:spPr>
        <p:txBody>
          <a:bodyPr>
            <a:normAutofit lnSpcReduction="10000"/>
          </a:bodyPr>
          <a:lstStyle/>
          <a:p>
            <a:pPr marL="0" indent="0">
              <a:buNone/>
            </a:pPr>
            <a:r>
              <a:rPr lang="de-DE" sz="1800" dirty="0"/>
              <a:t>Situation:</a:t>
            </a:r>
          </a:p>
          <a:p>
            <a:pPr marL="0" indent="0">
              <a:buNone/>
            </a:pPr>
            <a:r>
              <a:rPr lang="de-DE" sz="1800" dirty="0"/>
              <a:t>Die Inventur zum 31.12. ergibt einen vorläufigen Forderungsbestand von 357.000 EUR brutto. Darin enthalten sind:</a:t>
            </a:r>
          </a:p>
          <a:p>
            <a:r>
              <a:rPr lang="de-DE" sz="1800" dirty="0"/>
              <a:t>Forderung an Kunden Pleite über 2.380 EUR brutto: hier wurde vor kurzem die Eröffnung eines Insolvenzverfahrens „mangels Masse“ abgelehnt.</a:t>
            </a:r>
          </a:p>
          <a:p>
            <a:r>
              <a:rPr lang="de-DE" sz="1800" dirty="0"/>
              <a:t>Forderung an Kunden Kurz über 11.900 EUR brutto: das Insolvenzverfahren wurde eröffnet. Der Insolvenzverwalter rechnet für die nicht bevorrechtigten Gläubiger mit einer Insolvenzquote von 20 %.</a:t>
            </a:r>
          </a:p>
          <a:p>
            <a:pPr marL="0" indent="0">
              <a:buNone/>
            </a:pPr>
            <a:endParaRPr lang="de-DE" sz="1800" dirty="0"/>
          </a:p>
          <a:p>
            <a:pPr marL="0" indent="0">
              <a:buNone/>
            </a:pPr>
            <a:r>
              <a:rPr lang="de-DE" sz="1800" dirty="0"/>
              <a:t>Für die restlichen Forderungen wird für die nicht erkennbaren „latenten“ Risiken eine steuerlich anerkannte Pauschalwertberichtigung (= PWB) in Höhe von 2 % gebildet.</a:t>
            </a:r>
          </a:p>
          <a:p>
            <a:pPr marL="0" indent="0">
              <a:buNone/>
            </a:pPr>
            <a:r>
              <a:rPr lang="de-DE" sz="1800" dirty="0"/>
              <a:t>Aus den Vorjahren ist bereits ein PWB-Bestand in Höhe von 4.500 EUR vorhanden.</a:t>
            </a:r>
          </a:p>
          <a:p>
            <a:pPr marL="0" indent="0">
              <a:buNone/>
            </a:pPr>
            <a:endParaRPr lang="de-DE" sz="1800" dirty="0"/>
          </a:p>
          <a:p>
            <a:pPr marL="0" indent="0">
              <a:buNone/>
            </a:pPr>
            <a:r>
              <a:rPr lang="de-DE" sz="1800" dirty="0"/>
              <a:t>Bewerten Sie den Forderungsbestand nach § 253 IV HGB und ermitteln Sie den dazugehörigen Bilanzausweis!  </a:t>
            </a:r>
          </a:p>
          <a:p>
            <a:endParaRPr lang="de-DE" dirty="0"/>
          </a:p>
        </p:txBody>
      </p:sp>
    </p:spTree>
    <p:extLst>
      <p:ext uri="{BB962C8B-B14F-4D97-AF65-F5344CB8AC3E}">
        <p14:creationId xmlns:p14="http://schemas.microsoft.com/office/powerpoint/2010/main" val="14674630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1BF0AC1-24A7-4C97-8EAD-26B2AE59F8B4}"/>
              </a:ext>
            </a:extLst>
          </p:cNvPr>
          <p:cNvSpPr>
            <a:spLocks noGrp="1"/>
          </p:cNvSpPr>
          <p:nvPr>
            <p:ph type="title"/>
          </p:nvPr>
        </p:nvSpPr>
        <p:spPr/>
        <p:txBody>
          <a:bodyPr/>
          <a:lstStyle/>
          <a:p>
            <a:r>
              <a:rPr lang="de-DE" dirty="0"/>
              <a:t>Bewertung von Forderungen</a:t>
            </a:r>
          </a:p>
        </p:txBody>
      </p:sp>
      <p:sp>
        <p:nvSpPr>
          <p:cNvPr id="3" name="Inhaltsplatzhalter 2">
            <a:extLst>
              <a:ext uri="{FF2B5EF4-FFF2-40B4-BE49-F238E27FC236}">
                <a16:creationId xmlns:a16="http://schemas.microsoft.com/office/drawing/2014/main" id="{20469A37-D718-48E9-AEFB-C12D2959D73E}"/>
              </a:ext>
            </a:extLst>
          </p:cNvPr>
          <p:cNvSpPr>
            <a:spLocks noGrp="1"/>
          </p:cNvSpPr>
          <p:nvPr>
            <p:ph idx="1"/>
          </p:nvPr>
        </p:nvSpPr>
        <p:spPr/>
        <p:txBody>
          <a:bodyPr/>
          <a:lstStyle/>
          <a:p>
            <a:endParaRPr lang="de-DE" dirty="0"/>
          </a:p>
          <a:p>
            <a:endParaRPr lang="de-DE" dirty="0"/>
          </a:p>
          <a:p>
            <a:endParaRPr lang="de-DE" dirty="0"/>
          </a:p>
        </p:txBody>
      </p:sp>
      <p:graphicFrame>
        <p:nvGraphicFramePr>
          <p:cNvPr id="4" name="Tabelle 3">
            <a:extLst>
              <a:ext uri="{FF2B5EF4-FFF2-40B4-BE49-F238E27FC236}">
                <a16:creationId xmlns:a16="http://schemas.microsoft.com/office/drawing/2014/main" id="{A7C4A1D9-13FA-4BF0-9F77-7974CD456A97}"/>
              </a:ext>
            </a:extLst>
          </p:cNvPr>
          <p:cNvGraphicFramePr>
            <a:graphicFrameLocks noGrp="1"/>
          </p:cNvGraphicFramePr>
          <p:nvPr>
            <p:extLst>
              <p:ext uri="{D42A27DB-BD31-4B8C-83A1-F6EECF244321}">
                <p14:modId xmlns:p14="http://schemas.microsoft.com/office/powerpoint/2010/main" val="1167867331"/>
              </p:ext>
            </p:extLst>
          </p:nvPr>
        </p:nvGraphicFramePr>
        <p:xfrm>
          <a:off x="1524000" y="1397000"/>
          <a:ext cx="6096000" cy="375412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4212463995"/>
                    </a:ext>
                  </a:extLst>
                </a:gridCol>
                <a:gridCol w="2032000">
                  <a:extLst>
                    <a:ext uri="{9D8B030D-6E8A-4147-A177-3AD203B41FA5}">
                      <a16:colId xmlns:a16="http://schemas.microsoft.com/office/drawing/2014/main" val="3516127847"/>
                    </a:ext>
                  </a:extLst>
                </a:gridCol>
                <a:gridCol w="2032000">
                  <a:extLst>
                    <a:ext uri="{9D8B030D-6E8A-4147-A177-3AD203B41FA5}">
                      <a16:colId xmlns:a16="http://schemas.microsoft.com/office/drawing/2014/main" val="24776819"/>
                    </a:ext>
                  </a:extLst>
                </a:gridCol>
              </a:tblGrid>
              <a:tr h="370840">
                <a:tc>
                  <a:txBody>
                    <a:bodyPr/>
                    <a:lstStyle/>
                    <a:p>
                      <a:r>
                        <a:rPr lang="de-DE" dirty="0"/>
                        <a:t>einwandfreie</a:t>
                      </a:r>
                    </a:p>
                  </a:txBody>
                  <a:tcPr/>
                </a:tc>
                <a:tc>
                  <a:txBody>
                    <a:bodyPr/>
                    <a:lstStyle/>
                    <a:p>
                      <a:r>
                        <a:rPr lang="de-DE" dirty="0"/>
                        <a:t>zweifelhafte</a:t>
                      </a:r>
                    </a:p>
                  </a:txBody>
                  <a:tcPr/>
                </a:tc>
                <a:tc>
                  <a:txBody>
                    <a:bodyPr/>
                    <a:lstStyle/>
                    <a:p>
                      <a:r>
                        <a:rPr lang="de-DE" dirty="0"/>
                        <a:t>uneinbringliche</a:t>
                      </a:r>
                    </a:p>
                  </a:txBody>
                  <a:tcPr/>
                </a:tc>
                <a:extLst>
                  <a:ext uri="{0D108BD9-81ED-4DB2-BD59-A6C34878D82A}">
                    <a16:rowId xmlns:a16="http://schemas.microsoft.com/office/drawing/2014/main" val="3394474547"/>
                  </a:ext>
                </a:extLst>
              </a:tr>
              <a:tr h="370840">
                <a:tc>
                  <a:txBody>
                    <a:bodyPr/>
                    <a:lstStyle/>
                    <a:p>
                      <a:r>
                        <a:rPr lang="de-DE" dirty="0"/>
                        <a:t>Ansatz generell zum Nennbetrag, aber </a:t>
                      </a:r>
                    </a:p>
                    <a:p>
                      <a:r>
                        <a:rPr lang="de-DE" dirty="0"/>
                        <a:t>Pauschalbewertung für das allgemeine Ausfallrisiko in Grenzen zulässig!</a:t>
                      </a:r>
                    </a:p>
                    <a:p>
                      <a:endParaRPr lang="de-DE" dirty="0"/>
                    </a:p>
                    <a:p>
                      <a:r>
                        <a:rPr lang="de-DE" dirty="0"/>
                        <a:t>Indirekte Abschreibung und Bildung einer  PWB  </a:t>
                      </a:r>
                    </a:p>
                  </a:txBody>
                  <a:tcPr/>
                </a:tc>
                <a:tc>
                  <a:txBody>
                    <a:bodyPr/>
                    <a:lstStyle/>
                    <a:p>
                      <a:r>
                        <a:rPr lang="de-DE" dirty="0"/>
                        <a:t>Ansatz zum wahrscheinlichen Wert</a:t>
                      </a:r>
                    </a:p>
                    <a:p>
                      <a:endParaRPr lang="de-DE" dirty="0"/>
                    </a:p>
                    <a:p>
                      <a:endParaRPr lang="de-DE" dirty="0"/>
                    </a:p>
                    <a:p>
                      <a:endParaRPr lang="de-DE" dirty="0"/>
                    </a:p>
                    <a:p>
                      <a:endParaRPr lang="de-DE" dirty="0"/>
                    </a:p>
                    <a:p>
                      <a:endParaRPr lang="de-DE" dirty="0"/>
                    </a:p>
                    <a:p>
                      <a:r>
                        <a:rPr lang="de-DE" dirty="0"/>
                        <a:t>Indirekte Abschreibung und Bildung einer EWB</a:t>
                      </a:r>
                    </a:p>
                  </a:txBody>
                  <a:tcPr/>
                </a:tc>
                <a:tc>
                  <a:txBody>
                    <a:bodyPr/>
                    <a:lstStyle/>
                    <a:p>
                      <a:r>
                        <a:rPr lang="de-DE" dirty="0"/>
                        <a:t>Ansatz zu 0 EUR</a:t>
                      </a:r>
                    </a:p>
                    <a:p>
                      <a:endParaRPr lang="de-DE" dirty="0"/>
                    </a:p>
                    <a:p>
                      <a:endParaRPr lang="de-DE" dirty="0"/>
                    </a:p>
                    <a:p>
                      <a:endParaRPr lang="de-DE" dirty="0"/>
                    </a:p>
                    <a:p>
                      <a:endParaRPr lang="de-DE" dirty="0"/>
                    </a:p>
                    <a:p>
                      <a:endParaRPr lang="de-DE" dirty="0"/>
                    </a:p>
                    <a:p>
                      <a:endParaRPr lang="de-DE" dirty="0"/>
                    </a:p>
                    <a:p>
                      <a:endParaRPr lang="de-DE" dirty="0"/>
                    </a:p>
                    <a:p>
                      <a:r>
                        <a:rPr lang="de-DE" dirty="0"/>
                        <a:t>Direkte Abschreibung zu Lasten des Forderungskontos</a:t>
                      </a:r>
                    </a:p>
                  </a:txBody>
                  <a:tcPr/>
                </a:tc>
                <a:extLst>
                  <a:ext uri="{0D108BD9-81ED-4DB2-BD59-A6C34878D82A}">
                    <a16:rowId xmlns:a16="http://schemas.microsoft.com/office/drawing/2014/main" val="417100803"/>
                  </a:ext>
                </a:extLst>
              </a:tr>
            </a:tbl>
          </a:graphicData>
        </a:graphic>
      </p:graphicFrame>
    </p:spTree>
    <p:extLst>
      <p:ext uri="{BB962C8B-B14F-4D97-AF65-F5344CB8AC3E}">
        <p14:creationId xmlns:p14="http://schemas.microsoft.com/office/powerpoint/2010/main" val="5365973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1BF0AC1-24A7-4C97-8EAD-26B2AE59F8B4}"/>
              </a:ext>
            </a:extLst>
          </p:cNvPr>
          <p:cNvSpPr>
            <a:spLocks noGrp="1"/>
          </p:cNvSpPr>
          <p:nvPr>
            <p:ph type="title"/>
          </p:nvPr>
        </p:nvSpPr>
        <p:spPr/>
        <p:txBody>
          <a:bodyPr/>
          <a:lstStyle/>
          <a:p>
            <a:r>
              <a:rPr lang="de-DE" dirty="0"/>
              <a:t>Einzelbewertung von Forderungen</a:t>
            </a:r>
          </a:p>
        </p:txBody>
      </p:sp>
      <p:sp>
        <p:nvSpPr>
          <p:cNvPr id="4" name="Textplatzhalter 3">
            <a:extLst>
              <a:ext uri="{FF2B5EF4-FFF2-40B4-BE49-F238E27FC236}">
                <a16:creationId xmlns:a16="http://schemas.microsoft.com/office/drawing/2014/main" id="{B90BCF91-697A-49F2-8E1C-76BE06AFAD86}"/>
              </a:ext>
            </a:extLst>
          </p:cNvPr>
          <p:cNvSpPr>
            <a:spLocks noGrp="1"/>
          </p:cNvSpPr>
          <p:nvPr>
            <p:ph type="body" idx="1"/>
          </p:nvPr>
        </p:nvSpPr>
        <p:spPr>
          <a:xfrm>
            <a:off x="457200" y="1535113"/>
            <a:ext cx="4040188" cy="639762"/>
          </a:xfrm>
        </p:spPr>
        <p:txBody>
          <a:bodyPr>
            <a:normAutofit fontScale="55000" lnSpcReduction="20000"/>
          </a:bodyPr>
          <a:lstStyle/>
          <a:p>
            <a:endParaRPr lang="de-DE" dirty="0"/>
          </a:p>
          <a:p>
            <a:r>
              <a:rPr lang="de-DE" sz="4400" dirty="0"/>
              <a:t>uneinbringliche Forderungen</a:t>
            </a:r>
          </a:p>
        </p:txBody>
      </p:sp>
      <p:sp>
        <p:nvSpPr>
          <p:cNvPr id="3" name="Inhaltsplatzhalter 2">
            <a:extLst>
              <a:ext uri="{FF2B5EF4-FFF2-40B4-BE49-F238E27FC236}">
                <a16:creationId xmlns:a16="http://schemas.microsoft.com/office/drawing/2014/main" id="{20469A37-D718-48E9-AEFB-C12D2959D73E}"/>
              </a:ext>
            </a:extLst>
          </p:cNvPr>
          <p:cNvSpPr>
            <a:spLocks noGrp="1"/>
          </p:cNvSpPr>
          <p:nvPr>
            <p:ph sz="half" idx="2"/>
          </p:nvPr>
        </p:nvSpPr>
        <p:spPr/>
        <p:txBody>
          <a:bodyPr>
            <a:normAutofit fontScale="92500" lnSpcReduction="10000"/>
          </a:bodyPr>
          <a:lstStyle/>
          <a:p>
            <a:r>
              <a:rPr lang="de-DE" sz="2000" dirty="0"/>
              <a:t>Umbuchung aus dem Bestand der normalen Forderungen in den der „zweifelhaften Forderungen“</a:t>
            </a:r>
          </a:p>
          <a:p>
            <a:pPr marL="0" indent="0">
              <a:buNone/>
            </a:pPr>
            <a:r>
              <a:rPr lang="de-DE" sz="2000" dirty="0"/>
              <a:t>      im Bsp. Debitor „Pleite“:             </a:t>
            </a:r>
          </a:p>
          <a:p>
            <a:pPr marL="0" indent="0">
              <a:buNone/>
            </a:pPr>
            <a:r>
              <a:rPr lang="de-DE" sz="2000" dirty="0"/>
              <a:t>      2470 an 2400 mit EUR 2.380</a:t>
            </a:r>
          </a:p>
          <a:p>
            <a:r>
              <a:rPr lang="de-DE" sz="2000" b="1" dirty="0"/>
              <a:t>Direkte</a:t>
            </a:r>
            <a:r>
              <a:rPr lang="de-DE" sz="2000" dirty="0"/>
              <a:t> Abschreibung </a:t>
            </a:r>
            <a:r>
              <a:rPr lang="de-DE" sz="2000" b="1" dirty="0"/>
              <a:t>im Aktivkonto</a:t>
            </a:r>
            <a:r>
              <a:rPr lang="de-DE" sz="2000" dirty="0"/>
              <a:t> in Höhe des feststehenden Ausfalls inklusive Umsatzsteuerkorrektur</a:t>
            </a:r>
          </a:p>
          <a:p>
            <a:pPr marL="0" indent="0">
              <a:buNone/>
            </a:pPr>
            <a:r>
              <a:rPr lang="de-DE" sz="2000" dirty="0"/>
              <a:t>      im Bsp. Debitor „Pleite“:</a:t>
            </a:r>
          </a:p>
          <a:p>
            <a:pPr marL="0" indent="0">
              <a:buNone/>
            </a:pPr>
            <a:r>
              <a:rPr lang="de-DE" sz="2000" dirty="0"/>
              <a:t>      6951 mit EUR 2.000</a:t>
            </a:r>
          </a:p>
          <a:p>
            <a:pPr marL="0" indent="0">
              <a:buNone/>
            </a:pPr>
            <a:r>
              <a:rPr lang="de-DE" sz="2000" dirty="0"/>
              <a:t>      4800 mit EUR    380</a:t>
            </a:r>
          </a:p>
          <a:p>
            <a:pPr marL="0" indent="0">
              <a:buNone/>
            </a:pPr>
            <a:r>
              <a:rPr lang="de-DE" sz="2000" dirty="0"/>
              <a:t>                              an 2470 mit EUR 2.380 </a:t>
            </a:r>
          </a:p>
          <a:p>
            <a:endParaRPr lang="de-DE" sz="2000" dirty="0"/>
          </a:p>
          <a:p>
            <a:endParaRPr lang="de-DE" dirty="0"/>
          </a:p>
        </p:txBody>
      </p:sp>
      <p:sp>
        <p:nvSpPr>
          <p:cNvPr id="5" name="Textplatzhalter 4">
            <a:extLst>
              <a:ext uri="{FF2B5EF4-FFF2-40B4-BE49-F238E27FC236}">
                <a16:creationId xmlns:a16="http://schemas.microsoft.com/office/drawing/2014/main" id="{5B53FD0F-F007-44A3-A672-E0A324C597CE}"/>
              </a:ext>
            </a:extLst>
          </p:cNvPr>
          <p:cNvSpPr>
            <a:spLocks noGrp="1"/>
          </p:cNvSpPr>
          <p:nvPr>
            <p:ph type="body" sz="quarter" idx="3"/>
          </p:nvPr>
        </p:nvSpPr>
        <p:spPr/>
        <p:txBody>
          <a:bodyPr/>
          <a:lstStyle/>
          <a:p>
            <a:r>
              <a:rPr lang="de-DE" dirty="0"/>
              <a:t>zweifelhafte Forderungen</a:t>
            </a:r>
          </a:p>
        </p:txBody>
      </p:sp>
      <p:sp>
        <p:nvSpPr>
          <p:cNvPr id="6" name="Inhaltsplatzhalter 5">
            <a:extLst>
              <a:ext uri="{FF2B5EF4-FFF2-40B4-BE49-F238E27FC236}">
                <a16:creationId xmlns:a16="http://schemas.microsoft.com/office/drawing/2014/main" id="{108A891D-DC6E-4CE6-934F-8B007078D97E}"/>
              </a:ext>
            </a:extLst>
          </p:cNvPr>
          <p:cNvSpPr>
            <a:spLocks noGrp="1"/>
          </p:cNvSpPr>
          <p:nvPr>
            <p:ph sz="quarter" idx="4"/>
          </p:nvPr>
        </p:nvSpPr>
        <p:spPr/>
        <p:txBody>
          <a:bodyPr>
            <a:normAutofit fontScale="92500" lnSpcReduction="10000"/>
          </a:bodyPr>
          <a:lstStyle/>
          <a:p>
            <a:pPr lvl="0"/>
            <a:r>
              <a:rPr lang="de-DE" sz="2100" dirty="0">
                <a:solidFill>
                  <a:prstClr val="black"/>
                </a:solidFill>
              </a:rPr>
              <a:t>Umbuchung aus dem Bestand der normalen Forderungen in den der „zweifelhaften Forderungen“</a:t>
            </a:r>
          </a:p>
          <a:p>
            <a:pPr marL="0" lvl="0" indent="0">
              <a:buNone/>
            </a:pPr>
            <a:r>
              <a:rPr lang="de-DE" sz="2100" dirty="0">
                <a:solidFill>
                  <a:prstClr val="black"/>
                </a:solidFill>
              </a:rPr>
              <a:t>      im Bsp. Debitor „Kurz“:             </a:t>
            </a:r>
          </a:p>
          <a:p>
            <a:pPr marL="0" lvl="0" indent="0">
              <a:buNone/>
            </a:pPr>
            <a:r>
              <a:rPr lang="de-DE" sz="2100" dirty="0">
                <a:solidFill>
                  <a:prstClr val="black"/>
                </a:solidFill>
              </a:rPr>
              <a:t>      2470 an 2400 mit EUR 11.900</a:t>
            </a:r>
          </a:p>
          <a:p>
            <a:r>
              <a:rPr lang="de-DE" sz="2100" b="1" dirty="0">
                <a:solidFill>
                  <a:prstClr val="black"/>
                </a:solidFill>
              </a:rPr>
              <a:t>Indirekte Abschreibung </a:t>
            </a:r>
            <a:r>
              <a:rPr lang="de-DE" sz="2100" dirty="0">
                <a:solidFill>
                  <a:prstClr val="black"/>
                </a:solidFill>
              </a:rPr>
              <a:t>mit Bildung einer </a:t>
            </a:r>
            <a:r>
              <a:rPr lang="de-DE" sz="2100" b="1" dirty="0">
                <a:solidFill>
                  <a:prstClr val="black"/>
                </a:solidFill>
              </a:rPr>
              <a:t>passiven Wertberichtigung </a:t>
            </a:r>
            <a:r>
              <a:rPr lang="de-DE" sz="2100" dirty="0">
                <a:solidFill>
                  <a:prstClr val="black"/>
                </a:solidFill>
              </a:rPr>
              <a:t>in Höhe des erwarteten Ausfalls inklusive Umsatzsteuerkorrektur </a:t>
            </a:r>
          </a:p>
          <a:p>
            <a:pPr marL="0" indent="0">
              <a:buNone/>
            </a:pPr>
            <a:r>
              <a:rPr lang="de-DE" sz="2100" dirty="0">
                <a:solidFill>
                  <a:prstClr val="black"/>
                </a:solidFill>
              </a:rPr>
              <a:t>      im Bsp. Debitor „Kurz“:</a:t>
            </a:r>
          </a:p>
          <a:p>
            <a:pPr marL="0" indent="0">
              <a:buNone/>
            </a:pPr>
            <a:r>
              <a:rPr lang="de-DE" sz="2100" dirty="0">
                <a:solidFill>
                  <a:prstClr val="black"/>
                </a:solidFill>
              </a:rPr>
              <a:t>      6952 an 3670 (</a:t>
            </a:r>
            <a:r>
              <a:rPr lang="de-DE" sz="2100" b="1" dirty="0">
                <a:solidFill>
                  <a:prstClr val="black"/>
                </a:solidFill>
              </a:rPr>
              <a:t>EWB</a:t>
            </a:r>
            <a:r>
              <a:rPr lang="de-DE" sz="2100" dirty="0">
                <a:solidFill>
                  <a:prstClr val="black"/>
                </a:solidFill>
              </a:rPr>
              <a:t>) mit EUR 8.000</a:t>
            </a:r>
          </a:p>
          <a:p>
            <a:pPr marL="0" indent="0">
              <a:buNone/>
            </a:pPr>
            <a:r>
              <a:rPr lang="de-DE" sz="2100" dirty="0">
                <a:solidFill>
                  <a:prstClr val="black"/>
                </a:solidFill>
              </a:rPr>
              <a:t>      4800 an 2470 mit EUR 1.900</a:t>
            </a:r>
          </a:p>
          <a:p>
            <a:pPr marL="0" indent="0">
              <a:buNone/>
            </a:pPr>
            <a:r>
              <a:rPr lang="de-DE" sz="2100" dirty="0">
                <a:solidFill>
                  <a:prstClr val="black"/>
                </a:solidFill>
              </a:rPr>
              <a:t>          </a:t>
            </a:r>
            <a:endParaRPr lang="de-DE" dirty="0"/>
          </a:p>
        </p:txBody>
      </p:sp>
    </p:spTree>
    <p:extLst>
      <p:ext uri="{BB962C8B-B14F-4D97-AF65-F5344CB8AC3E}">
        <p14:creationId xmlns:p14="http://schemas.microsoft.com/office/powerpoint/2010/main" val="16440273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B383315-4A7E-41E1-A143-2760C6BB9420}"/>
              </a:ext>
            </a:extLst>
          </p:cNvPr>
          <p:cNvSpPr>
            <a:spLocks noGrp="1"/>
          </p:cNvSpPr>
          <p:nvPr>
            <p:ph type="title"/>
          </p:nvPr>
        </p:nvSpPr>
        <p:spPr/>
        <p:txBody>
          <a:bodyPr>
            <a:normAutofit fontScale="90000"/>
          </a:bodyPr>
          <a:lstStyle/>
          <a:p>
            <a:r>
              <a:rPr lang="de-DE" dirty="0"/>
              <a:t>Pauschalwertberichtigung von Forderungen</a:t>
            </a:r>
          </a:p>
        </p:txBody>
      </p:sp>
      <p:sp>
        <p:nvSpPr>
          <p:cNvPr id="3" name="Inhaltsplatzhalter 2">
            <a:extLst>
              <a:ext uri="{FF2B5EF4-FFF2-40B4-BE49-F238E27FC236}">
                <a16:creationId xmlns:a16="http://schemas.microsoft.com/office/drawing/2014/main" id="{1C8426D2-6E00-4191-9265-CA8578A33E6F}"/>
              </a:ext>
            </a:extLst>
          </p:cNvPr>
          <p:cNvSpPr>
            <a:spLocks noGrp="1"/>
          </p:cNvSpPr>
          <p:nvPr>
            <p:ph idx="1"/>
          </p:nvPr>
        </p:nvSpPr>
        <p:spPr/>
        <p:txBody>
          <a:bodyPr>
            <a:normAutofit fontScale="92500" lnSpcReduction="10000"/>
          </a:bodyPr>
          <a:lstStyle/>
          <a:p>
            <a:pPr marL="0" lvl="0" indent="0">
              <a:buNone/>
            </a:pPr>
            <a:r>
              <a:rPr lang="de-DE" sz="1800" dirty="0">
                <a:solidFill>
                  <a:prstClr val="black"/>
                </a:solidFill>
              </a:rPr>
              <a:t>Für die restlichen Forderungen wird für die nicht erkennbaren „latenten“ Risiken eine steuerlich anerkannte Pauschalwertberichtigung (= PWB) in Höhe von 2 % </a:t>
            </a:r>
            <a:r>
              <a:rPr lang="de-DE" sz="1800" b="1" dirty="0">
                <a:solidFill>
                  <a:prstClr val="black"/>
                </a:solidFill>
              </a:rPr>
              <a:t>auf den Nettowert dieser vermeintlich intakten Forderungen</a:t>
            </a:r>
            <a:r>
              <a:rPr lang="de-DE" sz="1800" dirty="0">
                <a:solidFill>
                  <a:prstClr val="black"/>
                </a:solidFill>
              </a:rPr>
              <a:t> gebildet.</a:t>
            </a:r>
          </a:p>
          <a:p>
            <a:pPr marL="0" lvl="0" indent="0">
              <a:buNone/>
            </a:pPr>
            <a:r>
              <a:rPr lang="de-DE" sz="1800" dirty="0">
                <a:solidFill>
                  <a:prstClr val="black"/>
                </a:solidFill>
              </a:rPr>
              <a:t>Aus den Vorjahren ist bereits ein PWB-Bestand in Höhe von 4.500 EUR vorhanden.</a:t>
            </a:r>
          </a:p>
          <a:p>
            <a:pPr marL="0" lvl="0" indent="0">
              <a:buNone/>
            </a:pPr>
            <a:endParaRPr lang="de-DE" sz="1800" dirty="0">
              <a:solidFill>
                <a:prstClr val="black"/>
              </a:solidFill>
            </a:endParaRPr>
          </a:p>
          <a:p>
            <a:pPr marL="0" lvl="0" indent="0">
              <a:buNone/>
            </a:pPr>
            <a:r>
              <a:rPr lang="de-DE" sz="1800" dirty="0">
                <a:solidFill>
                  <a:prstClr val="black"/>
                </a:solidFill>
              </a:rPr>
              <a:t>Anwendung auf die vorliegende Situation:</a:t>
            </a:r>
          </a:p>
          <a:p>
            <a:pPr marL="0" lvl="0" indent="0">
              <a:buNone/>
            </a:pPr>
            <a:r>
              <a:rPr lang="de-DE" sz="1800" dirty="0">
                <a:solidFill>
                  <a:prstClr val="black"/>
                </a:solidFill>
              </a:rPr>
              <a:t>Vorläufiger Debitorenbestand 357.000 EUR brutto</a:t>
            </a:r>
          </a:p>
          <a:p>
            <a:pPr lvl="0">
              <a:buFontTx/>
              <a:buChar char="-"/>
            </a:pPr>
            <a:r>
              <a:rPr lang="de-DE" sz="1800" dirty="0">
                <a:solidFill>
                  <a:prstClr val="black"/>
                </a:solidFill>
              </a:rPr>
              <a:t>Uneinbringliche Forderung(en) 2.380 EUR brutto</a:t>
            </a:r>
          </a:p>
          <a:p>
            <a:pPr lvl="0">
              <a:buFontTx/>
              <a:buChar char="-"/>
            </a:pPr>
            <a:r>
              <a:rPr lang="de-DE" sz="1800" dirty="0">
                <a:solidFill>
                  <a:prstClr val="black"/>
                </a:solidFill>
              </a:rPr>
              <a:t>Zweifelhafte Forderungen(en) 11.900 EUR brutto</a:t>
            </a:r>
          </a:p>
          <a:p>
            <a:pPr marL="0" lvl="0" indent="0">
              <a:buNone/>
            </a:pPr>
            <a:r>
              <a:rPr lang="de-DE" sz="1800" dirty="0">
                <a:solidFill>
                  <a:prstClr val="black"/>
                </a:solidFill>
              </a:rPr>
              <a:t>= intakter Forderungsbestand 342.720 EUR brutto</a:t>
            </a:r>
          </a:p>
          <a:p>
            <a:pPr lvl="0">
              <a:buFontTx/>
              <a:buChar char="-"/>
            </a:pPr>
            <a:r>
              <a:rPr lang="de-DE" sz="1800" dirty="0" err="1">
                <a:solidFill>
                  <a:prstClr val="black"/>
                </a:solidFill>
              </a:rPr>
              <a:t>Ust</a:t>
            </a:r>
            <a:r>
              <a:rPr lang="de-DE" sz="1800" dirty="0">
                <a:solidFill>
                  <a:prstClr val="black"/>
                </a:solidFill>
              </a:rPr>
              <a:t>-Anteil                               54.720 EUR </a:t>
            </a:r>
          </a:p>
          <a:p>
            <a:pPr marL="0" lvl="0" indent="0">
              <a:buNone/>
            </a:pPr>
            <a:r>
              <a:rPr lang="de-DE" sz="1800" dirty="0">
                <a:solidFill>
                  <a:prstClr val="black"/>
                </a:solidFill>
              </a:rPr>
              <a:t>= intakter Forderungsbestand 288.000 EUR netto</a:t>
            </a:r>
          </a:p>
          <a:p>
            <a:pPr marL="0" lvl="0" indent="0">
              <a:buNone/>
            </a:pPr>
            <a:r>
              <a:rPr lang="de-DE" sz="1800" dirty="0">
                <a:solidFill>
                  <a:prstClr val="black"/>
                </a:solidFill>
              </a:rPr>
              <a:t>darauf 2 % PWB : erforderliche PWB = 5.760 EUR</a:t>
            </a:r>
          </a:p>
          <a:p>
            <a:pPr marL="0" lvl="0" indent="0">
              <a:buNone/>
            </a:pPr>
            <a:r>
              <a:rPr lang="de-DE" sz="1800" dirty="0">
                <a:solidFill>
                  <a:prstClr val="black"/>
                </a:solidFill>
              </a:rPr>
              <a:t>                  - bereits vorhandene PWB    4.500 EUR</a:t>
            </a:r>
          </a:p>
          <a:p>
            <a:pPr marL="0" lvl="0" indent="0">
              <a:buNone/>
            </a:pPr>
            <a:r>
              <a:rPr lang="de-DE" sz="1800" dirty="0">
                <a:solidFill>
                  <a:prstClr val="black"/>
                </a:solidFill>
              </a:rPr>
              <a:t>                  = neu zu bildende PWB          1.260 EUR</a:t>
            </a:r>
          </a:p>
          <a:p>
            <a:pPr marL="0" lvl="0" indent="0">
              <a:buNone/>
            </a:pPr>
            <a:r>
              <a:rPr lang="de-DE" sz="1800" dirty="0">
                <a:solidFill>
                  <a:prstClr val="black"/>
                </a:solidFill>
              </a:rPr>
              <a:t>Buchung: 6953 an 3680 (</a:t>
            </a:r>
            <a:r>
              <a:rPr lang="de-DE" sz="1800" b="1" dirty="0">
                <a:solidFill>
                  <a:prstClr val="black"/>
                </a:solidFill>
              </a:rPr>
              <a:t>PWB</a:t>
            </a:r>
            <a:r>
              <a:rPr lang="de-DE" sz="1800" dirty="0">
                <a:solidFill>
                  <a:prstClr val="black"/>
                </a:solidFill>
              </a:rPr>
              <a:t>) mit EUR 1.260</a:t>
            </a:r>
          </a:p>
          <a:p>
            <a:endParaRPr lang="de-DE" dirty="0"/>
          </a:p>
        </p:txBody>
      </p:sp>
    </p:spTree>
    <p:extLst>
      <p:ext uri="{BB962C8B-B14F-4D97-AF65-F5344CB8AC3E}">
        <p14:creationId xmlns:p14="http://schemas.microsoft.com/office/powerpoint/2010/main" val="1288486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B383315-4A7E-41E1-A143-2760C6BB9420}"/>
              </a:ext>
            </a:extLst>
          </p:cNvPr>
          <p:cNvSpPr>
            <a:spLocks noGrp="1"/>
          </p:cNvSpPr>
          <p:nvPr>
            <p:ph type="title"/>
          </p:nvPr>
        </p:nvSpPr>
        <p:spPr/>
        <p:txBody>
          <a:bodyPr>
            <a:normAutofit/>
          </a:bodyPr>
          <a:lstStyle/>
          <a:p>
            <a:r>
              <a:rPr lang="de-DE" dirty="0"/>
              <a:t>Bilanzausweis von Forderungen</a:t>
            </a:r>
          </a:p>
        </p:txBody>
      </p:sp>
      <p:sp>
        <p:nvSpPr>
          <p:cNvPr id="3" name="Inhaltsplatzhalter 2">
            <a:extLst>
              <a:ext uri="{FF2B5EF4-FFF2-40B4-BE49-F238E27FC236}">
                <a16:creationId xmlns:a16="http://schemas.microsoft.com/office/drawing/2014/main" id="{1C8426D2-6E00-4191-9265-CA8578A33E6F}"/>
              </a:ext>
            </a:extLst>
          </p:cNvPr>
          <p:cNvSpPr>
            <a:spLocks noGrp="1"/>
          </p:cNvSpPr>
          <p:nvPr>
            <p:ph idx="1"/>
          </p:nvPr>
        </p:nvSpPr>
        <p:spPr/>
        <p:txBody>
          <a:bodyPr>
            <a:normAutofit/>
          </a:bodyPr>
          <a:lstStyle/>
          <a:p>
            <a:pPr marL="0" lvl="0" indent="0">
              <a:buNone/>
            </a:pPr>
            <a:r>
              <a:rPr lang="de-DE" sz="1800" dirty="0">
                <a:solidFill>
                  <a:prstClr val="black"/>
                </a:solidFill>
              </a:rPr>
              <a:t>„</a:t>
            </a:r>
            <a:r>
              <a:rPr lang="de-DE" sz="2400" dirty="0">
                <a:solidFill>
                  <a:prstClr val="black"/>
                </a:solidFill>
              </a:rPr>
              <a:t>In der Schlussbilanz werden nach § 266 HGB keine Wertberichtigungsposten (und keine uneinbringliche Forderungen) ausgewiesen.</a:t>
            </a:r>
          </a:p>
          <a:p>
            <a:pPr marL="0" lvl="0" indent="0">
              <a:buNone/>
            </a:pPr>
            <a:endParaRPr lang="de-DE" sz="2400" dirty="0">
              <a:solidFill>
                <a:prstClr val="black"/>
              </a:solidFill>
            </a:endParaRPr>
          </a:p>
          <a:p>
            <a:pPr marL="0" lvl="0" indent="0">
              <a:buNone/>
            </a:pPr>
            <a:r>
              <a:rPr lang="de-DE" sz="2400" dirty="0">
                <a:solidFill>
                  <a:prstClr val="black"/>
                </a:solidFill>
              </a:rPr>
              <a:t>Anwendung auf die vorliegende Situation:</a:t>
            </a:r>
          </a:p>
          <a:p>
            <a:pPr marL="0" lvl="0" indent="0">
              <a:buNone/>
            </a:pPr>
            <a:r>
              <a:rPr lang="de-DE" sz="2400" dirty="0">
                <a:solidFill>
                  <a:prstClr val="black"/>
                </a:solidFill>
              </a:rPr>
              <a:t>Vorläufiger Debitorenbestand         357.000 EUR </a:t>
            </a:r>
          </a:p>
          <a:p>
            <a:pPr lvl="0">
              <a:buFontTx/>
              <a:buChar char="-"/>
            </a:pPr>
            <a:r>
              <a:rPr lang="de-DE" sz="2400" dirty="0">
                <a:solidFill>
                  <a:prstClr val="black"/>
                </a:solidFill>
              </a:rPr>
              <a:t>Uneinbringliche Forderung(en)       2.380 EUR </a:t>
            </a:r>
          </a:p>
          <a:p>
            <a:pPr lvl="0">
              <a:buFontTx/>
              <a:buChar char="-"/>
            </a:pPr>
            <a:r>
              <a:rPr lang="de-DE" sz="2400" dirty="0">
                <a:solidFill>
                  <a:prstClr val="black"/>
                </a:solidFill>
              </a:rPr>
              <a:t>Gebildete EWB                                   8.000 EUR</a:t>
            </a:r>
          </a:p>
          <a:p>
            <a:pPr lvl="0">
              <a:buFontTx/>
              <a:buChar char="-"/>
            </a:pPr>
            <a:r>
              <a:rPr lang="de-DE" sz="2400" dirty="0">
                <a:solidFill>
                  <a:prstClr val="black"/>
                </a:solidFill>
              </a:rPr>
              <a:t>Gebildete PWB                                   5.760 EUR</a:t>
            </a:r>
          </a:p>
          <a:p>
            <a:pPr marL="0" lvl="0" indent="0">
              <a:buNone/>
            </a:pPr>
            <a:r>
              <a:rPr lang="de-DE" sz="2400" dirty="0">
                <a:solidFill>
                  <a:prstClr val="black"/>
                </a:solidFill>
              </a:rPr>
              <a:t>= Bilanzausweis                                   340.860 EUR </a:t>
            </a:r>
          </a:p>
          <a:p>
            <a:endParaRPr lang="de-DE" dirty="0"/>
          </a:p>
        </p:txBody>
      </p:sp>
    </p:spTree>
    <p:extLst>
      <p:ext uri="{BB962C8B-B14F-4D97-AF65-F5344CB8AC3E}">
        <p14:creationId xmlns:p14="http://schemas.microsoft.com/office/powerpoint/2010/main" val="28970784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1BF0AC1-24A7-4C97-8EAD-26B2AE59F8B4}"/>
              </a:ext>
            </a:extLst>
          </p:cNvPr>
          <p:cNvSpPr>
            <a:spLocks noGrp="1"/>
          </p:cNvSpPr>
          <p:nvPr>
            <p:ph type="title"/>
          </p:nvPr>
        </p:nvSpPr>
        <p:spPr/>
        <p:txBody>
          <a:bodyPr/>
          <a:lstStyle/>
          <a:p>
            <a:r>
              <a:rPr lang="de-DE" dirty="0"/>
              <a:t>Bewertung von Wertpapieren</a:t>
            </a:r>
          </a:p>
        </p:txBody>
      </p:sp>
      <p:sp>
        <p:nvSpPr>
          <p:cNvPr id="4" name="Textplatzhalter 3">
            <a:extLst>
              <a:ext uri="{FF2B5EF4-FFF2-40B4-BE49-F238E27FC236}">
                <a16:creationId xmlns:a16="http://schemas.microsoft.com/office/drawing/2014/main" id="{B90BCF91-697A-49F2-8E1C-76BE06AFAD86}"/>
              </a:ext>
            </a:extLst>
          </p:cNvPr>
          <p:cNvSpPr>
            <a:spLocks noGrp="1"/>
          </p:cNvSpPr>
          <p:nvPr>
            <p:ph type="body" idx="1"/>
          </p:nvPr>
        </p:nvSpPr>
        <p:spPr>
          <a:xfrm>
            <a:off x="457200" y="1535113"/>
            <a:ext cx="4040188" cy="639762"/>
          </a:xfrm>
        </p:spPr>
        <p:txBody>
          <a:bodyPr>
            <a:normAutofit fontScale="55000" lnSpcReduction="20000"/>
          </a:bodyPr>
          <a:lstStyle/>
          <a:p>
            <a:endParaRPr lang="de-DE" dirty="0"/>
          </a:p>
          <a:p>
            <a:r>
              <a:rPr lang="de-DE" sz="4400" dirty="0"/>
              <a:t>Wertpapiere des AV</a:t>
            </a:r>
          </a:p>
        </p:txBody>
      </p:sp>
      <p:sp>
        <p:nvSpPr>
          <p:cNvPr id="3" name="Inhaltsplatzhalter 2">
            <a:extLst>
              <a:ext uri="{FF2B5EF4-FFF2-40B4-BE49-F238E27FC236}">
                <a16:creationId xmlns:a16="http://schemas.microsoft.com/office/drawing/2014/main" id="{20469A37-D718-48E9-AEFB-C12D2959D73E}"/>
              </a:ext>
            </a:extLst>
          </p:cNvPr>
          <p:cNvSpPr>
            <a:spLocks noGrp="1"/>
          </p:cNvSpPr>
          <p:nvPr>
            <p:ph sz="half" idx="2"/>
          </p:nvPr>
        </p:nvSpPr>
        <p:spPr/>
        <p:txBody>
          <a:bodyPr/>
          <a:lstStyle/>
          <a:p>
            <a:pPr marL="0" indent="0">
              <a:buNone/>
            </a:pPr>
            <a:r>
              <a:rPr lang="de-DE" dirty="0"/>
              <a:t>gemäß HGB:           „gemildertes Niederstwertprinzip“</a:t>
            </a:r>
          </a:p>
          <a:p>
            <a:r>
              <a:rPr lang="de-DE" dirty="0"/>
              <a:t>Beteiligungen (1300)</a:t>
            </a:r>
          </a:p>
          <a:p>
            <a:r>
              <a:rPr lang="de-DE" dirty="0"/>
              <a:t>Sonstige Wertpapiere mit der Absicht der langfristigen Vermögensanlage (1500)</a:t>
            </a:r>
          </a:p>
          <a:p>
            <a:endParaRPr lang="de-DE" dirty="0"/>
          </a:p>
        </p:txBody>
      </p:sp>
      <p:sp>
        <p:nvSpPr>
          <p:cNvPr id="5" name="Textplatzhalter 4">
            <a:extLst>
              <a:ext uri="{FF2B5EF4-FFF2-40B4-BE49-F238E27FC236}">
                <a16:creationId xmlns:a16="http://schemas.microsoft.com/office/drawing/2014/main" id="{5B53FD0F-F007-44A3-A672-E0A324C597CE}"/>
              </a:ext>
            </a:extLst>
          </p:cNvPr>
          <p:cNvSpPr>
            <a:spLocks noGrp="1"/>
          </p:cNvSpPr>
          <p:nvPr>
            <p:ph type="body" sz="quarter" idx="3"/>
          </p:nvPr>
        </p:nvSpPr>
        <p:spPr/>
        <p:txBody>
          <a:bodyPr/>
          <a:lstStyle/>
          <a:p>
            <a:r>
              <a:rPr lang="de-DE" dirty="0"/>
              <a:t>Wertpapiere des UV</a:t>
            </a:r>
          </a:p>
        </p:txBody>
      </p:sp>
      <p:sp>
        <p:nvSpPr>
          <p:cNvPr id="6" name="Inhaltsplatzhalter 5">
            <a:extLst>
              <a:ext uri="{FF2B5EF4-FFF2-40B4-BE49-F238E27FC236}">
                <a16:creationId xmlns:a16="http://schemas.microsoft.com/office/drawing/2014/main" id="{108A891D-DC6E-4CE6-934F-8B007078D97E}"/>
              </a:ext>
            </a:extLst>
          </p:cNvPr>
          <p:cNvSpPr>
            <a:spLocks noGrp="1"/>
          </p:cNvSpPr>
          <p:nvPr>
            <p:ph sz="quarter" idx="4"/>
          </p:nvPr>
        </p:nvSpPr>
        <p:spPr/>
        <p:txBody>
          <a:bodyPr/>
          <a:lstStyle/>
          <a:p>
            <a:pPr marL="0" indent="0">
              <a:buNone/>
            </a:pPr>
            <a:r>
              <a:rPr lang="de-DE" dirty="0"/>
              <a:t>gemäß HGB:                 „strenges Niederstwertprinzip“</a:t>
            </a:r>
          </a:p>
          <a:p>
            <a:r>
              <a:rPr lang="de-DE" dirty="0"/>
              <a:t>Wertpapiere als  Liquiditätsreserve (2700)</a:t>
            </a:r>
          </a:p>
        </p:txBody>
      </p:sp>
    </p:spTree>
    <p:extLst>
      <p:ext uri="{BB962C8B-B14F-4D97-AF65-F5344CB8AC3E}">
        <p14:creationId xmlns:p14="http://schemas.microsoft.com/office/powerpoint/2010/main" val="26146759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B383315-4A7E-41E1-A143-2760C6BB9420}"/>
              </a:ext>
            </a:extLst>
          </p:cNvPr>
          <p:cNvSpPr>
            <a:spLocks noGrp="1"/>
          </p:cNvSpPr>
          <p:nvPr>
            <p:ph type="title"/>
          </p:nvPr>
        </p:nvSpPr>
        <p:spPr/>
        <p:txBody>
          <a:bodyPr/>
          <a:lstStyle/>
          <a:p>
            <a:r>
              <a:rPr lang="de-DE" dirty="0"/>
              <a:t>Bewertung von Schulden</a:t>
            </a:r>
          </a:p>
        </p:txBody>
      </p:sp>
      <p:sp>
        <p:nvSpPr>
          <p:cNvPr id="3" name="Inhaltsplatzhalter 2">
            <a:extLst>
              <a:ext uri="{FF2B5EF4-FFF2-40B4-BE49-F238E27FC236}">
                <a16:creationId xmlns:a16="http://schemas.microsoft.com/office/drawing/2014/main" id="{1C8426D2-6E00-4191-9265-CA8578A33E6F}"/>
              </a:ext>
            </a:extLst>
          </p:cNvPr>
          <p:cNvSpPr>
            <a:spLocks noGrp="1"/>
          </p:cNvSpPr>
          <p:nvPr>
            <p:ph idx="1"/>
          </p:nvPr>
        </p:nvSpPr>
        <p:spPr/>
        <p:txBody>
          <a:bodyPr/>
          <a:lstStyle/>
          <a:p>
            <a:r>
              <a:rPr lang="de-DE" dirty="0"/>
              <a:t>Gemäß HBG: „Höchstwertprinzip“</a:t>
            </a:r>
          </a:p>
        </p:txBody>
      </p:sp>
    </p:spTree>
    <p:extLst>
      <p:ext uri="{BB962C8B-B14F-4D97-AF65-F5344CB8AC3E}">
        <p14:creationId xmlns:p14="http://schemas.microsoft.com/office/powerpoint/2010/main" val="31806499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de-DE" dirty="0"/>
              <a:t>Jahresabschluss erstellen:</a:t>
            </a:r>
            <a:br>
              <a:rPr lang="de-DE" dirty="0"/>
            </a:br>
            <a:r>
              <a:rPr lang="de-DE" dirty="0"/>
              <a:t>zusätzliche Arbeiten im Überblick</a:t>
            </a:r>
          </a:p>
        </p:txBody>
      </p:sp>
      <p:sp>
        <p:nvSpPr>
          <p:cNvPr id="3" name="Inhaltsplatzhalter 2"/>
          <p:cNvSpPr>
            <a:spLocks noGrp="1"/>
          </p:cNvSpPr>
          <p:nvPr>
            <p:ph idx="1"/>
          </p:nvPr>
        </p:nvSpPr>
        <p:spPr/>
        <p:txBody>
          <a:bodyPr>
            <a:normAutofit fontScale="92500" lnSpcReduction="10000"/>
          </a:bodyPr>
          <a:lstStyle/>
          <a:p>
            <a:r>
              <a:rPr lang="de-DE" dirty="0"/>
              <a:t>Abschluss eventuell geführter </a:t>
            </a:r>
            <a:r>
              <a:rPr lang="de-DE" b="1" dirty="0"/>
              <a:t>Unterkonten</a:t>
            </a:r>
            <a:r>
              <a:rPr lang="de-DE" dirty="0"/>
              <a:t> über das dazugehörige Hauptbuchkonto</a:t>
            </a:r>
          </a:p>
          <a:p>
            <a:r>
              <a:rPr lang="de-DE" b="1" dirty="0"/>
              <a:t>Inventur</a:t>
            </a:r>
            <a:r>
              <a:rPr lang="de-DE" dirty="0"/>
              <a:t> der Vermögens - und Schuldenwerte</a:t>
            </a:r>
          </a:p>
          <a:p>
            <a:r>
              <a:rPr lang="de-DE" b="1" dirty="0"/>
              <a:t>Bewertung</a:t>
            </a:r>
            <a:r>
              <a:rPr lang="de-DE" dirty="0"/>
              <a:t> der Vermögens- und Schuldenwerte</a:t>
            </a:r>
          </a:p>
          <a:p>
            <a:r>
              <a:rPr lang="de-DE" b="1" dirty="0"/>
              <a:t>Zeitraum</a:t>
            </a:r>
            <a:r>
              <a:rPr lang="de-DE" dirty="0"/>
              <a:t>richtige Erfassung und Abgrenzung der Aufwendungen und Erträge zwecks </a:t>
            </a:r>
            <a:r>
              <a:rPr lang="de-DE" b="1" dirty="0"/>
              <a:t>periodengerechtem Ausweis des Jahreserfolgs </a:t>
            </a:r>
          </a:p>
          <a:p>
            <a:r>
              <a:rPr lang="de-DE" b="1" dirty="0"/>
              <a:t>Ordnungsmäßige</a:t>
            </a:r>
            <a:r>
              <a:rPr lang="de-DE" dirty="0"/>
              <a:t> Gliederung der Bilanz und der Gewinn- und Verlustrechnung</a:t>
            </a:r>
          </a:p>
        </p:txBody>
      </p:sp>
    </p:spTree>
    <p:extLst>
      <p:ext uri="{BB962C8B-B14F-4D97-AF65-F5344CB8AC3E}">
        <p14:creationId xmlns:p14="http://schemas.microsoft.com/office/powerpoint/2010/main" val="6474834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9478FC8-8236-4CF0-8D00-7DFED6E8852A}"/>
              </a:ext>
            </a:extLst>
          </p:cNvPr>
          <p:cNvSpPr>
            <a:spLocks noGrp="1"/>
          </p:cNvSpPr>
          <p:nvPr>
            <p:ph type="title"/>
          </p:nvPr>
        </p:nvSpPr>
        <p:spPr/>
        <p:txBody>
          <a:bodyPr>
            <a:normAutofit fontScale="90000"/>
          </a:bodyPr>
          <a:lstStyle/>
          <a:p>
            <a:r>
              <a:rPr lang="de-DE" dirty="0"/>
              <a:t>Periodengerechte Erfolgsermittlung</a:t>
            </a:r>
          </a:p>
        </p:txBody>
      </p:sp>
      <p:sp>
        <p:nvSpPr>
          <p:cNvPr id="3" name="Inhaltsplatzhalter 2">
            <a:extLst>
              <a:ext uri="{FF2B5EF4-FFF2-40B4-BE49-F238E27FC236}">
                <a16:creationId xmlns:a16="http://schemas.microsoft.com/office/drawing/2014/main" id="{391C5293-C16B-497A-AA75-1A9085FD09F2}"/>
              </a:ext>
            </a:extLst>
          </p:cNvPr>
          <p:cNvSpPr>
            <a:spLocks noGrp="1"/>
          </p:cNvSpPr>
          <p:nvPr>
            <p:ph idx="1"/>
          </p:nvPr>
        </p:nvSpPr>
        <p:spPr/>
        <p:txBody>
          <a:bodyPr/>
          <a:lstStyle/>
          <a:p>
            <a:r>
              <a:rPr lang="de-DE" dirty="0"/>
              <a:t>Grundproblem ?</a:t>
            </a:r>
          </a:p>
          <a:p>
            <a:pPr marL="0" indent="0">
              <a:buNone/>
            </a:pPr>
            <a:r>
              <a:rPr lang="de-DE" dirty="0"/>
              <a:t>Abweichungen zwischen</a:t>
            </a:r>
          </a:p>
          <a:p>
            <a:pPr marL="0" indent="0">
              <a:buNone/>
            </a:pPr>
            <a:r>
              <a:rPr lang="de-DE" dirty="0"/>
              <a:t>Ausgaben und Aufwand bzw. zwischen </a:t>
            </a:r>
          </a:p>
          <a:p>
            <a:pPr marL="0" indent="0">
              <a:buNone/>
            </a:pPr>
            <a:r>
              <a:rPr lang="de-DE" dirty="0"/>
              <a:t>Einnahmen und Ertrag:</a:t>
            </a:r>
          </a:p>
          <a:p>
            <a:pPr marL="0" indent="0">
              <a:buNone/>
            </a:pPr>
            <a:r>
              <a:rPr lang="de-DE" dirty="0"/>
              <a:t>identifizieren und korrekt verbuchen!</a:t>
            </a:r>
          </a:p>
          <a:p>
            <a:pPr marL="0" indent="0">
              <a:buNone/>
            </a:pPr>
            <a:endParaRPr lang="de-DE" dirty="0"/>
          </a:p>
        </p:txBody>
      </p:sp>
    </p:spTree>
    <p:extLst>
      <p:ext uri="{BB962C8B-B14F-4D97-AF65-F5344CB8AC3E}">
        <p14:creationId xmlns:p14="http://schemas.microsoft.com/office/powerpoint/2010/main" val="35062365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nhaltsplatzhalter 4">
            <a:extLst>
              <a:ext uri="{FF2B5EF4-FFF2-40B4-BE49-F238E27FC236}">
                <a16:creationId xmlns:a16="http://schemas.microsoft.com/office/drawing/2014/main" id="{02BDBD7B-A614-4C02-872E-D8942AA540D4}"/>
              </a:ext>
            </a:extLst>
          </p:cNvPr>
          <p:cNvPicPr>
            <a:picLocks noGrp="1" noChangeAspect="1"/>
          </p:cNvPicPr>
          <p:nvPr>
            <p:ph idx="4294967295"/>
          </p:nvPr>
        </p:nvPicPr>
        <p:blipFill>
          <a:blip r:embed="rId3">
            <a:extLst>
              <a:ext uri="{28A0092B-C50C-407E-A947-70E740481C1C}">
                <a14:useLocalDpi xmlns:a14="http://schemas.microsoft.com/office/drawing/2010/main" val="0"/>
              </a:ext>
            </a:extLst>
          </a:blip>
          <a:stretch>
            <a:fillRect/>
          </a:stretch>
        </p:blipFill>
        <p:spPr>
          <a:xfrm>
            <a:off x="971600" y="260648"/>
            <a:ext cx="7272808" cy="6552728"/>
          </a:xfrm>
        </p:spPr>
      </p:pic>
    </p:spTree>
    <p:extLst>
      <p:ext uri="{BB962C8B-B14F-4D97-AF65-F5344CB8AC3E}">
        <p14:creationId xmlns:p14="http://schemas.microsoft.com/office/powerpoint/2010/main" val="41962747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C81DB70-7EAB-4497-8EBC-FC4437D89953}"/>
              </a:ext>
            </a:extLst>
          </p:cNvPr>
          <p:cNvSpPr>
            <a:spLocks noGrp="1"/>
          </p:cNvSpPr>
          <p:nvPr>
            <p:ph type="title"/>
          </p:nvPr>
        </p:nvSpPr>
        <p:spPr/>
        <p:txBody>
          <a:bodyPr>
            <a:normAutofit fontScale="90000"/>
          </a:bodyPr>
          <a:lstStyle/>
          <a:p>
            <a:r>
              <a:rPr lang="de-DE" dirty="0"/>
              <a:t>Periodengerechte Erfolgsermittlung</a:t>
            </a:r>
          </a:p>
        </p:txBody>
      </p:sp>
      <p:sp>
        <p:nvSpPr>
          <p:cNvPr id="3" name="Inhaltsplatzhalter 2">
            <a:extLst>
              <a:ext uri="{FF2B5EF4-FFF2-40B4-BE49-F238E27FC236}">
                <a16:creationId xmlns:a16="http://schemas.microsoft.com/office/drawing/2014/main" id="{87929DBA-DA72-4790-BFC3-1373AB136749}"/>
              </a:ext>
            </a:extLst>
          </p:cNvPr>
          <p:cNvSpPr>
            <a:spLocks noGrp="1"/>
          </p:cNvSpPr>
          <p:nvPr>
            <p:ph idx="1"/>
          </p:nvPr>
        </p:nvSpPr>
        <p:spPr/>
        <p:txBody>
          <a:bodyPr/>
          <a:lstStyle/>
          <a:p>
            <a:r>
              <a:rPr lang="de-DE" dirty="0"/>
              <a:t>Transitorische Posten</a:t>
            </a:r>
          </a:p>
          <a:p>
            <a:r>
              <a:rPr lang="de-DE" dirty="0"/>
              <a:t>Antizipative Posten</a:t>
            </a:r>
          </a:p>
          <a:p>
            <a:r>
              <a:rPr lang="de-DE" dirty="0"/>
              <a:t>Rückstellungen</a:t>
            </a:r>
          </a:p>
        </p:txBody>
      </p:sp>
    </p:spTree>
    <p:extLst>
      <p:ext uri="{BB962C8B-B14F-4D97-AF65-F5344CB8AC3E}">
        <p14:creationId xmlns:p14="http://schemas.microsoft.com/office/powerpoint/2010/main" val="13117010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C590BD-DFF6-4D4B-899E-DD1CD92BC4C4}"/>
              </a:ext>
            </a:extLst>
          </p:cNvPr>
          <p:cNvSpPr>
            <a:spLocks noGrp="1"/>
          </p:cNvSpPr>
          <p:nvPr>
            <p:ph type="title"/>
          </p:nvPr>
        </p:nvSpPr>
        <p:spPr/>
        <p:txBody>
          <a:bodyPr/>
          <a:lstStyle/>
          <a:p>
            <a:r>
              <a:rPr lang="de-DE" dirty="0"/>
              <a:t>Transitorische Posten</a:t>
            </a:r>
          </a:p>
        </p:txBody>
      </p:sp>
      <p:sp>
        <p:nvSpPr>
          <p:cNvPr id="3" name="Inhaltsplatzhalter 2">
            <a:extLst>
              <a:ext uri="{FF2B5EF4-FFF2-40B4-BE49-F238E27FC236}">
                <a16:creationId xmlns:a16="http://schemas.microsoft.com/office/drawing/2014/main" id="{80683E85-47E2-491F-B13F-89DE9BC39231}"/>
              </a:ext>
            </a:extLst>
          </p:cNvPr>
          <p:cNvSpPr>
            <a:spLocks noGrp="1"/>
          </p:cNvSpPr>
          <p:nvPr>
            <p:ph idx="1"/>
          </p:nvPr>
        </p:nvSpPr>
        <p:spPr/>
        <p:txBody>
          <a:bodyPr>
            <a:normAutofit fontScale="62500" lnSpcReduction="20000"/>
          </a:bodyPr>
          <a:lstStyle/>
          <a:p>
            <a:pPr hangingPunct="0"/>
            <a:r>
              <a:rPr lang="de-DE" dirty="0"/>
              <a:t> Situation:</a:t>
            </a:r>
          </a:p>
          <a:p>
            <a:pPr hangingPunct="0"/>
            <a:r>
              <a:rPr lang="de-DE" dirty="0"/>
              <a:t> </a:t>
            </a:r>
          </a:p>
          <a:p>
            <a:pPr hangingPunct="0"/>
            <a:r>
              <a:rPr lang="de-DE" dirty="0"/>
              <a:t>1. Die Schwarz &amp; Weiß OHG zahlt für einen Leasing-PKW die</a:t>
            </a:r>
          </a:p>
          <a:p>
            <a:pPr hangingPunct="0"/>
            <a:r>
              <a:rPr lang="de-DE" dirty="0"/>
              <a:t>   Vierteljahresmiete am 01.12.2020 im Voraus per</a:t>
            </a:r>
          </a:p>
          <a:p>
            <a:pPr hangingPunct="0"/>
            <a:r>
              <a:rPr lang="de-DE" dirty="0"/>
              <a:t>   Banküberweisung, EUR 1.500,--.</a:t>
            </a:r>
          </a:p>
          <a:p>
            <a:pPr hangingPunct="0"/>
            <a:r>
              <a:rPr lang="de-DE" dirty="0"/>
              <a:t>  </a:t>
            </a:r>
          </a:p>
          <a:p>
            <a:pPr hangingPunct="0"/>
            <a:r>
              <a:rPr lang="de-DE" dirty="0"/>
              <a:t>2. Wir erhalten am 1. Oktober 2020 die Halbjahresmiete für einen</a:t>
            </a:r>
          </a:p>
          <a:p>
            <a:pPr hangingPunct="0"/>
            <a:r>
              <a:rPr lang="de-DE" dirty="0"/>
              <a:t>   Lagerraum durch Banküberweisung, EUR 3.600,--.</a:t>
            </a:r>
          </a:p>
          <a:p>
            <a:pPr hangingPunct="0"/>
            <a:r>
              <a:rPr lang="de-DE" dirty="0"/>
              <a:t> </a:t>
            </a:r>
          </a:p>
          <a:p>
            <a:pPr hangingPunct="0"/>
            <a:r>
              <a:rPr lang="de-DE" dirty="0"/>
              <a:t>Problem: Warum sind diese Geschäftsfälle beim Jahresende besonders zu</a:t>
            </a:r>
          </a:p>
          <a:p>
            <a:pPr hangingPunct="0"/>
            <a:r>
              <a:rPr lang="de-DE" dirty="0"/>
              <a:t>                 behandeln?</a:t>
            </a:r>
          </a:p>
          <a:p>
            <a:pPr hangingPunct="0"/>
            <a:r>
              <a:rPr lang="de-DE" dirty="0"/>
              <a:t> </a:t>
            </a:r>
          </a:p>
          <a:p>
            <a:pPr hangingPunct="0"/>
            <a:r>
              <a:rPr lang="de-DE" dirty="0"/>
              <a:t>Buchen Sie im laufenden und im folgenden Geschäftsjahr!</a:t>
            </a:r>
          </a:p>
          <a:p>
            <a:pPr hangingPunct="0"/>
            <a:endParaRPr lang="de-DE" dirty="0"/>
          </a:p>
        </p:txBody>
      </p:sp>
    </p:spTree>
    <p:extLst>
      <p:ext uri="{BB962C8B-B14F-4D97-AF65-F5344CB8AC3E}">
        <p14:creationId xmlns:p14="http://schemas.microsoft.com/office/powerpoint/2010/main" val="34533336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A3ED867D-90A1-4EF6-A5C9-50639825CF99}"/>
              </a:ext>
            </a:extLst>
          </p:cNvPr>
          <p:cNvSpPr>
            <a:spLocks noGrp="1"/>
          </p:cNvSpPr>
          <p:nvPr>
            <p:ph type="title"/>
          </p:nvPr>
        </p:nvSpPr>
        <p:spPr/>
        <p:txBody>
          <a:bodyPr>
            <a:noAutofit/>
          </a:bodyPr>
          <a:lstStyle/>
          <a:p>
            <a:r>
              <a:rPr lang="de-DE" sz="3600" dirty="0"/>
              <a:t>Transitorische Posten</a:t>
            </a:r>
            <a:br>
              <a:rPr lang="de-DE" sz="3600" dirty="0"/>
            </a:br>
            <a:r>
              <a:rPr lang="de-DE" sz="3600" dirty="0"/>
              <a:t>1) Aktive Rechnungsabgrenzung (ARAP)</a:t>
            </a:r>
          </a:p>
        </p:txBody>
      </p:sp>
      <p:sp>
        <p:nvSpPr>
          <p:cNvPr id="5" name="Inhaltsplatzhalter 4">
            <a:extLst>
              <a:ext uri="{FF2B5EF4-FFF2-40B4-BE49-F238E27FC236}">
                <a16:creationId xmlns:a16="http://schemas.microsoft.com/office/drawing/2014/main" id="{6F5AE196-E584-4792-BCA7-F6BA04BD2909}"/>
              </a:ext>
            </a:extLst>
          </p:cNvPr>
          <p:cNvSpPr>
            <a:spLocks noGrp="1"/>
          </p:cNvSpPr>
          <p:nvPr>
            <p:ph sz="half" idx="1"/>
          </p:nvPr>
        </p:nvSpPr>
        <p:spPr>
          <a:xfrm>
            <a:off x="457200" y="1600200"/>
            <a:ext cx="2314600" cy="4525963"/>
          </a:xfrm>
        </p:spPr>
        <p:txBody>
          <a:bodyPr>
            <a:normAutofit/>
          </a:bodyPr>
          <a:lstStyle/>
          <a:p>
            <a:r>
              <a:rPr lang="de-DE" dirty="0"/>
              <a:t>Zahlung</a:t>
            </a:r>
          </a:p>
          <a:p>
            <a:endParaRPr lang="de-DE" dirty="0"/>
          </a:p>
          <a:p>
            <a:r>
              <a:rPr lang="de-DE" b="1" dirty="0"/>
              <a:t>Abgrenzung</a:t>
            </a:r>
          </a:p>
          <a:p>
            <a:endParaRPr lang="de-DE" dirty="0"/>
          </a:p>
          <a:p>
            <a:r>
              <a:rPr lang="de-DE" dirty="0"/>
              <a:t>Abschluss</a:t>
            </a:r>
          </a:p>
          <a:p>
            <a:r>
              <a:rPr lang="de-DE" dirty="0"/>
              <a:t>---------------</a:t>
            </a:r>
          </a:p>
          <a:p>
            <a:r>
              <a:rPr lang="de-DE" dirty="0"/>
              <a:t>Eröffnung</a:t>
            </a:r>
          </a:p>
        </p:txBody>
      </p:sp>
      <p:sp>
        <p:nvSpPr>
          <p:cNvPr id="6" name="Inhaltsplatzhalter 5">
            <a:extLst>
              <a:ext uri="{FF2B5EF4-FFF2-40B4-BE49-F238E27FC236}">
                <a16:creationId xmlns:a16="http://schemas.microsoft.com/office/drawing/2014/main" id="{DF5C6567-361A-4967-BD69-9259EEE29499}"/>
              </a:ext>
            </a:extLst>
          </p:cNvPr>
          <p:cNvSpPr>
            <a:spLocks noGrp="1"/>
          </p:cNvSpPr>
          <p:nvPr>
            <p:ph sz="half" idx="2"/>
          </p:nvPr>
        </p:nvSpPr>
        <p:spPr>
          <a:xfrm>
            <a:off x="2915816" y="1600200"/>
            <a:ext cx="5770984" cy="4525963"/>
          </a:xfrm>
        </p:spPr>
        <p:txBody>
          <a:bodyPr>
            <a:normAutofit/>
          </a:bodyPr>
          <a:lstStyle/>
          <a:p>
            <a:r>
              <a:rPr lang="de-DE" dirty="0"/>
              <a:t>Leasingaufwand (6710) 1.500         an Bank (2800)                           1.500</a:t>
            </a:r>
          </a:p>
          <a:p>
            <a:r>
              <a:rPr lang="de-DE" b="1" dirty="0"/>
              <a:t>ARAP (2900)                    1.000          an Leasingaufwand (6710)      1.000</a:t>
            </a:r>
          </a:p>
          <a:p>
            <a:r>
              <a:rPr lang="de-DE" dirty="0"/>
              <a:t>GuV (8020) / Leasingaufwand     500 SBK (8010) / ARAP (2900)         1.000 </a:t>
            </a:r>
          </a:p>
          <a:p>
            <a:r>
              <a:rPr lang="de-DE" dirty="0"/>
              <a:t>-----------------------------------------------</a:t>
            </a:r>
          </a:p>
          <a:p>
            <a:r>
              <a:rPr lang="de-DE" dirty="0"/>
              <a:t>2900 / EBK (8000)                      1.000</a:t>
            </a:r>
          </a:p>
          <a:p>
            <a:r>
              <a:rPr lang="de-DE" dirty="0"/>
              <a:t>6710 / 2900                                 1.000   </a:t>
            </a:r>
          </a:p>
          <a:p>
            <a:endParaRPr lang="de-DE" dirty="0"/>
          </a:p>
        </p:txBody>
      </p:sp>
    </p:spTree>
    <p:extLst>
      <p:ext uri="{BB962C8B-B14F-4D97-AF65-F5344CB8AC3E}">
        <p14:creationId xmlns:p14="http://schemas.microsoft.com/office/powerpoint/2010/main" val="3652887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A3ED867D-90A1-4EF6-A5C9-50639825CF99}"/>
              </a:ext>
            </a:extLst>
          </p:cNvPr>
          <p:cNvSpPr>
            <a:spLocks noGrp="1"/>
          </p:cNvSpPr>
          <p:nvPr>
            <p:ph type="title"/>
          </p:nvPr>
        </p:nvSpPr>
        <p:spPr/>
        <p:txBody>
          <a:bodyPr>
            <a:noAutofit/>
          </a:bodyPr>
          <a:lstStyle/>
          <a:p>
            <a:r>
              <a:rPr lang="de-DE" sz="3600" dirty="0"/>
              <a:t>Transitorische Posten</a:t>
            </a:r>
            <a:br>
              <a:rPr lang="de-DE" sz="3600" dirty="0"/>
            </a:br>
            <a:r>
              <a:rPr lang="de-DE" sz="3600" dirty="0"/>
              <a:t>2) Passive Rechnungsabgrenzung (PRAP)</a:t>
            </a:r>
          </a:p>
        </p:txBody>
      </p:sp>
      <p:sp>
        <p:nvSpPr>
          <p:cNvPr id="5" name="Inhaltsplatzhalter 4">
            <a:extLst>
              <a:ext uri="{FF2B5EF4-FFF2-40B4-BE49-F238E27FC236}">
                <a16:creationId xmlns:a16="http://schemas.microsoft.com/office/drawing/2014/main" id="{6F5AE196-E584-4792-BCA7-F6BA04BD2909}"/>
              </a:ext>
            </a:extLst>
          </p:cNvPr>
          <p:cNvSpPr>
            <a:spLocks noGrp="1"/>
          </p:cNvSpPr>
          <p:nvPr>
            <p:ph sz="half" idx="1"/>
          </p:nvPr>
        </p:nvSpPr>
        <p:spPr>
          <a:xfrm>
            <a:off x="457200" y="1600200"/>
            <a:ext cx="2314600" cy="4525963"/>
          </a:xfrm>
        </p:spPr>
        <p:txBody>
          <a:bodyPr>
            <a:normAutofit/>
          </a:bodyPr>
          <a:lstStyle/>
          <a:p>
            <a:r>
              <a:rPr lang="de-DE" dirty="0"/>
              <a:t>Zahlung</a:t>
            </a:r>
          </a:p>
          <a:p>
            <a:endParaRPr lang="de-DE" dirty="0"/>
          </a:p>
          <a:p>
            <a:r>
              <a:rPr lang="de-DE" b="1" dirty="0"/>
              <a:t>Abgrenzung</a:t>
            </a:r>
          </a:p>
          <a:p>
            <a:endParaRPr lang="de-DE" dirty="0"/>
          </a:p>
          <a:p>
            <a:r>
              <a:rPr lang="de-DE" dirty="0"/>
              <a:t>Abschluss</a:t>
            </a:r>
          </a:p>
          <a:p>
            <a:endParaRPr lang="de-DE" dirty="0"/>
          </a:p>
          <a:p>
            <a:r>
              <a:rPr lang="de-DE" dirty="0"/>
              <a:t>---------------</a:t>
            </a:r>
          </a:p>
          <a:p>
            <a:r>
              <a:rPr lang="de-DE" dirty="0"/>
              <a:t>Eröffnung</a:t>
            </a:r>
          </a:p>
        </p:txBody>
      </p:sp>
      <p:sp>
        <p:nvSpPr>
          <p:cNvPr id="6" name="Inhaltsplatzhalter 5">
            <a:extLst>
              <a:ext uri="{FF2B5EF4-FFF2-40B4-BE49-F238E27FC236}">
                <a16:creationId xmlns:a16="http://schemas.microsoft.com/office/drawing/2014/main" id="{DF5C6567-361A-4967-BD69-9259EEE29499}"/>
              </a:ext>
            </a:extLst>
          </p:cNvPr>
          <p:cNvSpPr>
            <a:spLocks noGrp="1"/>
          </p:cNvSpPr>
          <p:nvPr>
            <p:ph sz="half" idx="2"/>
          </p:nvPr>
        </p:nvSpPr>
        <p:spPr>
          <a:xfrm>
            <a:off x="2915816" y="1600200"/>
            <a:ext cx="5770984" cy="4525963"/>
          </a:xfrm>
        </p:spPr>
        <p:txBody>
          <a:bodyPr>
            <a:normAutofit/>
          </a:bodyPr>
          <a:lstStyle/>
          <a:p>
            <a:r>
              <a:rPr lang="de-DE" dirty="0"/>
              <a:t>2800 / Mietertrag (5400)         3.600</a:t>
            </a:r>
          </a:p>
          <a:p>
            <a:endParaRPr lang="de-DE" dirty="0"/>
          </a:p>
          <a:p>
            <a:r>
              <a:rPr lang="de-DE" b="1" dirty="0"/>
              <a:t>5400 / PRAP (4900)                   1.800</a:t>
            </a:r>
          </a:p>
          <a:p>
            <a:endParaRPr lang="de-DE" dirty="0"/>
          </a:p>
          <a:p>
            <a:r>
              <a:rPr lang="de-DE" dirty="0"/>
              <a:t>5400 / 8020                                1.800 4900 / 8010                                1.800 </a:t>
            </a:r>
          </a:p>
          <a:p>
            <a:r>
              <a:rPr lang="de-DE" dirty="0"/>
              <a:t>-----------------------------------------------</a:t>
            </a:r>
          </a:p>
          <a:p>
            <a:r>
              <a:rPr lang="de-DE" dirty="0"/>
              <a:t>8000 / 4900                                 1.800  4900 / 5400                                 1.800</a:t>
            </a:r>
          </a:p>
          <a:p>
            <a:endParaRPr lang="de-DE" dirty="0"/>
          </a:p>
        </p:txBody>
      </p:sp>
    </p:spTree>
    <p:extLst>
      <p:ext uri="{BB962C8B-B14F-4D97-AF65-F5344CB8AC3E}">
        <p14:creationId xmlns:p14="http://schemas.microsoft.com/office/powerpoint/2010/main" val="8310363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D549A16-C1E4-4621-9D73-F856A4034677}"/>
              </a:ext>
            </a:extLst>
          </p:cNvPr>
          <p:cNvSpPr>
            <a:spLocks noGrp="1"/>
          </p:cNvSpPr>
          <p:nvPr>
            <p:ph type="title"/>
          </p:nvPr>
        </p:nvSpPr>
        <p:spPr/>
        <p:txBody>
          <a:bodyPr/>
          <a:lstStyle/>
          <a:p>
            <a:r>
              <a:rPr lang="de-DE" dirty="0"/>
              <a:t>Antizipative Posten</a:t>
            </a:r>
          </a:p>
        </p:txBody>
      </p:sp>
      <p:sp>
        <p:nvSpPr>
          <p:cNvPr id="3" name="Inhaltsplatzhalter 2">
            <a:extLst>
              <a:ext uri="{FF2B5EF4-FFF2-40B4-BE49-F238E27FC236}">
                <a16:creationId xmlns:a16="http://schemas.microsoft.com/office/drawing/2014/main" id="{50E1B742-8418-41AB-996D-9AE928C5DB38}"/>
              </a:ext>
            </a:extLst>
          </p:cNvPr>
          <p:cNvSpPr>
            <a:spLocks noGrp="1"/>
          </p:cNvSpPr>
          <p:nvPr>
            <p:ph idx="1"/>
          </p:nvPr>
        </p:nvSpPr>
        <p:spPr/>
        <p:txBody>
          <a:bodyPr>
            <a:normAutofit fontScale="55000" lnSpcReduction="20000"/>
          </a:bodyPr>
          <a:lstStyle/>
          <a:p>
            <a:pPr hangingPunct="0"/>
            <a:r>
              <a:rPr lang="de-DE" dirty="0"/>
              <a:t>Situation:</a:t>
            </a:r>
          </a:p>
          <a:p>
            <a:pPr hangingPunct="0"/>
            <a:r>
              <a:rPr lang="de-DE" dirty="0"/>
              <a:t> </a:t>
            </a:r>
          </a:p>
          <a:p>
            <a:pPr hangingPunct="0"/>
            <a:r>
              <a:rPr lang="de-DE" dirty="0"/>
              <a:t>1. Eine Handwerkerrechnung für Reparaturen der Geschäftsräume</a:t>
            </a:r>
          </a:p>
          <a:p>
            <a:pPr hangingPunct="0"/>
            <a:r>
              <a:rPr lang="de-DE" dirty="0"/>
              <a:t>    über EUR 300,-- vom 28. Dezember 20.. wird erst am 14. Januar </a:t>
            </a:r>
          </a:p>
          <a:p>
            <a:pPr hangingPunct="0"/>
            <a:r>
              <a:rPr lang="de-DE" dirty="0"/>
              <a:t>    des Folgejahres über Bank beglichen.</a:t>
            </a:r>
          </a:p>
          <a:p>
            <a:pPr hangingPunct="0"/>
            <a:r>
              <a:rPr lang="de-DE" dirty="0"/>
              <a:t> </a:t>
            </a:r>
          </a:p>
          <a:p>
            <a:pPr hangingPunct="0"/>
            <a:r>
              <a:rPr lang="de-DE" dirty="0"/>
              <a:t> </a:t>
            </a:r>
          </a:p>
          <a:p>
            <a:pPr hangingPunct="0"/>
            <a:r>
              <a:rPr lang="de-DE" dirty="0"/>
              <a:t>2. Eine am 15. November 20.. fällige Jahresmiete in Höhe von</a:t>
            </a:r>
          </a:p>
          <a:p>
            <a:pPr hangingPunct="0"/>
            <a:r>
              <a:rPr lang="de-DE" dirty="0"/>
              <a:t>    3.600,-- EUR für die Zeit vom 1. November bis 31. Oktober </a:t>
            </a:r>
            <a:r>
              <a:rPr lang="de-DE" dirty="0" err="1"/>
              <a:t>n.J</a:t>
            </a:r>
            <a:r>
              <a:rPr lang="de-DE" dirty="0"/>
              <a:t>.</a:t>
            </a:r>
          </a:p>
          <a:p>
            <a:pPr hangingPunct="0"/>
            <a:r>
              <a:rPr lang="de-DE" dirty="0"/>
              <a:t>    geht erst am 15. Januar über Postgirokonto ein.</a:t>
            </a:r>
          </a:p>
          <a:p>
            <a:pPr hangingPunct="0"/>
            <a:r>
              <a:rPr lang="de-DE" dirty="0"/>
              <a:t> </a:t>
            </a:r>
          </a:p>
          <a:p>
            <a:pPr hangingPunct="0"/>
            <a:r>
              <a:rPr lang="de-DE" dirty="0"/>
              <a:t> </a:t>
            </a:r>
          </a:p>
          <a:p>
            <a:pPr hangingPunct="0"/>
            <a:r>
              <a:rPr lang="de-DE" dirty="0"/>
              <a:t>Problem: Wodurch unterscheiden sich die Geschäftsfälle 1 und 2   </a:t>
            </a:r>
          </a:p>
          <a:p>
            <a:pPr hangingPunct="0"/>
            <a:r>
              <a:rPr lang="de-DE" dirty="0"/>
              <a:t>                  von den transitorischen Posten?</a:t>
            </a:r>
          </a:p>
          <a:p>
            <a:pPr hangingPunct="0"/>
            <a:r>
              <a:rPr lang="de-DE" dirty="0"/>
              <a:t>                  Warum muss auch hier eine zeitliche Abgrenzung vorgenommen </a:t>
            </a:r>
          </a:p>
          <a:p>
            <a:pPr hangingPunct="0"/>
            <a:r>
              <a:rPr lang="de-DE" dirty="0"/>
              <a:t>                  werden?</a:t>
            </a:r>
          </a:p>
          <a:p>
            <a:endParaRPr lang="de-DE" dirty="0"/>
          </a:p>
        </p:txBody>
      </p:sp>
    </p:spTree>
    <p:extLst>
      <p:ext uri="{BB962C8B-B14F-4D97-AF65-F5344CB8AC3E}">
        <p14:creationId xmlns:p14="http://schemas.microsoft.com/office/powerpoint/2010/main" val="4459704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nhaltsplatzhalter 4">
            <a:extLst>
              <a:ext uri="{FF2B5EF4-FFF2-40B4-BE49-F238E27FC236}">
                <a16:creationId xmlns:a16="http://schemas.microsoft.com/office/drawing/2014/main" id="{43A2BFEC-8403-4526-A375-5BAE47330672}"/>
              </a:ext>
            </a:extLst>
          </p:cNvPr>
          <p:cNvPicPr>
            <a:picLocks noGrp="1" noChangeAspect="1"/>
          </p:cNvPicPr>
          <p:nvPr>
            <p:ph idx="4294967295"/>
          </p:nvPr>
        </p:nvPicPr>
        <p:blipFill>
          <a:blip r:embed="rId3" cstate="print">
            <a:extLst>
              <a:ext uri="{28A0092B-C50C-407E-A947-70E740481C1C}">
                <a14:useLocalDpi xmlns:a14="http://schemas.microsoft.com/office/drawing/2010/main" val="0"/>
              </a:ext>
            </a:extLst>
          </a:blip>
          <a:stretch>
            <a:fillRect/>
          </a:stretch>
        </p:blipFill>
        <p:spPr>
          <a:xfrm>
            <a:off x="539552" y="332656"/>
            <a:ext cx="8208912" cy="6408712"/>
          </a:xfrm>
        </p:spPr>
      </p:pic>
    </p:spTree>
    <p:extLst>
      <p:ext uri="{BB962C8B-B14F-4D97-AF65-F5344CB8AC3E}">
        <p14:creationId xmlns:p14="http://schemas.microsoft.com/office/powerpoint/2010/main" val="7636332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A3ED867D-90A1-4EF6-A5C9-50639825CF99}"/>
              </a:ext>
            </a:extLst>
          </p:cNvPr>
          <p:cNvSpPr>
            <a:spLocks noGrp="1"/>
          </p:cNvSpPr>
          <p:nvPr>
            <p:ph type="title"/>
          </p:nvPr>
        </p:nvSpPr>
        <p:spPr/>
        <p:txBody>
          <a:bodyPr>
            <a:noAutofit/>
          </a:bodyPr>
          <a:lstStyle/>
          <a:p>
            <a:r>
              <a:rPr lang="de-DE" sz="3600" dirty="0"/>
              <a:t>Antizipative Posten</a:t>
            </a:r>
            <a:br>
              <a:rPr lang="de-DE" sz="3600" dirty="0"/>
            </a:br>
            <a:r>
              <a:rPr lang="de-DE" sz="3600" dirty="0"/>
              <a:t>1) Sonstige Verbindlichkeiten (4890)</a:t>
            </a:r>
          </a:p>
        </p:txBody>
      </p:sp>
      <p:sp>
        <p:nvSpPr>
          <p:cNvPr id="5" name="Inhaltsplatzhalter 4">
            <a:extLst>
              <a:ext uri="{FF2B5EF4-FFF2-40B4-BE49-F238E27FC236}">
                <a16:creationId xmlns:a16="http://schemas.microsoft.com/office/drawing/2014/main" id="{6F5AE196-E584-4792-BCA7-F6BA04BD2909}"/>
              </a:ext>
            </a:extLst>
          </p:cNvPr>
          <p:cNvSpPr>
            <a:spLocks noGrp="1"/>
          </p:cNvSpPr>
          <p:nvPr>
            <p:ph sz="half" idx="1"/>
          </p:nvPr>
        </p:nvSpPr>
        <p:spPr>
          <a:xfrm>
            <a:off x="457200" y="1600200"/>
            <a:ext cx="2314600" cy="4525963"/>
          </a:xfrm>
        </p:spPr>
        <p:txBody>
          <a:bodyPr>
            <a:normAutofit/>
          </a:bodyPr>
          <a:lstStyle/>
          <a:p>
            <a:r>
              <a:rPr lang="de-DE" b="1" dirty="0"/>
              <a:t>Abgrenzung</a:t>
            </a:r>
          </a:p>
          <a:p>
            <a:r>
              <a:rPr lang="de-DE" dirty="0"/>
              <a:t>Abschluss am 31.12.</a:t>
            </a:r>
          </a:p>
          <a:p>
            <a:r>
              <a:rPr lang="de-DE" dirty="0"/>
              <a:t>---------------</a:t>
            </a:r>
          </a:p>
          <a:p>
            <a:r>
              <a:rPr lang="de-DE" dirty="0"/>
              <a:t>Eröffnung am 02.01.</a:t>
            </a:r>
          </a:p>
          <a:p>
            <a:r>
              <a:rPr lang="de-DE" dirty="0"/>
              <a:t>Zahlung am 14.01.</a:t>
            </a:r>
          </a:p>
        </p:txBody>
      </p:sp>
      <p:sp>
        <p:nvSpPr>
          <p:cNvPr id="6" name="Inhaltsplatzhalter 5">
            <a:extLst>
              <a:ext uri="{FF2B5EF4-FFF2-40B4-BE49-F238E27FC236}">
                <a16:creationId xmlns:a16="http://schemas.microsoft.com/office/drawing/2014/main" id="{DF5C6567-361A-4967-BD69-9259EEE29499}"/>
              </a:ext>
            </a:extLst>
          </p:cNvPr>
          <p:cNvSpPr>
            <a:spLocks noGrp="1"/>
          </p:cNvSpPr>
          <p:nvPr>
            <p:ph sz="half" idx="2"/>
          </p:nvPr>
        </p:nvSpPr>
        <p:spPr>
          <a:xfrm>
            <a:off x="2915816" y="1600200"/>
            <a:ext cx="5770984" cy="4525963"/>
          </a:xfrm>
        </p:spPr>
        <p:txBody>
          <a:bodyPr>
            <a:normAutofit/>
          </a:bodyPr>
          <a:lstStyle/>
          <a:p>
            <a:r>
              <a:rPr lang="de-DE" b="1" dirty="0"/>
              <a:t>6160 / 4890                                    300</a:t>
            </a:r>
          </a:p>
          <a:p>
            <a:r>
              <a:rPr lang="de-DE" dirty="0"/>
              <a:t>8020 / 6160                                    300 4890 / 8010                                    300  </a:t>
            </a:r>
          </a:p>
          <a:p>
            <a:r>
              <a:rPr lang="de-DE" dirty="0"/>
              <a:t>-----------------------------------------------</a:t>
            </a:r>
          </a:p>
          <a:p>
            <a:r>
              <a:rPr lang="de-DE" dirty="0"/>
              <a:t>8000 / 4890                                    300</a:t>
            </a:r>
          </a:p>
          <a:p>
            <a:endParaRPr lang="de-DE" dirty="0"/>
          </a:p>
          <a:p>
            <a:r>
              <a:rPr lang="de-DE" dirty="0"/>
              <a:t> 4890 / 2800                                   300   </a:t>
            </a:r>
          </a:p>
          <a:p>
            <a:endParaRPr lang="de-DE" dirty="0"/>
          </a:p>
        </p:txBody>
      </p:sp>
    </p:spTree>
    <p:extLst>
      <p:ext uri="{BB962C8B-B14F-4D97-AF65-F5344CB8AC3E}">
        <p14:creationId xmlns:p14="http://schemas.microsoft.com/office/powerpoint/2010/main" val="7289769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A3ED867D-90A1-4EF6-A5C9-50639825CF99}"/>
              </a:ext>
            </a:extLst>
          </p:cNvPr>
          <p:cNvSpPr>
            <a:spLocks noGrp="1"/>
          </p:cNvSpPr>
          <p:nvPr>
            <p:ph type="title"/>
          </p:nvPr>
        </p:nvSpPr>
        <p:spPr/>
        <p:txBody>
          <a:bodyPr>
            <a:noAutofit/>
          </a:bodyPr>
          <a:lstStyle/>
          <a:p>
            <a:r>
              <a:rPr lang="de-DE" sz="3600" dirty="0"/>
              <a:t>Antizipative Posten</a:t>
            </a:r>
            <a:br>
              <a:rPr lang="de-DE" sz="3600" dirty="0"/>
            </a:br>
            <a:r>
              <a:rPr lang="de-DE" sz="3600" dirty="0"/>
              <a:t>2) Sonstige Forderungen (2690)</a:t>
            </a:r>
          </a:p>
        </p:txBody>
      </p:sp>
      <p:sp>
        <p:nvSpPr>
          <p:cNvPr id="5" name="Inhaltsplatzhalter 4">
            <a:extLst>
              <a:ext uri="{FF2B5EF4-FFF2-40B4-BE49-F238E27FC236}">
                <a16:creationId xmlns:a16="http://schemas.microsoft.com/office/drawing/2014/main" id="{6F5AE196-E584-4792-BCA7-F6BA04BD2909}"/>
              </a:ext>
            </a:extLst>
          </p:cNvPr>
          <p:cNvSpPr>
            <a:spLocks noGrp="1"/>
          </p:cNvSpPr>
          <p:nvPr>
            <p:ph sz="half" idx="1"/>
          </p:nvPr>
        </p:nvSpPr>
        <p:spPr>
          <a:xfrm>
            <a:off x="457200" y="1600200"/>
            <a:ext cx="2314600" cy="4525963"/>
          </a:xfrm>
        </p:spPr>
        <p:txBody>
          <a:bodyPr>
            <a:normAutofit/>
          </a:bodyPr>
          <a:lstStyle/>
          <a:p>
            <a:r>
              <a:rPr lang="de-DE" b="1" dirty="0"/>
              <a:t>Abgrenzung</a:t>
            </a:r>
          </a:p>
          <a:p>
            <a:r>
              <a:rPr lang="de-DE" dirty="0"/>
              <a:t>Abschluss am 31.12.</a:t>
            </a:r>
          </a:p>
          <a:p>
            <a:r>
              <a:rPr lang="de-DE" dirty="0"/>
              <a:t>---------------</a:t>
            </a:r>
          </a:p>
          <a:p>
            <a:r>
              <a:rPr lang="de-DE" dirty="0"/>
              <a:t>Eröffnung am 02.01.</a:t>
            </a:r>
          </a:p>
          <a:p>
            <a:r>
              <a:rPr lang="de-DE" dirty="0"/>
              <a:t>Zahlung am 15.01.</a:t>
            </a:r>
          </a:p>
        </p:txBody>
      </p:sp>
      <p:sp>
        <p:nvSpPr>
          <p:cNvPr id="6" name="Inhaltsplatzhalter 5">
            <a:extLst>
              <a:ext uri="{FF2B5EF4-FFF2-40B4-BE49-F238E27FC236}">
                <a16:creationId xmlns:a16="http://schemas.microsoft.com/office/drawing/2014/main" id="{DF5C6567-361A-4967-BD69-9259EEE29499}"/>
              </a:ext>
            </a:extLst>
          </p:cNvPr>
          <p:cNvSpPr>
            <a:spLocks noGrp="1"/>
          </p:cNvSpPr>
          <p:nvPr>
            <p:ph sz="half" idx="2"/>
          </p:nvPr>
        </p:nvSpPr>
        <p:spPr>
          <a:xfrm>
            <a:off x="2915816" y="1600200"/>
            <a:ext cx="5770984" cy="4525963"/>
          </a:xfrm>
        </p:spPr>
        <p:txBody>
          <a:bodyPr>
            <a:normAutofit/>
          </a:bodyPr>
          <a:lstStyle/>
          <a:p>
            <a:r>
              <a:rPr lang="de-DE" b="1" dirty="0"/>
              <a:t>2690 / (Mietertrag) 5081            600</a:t>
            </a:r>
          </a:p>
          <a:p>
            <a:r>
              <a:rPr lang="de-DE" dirty="0"/>
              <a:t>5081 / GuV (8020)                         600  SBK (8010) / 2690                          600  </a:t>
            </a:r>
          </a:p>
          <a:p>
            <a:r>
              <a:rPr lang="de-DE" dirty="0"/>
              <a:t>-----------------------------------------------</a:t>
            </a:r>
          </a:p>
          <a:p>
            <a:r>
              <a:rPr lang="de-DE" dirty="0"/>
              <a:t>2690 / EBK (8000)                          600</a:t>
            </a:r>
          </a:p>
          <a:p>
            <a:endParaRPr lang="de-DE" dirty="0"/>
          </a:p>
          <a:p>
            <a:r>
              <a:rPr lang="de-DE" dirty="0"/>
              <a:t>Bank (2800)     3.600                                       an Mietertrag (5081)                 3.000                          an Sonst. Ford. (2690)                  600</a:t>
            </a:r>
          </a:p>
          <a:p>
            <a:endParaRPr lang="de-DE" dirty="0"/>
          </a:p>
        </p:txBody>
      </p:sp>
    </p:spTree>
    <p:extLst>
      <p:ext uri="{BB962C8B-B14F-4D97-AF65-F5344CB8AC3E}">
        <p14:creationId xmlns:p14="http://schemas.microsoft.com/office/powerpoint/2010/main" val="32647186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17F43CD-13AB-4490-8FA4-E2F650BCAE5A}"/>
              </a:ext>
            </a:extLst>
          </p:cNvPr>
          <p:cNvSpPr>
            <a:spLocks noGrp="1"/>
          </p:cNvSpPr>
          <p:nvPr>
            <p:ph type="title"/>
          </p:nvPr>
        </p:nvSpPr>
        <p:spPr/>
        <p:txBody>
          <a:bodyPr/>
          <a:lstStyle/>
          <a:p>
            <a:r>
              <a:rPr lang="de-DE" dirty="0"/>
              <a:t>Rückstellungen</a:t>
            </a:r>
          </a:p>
        </p:txBody>
      </p:sp>
      <p:sp>
        <p:nvSpPr>
          <p:cNvPr id="3" name="Inhaltsplatzhalter 2">
            <a:extLst>
              <a:ext uri="{FF2B5EF4-FFF2-40B4-BE49-F238E27FC236}">
                <a16:creationId xmlns:a16="http://schemas.microsoft.com/office/drawing/2014/main" id="{574CA032-8902-4C0E-8903-84CDC25665EF}"/>
              </a:ext>
            </a:extLst>
          </p:cNvPr>
          <p:cNvSpPr>
            <a:spLocks noGrp="1"/>
          </p:cNvSpPr>
          <p:nvPr>
            <p:ph idx="1"/>
          </p:nvPr>
        </p:nvSpPr>
        <p:spPr/>
        <p:txBody>
          <a:bodyPr/>
          <a:lstStyle/>
          <a:p>
            <a:r>
              <a:rPr lang="de-DE" dirty="0"/>
              <a:t>Begriff (Definition) und gesetzliche Grundlage</a:t>
            </a:r>
          </a:p>
          <a:p>
            <a:r>
              <a:rPr lang="de-DE" dirty="0"/>
              <a:t>Kurzfristige Rückstellungen</a:t>
            </a:r>
          </a:p>
          <a:p>
            <a:r>
              <a:rPr lang="de-DE" dirty="0"/>
              <a:t>Pensionsrückstellungen als Beispiel für langfristige Rückstellungen</a:t>
            </a:r>
          </a:p>
        </p:txBody>
      </p:sp>
    </p:spTree>
    <p:extLst>
      <p:ext uri="{BB962C8B-B14F-4D97-AF65-F5344CB8AC3E}">
        <p14:creationId xmlns:p14="http://schemas.microsoft.com/office/powerpoint/2010/main" val="18113304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C54201-8C9E-4324-ABB1-AEED6302E6B7}"/>
              </a:ext>
            </a:extLst>
          </p:cNvPr>
          <p:cNvSpPr>
            <a:spLocks noGrp="1"/>
          </p:cNvSpPr>
          <p:nvPr>
            <p:ph type="title"/>
          </p:nvPr>
        </p:nvSpPr>
        <p:spPr/>
        <p:txBody>
          <a:bodyPr/>
          <a:lstStyle/>
          <a:p>
            <a:r>
              <a:rPr lang="de-DE" dirty="0"/>
              <a:t>Begriff und gesetzliche Grundlage</a:t>
            </a:r>
          </a:p>
        </p:txBody>
      </p:sp>
      <p:sp>
        <p:nvSpPr>
          <p:cNvPr id="3" name="Inhaltsplatzhalter 2">
            <a:extLst>
              <a:ext uri="{FF2B5EF4-FFF2-40B4-BE49-F238E27FC236}">
                <a16:creationId xmlns:a16="http://schemas.microsoft.com/office/drawing/2014/main" id="{515C2EBD-A6C6-482C-8F92-2327146223DE}"/>
              </a:ext>
            </a:extLst>
          </p:cNvPr>
          <p:cNvSpPr>
            <a:spLocks noGrp="1"/>
          </p:cNvSpPr>
          <p:nvPr>
            <p:ph idx="1"/>
          </p:nvPr>
        </p:nvSpPr>
        <p:spPr/>
        <p:txBody>
          <a:bodyPr>
            <a:normAutofit/>
          </a:bodyPr>
          <a:lstStyle/>
          <a:p>
            <a:pPr marL="0" indent="0">
              <a:buNone/>
            </a:pPr>
            <a:r>
              <a:rPr lang="de-DE" sz="2400" dirty="0"/>
              <a:t>Aus Gründen einer periodengerechten Erfolgsermittlung sind zum Bilanzstichtag auch solche Aufwendungen zu erfassen, die zwar ihrem Grunde nach, nicht aber ihrer Höhe und/oder Fälligkeit nach bekannt sind, die jedoch wirtschaftlich dem Abschlussjahr zugrechnet werden müssen.</a:t>
            </a:r>
          </a:p>
          <a:p>
            <a:pPr marL="0" indent="0">
              <a:buNone/>
            </a:pPr>
            <a:r>
              <a:rPr lang="de-DE" sz="2400" dirty="0"/>
              <a:t>Für diese Aufwendungen sind die Beträge vorsichtig zu schätzen und jeweils als </a:t>
            </a:r>
            <a:r>
              <a:rPr lang="de-DE" sz="2400" b="1" dirty="0"/>
              <a:t>Rückstellung</a:t>
            </a:r>
            <a:r>
              <a:rPr lang="de-DE" sz="2400" dirty="0"/>
              <a:t> zu passivieren. (§ 253 Abs. 1 HGB)</a:t>
            </a:r>
          </a:p>
          <a:p>
            <a:pPr marL="0" indent="0">
              <a:buNone/>
            </a:pPr>
            <a:r>
              <a:rPr lang="de-DE" sz="2400" dirty="0"/>
              <a:t>Die Ungewissheit über Höhe und/oder Termin der Zahlung unterscheidet die Rückstellungen von den „Sonstigen Verbindlichkeiten“</a:t>
            </a:r>
          </a:p>
        </p:txBody>
      </p:sp>
    </p:spTree>
    <p:extLst>
      <p:ext uri="{BB962C8B-B14F-4D97-AF65-F5344CB8AC3E}">
        <p14:creationId xmlns:p14="http://schemas.microsoft.com/office/powerpoint/2010/main" val="13387511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DC7990-025A-426E-8342-ED162CBA6368}"/>
              </a:ext>
            </a:extLst>
          </p:cNvPr>
          <p:cNvSpPr>
            <a:spLocks noGrp="1"/>
          </p:cNvSpPr>
          <p:nvPr>
            <p:ph type="title"/>
          </p:nvPr>
        </p:nvSpPr>
        <p:spPr/>
        <p:txBody>
          <a:bodyPr/>
          <a:lstStyle/>
          <a:p>
            <a:r>
              <a:rPr lang="de-DE" dirty="0"/>
              <a:t>Kurzfristige Rückstellungen</a:t>
            </a:r>
          </a:p>
        </p:txBody>
      </p:sp>
      <p:sp>
        <p:nvSpPr>
          <p:cNvPr id="3" name="Inhaltsplatzhalter 2">
            <a:extLst>
              <a:ext uri="{FF2B5EF4-FFF2-40B4-BE49-F238E27FC236}">
                <a16:creationId xmlns:a16="http://schemas.microsoft.com/office/drawing/2014/main" id="{2BF0657C-D0E4-463C-A170-5B585EE7E606}"/>
              </a:ext>
            </a:extLst>
          </p:cNvPr>
          <p:cNvSpPr>
            <a:spLocks noGrp="1"/>
          </p:cNvSpPr>
          <p:nvPr>
            <p:ph idx="1"/>
          </p:nvPr>
        </p:nvSpPr>
        <p:spPr/>
        <p:txBody>
          <a:bodyPr/>
          <a:lstStyle/>
          <a:p>
            <a:r>
              <a:rPr lang="de-DE" dirty="0"/>
              <a:t>Steuerrückstellungen</a:t>
            </a:r>
          </a:p>
          <a:p>
            <a:r>
              <a:rPr lang="de-DE" dirty="0"/>
              <a:t>Prozess(kosten)</a:t>
            </a:r>
            <a:r>
              <a:rPr lang="de-DE" dirty="0" err="1"/>
              <a:t>rückstellungen</a:t>
            </a:r>
            <a:endParaRPr lang="de-DE" dirty="0"/>
          </a:p>
          <a:p>
            <a:r>
              <a:rPr lang="de-DE" dirty="0"/>
              <a:t>erwartete Inanspruchnahme aus übernommenen Bürgschaften bzw. Garantien</a:t>
            </a:r>
          </a:p>
          <a:p>
            <a:r>
              <a:rPr lang="de-DE" dirty="0"/>
              <a:t>unterlassene Instandhaltungsaufwendungen</a:t>
            </a:r>
          </a:p>
          <a:p>
            <a:endParaRPr lang="de-DE" dirty="0"/>
          </a:p>
        </p:txBody>
      </p:sp>
    </p:spTree>
    <p:extLst>
      <p:ext uri="{BB962C8B-B14F-4D97-AF65-F5344CB8AC3E}">
        <p14:creationId xmlns:p14="http://schemas.microsoft.com/office/powerpoint/2010/main" val="6122533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A3ED867D-90A1-4EF6-A5C9-50639825CF99}"/>
              </a:ext>
            </a:extLst>
          </p:cNvPr>
          <p:cNvSpPr>
            <a:spLocks noGrp="1"/>
          </p:cNvSpPr>
          <p:nvPr>
            <p:ph type="title"/>
          </p:nvPr>
        </p:nvSpPr>
        <p:spPr/>
        <p:txBody>
          <a:bodyPr>
            <a:noAutofit/>
          </a:bodyPr>
          <a:lstStyle/>
          <a:p>
            <a:r>
              <a:rPr lang="de-DE" sz="3600" dirty="0"/>
              <a:t>Anfallende Buchungen am Beispiel einer Steuerrückstellung (3800) </a:t>
            </a:r>
          </a:p>
        </p:txBody>
      </p:sp>
      <p:sp>
        <p:nvSpPr>
          <p:cNvPr id="5" name="Inhaltsplatzhalter 4">
            <a:extLst>
              <a:ext uri="{FF2B5EF4-FFF2-40B4-BE49-F238E27FC236}">
                <a16:creationId xmlns:a16="http://schemas.microsoft.com/office/drawing/2014/main" id="{6F5AE196-E584-4792-BCA7-F6BA04BD2909}"/>
              </a:ext>
            </a:extLst>
          </p:cNvPr>
          <p:cNvSpPr>
            <a:spLocks noGrp="1"/>
          </p:cNvSpPr>
          <p:nvPr>
            <p:ph sz="half" idx="1"/>
          </p:nvPr>
        </p:nvSpPr>
        <p:spPr>
          <a:xfrm>
            <a:off x="457200" y="1600200"/>
            <a:ext cx="2314600" cy="4525963"/>
          </a:xfrm>
        </p:spPr>
        <p:txBody>
          <a:bodyPr>
            <a:normAutofit lnSpcReduction="10000"/>
          </a:bodyPr>
          <a:lstStyle/>
          <a:p>
            <a:r>
              <a:rPr lang="de-DE" b="1" dirty="0"/>
              <a:t>Abgrenzung</a:t>
            </a:r>
          </a:p>
          <a:p>
            <a:r>
              <a:rPr lang="de-DE" dirty="0"/>
              <a:t>Abschluss am 31.12.</a:t>
            </a:r>
          </a:p>
          <a:p>
            <a:r>
              <a:rPr lang="de-DE" dirty="0"/>
              <a:t>---------------</a:t>
            </a:r>
          </a:p>
          <a:p>
            <a:r>
              <a:rPr lang="de-DE" dirty="0"/>
              <a:t>Eröffnung am 02.01.</a:t>
            </a:r>
          </a:p>
          <a:p>
            <a:r>
              <a:rPr lang="de-DE" dirty="0"/>
              <a:t>Zahlung im Juni:    Betrag = 5.100</a:t>
            </a:r>
          </a:p>
        </p:txBody>
      </p:sp>
      <p:sp>
        <p:nvSpPr>
          <p:cNvPr id="6" name="Inhaltsplatzhalter 5">
            <a:extLst>
              <a:ext uri="{FF2B5EF4-FFF2-40B4-BE49-F238E27FC236}">
                <a16:creationId xmlns:a16="http://schemas.microsoft.com/office/drawing/2014/main" id="{DF5C6567-361A-4967-BD69-9259EEE29499}"/>
              </a:ext>
            </a:extLst>
          </p:cNvPr>
          <p:cNvSpPr>
            <a:spLocks noGrp="1"/>
          </p:cNvSpPr>
          <p:nvPr>
            <p:ph sz="half" idx="2"/>
          </p:nvPr>
        </p:nvSpPr>
        <p:spPr>
          <a:xfrm>
            <a:off x="2915816" y="1600200"/>
            <a:ext cx="5770984" cy="4525963"/>
          </a:xfrm>
        </p:spPr>
        <p:txBody>
          <a:bodyPr>
            <a:normAutofit lnSpcReduction="10000"/>
          </a:bodyPr>
          <a:lstStyle/>
          <a:p>
            <a:r>
              <a:rPr lang="de-DE" b="1" dirty="0"/>
              <a:t>Gewerbesteuer (7700)/3800   4.500</a:t>
            </a:r>
          </a:p>
          <a:p>
            <a:r>
              <a:rPr lang="de-DE" dirty="0"/>
              <a:t>GuV (8020) / 7700                     4.500 3800 / (SBK) 8010                      4.500  </a:t>
            </a:r>
          </a:p>
          <a:p>
            <a:r>
              <a:rPr lang="de-DE" dirty="0"/>
              <a:t>-----------------------------------------------</a:t>
            </a:r>
          </a:p>
          <a:p>
            <a:r>
              <a:rPr lang="de-DE" dirty="0"/>
              <a:t>EBK(8000) / 3800                       4.500</a:t>
            </a:r>
          </a:p>
          <a:p>
            <a:endParaRPr lang="de-DE" dirty="0"/>
          </a:p>
          <a:p>
            <a:r>
              <a:rPr lang="de-DE" dirty="0"/>
              <a:t>Steuerrückstellung (3800) 4.500    Gewerbesteuer       (7701)    600      an Bank (2800)                           5.100   </a:t>
            </a:r>
          </a:p>
          <a:p>
            <a:endParaRPr lang="de-DE" dirty="0"/>
          </a:p>
        </p:txBody>
      </p:sp>
    </p:spTree>
    <p:extLst>
      <p:ext uri="{BB962C8B-B14F-4D97-AF65-F5344CB8AC3E}">
        <p14:creationId xmlns:p14="http://schemas.microsoft.com/office/powerpoint/2010/main" val="41696649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DC7990-025A-426E-8342-ED162CBA6368}"/>
              </a:ext>
            </a:extLst>
          </p:cNvPr>
          <p:cNvSpPr>
            <a:spLocks noGrp="1"/>
          </p:cNvSpPr>
          <p:nvPr>
            <p:ph type="title"/>
          </p:nvPr>
        </p:nvSpPr>
        <p:spPr/>
        <p:txBody>
          <a:bodyPr/>
          <a:lstStyle/>
          <a:p>
            <a:r>
              <a:rPr lang="de-DE" dirty="0"/>
              <a:t>Langfristige Rückstellungen</a:t>
            </a:r>
          </a:p>
        </p:txBody>
      </p:sp>
      <p:sp>
        <p:nvSpPr>
          <p:cNvPr id="3" name="Inhaltsplatzhalter 2">
            <a:extLst>
              <a:ext uri="{FF2B5EF4-FFF2-40B4-BE49-F238E27FC236}">
                <a16:creationId xmlns:a16="http://schemas.microsoft.com/office/drawing/2014/main" id="{2BF0657C-D0E4-463C-A170-5B585EE7E606}"/>
              </a:ext>
            </a:extLst>
          </p:cNvPr>
          <p:cNvSpPr>
            <a:spLocks noGrp="1"/>
          </p:cNvSpPr>
          <p:nvPr>
            <p:ph idx="1"/>
          </p:nvPr>
        </p:nvSpPr>
        <p:spPr/>
        <p:txBody>
          <a:bodyPr/>
          <a:lstStyle/>
          <a:p>
            <a:r>
              <a:rPr lang="de-DE" dirty="0"/>
              <a:t>Pensionsrückstellungen</a:t>
            </a:r>
          </a:p>
          <a:p>
            <a:endParaRPr lang="de-DE" dirty="0"/>
          </a:p>
        </p:txBody>
      </p:sp>
    </p:spTree>
    <p:extLst>
      <p:ext uri="{BB962C8B-B14F-4D97-AF65-F5344CB8AC3E}">
        <p14:creationId xmlns:p14="http://schemas.microsoft.com/office/powerpoint/2010/main" val="5497729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838EF2-1908-48CB-9176-D1A3120C1B5E}"/>
              </a:ext>
            </a:extLst>
          </p:cNvPr>
          <p:cNvSpPr>
            <a:spLocks noGrp="1"/>
          </p:cNvSpPr>
          <p:nvPr>
            <p:ph type="title"/>
          </p:nvPr>
        </p:nvSpPr>
        <p:spPr/>
        <p:txBody>
          <a:bodyPr>
            <a:normAutofit fontScale="90000"/>
          </a:bodyPr>
          <a:lstStyle/>
          <a:p>
            <a:r>
              <a:rPr lang="de-DE" dirty="0"/>
              <a:t>Rückstellungen: </a:t>
            </a:r>
            <a:br>
              <a:rPr lang="de-DE" dirty="0"/>
            </a:br>
            <a:r>
              <a:rPr lang="de-DE" dirty="0"/>
              <a:t>Finanztechnische Auswirkungen</a:t>
            </a:r>
          </a:p>
        </p:txBody>
      </p:sp>
      <p:sp>
        <p:nvSpPr>
          <p:cNvPr id="3" name="Inhaltsplatzhalter 2">
            <a:extLst>
              <a:ext uri="{FF2B5EF4-FFF2-40B4-BE49-F238E27FC236}">
                <a16:creationId xmlns:a16="http://schemas.microsoft.com/office/drawing/2014/main" id="{99C15B8A-73FF-448B-B346-F90205D22FC8}"/>
              </a:ext>
            </a:extLst>
          </p:cNvPr>
          <p:cNvSpPr>
            <a:spLocks noGrp="1"/>
          </p:cNvSpPr>
          <p:nvPr>
            <p:ph idx="1"/>
          </p:nvPr>
        </p:nvSpPr>
        <p:spPr/>
        <p:txBody>
          <a:bodyPr>
            <a:normAutofit lnSpcReduction="10000"/>
          </a:bodyPr>
          <a:lstStyle/>
          <a:p>
            <a:r>
              <a:rPr lang="de-DE" dirty="0"/>
              <a:t>da die Bildung von Rückstellungen Aufwendungen darstellen, vermindert sich dadurch der Jahresüberschuss und die dafür anfallenden Ertragssteuern (ESt, </a:t>
            </a:r>
            <a:r>
              <a:rPr lang="de-DE" dirty="0" err="1"/>
              <a:t>Köst</a:t>
            </a:r>
            <a:r>
              <a:rPr lang="de-DE" dirty="0"/>
              <a:t>)</a:t>
            </a:r>
          </a:p>
          <a:p>
            <a:r>
              <a:rPr lang="de-DE" dirty="0"/>
              <a:t>zudem führen die Rückstellungen im Jahr ihrer Bildung nicht zu Auszahlungen</a:t>
            </a:r>
          </a:p>
          <a:p>
            <a:r>
              <a:rPr lang="de-DE" dirty="0"/>
              <a:t>daher hat die Bildung von Rückstellungen positive Auswirkungen auf die Liquidität und die Innenfinanzierung des Unternehmens  </a:t>
            </a:r>
          </a:p>
        </p:txBody>
      </p:sp>
    </p:spTree>
    <p:extLst>
      <p:ext uri="{BB962C8B-B14F-4D97-AF65-F5344CB8AC3E}">
        <p14:creationId xmlns:p14="http://schemas.microsoft.com/office/powerpoint/2010/main" val="7874956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nhaltsplatzhalter 4" descr="Ein Bild, das Tisch enthält.&#10;&#10;Automatisch generierte Beschreibung">
            <a:extLst>
              <a:ext uri="{FF2B5EF4-FFF2-40B4-BE49-F238E27FC236}">
                <a16:creationId xmlns:a16="http://schemas.microsoft.com/office/drawing/2014/main" id="{6AB3F996-89B5-478F-B195-841EB2AA81D4}"/>
              </a:ext>
            </a:extLst>
          </p:cNvPr>
          <p:cNvPicPr>
            <a:picLocks noGrp="1" noChangeAspect="1"/>
          </p:cNvPicPr>
          <p:nvPr>
            <p:ph idx="4294967295"/>
          </p:nvPr>
        </p:nvPicPr>
        <p:blipFill>
          <a:blip r:embed="rId2" cstate="print">
            <a:extLst>
              <a:ext uri="{28A0092B-C50C-407E-A947-70E740481C1C}">
                <a14:useLocalDpi xmlns:a14="http://schemas.microsoft.com/office/drawing/2010/main" val="0"/>
              </a:ext>
            </a:extLst>
          </a:blip>
          <a:stretch>
            <a:fillRect/>
          </a:stretch>
        </p:blipFill>
        <p:spPr>
          <a:xfrm rot="5400000">
            <a:off x="1382799" y="-870633"/>
            <a:ext cx="6336705" cy="8599265"/>
          </a:xfrm>
        </p:spPr>
      </p:pic>
    </p:spTree>
    <p:extLst>
      <p:ext uri="{BB962C8B-B14F-4D97-AF65-F5344CB8AC3E}">
        <p14:creationId xmlns:p14="http://schemas.microsoft.com/office/powerpoint/2010/main" val="30347209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E4216B8-AF76-3787-CA2E-CB587F43C540}"/>
              </a:ext>
            </a:extLst>
          </p:cNvPr>
          <p:cNvSpPr>
            <a:spLocks noGrp="1"/>
          </p:cNvSpPr>
          <p:nvPr>
            <p:ph type="title"/>
          </p:nvPr>
        </p:nvSpPr>
        <p:spPr/>
        <p:txBody>
          <a:bodyPr>
            <a:normAutofit fontScale="90000"/>
          </a:bodyPr>
          <a:lstStyle/>
          <a:p>
            <a:r>
              <a:rPr lang="de-DE" dirty="0"/>
              <a:t>Übungen zu Rückstellungen </a:t>
            </a:r>
            <a:br>
              <a:rPr lang="de-DE" dirty="0"/>
            </a:br>
            <a:r>
              <a:rPr lang="de-DE" dirty="0"/>
              <a:t>im Buch S. 284 f.</a:t>
            </a:r>
          </a:p>
        </p:txBody>
      </p:sp>
      <p:sp>
        <p:nvSpPr>
          <p:cNvPr id="3" name="Inhaltsplatzhalter 2">
            <a:extLst>
              <a:ext uri="{FF2B5EF4-FFF2-40B4-BE49-F238E27FC236}">
                <a16:creationId xmlns:a16="http://schemas.microsoft.com/office/drawing/2014/main" id="{34B0CF97-4987-C081-EA6F-3CCBA117EA16}"/>
              </a:ext>
            </a:extLst>
          </p:cNvPr>
          <p:cNvSpPr>
            <a:spLocks noGrp="1"/>
          </p:cNvSpPr>
          <p:nvPr>
            <p:ph idx="1"/>
          </p:nvPr>
        </p:nvSpPr>
        <p:spPr/>
        <p:txBody>
          <a:bodyPr/>
          <a:lstStyle/>
          <a:p>
            <a:r>
              <a:rPr lang="de-DE" dirty="0"/>
              <a:t>Aufgaben 318, 319, 320, 321 und 324  </a:t>
            </a:r>
          </a:p>
        </p:txBody>
      </p:sp>
    </p:spTree>
    <p:extLst>
      <p:ext uri="{BB962C8B-B14F-4D97-AF65-F5344CB8AC3E}">
        <p14:creationId xmlns:p14="http://schemas.microsoft.com/office/powerpoint/2010/main" val="24722650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D4E113-3916-407A-99CA-73D6AF092E3B}"/>
              </a:ext>
            </a:extLst>
          </p:cNvPr>
          <p:cNvSpPr>
            <a:spLocks noGrp="1"/>
          </p:cNvSpPr>
          <p:nvPr>
            <p:ph type="title"/>
          </p:nvPr>
        </p:nvSpPr>
        <p:spPr/>
        <p:txBody>
          <a:bodyPr/>
          <a:lstStyle/>
          <a:p>
            <a:r>
              <a:rPr lang="de-DE" dirty="0"/>
              <a:t>Zusammenfassende Übungen</a:t>
            </a:r>
          </a:p>
        </p:txBody>
      </p:sp>
      <p:sp>
        <p:nvSpPr>
          <p:cNvPr id="3" name="Inhaltsplatzhalter 2">
            <a:extLst>
              <a:ext uri="{FF2B5EF4-FFF2-40B4-BE49-F238E27FC236}">
                <a16:creationId xmlns:a16="http://schemas.microsoft.com/office/drawing/2014/main" id="{5A175A44-AF7A-4680-BE2B-A25F320ECF55}"/>
              </a:ext>
            </a:extLst>
          </p:cNvPr>
          <p:cNvSpPr>
            <a:spLocks noGrp="1"/>
          </p:cNvSpPr>
          <p:nvPr>
            <p:ph idx="1"/>
          </p:nvPr>
        </p:nvSpPr>
        <p:spPr/>
        <p:txBody>
          <a:bodyPr/>
          <a:lstStyle/>
          <a:p>
            <a:r>
              <a:rPr lang="de-DE" dirty="0"/>
              <a:t>Anwendung auf „Beleggeschäftsgang 2“ SD Kap. E, S. 363 ff., Aufgabe 416, ausgewählte Belege 24, 25, 30-36 (S. 377)</a:t>
            </a:r>
          </a:p>
          <a:p>
            <a:r>
              <a:rPr lang="de-DE" dirty="0"/>
              <a:t>Aufgabe 348, Buch SD S. 309 als Hausaufgabe</a:t>
            </a:r>
          </a:p>
          <a:p>
            <a:endParaRPr lang="de-DE" dirty="0"/>
          </a:p>
        </p:txBody>
      </p:sp>
    </p:spTree>
    <p:extLst>
      <p:ext uri="{BB962C8B-B14F-4D97-AF65-F5344CB8AC3E}">
        <p14:creationId xmlns:p14="http://schemas.microsoft.com/office/powerpoint/2010/main" val="27327752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2AF78FD1-D4A6-438C-B60E-C89BBA9014C3}"/>
              </a:ext>
            </a:extLst>
          </p:cNvPr>
          <p:cNvSpPr>
            <a:spLocks noGrp="1"/>
          </p:cNvSpPr>
          <p:nvPr>
            <p:ph type="title"/>
          </p:nvPr>
        </p:nvSpPr>
        <p:spPr/>
        <p:txBody>
          <a:bodyPr/>
          <a:lstStyle/>
          <a:p>
            <a:r>
              <a:rPr lang="de-DE" dirty="0"/>
              <a:t>Übung 1</a:t>
            </a:r>
          </a:p>
        </p:txBody>
      </p:sp>
      <p:sp>
        <p:nvSpPr>
          <p:cNvPr id="7" name="Inhaltsplatzhalter 6">
            <a:extLst>
              <a:ext uri="{FF2B5EF4-FFF2-40B4-BE49-F238E27FC236}">
                <a16:creationId xmlns:a16="http://schemas.microsoft.com/office/drawing/2014/main" id="{238A3735-037E-4144-A8DD-9E8598A5F601}"/>
              </a:ext>
            </a:extLst>
          </p:cNvPr>
          <p:cNvSpPr>
            <a:spLocks noGrp="1"/>
          </p:cNvSpPr>
          <p:nvPr>
            <p:ph idx="1"/>
          </p:nvPr>
        </p:nvSpPr>
        <p:spPr/>
        <p:txBody>
          <a:bodyPr/>
          <a:lstStyle/>
          <a:p>
            <a:r>
              <a:rPr lang="de-DE" dirty="0"/>
              <a:t>„Beleggeschäftsgang 2“ SD Kap. E, S. 363 ff., Aufgabe 416, ausgewählte Belege 24, 25, 30-36 (S. 377) unter Beachtung der</a:t>
            </a:r>
          </a:p>
          <a:p>
            <a:r>
              <a:rPr lang="de-DE" dirty="0"/>
              <a:t>der Buchbestände am 27.12. (S. 363)</a:t>
            </a:r>
          </a:p>
          <a:p>
            <a:r>
              <a:rPr lang="de-DE" dirty="0"/>
              <a:t>der Belegbuchungen 1 bis 23 (27.12. - 31.12.) (Seite 367 bis 376)</a:t>
            </a:r>
          </a:p>
          <a:p>
            <a:r>
              <a:rPr lang="de-DE" dirty="0"/>
              <a:t>der Abschlussangaben (S. </a:t>
            </a:r>
            <a:r>
              <a:rPr lang="de-DE"/>
              <a:t>365 und 377</a:t>
            </a:r>
            <a:r>
              <a:rPr lang="de-DE" dirty="0"/>
              <a:t>)</a:t>
            </a:r>
          </a:p>
          <a:p>
            <a:endParaRPr lang="de-DE" dirty="0"/>
          </a:p>
        </p:txBody>
      </p:sp>
    </p:spTree>
    <p:extLst>
      <p:ext uri="{BB962C8B-B14F-4D97-AF65-F5344CB8AC3E}">
        <p14:creationId xmlns:p14="http://schemas.microsoft.com/office/powerpoint/2010/main" val="27805957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nhaltsplatzhalter 4" descr="Ein Bild, das Tisch enthält.&#10;&#10;Automatisch generierte Beschreibung">
            <a:extLst>
              <a:ext uri="{FF2B5EF4-FFF2-40B4-BE49-F238E27FC236}">
                <a16:creationId xmlns:a16="http://schemas.microsoft.com/office/drawing/2014/main" id="{C72A7599-ED66-4C54-BE64-1CD697CBFDB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127064" y="68263"/>
            <a:ext cx="4889873" cy="6721475"/>
          </a:xfrm>
          <a:noFill/>
        </p:spPr>
      </p:pic>
    </p:spTree>
    <p:extLst>
      <p:ext uri="{BB962C8B-B14F-4D97-AF65-F5344CB8AC3E}">
        <p14:creationId xmlns:p14="http://schemas.microsoft.com/office/powerpoint/2010/main" val="2039942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2AF78FD1-D4A6-438C-B60E-C89BBA9014C3}"/>
              </a:ext>
            </a:extLst>
          </p:cNvPr>
          <p:cNvSpPr>
            <a:spLocks noGrp="1"/>
          </p:cNvSpPr>
          <p:nvPr>
            <p:ph type="title"/>
          </p:nvPr>
        </p:nvSpPr>
        <p:spPr/>
        <p:txBody>
          <a:bodyPr/>
          <a:lstStyle/>
          <a:p>
            <a:r>
              <a:rPr lang="de-DE" dirty="0"/>
              <a:t>Übung 2</a:t>
            </a:r>
          </a:p>
        </p:txBody>
      </p:sp>
      <p:sp>
        <p:nvSpPr>
          <p:cNvPr id="7" name="Inhaltsplatzhalter 6">
            <a:extLst>
              <a:ext uri="{FF2B5EF4-FFF2-40B4-BE49-F238E27FC236}">
                <a16:creationId xmlns:a16="http://schemas.microsoft.com/office/drawing/2014/main" id="{238A3735-037E-4144-A8DD-9E8598A5F601}"/>
              </a:ext>
            </a:extLst>
          </p:cNvPr>
          <p:cNvSpPr>
            <a:spLocks noGrp="1"/>
          </p:cNvSpPr>
          <p:nvPr>
            <p:ph idx="1"/>
          </p:nvPr>
        </p:nvSpPr>
        <p:spPr/>
        <p:txBody>
          <a:bodyPr/>
          <a:lstStyle/>
          <a:p>
            <a:r>
              <a:rPr lang="de-DE" dirty="0"/>
              <a:t>Aufgabe 348, Buch SD S. 309 </a:t>
            </a:r>
          </a:p>
          <a:p>
            <a:r>
              <a:rPr lang="de-DE" dirty="0"/>
              <a:t>abweichende Aufgabenstellung (nur) a) : Entwickeln Sie die Buchungssätze für die erforderlichen                            „</a:t>
            </a:r>
            <a:r>
              <a:rPr lang="de-DE" b="1" dirty="0"/>
              <a:t>vorbereitenden Abschlussbuchungen</a:t>
            </a:r>
            <a:r>
              <a:rPr lang="de-DE" dirty="0"/>
              <a:t>“ gemäß Abschlussangaben 1 – 10                sowie für die </a:t>
            </a:r>
            <a:r>
              <a:rPr lang="de-DE" b="1" dirty="0" err="1"/>
              <a:t>USt</a:t>
            </a:r>
            <a:r>
              <a:rPr lang="de-DE" b="1" dirty="0"/>
              <a:t>-Position gegenüber dem FA </a:t>
            </a:r>
          </a:p>
          <a:p>
            <a:endParaRPr lang="de-DE" dirty="0"/>
          </a:p>
        </p:txBody>
      </p:sp>
    </p:spTree>
    <p:extLst>
      <p:ext uri="{BB962C8B-B14F-4D97-AF65-F5344CB8AC3E}">
        <p14:creationId xmlns:p14="http://schemas.microsoft.com/office/powerpoint/2010/main" val="5104437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nhaltsplatzhalter 5" descr="Ein Bild, das Text enthält.&#10;&#10;Automatisch generierte Beschreibung">
            <a:extLst>
              <a:ext uri="{FF2B5EF4-FFF2-40B4-BE49-F238E27FC236}">
                <a16:creationId xmlns:a16="http://schemas.microsoft.com/office/drawing/2014/main" id="{CEA4D574-ED4D-4AEF-B9D9-65B3D21D851E}"/>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127064" y="68263"/>
            <a:ext cx="4889873" cy="6721475"/>
          </a:xfrm>
          <a:noFill/>
        </p:spPr>
      </p:pic>
    </p:spTree>
    <p:extLst>
      <p:ext uri="{BB962C8B-B14F-4D97-AF65-F5344CB8AC3E}">
        <p14:creationId xmlns:p14="http://schemas.microsoft.com/office/powerpoint/2010/main" val="32521239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de-DE" dirty="0"/>
              <a:t>Jahresabschluss erstellen:</a:t>
            </a:r>
            <a:br>
              <a:rPr lang="de-DE" dirty="0"/>
            </a:br>
            <a:r>
              <a:rPr lang="de-DE" dirty="0"/>
              <a:t>zusätzliche Arbeiten im Überblick</a:t>
            </a:r>
          </a:p>
        </p:txBody>
      </p:sp>
      <p:sp>
        <p:nvSpPr>
          <p:cNvPr id="3" name="Inhaltsplatzhalter 2"/>
          <p:cNvSpPr>
            <a:spLocks noGrp="1"/>
          </p:cNvSpPr>
          <p:nvPr>
            <p:ph idx="1"/>
          </p:nvPr>
        </p:nvSpPr>
        <p:spPr/>
        <p:txBody>
          <a:bodyPr>
            <a:normAutofit fontScale="92500" lnSpcReduction="10000"/>
          </a:bodyPr>
          <a:lstStyle/>
          <a:p>
            <a:r>
              <a:rPr lang="de-DE" dirty="0"/>
              <a:t>Abschluss eventuell geführter </a:t>
            </a:r>
            <a:r>
              <a:rPr lang="de-DE" b="1" dirty="0"/>
              <a:t>Unterkonten</a:t>
            </a:r>
            <a:r>
              <a:rPr lang="de-DE" dirty="0"/>
              <a:t> über das dazugehörige Hauptbuchkonto</a:t>
            </a:r>
          </a:p>
          <a:p>
            <a:r>
              <a:rPr lang="de-DE" b="1" dirty="0"/>
              <a:t>Inventur</a:t>
            </a:r>
            <a:r>
              <a:rPr lang="de-DE" dirty="0"/>
              <a:t> der Vermögens - und Schuldenwerte</a:t>
            </a:r>
          </a:p>
          <a:p>
            <a:r>
              <a:rPr lang="de-DE" b="1" dirty="0"/>
              <a:t>Bewertung</a:t>
            </a:r>
            <a:r>
              <a:rPr lang="de-DE" dirty="0"/>
              <a:t> der Vermögens- und Schuldenwerte</a:t>
            </a:r>
          </a:p>
          <a:p>
            <a:r>
              <a:rPr lang="de-DE" b="1" dirty="0"/>
              <a:t>Zeitraum</a:t>
            </a:r>
            <a:r>
              <a:rPr lang="de-DE" dirty="0"/>
              <a:t>richtige Erfassung und Abgrenzung der Aufwendungen und Erträge zwecks </a:t>
            </a:r>
            <a:r>
              <a:rPr lang="de-DE" b="1" dirty="0"/>
              <a:t>periodengerechtem Ausweis des Jahreserfolgs </a:t>
            </a:r>
          </a:p>
          <a:p>
            <a:r>
              <a:rPr lang="de-DE" b="1" dirty="0"/>
              <a:t>Ordnungsmäßige</a:t>
            </a:r>
            <a:r>
              <a:rPr lang="de-DE" dirty="0"/>
              <a:t> Gliederung der Bilanz und der Gewinn- und Verlustrechnung</a:t>
            </a:r>
          </a:p>
        </p:txBody>
      </p:sp>
    </p:spTree>
    <p:extLst>
      <p:ext uri="{BB962C8B-B14F-4D97-AF65-F5344CB8AC3E}">
        <p14:creationId xmlns:p14="http://schemas.microsoft.com/office/powerpoint/2010/main" val="14667233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A1D798F-D28E-4409-81B5-AE4890551D09}"/>
              </a:ext>
            </a:extLst>
          </p:cNvPr>
          <p:cNvSpPr>
            <a:spLocks noGrp="1"/>
          </p:cNvSpPr>
          <p:nvPr>
            <p:ph type="title"/>
          </p:nvPr>
        </p:nvSpPr>
        <p:spPr/>
        <p:txBody>
          <a:bodyPr>
            <a:normAutofit fontScale="90000"/>
          </a:bodyPr>
          <a:lstStyle/>
          <a:p>
            <a:r>
              <a:rPr lang="de-DE" dirty="0"/>
              <a:t>Ordnungsgemäße Gliederung von Bilanz und GuV-Rechnung </a:t>
            </a:r>
          </a:p>
        </p:txBody>
      </p:sp>
      <p:sp>
        <p:nvSpPr>
          <p:cNvPr id="3" name="Inhaltsplatzhalter 2">
            <a:extLst>
              <a:ext uri="{FF2B5EF4-FFF2-40B4-BE49-F238E27FC236}">
                <a16:creationId xmlns:a16="http://schemas.microsoft.com/office/drawing/2014/main" id="{29CDFF7C-63EF-448C-A61B-7C424B9467A1}"/>
              </a:ext>
            </a:extLst>
          </p:cNvPr>
          <p:cNvSpPr>
            <a:spLocks noGrp="1"/>
          </p:cNvSpPr>
          <p:nvPr>
            <p:ph idx="1"/>
          </p:nvPr>
        </p:nvSpPr>
        <p:spPr>
          <a:xfrm>
            <a:off x="457200" y="1633621"/>
            <a:ext cx="8229600" cy="4525963"/>
          </a:xfrm>
        </p:spPr>
        <p:txBody>
          <a:bodyPr/>
          <a:lstStyle/>
          <a:p>
            <a:r>
              <a:rPr lang="de-DE" dirty="0"/>
              <a:t>allgemeine Rechtsgrundlage: HGB</a:t>
            </a:r>
          </a:p>
          <a:p>
            <a:r>
              <a:rPr lang="de-DE" dirty="0"/>
              <a:t>geforderte Bestandteile des Jahresabschlusses:</a:t>
            </a:r>
          </a:p>
          <a:p>
            <a:endParaRPr lang="de-DE" dirty="0"/>
          </a:p>
          <a:p>
            <a:endParaRPr lang="de-DE" dirty="0"/>
          </a:p>
          <a:p>
            <a:endParaRPr lang="de-DE" dirty="0"/>
          </a:p>
          <a:p>
            <a:endParaRPr lang="de-DE" dirty="0"/>
          </a:p>
          <a:p>
            <a:r>
              <a:rPr lang="de-DE" sz="2400" dirty="0"/>
              <a:t>Details siehe SD Kap. D1, S.266 f. bzw. Kap. D6, S. 338 ff.</a:t>
            </a:r>
          </a:p>
          <a:p>
            <a:endParaRPr lang="de-DE" dirty="0"/>
          </a:p>
          <a:p>
            <a:pPr marL="0" indent="0">
              <a:buNone/>
            </a:pPr>
            <a:endParaRPr lang="de-DE" dirty="0"/>
          </a:p>
        </p:txBody>
      </p:sp>
      <p:graphicFrame>
        <p:nvGraphicFramePr>
          <p:cNvPr id="4" name="Tabelle 3">
            <a:extLst>
              <a:ext uri="{FF2B5EF4-FFF2-40B4-BE49-F238E27FC236}">
                <a16:creationId xmlns:a16="http://schemas.microsoft.com/office/drawing/2014/main" id="{65922C20-AE99-4765-853D-A6B8FD7A5029}"/>
              </a:ext>
            </a:extLst>
          </p:cNvPr>
          <p:cNvGraphicFramePr>
            <a:graphicFrameLocks noGrp="1"/>
          </p:cNvGraphicFramePr>
          <p:nvPr>
            <p:extLst>
              <p:ext uri="{D42A27DB-BD31-4B8C-83A1-F6EECF244321}">
                <p14:modId xmlns:p14="http://schemas.microsoft.com/office/powerpoint/2010/main" val="2291469013"/>
              </p:ext>
            </p:extLst>
          </p:nvPr>
        </p:nvGraphicFramePr>
        <p:xfrm>
          <a:off x="827584" y="3284984"/>
          <a:ext cx="6696744" cy="2103120"/>
        </p:xfrm>
        <a:graphic>
          <a:graphicData uri="http://schemas.openxmlformats.org/drawingml/2006/table">
            <a:tbl>
              <a:tblPr firstRow="1" bandRow="1">
                <a:tableStyleId>{5C22544A-7EE6-4342-B048-85BDC9FD1C3A}</a:tableStyleId>
              </a:tblPr>
              <a:tblGrid>
                <a:gridCol w="3240360">
                  <a:extLst>
                    <a:ext uri="{9D8B030D-6E8A-4147-A177-3AD203B41FA5}">
                      <a16:colId xmlns:a16="http://schemas.microsoft.com/office/drawing/2014/main" val="3139230482"/>
                    </a:ext>
                  </a:extLst>
                </a:gridCol>
                <a:gridCol w="3456384">
                  <a:extLst>
                    <a:ext uri="{9D8B030D-6E8A-4147-A177-3AD203B41FA5}">
                      <a16:colId xmlns:a16="http://schemas.microsoft.com/office/drawing/2014/main" val="1567029360"/>
                    </a:ext>
                  </a:extLst>
                </a:gridCol>
              </a:tblGrid>
              <a:tr h="576064">
                <a:tc>
                  <a:txBody>
                    <a:bodyPr/>
                    <a:lstStyle/>
                    <a:p>
                      <a:r>
                        <a:rPr lang="de-DE" dirty="0"/>
                        <a:t>Einzelunternehmen</a:t>
                      </a:r>
                    </a:p>
                    <a:p>
                      <a:r>
                        <a:rPr lang="de-DE" dirty="0"/>
                        <a:t>Personengesellschaften</a:t>
                      </a:r>
                    </a:p>
                    <a:p>
                      <a:endParaRPr lang="de-DE" dirty="0"/>
                    </a:p>
                  </a:txBody>
                  <a:tcPr/>
                </a:tc>
                <a:tc>
                  <a:txBody>
                    <a:bodyPr/>
                    <a:lstStyle/>
                    <a:p>
                      <a:r>
                        <a:rPr lang="de-DE" dirty="0"/>
                        <a:t>Kapitalgesellschaften</a:t>
                      </a:r>
                    </a:p>
                  </a:txBody>
                  <a:tcPr/>
                </a:tc>
                <a:extLst>
                  <a:ext uri="{0D108BD9-81ED-4DB2-BD59-A6C34878D82A}">
                    <a16:rowId xmlns:a16="http://schemas.microsoft.com/office/drawing/2014/main" val="1622088771"/>
                  </a:ext>
                </a:extLst>
              </a:tr>
              <a:tr h="624188">
                <a:tc>
                  <a:txBody>
                    <a:bodyPr/>
                    <a:lstStyle/>
                    <a:p>
                      <a:r>
                        <a:rPr lang="de-DE" dirty="0"/>
                        <a:t>Bilanz</a:t>
                      </a:r>
                    </a:p>
                    <a:p>
                      <a:r>
                        <a:rPr lang="de-DE" dirty="0"/>
                        <a:t>GuV-Rechnung</a:t>
                      </a:r>
                    </a:p>
                  </a:txBody>
                  <a:tcPr/>
                </a:tc>
                <a:tc>
                  <a:txBody>
                    <a:bodyPr/>
                    <a:lstStyle/>
                    <a:p>
                      <a:r>
                        <a:rPr lang="de-DE" dirty="0"/>
                        <a:t>Bilanz</a:t>
                      </a:r>
                    </a:p>
                    <a:p>
                      <a:r>
                        <a:rPr lang="de-DE" dirty="0"/>
                        <a:t>GuV-Rechnung</a:t>
                      </a:r>
                    </a:p>
                    <a:p>
                      <a:r>
                        <a:rPr lang="de-DE" dirty="0"/>
                        <a:t>Anhang</a:t>
                      </a:r>
                    </a:p>
                    <a:p>
                      <a:r>
                        <a:rPr lang="de-DE" dirty="0"/>
                        <a:t>Lagebericht</a:t>
                      </a:r>
                    </a:p>
                  </a:txBody>
                  <a:tcPr/>
                </a:tc>
                <a:extLst>
                  <a:ext uri="{0D108BD9-81ED-4DB2-BD59-A6C34878D82A}">
                    <a16:rowId xmlns:a16="http://schemas.microsoft.com/office/drawing/2014/main" val="4225399310"/>
                  </a:ext>
                </a:extLst>
              </a:tr>
            </a:tbl>
          </a:graphicData>
        </a:graphic>
      </p:graphicFrame>
    </p:spTree>
    <p:extLst>
      <p:ext uri="{BB962C8B-B14F-4D97-AF65-F5344CB8AC3E}">
        <p14:creationId xmlns:p14="http://schemas.microsoft.com/office/powerpoint/2010/main" val="8844460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83BC04B-6BEA-4002-B77C-827B34ADD7DA}"/>
              </a:ext>
            </a:extLst>
          </p:cNvPr>
          <p:cNvSpPr>
            <a:spLocks noGrp="1"/>
          </p:cNvSpPr>
          <p:nvPr>
            <p:ph type="title"/>
          </p:nvPr>
        </p:nvSpPr>
        <p:spPr/>
        <p:txBody>
          <a:bodyPr/>
          <a:lstStyle/>
          <a:p>
            <a:r>
              <a:rPr lang="de-DE" dirty="0"/>
              <a:t>Bilanz</a:t>
            </a:r>
          </a:p>
        </p:txBody>
      </p:sp>
      <p:sp>
        <p:nvSpPr>
          <p:cNvPr id="3" name="Inhaltsplatzhalter 2">
            <a:extLst>
              <a:ext uri="{FF2B5EF4-FFF2-40B4-BE49-F238E27FC236}">
                <a16:creationId xmlns:a16="http://schemas.microsoft.com/office/drawing/2014/main" id="{33ECE98B-A625-4A04-A94C-B8859364CAD3}"/>
              </a:ext>
            </a:extLst>
          </p:cNvPr>
          <p:cNvSpPr>
            <a:spLocks noGrp="1"/>
          </p:cNvSpPr>
          <p:nvPr>
            <p:ph idx="1"/>
          </p:nvPr>
        </p:nvSpPr>
        <p:spPr/>
        <p:txBody>
          <a:bodyPr/>
          <a:lstStyle/>
          <a:p>
            <a:r>
              <a:rPr lang="de-DE" dirty="0"/>
              <a:t>Gliederung und Positionen gem. § 266 HGB</a:t>
            </a:r>
          </a:p>
          <a:p>
            <a:r>
              <a:rPr lang="de-DE" dirty="0"/>
              <a:t>Formblatt in SD Kap. D 6.2, S. 342 sowie im ausklappbaren Anhang nach S. 645 </a:t>
            </a:r>
          </a:p>
        </p:txBody>
      </p:sp>
    </p:spTree>
    <p:extLst>
      <p:ext uri="{BB962C8B-B14F-4D97-AF65-F5344CB8AC3E}">
        <p14:creationId xmlns:p14="http://schemas.microsoft.com/office/powerpoint/2010/main" val="5282955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Bildplatzhalter 2">
            <a:extLst>
              <a:ext uri="{FF2B5EF4-FFF2-40B4-BE49-F238E27FC236}">
                <a16:creationId xmlns:a16="http://schemas.microsoft.com/office/drawing/2014/main" id="{C7950A20-F235-486F-AB6A-3CC52E0B5CB1}"/>
              </a:ext>
            </a:extLst>
          </p:cNvPr>
          <p:cNvPicPr>
            <a:picLocks noGrp="1" noChangeAspect="1"/>
          </p:cNvPicPr>
          <p:nvPr>
            <p:ph type="pic" idx="1"/>
          </p:nvPr>
        </p:nvPicPr>
        <p:blipFill rotWithShape="1">
          <a:blip r:embed="rId3" cstate="print">
            <a:extLst>
              <a:ext uri="{28A0092B-C50C-407E-A947-70E740481C1C}">
                <a14:useLocalDpi xmlns:a14="http://schemas.microsoft.com/office/drawing/2010/main" val="0"/>
              </a:ext>
            </a:extLst>
          </a:blip>
          <a:srcRect l="-6719" r="-6719"/>
          <a:stretch/>
        </p:blipFill>
        <p:spPr>
          <a:xfrm>
            <a:off x="337319" y="188640"/>
            <a:ext cx="4090665" cy="6408712"/>
          </a:xfrm>
        </p:spPr>
      </p:pic>
    </p:spTree>
    <p:extLst>
      <p:ext uri="{BB962C8B-B14F-4D97-AF65-F5344CB8AC3E}">
        <p14:creationId xmlns:p14="http://schemas.microsoft.com/office/powerpoint/2010/main" val="34912923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Bildplatzhalter 5" descr="Ein Bild, das Tisch enthält.&#10;&#10;Automatisch generierte Beschreibung">
            <a:extLst>
              <a:ext uri="{FF2B5EF4-FFF2-40B4-BE49-F238E27FC236}">
                <a16:creationId xmlns:a16="http://schemas.microsoft.com/office/drawing/2014/main" id="{FCE281B6-49D9-4A88-8869-0316191D3B9A}"/>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l="1500" r="1500"/>
          <a:stretch/>
        </p:blipFill>
        <p:spPr>
          <a:xfrm>
            <a:off x="20" y="10"/>
            <a:ext cx="9143980" cy="6857990"/>
          </a:xfrm>
          <a:noFill/>
        </p:spPr>
      </p:pic>
    </p:spTree>
    <p:extLst>
      <p:ext uri="{BB962C8B-B14F-4D97-AF65-F5344CB8AC3E}">
        <p14:creationId xmlns:p14="http://schemas.microsoft.com/office/powerpoint/2010/main" val="30437506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3D7998E-7C85-4D12-B88D-9ED59DD79FB4}"/>
              </a:ext>
            </a:extLst>
          </p:cNvPr>
          <p:cNvSpPr>
            <a:spLocks noGrp="1"/>
          </p:cNvSpPr>
          <p:nvPr>
            <p:ph type="title"/>
          </p:nvPr>
        </p:nvSpPr>
        <p:spPr/>
        <p:txBody>
          <a:bodyPr/>
          <a:lstStyle/>
          <a:p>
            <a:r>
              <a:rPr lang="de-DE" dirty="0"/>
              <a:t>GuV-Rechnung</a:t>
            </a:r>
          </a:p>
        </p:txBody>
      </p:sp>
      <p:sp>
        <p:nvSpPr>
          <p:cNvPr id="3" name="Inhaltsplatzhalter 2">
            <a:extLst>
              <a:ext uri="{FF2B5EF4-FFF2-40B4-BE49-F238E27FC236}">
                <a16:creationId xmlns:a16="http://schemas.microsoft.com/office/drawing/2014/main" id="{0CA3A6E1-E73F-4565-B781-68C6F4C4E765}"/>
              </a:ext>
            </a:extLst>
          </p:cNvPr>
          <p:cNvSpPr>
            <a:spLocks noGrp="1"/>
          </p:cNvSpPr>
          <p:nvPr>
            <p:ph idx="1"/>
          </p:nvPr>
        </p:nvSpPr>
        <p:spPr/>
        <p:txBody>
          <a:bodyPr/>
          <a:lstStyle/>
          <a:p>
            <a:r>
              <a:rPr lang="de-DE" dirty="0"/>
              <a:t>Gliederung und Positionen gem. § 275 HGB</a:t>
            </a:r>
          </a:p>
          <a:p>
            <a:r>
              <a:rPr lang="de-DE" dirty="0"/>
              <a:t>Formblatt in SD Kap. D 6.4, S. 347 </a:t>
            </a:r>
          </a:p>
          <a:p>
            <a:r>
              <a:rPr lang="de-DE" dirty="0"/>
              <a:t>Regelform: </a:t>
            </a:r>
            <a:r>
              <a:rPr lang="de-DE" b="1" dirty="0"/>
              <a:t>Staffelform</a:t>
            </a:r>
            <a:r>
              <a:rPr lang="de-DE" dirty="0"/>
              <a:t> und Anwendung des </a:t>
            </a:r>
            <a:r>
              <a:rPr lang="de-DE" b="1" dirty="0"/>
              <a:t>Gesamtkostenverfahrens</a:t>
            </a:r>
          </a:p>
          <a:p>
            <a:r>
              <a:rPr lang="de-DE" dirty="0"/>
              <a:t>weiteres Formblatt dazu sowie zum </a:t>
            </a:r>
            <a:r>
              <a:rPr lang="de-DE" b="1" dirty="0"/>
              <a:t>Umsatzkostenverfahren</a:t>
            </a:r>
            <a:r>
              <a:rPr lang="de-DE" dirty="0"/>
              <a:t> im ausklappbaren Anhang nach S. 645</a:t>
            </a:r>
          </a:p>
          <a:p>
            <a:endParaRPr lang="de-DE" dirty="0"/>
          </a:p>
        </p:txBody>
      </p:sp>
    </p:spTree>
    <p:extLst>
      <p:ext uri="{BB962C8B-B14F-4D97-AF65-F5344CB8AC3E}">
        <p14:creationId xmlns:p14="http://schemas.microsoft.com/office/powerpoint/2010/main" val="9009970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50614F2-71A6-4107-B9CF-1F7125CF973D}"/>
              </a:ext>
            </a:extLst>
          </p:cNvPr>
          <p:cNvSpPr>
            <a:spLocks noGrp="1"/>
          </p:cNvSpPr>
          <p:nvPr>
            <p:ph type="title"/>
          </p:nvPr>
        </p:nvSpPr>
        <p:spPr/>
        <p:txBody>
          <a:bodyPr/>
          <a:lstStyle/>
          <a:p>
            <a:r>
              <a:rPr lang="de-DE" dirty="0"/>
              <a:t>Anhang</a:t>
            </a:r>
          </a:p>
        </p:txBody>
      </p:sp>
      <p:sp>
        <p:nvSpPr>
          <p:cNvPr id="3" name="Inhaltsplatzhalter 2">
            <a:extLst>
              <a:ext uri="{FF2B5EF4-FFF2-40B4-BE49-F238E27FC236}">
                <a16:creationId xmlns:a16="http://schemas.microsoft.com/office/drawing/2014/main" id="{AF946FD1-E713-42B3-AA1F-E811C0E59376}"/>
              </a:ext>
            </a:extLst>
          </p:cNvPr>
          <p:cNvSpPr>
            <a:spLocks noGrp="1"/>
          </p:cNvSpPr>
          <p:nvPr>
            <p:ph idx="1"/>
          </p:nvPr>
        </p:nvSpPr>
        <p:spPr/>
        <p:txBody>
          <a:bodyPr/>
          <a:lstStyle/>
          <a:p>
            <a:pPr marL="0" indent="0">
              <a:buNone/>
            </a:pPr>
            <a:r>
              <a:rPr lang="de-DE" dirty="0"/>
              <a:t>enthält gem. § 284 f. HGB Angaben, die die Bilanz und die GuV-Rechnung erläutern und ergänzen, wie z.B.: </a:t>
            </a:r>
          </a:p>
          <a:p>
            <a:r>
              <a:rPr lang="de-DE" dirty="0"/>
              <a:t>Anlagespiegel (Anlagegitter), vgl. SD Kapitel C 7.7, S. 234 f.</a:t>
            </a:r>
          </a:p>
          <a:p>
            <a:r>
              <a:rPr lang="de-DE" dirty="0"/>
              <a:t>Bilanzierungs- und Bewertungsmethoden, wie z.B. Abschreibungsmethoden, Sammel- oder Gruppenbewertungsverfahren, etc.</a:t>
            </a:r>
          </a:p>
        </p:txBody>
      </p:sp>
    </p:spTree>
    <p:extLst>
      <p:ext uri="{BB962C8B-B14F-4D97-AF65-F5344CB8AC3E}">
        <p14:creationId xmlns:p14="http://schemas.microsoft.com/office/powerpoint/2010/main" val="49280556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5E06632-14A7-4B4C-9A5E-D8B7FF62CF94}"/>
              </a:ext>
            </a:extLst>
          </p:cNvPr>
          <p:cNvSpPr>
            <a:spLocks noGrp="1"/>
          </p:cNvSpPr>
          <p:nvPr>
            <p:ph type="title"/>
          </p:nvPr>
        </p:nvSpPr>
        <p:spPr/>
        <p:txBody>
          <a:bodyPr/>
          <a:lstStyle/>
          <a:p>
            <a:r>
              <a:rPr lang="de-DE" dirty="0"/>
              <a:t>Lagebericht</a:t>
            </a:r>
          </a:p>
        </p:txBody>
      </p:sp>
      <p:sp>
        <p:nvSpPr>
          <p:cNvPr id="3" name="Inhaltsplatzhalter 2">
            <a:extLst>
              <a:ext uri="{FF2B5EF4-FFF2-40B4-BE49-F238E27FC236}">
                <a16:creationId xmlns:a16="http://schemas.microsoft.com/office/drawing/2014/main" id="{9F984CA5-FD0B-4BB6-9FC0-461A6B560D68}"/>
              </a:ext>
            </a:extLst>
          </p:cNvPr>
          <p:cNvSpPr>
            <a:spLocks noGrp="1"/>
          </p:cNvSpPr>
          <p:nvPr>
            <p:ph idx="1"/>
          </p:nvPr>
        </p:nvSpPr>
        <p:spPr/>
        <p:txBody>
          <a:bodyPr>
            <a:normAutofit fontScale="92500" lnSpcReduction="20000"/>
          </a:bodyPr>
          <a:lstStyle/>
          <a:p>
            <a:pPr marL="0" indent="0">
              <a:buNone/>
            </a:pPr>
            <a:r>
              <a:rPr lang="de-DE" dirty="0"/>
              <a:t>enthält gem. § 289 HGB weitere Erläuterungen z.B. zu: </a:t>
            </a:r>
          </a:p>
          <a:p>
            <a:r>
              <a:rPr lang="de-DE" dirty="0"/>
              <a:t>Geschäftsverlauf</a:t>
            </a:r>
          </a:p>
          <a:p>
            <a:r>
              <a:rPr lang="de-DE" dirty="0"/>
              <a:t>Geschäftsergebnis</a:t>
            </a:r>
          </a:p>
          <a:p>
            <a:r>
              <a:rPr lang="de-DE" dirty="0"/>
              <a:t>Lage und voraussichtliche Entwicklung der Gesellschaft</a:t>
            </a:r>
          </a:p>
          <a:p>
            <a:r>
              <a:rPr lang="de-DE" dirty="0"/>
              <a:t>Vorgänge von besonderer Bedeutung nach dem Bilanzstichtag</a:t>
            </a:r>
          </a:p>
          <a:p>
            <a:r>
              <a:rPr lang="de-DE" dirty="0"/>
              <a:t>finanzwirtschaftliche Risiken </a:t>
            </a:r>
          </a:p>
          <a:p>
            <a:r>
              <a:rPr lang="de-DE" dirty="0"/>
              <a:t>etc. …</a:t>
            </a:r>
          </a:p>
          <a:p>
            <a:endParaRPr lang="de-DE" dirty="0"/>
          </a:p>
        </p:txBody>
      </p:sp>
    </p:spTree>
    <p:extLst>
      <p:ext uri="{BB962C8B-B14F-4D97-AF65-F5344CB8AC3E}">
        <p14:creationId xmlns:p14="http://schemas.microsoft.com/office/powerpoint/2010/main" val="359426953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0F73206-940B-4B22-B79D-AD518D4797F9}"/>
              </a:ext>
            </a:extLst>
          </p:cNvPr>
          <p:cNvSpPr>
            <a:spLocks noGrp="1"/>
          </p:cNvSpPr>
          <p:nvPr>
            <p:ph type="title"/>
          </p:nvPr>
        </p:nvSpPr>
        <p:spPr/>
        <p:txBody>
          <a:bodyPr>
            <a:normAutofit fontScale="90000"/>
          </a:bodyPr>
          <a:lstStyle/>
          <a:p>
            <a:r>
              <a:rPr lang="de-DE" dirty="0"/>
              <a:t>Weitere Anforderungen an kapitalmarktorientierte Gesellschaften</a:t>
            </a:r>
          </a:p>
        </p:txBody>
      </p:sp>
      <p:sp>
        <p:nvSpPr>
          <p:cNvPr id="3" name="Inhaltsplatzhalter 2">
            <a:extLst>
              <a:ext uri="{FF2B5EF4-FFF2-40B4-BE49-F238E27FC236}">
                <a16:creationId xmlns:a16="http://schemas.microsoft.com/office/drawing/2014/main" id="{E49E22FF-26D6-4961-8AFE-98CF4E8FA283}"/>
              </a:ext>
            </a:extLst>
          </p:cNvPr>
          <p:cNvSpPr>
            <a:spLocks noGrp="1"/>
          </p:cNvSpPr>
          <p:nvPr>
            <p:ph idx="1"/>
          </p:nvPr>
        </p:nvSpPr>
        <p:spPr/>
        <p:txBody>
          <a:bodyPr/>
          <a:lstStyle/>
          <a:p>
            <a:r>
              <a:rPr lang="de-DE" dirty="0"/>
              <a:t>Kapitalflussrechnung</a:t>
            </a:r>
          </a:p>
          <a:p>
            <a:r>
              <a:rPr lang="de-DE" dirty="0"/>
              <a:t>Eigenkapitalspiegel</a:t>
            </a:r>
          </a:p>
          <a:p>
            <a:r>
              <a:rPr lang="de-DE" dirty="0"/>
              <a:t>Prüfungspflichten (§ 316 HGB) sowie Offenlegungspflichten (§ 325 f. HGB)                in Abhängigkeit von Größenklassen     (definiert in § 267 HGB) </a:t>
            </a:r>
          </a:p>
        </p:txBody>
      </p:sp>
    </p:spTree>
    <p:extLst>
      <p:ext uri="{BB962C8B-B14F-4D97-AF65-F5344CB8AC3E}">
        <p14:creationId xmlns:p14="http://schemas.microsoft.com/office/powerpoint/2010/main" val="3299687434"/>
      </p:ext>
    </p:extLst>
  </p:cSld>
  <p:clrMapOvr>
    <a:masterClrMapping/>
  </p:clrMapOvr>
</p:sld>
</file>

<file path=ppt/theme/theme1.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4749</Words>
  <Application>Microsoft Office PowerPoint</Application>
  <PresentationFormat>Bildschirmpräsentation (4:3)</PresentationFormat>
  <Paragraphs>572</Paragraphs>
  <Slides>62</Slides>
  <Notes>53</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62</vt:i4>
      </vt:variant>
    </vt:vector>
  </HeadingPairs>
  <TitlesOfParts>
    <vt:vector size="65" baseType="lpstr">
      <vt:lpstr>Arial</vt:lpstr>
      <vt:lpstr>Calibri</vt:lpstr>
      <vt:lpstr>Larissa-Design</vt:lpstr>
      <vt:lpstr>Jahresabschlussbuchungen im Industriebetrieb</vt:lpstr>
      <vt:lpstr>Jahresabschluss erstellen</vt:lpstr>
      <vt:lpstr>Jahresabschluss erstellen: zusätzliche Arbeiten im Überblick</vt:lpstr>
      <vt:lpstr>Ermittlung der MWSt-Position gegenüber dem FA</vt:lpstr>
      <vt:lpstr>Ermittlung der MWSt-Position gegenüber dem FA</vt:lpstr>
      <vt:lpstr>Inventur </vt:lpstr>
      <vt:lpstr>Inventur</vt:lpstr>
      <vt:lpstr>Vorgehen bei Inventurdifferenzen</vt:lpstr>
      <vt:lpstr>Inventurdifferenzen in der Kasse</vt:lpstr>
      <vt:lpstr>Inventurdifferenzen bei RHB</vt:lpstr>
      <vt:lpstr>Inventurdifferenzen bei Erzeugnissen</vt:lpstr>
      <vt:lpstr>Fertigerzeugnisse (2200)</vt:lpstr>
      <vt:lpstr>Unfertige Erzeugnisse (2100)</vt:lpstr>
      <vt:lpstr>Bewertung von Vermögenswerten</vt:lpstr>
      <vt:lpstr>Bewertung des Sach-AV</vt:lpstr>
      <vt:lpstr>Bewertung des Sach-AV</vt:lpstr>
      <vt:lpstr>Exkurs: Abschreibungen im ReWe</vt:lpstr>
      <vt:lpstr>Bewertung von Vorräten (UV)</vt:lpstr>
      <vt:lpstr>Strenges Niederstwertprinzip</vt:lpstr>
      <vt:lpstr>Strenges NWP am Bsp. der Einzelbewertung</vt:lpstr>
      <vt:lpstr>Sammelbewertung 1 Durchschnittsbewertung</vt:lpstr>
      <vt:lpstr>Sammelbewertung 2 Verbrauchsfolgeverfahren</vt:lpstr>
      <vt:lpstr>Bewertung von Forderungen</vt:lpstr>
      <vt:lpstr>Bewertung von Forderungen</vt:lpstr>
      <vt:lpstr>Einzelbewertung von Forderungen</vt:lpstr>
      <vt:lpstr>Pauschalwertberichtigung von Forderungen</vt:lpstr>
      <vt:lpstr>Bilanzausweis von Forderungen</vt:lpstr>
      <vt:lpstr>Bewertung von Wertpapieren</vt:lpstr>
      <vt:lpstr>Bewertung von Schulden</vt:lpstr>
      <vt:lpstr>Jahresabschluss erstellen: zusätzliche Arbeiten im Überblick</vt:lpstr>
      <vt:lpstr>Periodengerechte Erfolgsermittlung</vt:lpstr>
      <vt:lpstr>PowerPoint-Präsentation</vt:lpstr>
      <vt:lpstr>Periodengerechte Erfolgsermittlung</vt:lpstr>
      <vt:lpstr>Transitorische Posten</vt:lpstr>
      <vt:lpstr>Transitorische Posten 1) Aktive Rechnungsabgrenzung (ARAP)</vt:lpstr>
      <vt:lpstr>Transitorische Posten 2) Passive Rechnungsabgrenzung (PRAP)</vt:lpstr>
      <vt:lpstr>Antizipative Posten</vt:lpstr>
      <vt:lpstr>PowerPoint-Präsentation</vt:lpstr>
      <vt:lpstr>Antizipative Posten 1) Sonstige Verbindlichkeiten (4890)</vt:lpstr>
      <vt:lpstr>Antizipative Posten 2) Sonstige Forderungen (2690)</vt:lpstr>
      <vt:lpstr>Rückstellungen</vt:lpstr>
      <vt:lpstr>Begriff und gesetzliche Grundlage</vt:lpstr>
      <vt:lpstr>Kurzfristige Rückstellungen</vt:lpstr>
      <vt:lpstr>Anfallende Buchungen am Beispiel einer Steuerrückstellung (3800) </vt:lpstr>
      <vt:lpstr>Langfristige Rückstellungen</vt:lpstr>
      <vt:lpstr>Rückstellungen:  Finanztechnische Auswirkungen</vt:lpstr>
      <vt:lpstr>PowerPoint-Präsentation</vt:lpstr>
      <vt:lpstr>Übungen zu Rückstellungen  im Buch S. 284 f.</vt:lpstr>
      <vt:lpstr>Zusammenfassende Übungen</vt:lpstr>
      <vt:lpstr>Übung 1</vt:lpstr>
      <vt:lpstr>PowerPoint-Präsentation</vt:lpstr>
      <vt:lpstr>Übung 2</vt:lpstr>
      <vt:lpstr>PowerPoint-Präsentation</vt:lpstr>
      <vt:lpstr>Jahresabschluss erstellen: zusätzliche Arbeiten im Überblick</vt:lpstr>
      <vt:lpstr>Ordnungsgemäße Gliederung von Bilanz und GuV-Rechnung </vt:lpstr>
      <vt:lpstr>Bilanz</vt:lpstr>
      <vt:lpstr>PowerPoint-Präsentation</vt:lpstr>
      <vt:lpstr>PowerPoint-Präsentation</vt:lpstr>
      <vt:lpstr>GuV-Rechnung</vt:lpstr>
      <vt:lpstr>Anhang</vt:lpstr>
      <vt:lpstr>Lagebericht</vt:lpstr>
      <vt:lpstr>Weitere Anforderungen an kapitalmarktorientierte Gesellschaften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Rechnungslegung</dc:title>
  <dc:creator>Ralph Hoffmann</dc:creator>
  <cp:lastModifiedBy>Ralph Hoffmann</cp:lastModifiedBy>
  <cp:revision>23</cp:revision>
  <dcterms:created xsi:type="dcterms:W3CDTF">2020-11-29T17:57:58Z</dcterms:created>
  <dcterms:modified xsi:type="dcterms:W3CDTF">2025-03-26T14:08:24Z</dcterms:modified>
</cp:coreProperties>
</file>