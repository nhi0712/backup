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65" r:id="rId3"/>
    <p:sldId id="264" r:id="rId4"/>
    <p:sldId id="266" r:id="rId5"/>
    <p:sldId id="268" r:id="rId6"/>
    <p:sldId id="267" r:id="rId7"/>
    <p:sldId id="269" r:id="rId8"/>
    <p:sldId id="273" r:id="rId9"/>
    <p:sldId id="274" r:id="rId10"/>
    <p:sldId id="270" r:id="rId11"/>
    <p:sldId id="279" r:id="rId12"/>
    <p:sldId id="280" r:id="rId13"/>
    <p:sldId id="282" r:id="rId14"/>
  </p:sldIdLst>
  <p:sldSz cx="9144000" cy="6858000" type="screen4x3"/>
  <p:notesSz cx="6858000" cy="9144000"/>
  <p:custDataLst>
    <p:tags r:id="rId1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93" autoAdjust="0"/>
  </p:normalViewPr>
  <p:slideViewPr>
    <p:cSldViewPr>
      <p:cViewPr varScale="1">
        <p:scale>
          <a:sx n="52" d="100"/>
          <a:sy n="52" d="100"/>
        </p:scale>
        <p:origin x="1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DD" userId="fa5d8dce-1e87-4da3-b2b1-08b1cf4c506d" providerId="ADAL" clId="{9A043AA7-95BF-4209-8512-AF3009C93982}"/>
    <pc:docChg chg="modSld sldOrd">
      <pc:chgData name="Duong, Thi Quynh Nhi  SH/HZA-HAADD" userId="fa5d8dce-1e87-4da3-b2b1-08b1cf4c506d" providerId="ADAL" clId="{9A043AA7-95BF-4209-8512-AF3009C93982}" dt="2025-05-01T17:22:20.485" v="1"/>
      <pc:docMkLst>
        <pc:docMk/>
      </pc:docMkLst>
      <pc:sldChg chg="ord">
        <pc:chgData name="Duong, Thi Quynh Nhi  SH/HZA-HAADD" userId="fa5d8dce-1e87-4da3-b2b1-08b1cf4c506d" providerId="ADAL" clId="{9A043AA7-95BF-4209-8512-AF3009C93982}" dt="2025-05-01T17:22:20.485" v="1"/>
        <pc:sldMkLst>
          <pc:docMk/>
          <pc:sldMk cId="0" sldId="279"/>
        </pc:sldMkLst>
      </pc:sldChg>
    </pc:docChg>
  </pc:docChgLst>
  <pc:docChgLst>
    <pc:chgData name="Duong, Thi Quynh Nhi  SH/HZA-HAADD" userId="fa5d8dce-1e87-4da3-b2b1-08b1cf4c506d" providerId="ADAL" clId="{4D20404E-F99B-4053-A398-B61D18FFC8E6}"/>
    <pc:docChg chg="custSel modSld">
      <pc:chgData name="Duong, Thi Quynh Nhi  SH/HZA-HAADD" userId="fa5d8dce-1e87-4da3-b2b1-08b1cf4c506d" providerId="ADAL" clId="{4D20404E-F99B-4053-A398-B61D18FFC8E6}" dt="2025-03-06T10:19:47.280" v="477" actId="20577"/>
      <pc:docMkLst>
        <pc:docMk/>
      </pc:docMkLst>
      <pc:sldChg chg="modNotesTx">
        <pc:chgData name="Duong, Thi Quynh Nhi  SH/HZA-HAADD" userId="fa5d8dce-1e87-4da3-b2b1-08b1cf4c506d" providerId="ADAL" clId="{4D20404E-F99B-4053-A398-B61D18FFC8E6}" dt="2025-03-06T08:54:50.892" v="228" actId="20577"/>
        <pc:sldMkLst>
          <pc:docMk/>
          <pc:sldMk cId="0" sldId="269"/>
        </pc:sldMkLst>
      </pc:sldChg>
      <pc:sldChg chg="modNotesTx">
        <pc:chgData name="Duong, Thi Quynh Nhi  SH/HZA-HAADD" userId="fa5d8dce-1e87-4da3-b2b1-08b1cf4c506d" providerId="ADAL" clId="{4D20404E-F99B-4053-A398-B61D18FFC8E6}" dt="2025-03-06T09:10:28.537" v="317" actId="20577"/>
        <pc:sldMkLst>
          <pc:docMk/>
          <pc:sldMk cId="0" sldId="270"/>
        </pc:sldMkLst>
      </pc:sldChg>
      <pc:sldChg chg="modNotesTx">
        <pc:chgData name="Duong, Thi Quynh Nhi  SH/HZA-HAADD" userId="fa5d8dce-1e87-4da3-b2b1-08b1cf4c506d" providerId="ADAL" clId="{4D20404E-F99B-4053-A398-B61D18FFC8E6}" dt="2025-03-06T10:19:47.280" v="477" actId="20577"/>
        <pc:sldMkLst>
          <pc:docMk/>
          <pc:sldMk cId="981863798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0E8F0-96FB-42DA-BCE6-91E89C8A5193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CA4F0-8477-45D8-A10A-9ACF782B21DF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</a:t>
            </a:r>
            <a:r>
              <a:rPr lang="en-US" dirty="0" err="1"/>
              <a:t>Aufwandskonto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man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Soll Buchen.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bei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GuV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wird</a:t>
            </a:r>
            <a:r>
              <a:rPr lang="en-US" dirty="0">
                <a:sym typeface="Wingdings" panose="05000000000000000000" pitchFamily="2" charset="2"/>
              </a:rPr>
              <a:t> es </a:t>
            </a:r>
            <a:r>
              <a:rPr lang="en-US" dirty="0" err="1">
                <a:sym typeface="Wingdings" panose="05000000000000000000" pitchFamily="2" charset="2"/>
              </a:rPr>
              <a:t>bei</a:t>
            </a:r>
            <a:r>
              <a:rPr lang="en-US" dirty="0">
                <a:sym typeface="Wingdings" panose="05000000000000000000" pitchFamily="2" charset="2"/>
              </a:rPr>
              <a:t> der </a:t>
            </a:r>
            <a:r>
              <a:rPr lang="en-US" dirty="0" err="1">
                <a:sym typeface="Wingdings" panose="05000000000000000000" pitchFamily="2" charset="2"/>
              </a:rPr>
              <a:t>Sollkonto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gebucht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Minderung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CA4F0-8477-45D8-A10A-9ACF782B21DF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5754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Erfolgskonten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AB</a:t>
            </a:r>
          </a:p>
          <a:p>
            <a:r>
              <a:rPr lang="en-US" dirty="0" err="1"/>
              <a:t>Zuerst</a:t>
            </a:r>
            <a:r>
              <a:rPr lang="en-US" dirty="0"/>
              <a:t>: </a:t>
            </a:r>
            <a:r>
              <a:rPr lang="en-US" dirty="0" err="1"/>
              <a:t>Erfolgskonto</a:t>
            </a:r>
            <a:r>
              <a:rPr lang="en-US" dirty="0"/>
              <a:t> </a:t>
            </a:r>
            <a:r>
              <a:rPr lang="en-US" dirty="0" err="1"/>
              <a:t>abschließen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CA4F0-8477-45D8-A10A-9ACF782B21DF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08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3CA4F0-8477-45D8-A10A-9ACF782B21DF}" type="slidenum">
              <a:rPr lang="de-DE" smtClean="0"/>
              <a:pPr/>
              <a:t>12</a:t>
            </a:fld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Büromaterial</a:t>
            </a:r>
            <a:r>
              <a:rPr lang="en-US" dirty="0"/>
              <a:t>: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Verbrauchsmaterial</a:t>
            </a:r>
            <a:r>
              <a:rPr lang="en-US" dirty="0"/>
              <a:t> -&gt; </a:t>
            </a:r>
            <a:r>
              <a:rPr lang="en-US" dirty="0" err="1"/>
              <a:t>Sachanlagevermögen</a:t>
            </a:r>
            <a:r>
              <a:rPr lang="en-US" dirty="0"/>
              <a:t> </a:t>
            </a:r>
          </a:p>
          <a:p>
            <a:r>
              <a:rPr lang="en-US" dirty="0"/>
              <a:t>-&gt; In RW </a:t>
            </a:r>
            <a:r>
              <a:rPr lang="en-US" dirty="0" err="1"/>
              <a:t>wird</a:t>
            </a:r>
            <a:r>
              <a:rPr lang="en-US" dirty="0"/>
              <a:t> es </a:t>
            </a:r>
            <a:r>
              <a:rPr lang="en-US" dirty="0" err="1"/>
              <a:t>sofort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Aufwand</a:t>
            </a:r>
            <a:r>
              <a:rPr lang="en-US" dirty="0"/>
              <a:t> </a:t>
            </a:r>
            <a:r>
              <a:rPr lang="en-US" dirty="0" err="1"/>
              <a:t>berechnet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CA4F0-8477-45D8-A10A-9ACF782B21DF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350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6B41A-1A19-42F6-BF0A-4CE712537B09}" type="datetimeFigureOut">
              <a:rPr lang="de-DE" smtClean="0"/>
              <a:pPr/>
              <a:t>01.05.2025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6CC028C-7554-0F4B-C6CD-A4D27078EAE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66387" y="6672580"/>
            <a:ext cx="433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9" name="Picture 17"/>
          <p:cNvPicPr>
            <a:picLocks noChangeAspect="1" noChangeArrowheads="1"/>
          </p:cNvPicPr>
          <p:nvPr/>
        </p:nvPicPr>
        <p:blipFill>
          <a:blip r:embed="rId2" cstate="print"/>
          <a:srcRect l="21262" t="21000" r="21566" b="14321"/>
          <a:stretch>
            <a:fillRect/>
          </a:stretch>
        </p:blipFill>
        <p:spPr bwMode="auto">
          <a:xfrm>
            <a:off x="251520" y="836712"/>
            <a:ext cx="8712968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Anwendung zur Einführung in  Erfolgskonten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9" name="Picture 17"/>
          <p:cNvPicPr>
            <a:picLocks noChangeAspect="1" noChangeArrowheads="1"/>
          </p:cNvPicPr>
          <p:nvPr/>
        </p:nvPicPr>
        <p:blipFill>
          <a:blip r:embed="rId2" cstate="print"/>
          <a:srcRect l="21262" t="21000" r="21566" b="14321"/>
          <a:stretch>
            <a:fillRect/>
          </a:stretch>
        </p:blipFill>
        <p:spPr bwMode="auto">
          <a:xfrm>
            <a:off x="179512" y="764704"/>
            <a:ext cx="8712968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Einführung Erfolgskonten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5940152" y="4365104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Bank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7884368" y="436510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EK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5292080" y="4941168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Bank   1000  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699792" y="494116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EK  1000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2627784" y="5589240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Aktiv Passiv Minderung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 l="20317" t="21000" r="20621" b="8441"/>
          <a:stretch>
            <a:fillRect/>
          </a:stretch>
        </p:blipFill>
        <p:spPr bwMode="auto">
          <a:xfrm>
            <a:off x="143000" y="809328"/>
            <a:ext cx="9001000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Einführung Erfolgskonten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Einführung Erfolgskonten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 l="18427" t="19000" r="18731" b="6761"/>
          <a:stretch>
            <a:fillRect/>
          </a:stretch>
        </p:blipFill>
        <p:spPr bwMode="auto">
          <a:xfrm>
            <a:off x="0" y="764704"/>
            <a:ext cx="91440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/>
          <p:nvPr/>
        </p:nvSpPr>
        <p:spPr>
          <a:xfrm>
            <a:off x="179512" y="6381328"/>
            <a:ext cx="640871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de-DE" b="1" dirty="0"/>
              <a:t>Lösung:  </a:t>
            </a:r>
            <a:r>
              <a:rPr lang="de-DE" dirty="0"/>
              <a:t>Anlage von </a:t>
            </a:r>
            <a:r>
              <a:rPr lang="de-DE" b="1" i="1" dirty="0"/>
              <a:t>Erfolgskonten</a:t>
            </a:r>
            <a:r>
              <a:rPr lang="de-DE" dirty="0"/>
              <a:t> als Unterkonten des EK Kontos</a:t>
            </a:r>
            <a:r>
              <a:rPr lang="de-DE" b="1" dirty="0"/>
              <a:t>  </a:t>
            </a:r>
          </a:p>
        </p:txBody>
      </p:sp>
      <p:sp>
        <p:nvSpPr>
          <p:cNvPr id="6" name="Rechteck 5"/>
          <p:cNvSpPr/>
          <p:nvPr/>
        </p:nvSpPr>
        <p:spPr>
          <a:xfrm>
            <a:off x="2123728" y="3140968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2771800" y="4365104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2843808" y="4653136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/>
        </p:nvSpPr>
        <p:spPr>
          <a:xfrm>
            <a:off x="7020272" y="3140968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/>
        </p:nvSpPr>
        <p:spPr>
          <a:xfrm>
            <a:off x="0" y="3140968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4788024" y="4365104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004048" y="3140968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4788024" y="4653136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>
            <a:off x="3131840" y="5373216"/>
            <a:ext cx="93610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/>
        </p:nvSpPr>
        <p:spPr>
          <a:xfrm>
            <a:off x="4283968" y="5373216"/>
            <a:ext cx="201622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6588224" y="5373216"/>
            <a:ext cx="93610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 l="28822" t="18480" r="29126" b="8441"/>
          <a:stretch>
            <a:fillRect/>
          </a:stretch>
        </p:blipFill>
        <p:spPr bwMode="auto">
          <a:xfrm>
            <a:off x="2555776" y="620688"/>
            <a:ext cx="6408712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539552" y="0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Einführung Erfolgskonten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251520" y="908720"/>
            <a:ext cx="2160240" cy="3600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Verbuche die Aufwendungen und Erträge aus </a:t>
            </a:r>
            <a:r>
              <a:rPr lang="de-DE">
                <a:solidFill>
                  <a:schemeClr val="tx1"/>
                </a:solidFill>
              </a:rPr>
              <a:t>den Geschäftsfällen </a:t>
            </a:r>
            <a:r>
              <a:rPr lang="de-DE" dirty="0">
                <a:solidFill>
                  <a:schemeClr val="tx1"/>
                </a:solidFill>
              </a:rPr>
              <a:t>in den Erfolgskonten. Die Gegenbuchungen in den Konten Kasse und Bank sind nicht vorzunehmen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 l="28822" t="20160" r="29126" b="8441"/>
          <a:stretch>
            <a:fillRect/>
          </a:stretch>
        </p:blipFill>
        <p:spPr bwMode="auto">
          <a:xfrm>
            <a:off x="1259632" y="737320"/>
            <a:ext cx="6408712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Einführung Erfolgskonten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 l="19845" t="19320" r="21094" b="9281"/>
          <a:stretch>
            <a:fillRect/>
          </a:stretch>
        </p:blipFill>
        <p:spPr bwMode="auto">
          <a:xfrm>
            <a:off x="107504" y="737320"/>
            <a:ext cx="9001000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Buchung auf Erfolgskonten und deren Abschluss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7839"/>
            <a:ext cx="8136904" cy="610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79695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de-DE" dirty="0"/>
              <a:t>Buchungsanweisungen (Soll an Haben)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1340768"/>
            <a:ext cx="8784976" cy="4785395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Barkauf einer Schreibmaschine     600,00 €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BGA                                            an            Kasse</a:t>
            </a:r>
            <a:br>
              <a:rPr lang="de-DE" b="1" dirty="0">
                <a:solidFill>
                  <a:srgbClr val="FF0000"/>
                </a:solidFill>
              </a:rPr>
            </a:br>
            <a:endParaRPr lang="de-DE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Wir erhalten Miete in Höhe von 800,00 bar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Kasse                                          an             Mieterträge </a:t>
            </a:r>
            <a:r>
              <a:rPr lang="de-DE" dirty="0"/>
              <a:t>    </a:t>
            </a:r>
            <a:br>
              <a:rPr lang="de-DE" dirty="0"/>
            </a:b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Wir halten 16.300,00 € Provision durch Bankscheck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Bank                                           an            Sonstige Erträge</a:t>
            </a:r>
            <a:br>
              <a:rPr lang="de-DE" b="1" dirty="0">
                <a:solidFill>
                  <a:srgbClr val="FF0000"/>
                </a:solidFill>
              </a:rPr>
            </a:br>
            <a:endParaRPr lang="de-DE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Wir zahlen 2.000,00 € Darlehenszinsen durch Banküberweisung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Zinsaufwendungen                 an             Bank  </a:t>
            </a:r>
            <a:br>
              <a:rPr lang="de-DE" dirty="0"/>
            </a:br>
            <a:r>
              <a:rPr lang="de-DE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Gehalt in Höhe von 1.800,00 € wird bar ausgezahlt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Gehaltsaufwendungen            an             Kasse</a:t>
            </a:r>
            <a:br>
              <a:rPr lang="de-DE" b="1" dirty="0">
                <a:solidFill>
                  <a:srgbClr val="FF0000"/>
                </a:solidFill>
              </a:rPr>
            </a:br>
            <a:endParaRPr lang="de-DE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Eine Lieferantenrechnung in Höhe von 9.000,00 € wird durch Banküberweisung beglichen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Verbindlichkeiten                    an             Bank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hteck 218"/>
          <p:cNvSpPr/>
          <p:nvPr/>
        </p:nvSpPr>
        <p:spPr>
          <a:xfrm>
            <a:off x="5004048" y="3699102"/>
            <a:ext cx="4067944" cy="16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8" name="Rechteck 217"/>
          <p:cNvSpPr/>
          <p:nvPr/>
        </p:nvSpPr>
        <p:spPr>
          <a:xfrm>
            <a:off x="144016" y="3699834"/>
            <a:ext cx="4067944" cy="16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7" name="Rechteck 216"/>
          <p:cNvSpPr/>
          <p:nvPr/>
        </p:nvSpPr>
        <p:spPr>
          <a:xfrm>
            <a:off x="5004048" y="18662"/>
            <a:ext cx="4067944" cy="36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" name="Rechteck 215"/>
          <p:cNvSpPr/>
          <p:nvPr/>
        </p:nvSpPr>
        <p:spPr>
          <a:xfrm>
            <a:off x="144016" y="27993"/>
            <a:ext cx="4067944" cy="363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pieren 104"/>
          <p:cNvGrpSpPr/>
          <p:nvPr/>
        </p:nvGrpSpPr>
        <p:grpSpPr>
          <a:xfrm>
            <a:off x="179512" y="-56698"/>
            <a:ext cx="3675459" cy="830188"/>
            <a:chOff x="179512" y="2171846"/>
            <a:chExt cx="3675459" cy="830188"/>
          </a:xfrm>
        </p:grpSpPr>
        <p:cxnSp>
          <p:nvCxnSpPr>
            <p:cNvPr id="11" name="Gerade Verbindung 10"/>
            <p:cNvCxnSpPr/>
            <p:nvPr/>
          </p:nvCxnSpPr>
          <p:spPr>
            <a:xfrm>
              <a:off x="251920" y="2497978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11"/>
            <p:cNvCxnSpPr/>
            <p:nvPr/>
          </p:nvCxnSpPr>
          <p:spPr>
            <a:xfrm>
              <a:off x="2051720" y="2497978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/>
            <p:cNvSpPr txBox="1"/>
            <p:nvPr/>
          </p:nvSpPr>
          <p:spPr>
            <a:xfrm>
              <a:off x="179512" y="22006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14" name="Textfeld 13"/>
            <p:cNvSpPr txBox="1"/>
            <p:nvPr/>
          </p:nvSpPr>
          <p:spPr>
            <a:xfrm>
              <a:off x="3638947" y="2209946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1259632" y="2171846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BGA</a:t>
              </a:r>
            </a:p>
          </p:txBody>
        </p:sp>
      </p:grpSp>
      <p:grpSp>
        <p:nvGrpSpPr>
          <p:cNvPr id="4" name="Gruppieren 162"/>
          <p:cNvGrpSpPr/>
          <p:nvPr/>
        </p:nvGrpSpPr>
        <p:grpSpPr>
          <a:xfrm>
            <a:off x="179512" y="2239572"/>
            <a:ext cx="3675459" cy="1370132"/>
            <a:chOff x="179512" y="2239572"/>
            <a:chExt cx="3675459" cy="1370132"/>
          </a:xfrm>
        </p:grpSpPr>
        <p:cxnSp>
          <p:nvCxnSpPr>
            <p:cNvPr id="17" name="Gerade Verbindung 16"/>
            <p:cNvCxnSpPr/>
            <p:nvPr/>
          </p:nvCxnSpPr>
          <p:spPr>
            <a:xfrm>
              <a:off x="251520" y="2565704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7"/>
            <p:cNvCxnSpPr/>
            <p:nvPr/>
          </p:nvCxnSpPr>
          <p:spPr>
            <a:xfrm>
              <a:off x="2051720" y="2565704"/>
              <a:ext cx="0" cy="1044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/>
            <p:cNvSpPr txBox="1"/>
            <p:nvPr/>
          </p:nvSpPr>
          <p:spPr>
            <a:xfrm>
              <a:off x="179512" y="2268380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3638947" y="227767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21" name="Textfeld 20"/>
            <p:cNvSpPr txBox="1"/>
            <p:nvPr/>
          </p:nvSpPr>
          <p:spPr>
            <a:xfrm>
              <a:off x="1259632" y="223957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Bank</a:t>
              </a:r>
            </a:p>
          </p:txBody>
        </p:sp>
      </p:grpSp>
      <p:grpSp>
        <p:nvGrpSpPr>
          <p:cNvPr id="5" name="Gruppieren 153"/>
          <p:cNvGrpSpPr/>
          <p:nvPr/>
        </p:nvGrpSpPr>
        <p:grpSpPr>
          <a:xfrm>
            <a:off x="5218931" y="2198064"/>
            <a:ext cx="3673549" cy="1082132"/>
            <a:chOff x="5218931" y="2198064"/>
            <a:chExt cx="3673549" cy="1082132"/>
          </a:xfrm>
        </p:grpSpPr>
        <p:cxnSp>
          <p:nvCxnSpPr>
            <p:cNvPr id="23" name="Gerade Verbindung 22"/>
            <p:cNvCxnSpPr/>
            <p:nvPr/>
          </p:nvCxnSpPr>
          <p:spPr>
            <a:xfrm>
              <a:off x="5292480" y="2524196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23"/>
            <p:cNvCxnSpPr/>
            <p:nvPr/>
          </p:nvCxnSpPr>
          <p:spPr>
            <a:xfrm>
              <a:off x="7092280" y="2524196"/>
              <a:ext cx="0" cy="756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/>
            <p:cNvSpPr txBox="1"/>
            <p:nvPr/>
          </p:nvSpPr>
          <p:spPr>
            <a:xfrm>
              <a:off x="5218931" y="222687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26" name="Textfeld 25"/>
            <p:cNvSpPr txBox="1"/>
            <p:nvPr/>
          </p:nvSpPr>
          <p:spPr>
            <a:xfrm>
              <a:off x="8666559" y="223616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27" name="Textfeld 26"/>
            <p:cNvSpPr txBox="1"/>
            <p:nvPr/>
          </p:nvSpPr>
          <p:spPr>
            <a:xfrm>
              <a:off x="6300192" y="219806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Verbind.</a:t>
              </a:r>
            </a:p>
          </p:txBody>
        </p:sp>
      </p:grpSp>
      <p:grpSp>
        <p:nvGrpSpPr>
          <p:cNvPr id="6" name="Gruppieren 108"/>
          <p:cNvGrpSpPr/>
          <p:nvPr/>
        </p:nvGrpSpPr>
        <p:grpSpPr>
          <a:xfrm>
            <a:off x="5218931" y="990020"/>
            <a:ext cx="3673549" cy="830188"/>
            <a:chOff x="5218931" y="3117242"/>
            <a:chExt cx="3673549" cy="830188"/>
          </a:xfrm>
        </p:grpSpPr>
        <p:cxnSp>
          <p:nvCxnSpPr>
            <p:cNvPr id="29" name="Gerade Verbindung 28"/>
            <p:cNvCxnSpPr/>
            <p:nvPr/>
          </p:nvCxnSpPr>
          <p:spPr>
            <a:xfrm>
              <a:off x="5292480" y="3443374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29"/>
            <p:cNvCxnSpPr/>
            <p:nvPr/>
          </p:nvCxnSpPr>
          <p:spPr>
            <a:xfrm>
              <a:off x="7092280" y="3443374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/>
            <p:cNvSpPr txBox="1"/>
            <p:nvPr/>
          </p:nvSpPr>
          <p:spPr>
            <a:xfrm>
              <a:off x="5218931" y="3146050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32" name="Textfeld 31"/>
            <p:cNvSpPr txBox="1"/>
            <p:nvPr/>
          </p:nvSpPr>
          <p:spPr>
            <a:xfrm>
              <a:off x="8666559" y="315534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33" name="Textfeld 32"/>
            <p:cNvSpPr txBox="1"/>
            <p:nvPr/>
          </p:nvSpPr>
          <p:spPr>
            <a:xfrm>
              <a:off x="6300192" y="311724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Darlehen</a:t>
              </a:r>
            </a:p>
          </p:txBody>
        </p:sp>
      </p:grpSp>
      <p:grpSp>
        <p:nvGrpSpPr>
          <p:cNvPr id="7" name="Gruppieren 107"/>
          <p:cNvGrpSpPr/>
          <p:nvPr/>
        </p:nvGrpSpPr>
        <p:grpSpPr>
          <a:xfrm>
            <a:off x="5218931" y="-47406"/>
            <a:ext cx="3673549" cy="830188"/>
            <a:chOff x="5218931" y="2181138"/>
            <a:chExt cx="3673549" cy="830188"/>
          </a:xfrm>
        </p:grpSpPr>
        <p:cxnSp>
          <p:nvCxnSpPr>
            <p:cNvPr id="35" name="Gerade Verbindung 34"/>
            <p:cNvCxnSpPr/>
            <p:nvPr/>
          </p:nvCxnSpPr>
          <p:spPr>
            <a:xfrm>
              <a:off x="5292480" y="2507270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35"/>
            <p:cNvCxnSpPr/>
            <p:nvPr/>
          </p:nvCxnSpPr>
          <p:spPr>
            <a:xfrm>
              <a:off x="7092280" y="2507270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/>
            <p:cNvSpPr txBox="1"/>
            <p:nvPr/>
          </p:nvSpPr>
          <p:spPr>
            <a:xfrm>
              <a:off x="5218931" y="2209946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38" name="Textfeld 37"/>
            <p:cNvSpPr txBox="1"/>
            <p:nvPr/>
          </p:nvSpPr>
          <p:spPr>
            <a:xfrm>
              <a:off x="8666559" y="2219238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39" name="Textfeld 38"/>
            <p:cNvSpPr txBox="1"/>
            <p:nvPr/>
          </p:nvSpPr>
          <p:spPr>
            <a:xfrm>
              <a:off x="6300192" y="2181138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EK</a:t>
              </a:r>
            </a:p>
          </p:txBody>
        </p:sp>
      </p:grpSp>
      <p:grpSp>
        <p:nvGrpSpPr>
          <p:cNvPr id="8" name="Gruppieren 161"/>
          <p:cNvGrpSpPr/>
          <p:nvPr/>
        </p:nvGrpSpPr>
        <p:grpSpPr>
          <a:xfrm>
            <a:off x="179512" y="980728"/>
            <a:ext cx="3675459" cy="1190132"/>
            <a:chOff x="179512" y="980728"/>
            <a:chExt cx="3675459" cy="1190132"/>
          </a:xfrm>
        </p:grpSpPr>
        <p:cxnSp>
          <p:nvCxnSpPr>
            <p:cNvPr id="41" name="Gerade Verbindung 40"/>
            <p:cNvCxnSpPr/>
            <p:nvPr/>
          </p:nvCxnSpPr>
          <p:spPr>
            <a:xfrm>
              <a:off x="251520" y="1306860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41"/>
            <p:cNvCxnSpPr/>
            <p:nvPr/>
          </p:nvCxnSpPr>
          <p:spPr>
            <a:xfrm>
              <a:off x="2051720" y="1306860"/>
              <a:ext cx="0" cy="864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/>
            <p:cNvSpPr txBox="1"/>
            <p:nvPr/>
          </p:nvSpPr>
          <p:spPr>
            <a:xfrm>
              <a:off x="179512" y="1009536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44" name="Textfeld 43"/>
            <p:cNvSpPr txBox="1"/>
            <p:nvPr/>
          </p:nvSpPr>
          <p:spPr>
            <a:xfrm>
              <a:off x="3638947" y="1018828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45" name="Textfeld 44"/>
            <p:cNvSpPr txBox="1"/>
            <p:nvPr/>
          </p:nvSpPr>
          <p:spPr>
            <a:xfrm>
              <a:off x="1259632" y="980728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Kasse</a:t>
              </a:r>
            </a:p>
          </p:txBody>
        </p:sp>
      </p:grpSp>
      <p:grpSp>
        <p:nvGrpSpPr>
          <p:cNvPr id="9" name="Gruppieren 88"/>
          <p:cNvGrpSpPr/>
          <p:nvPr/>
        </p:nvGrpSpPr>
        <p:grpSpPr>
          <a:xfrm>
            <a:off x="4721349" y="5325465"/>
            <a:ext cx="4603179" cy="1434953"/>
            <a:chOff x="2489101" y="337863"/>
            <a:chExt cx="4603179" cy="1434953"/>
          </a:xfrm>
        </p:grpSpPr>
        <p:cxnSp>
          <p:nvCxnSpPr>
            <p:cNvPr id="90" name="Gerade Verbindung 89"/>
            <p:cNvCxnSpPr/>
            <p:nvPr/>
          </p:nvCxnSpPr>
          <p:spPr>
            <a:xfrm>
              <a:off x="2489101" y="751961"/>
              <a:ext cx="4265065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 Verbindung 90"/>
            <p:cNvCxnSpPr/>
            <p:nvPr/>
          </p:nvCxnSpPr>
          <p:spPr>
            <a:xfrm>
              <a:off x="4572040" y="751961"/>
              <a:ext cx="0" cy="10208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/>
            <p:cNvSpPr txBox="1"/>
            <p:nvPr/>
          </p:nvSpPr>
          <p:spPr>
            <a:xfrm>
              <a:off x="2513799" y="428237"/>
              <a:ext cx="1194105" cy="53098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/>
                <a:t>Aktiva</a:t>
              </a:r>
            </a:p>
          </p:txBody>
        </p:sp>
        <p:sp>
          <p:nvSpPr>
            <p:cNvPr id="93" name="Textfeld 92"/>
            <p:cNvSpPr txBox="1"/>
            <p:nvPr/>
          </p:nvSpPr>
          <p:spPr>
            <a:xfrm>
              <a:off x="6001217" y="441596"/>
              <a:ext cx="1091063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/>
                <a:t>Passiva</a:t>
              </a:r>
            </a:p>
          </p:txBody>
        </p:sp>
        <p:sp>
          <p:nvSpPr>
            <p:cNvPr id="94" name="Textfeld 93"/>
            <p:cNvSpPr txBox="1"/>
            <p:nvPr/>
          </p:nvSpPr>
          <p:spPr>
            <a:xfrm>
              <a:off x="3184798" y="337863"/>
              <a:ext cx="2880320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b="1" dirty="0"/>
                <a:t>Schlussbilanz(</a:t>
              </a:r>
              <a:r>
                <a:rPr lang="de-DE" sz="2400" b="1" dirty="0" err="1"/>
                <a:t>konto</a:t>
              </a:r>
              <a:r>
                <a:rPr lang="de-DE" sz="2400" b="1" dirty="0"/>
                <a:t>)</a:t>
              </a:r>
            </a:p>
          </p:txBody>
        </p:sp>
      </p:grpSp>
      <p:sp>
        <p:nvSpPr>
          <p:cNvPr id="95" name="Textfeld 94"/>
          <p:cNvSpPr txBox="1"/>
          <p:nvPr/>
        </p:nvSpPr>
        <p:spPr>
          <a:xfrm>
            <a:off x="4696966" y="5734863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3">
                    <a:lumMod val="75000"/>
                  </a:schemeClr>
                </a:solidFill>
              </a:rPr>
              <a:t>BGA 	   100.600</a:t>
            </a:r>
          </a:p>
        </p:txBody>
      </p:sp>
      <p:sp>
        <p:nvSpPr>
          <p:cNvPr id="96" name="Textfeld 95"/>
          <p:cNvSpPr txBox="1"/>
          <p:nvPr/>
        </p:nvSpPr>
        <p:spPr>
          <a:xfrm>
            <a:off x="4696966" y="5960179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3">
                    <a:lumMod val="75000"/>
                  </a:schemeClr>
                </a:solidFill>
              </a:rPr>
              <a:t>Kasse 	           400</a:t>
            </a:r>
          </a:p>
        </p:txBody>
      </p:sp>
      <p:sp>
        <p:nvSpPr>
          <p:cNvPr id="97" name="Textfeld 96"/>
          <p:cNvSpPr txBox="1"/>
          <p:nvPr/>
        </p:nvSpPr>
        <p:spPr>
          <a:xfrm>
            <a:off x="4696966" y="6205011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3">
                    <a:lumMod val="75000"/>
                  </a:schemeClr>
                </a:solidFill>
              </a:rPr>
              <a:t>Bank 	     55.300</a:t>
            </a:r>
          </a:p>
        </p:txBody>
      </p:sp>
      <p:sp>
        <p:nvSpPr>
          <p:cNvPr id="98" name="Textfeld 97"/>
          <p:cNvSpPr txBox="1"/>
          <p:nvPr/>
        </p:nvSpPr>
        <p:spPr>
          <a:xfrm>
            <a:off x="6773533" y="5744155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EK 	</a:t>
            </a:r>
            <a:r>
              <a:rPr lang="de-DE" sz="1400" b="1" dirty="0"/>
              <a:t> </a:t>
            </a:r>
            <a:r>
              <a:rPr lang="de-DE" b="1" dirty="0"/>
              <a:t>   115.300</a:t>
            </a:r>
          </a:p>
        </p:txBody>
      </p:sp>
      <p:sp>
        <p:nvSpPr>
          <p:cNvPr id="99" name="Textfeld 98"/>
          <p:cNvSpPr txBox="1"/>
          <p:nvPr/>
        </p:nvSpPr>
        <p:spPr>
          <a:xfrm>
            <a:off x="6786233" y="6165304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6">
                    <a:lumMod val="50000"/>
                  </a:schemeClr>
                </a:solidFill>
              </a:rPr>
              <a:t>Verb.a.LL</a:t>
            </a:r>
            <a:r>
              <a:rPr lang="de-DE" b="1" dirty="0">
                <a:solidFill>
                  <a:schemeClr val="accent6">
                    <a:lumMod val="50000"/>
                  </a:schemeClr>
                </a:solidFill>
              </a:rPr>
              <a:t>       11.000</a:t>
            </a:r>
          </a:p>
        </p:txBody>
      </p:sp>
      <p:sp>
        <p:nvSpPr>
          <p:cNvPr id="100" name="Textfeld 99"/>
          <p:cNvSpPr txBox="1"/>
          <p:nvPr/>
        </p:nvSpPr>
        <p:spPr>
          <a:xfrm>
            <a:off x="6782498" y="5952688"/>
            <a:ext cx="250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6">
                    <a:lumMod val="50000"/>
                  </a:schemeClr>
                </a:solidFill>
              </a:rPr>
              <a:t>Darlehen	      30.000</a:t>
            </a:r>
          </a:p>
        </p:txBody>
      </p:sp>
      <p:cxnSp>
        <p:nvCxnSpPr>
          <p:cNvPr id="101" name="Gerade Verbindung 100"/>
          <p:cNvCxnSpPr/>
          <p:nvPr/>
        </p:nvCxnSpPr>
        <p:spPr>
          <a:xfrm>
            <a:off x="4860032" y="6544394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feld 101"/>
          <p:cNvSpPr txBox="1"/>
          <p:nvPr/>
        </p:nvSpPr>
        <p:spPr>
          <a:xfrm>
            <a:off x="4744591" y="6516052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	  156.300</a:t>
            </a:r>
          </a:p>
        </p:txBody>
      </p:sp>
      <p:sp>
        <p:nvSpPr>
          <p:cNvPr id="103" name="Textfeld 102"/>
          <p:cNvSpPr txBox="1"/>
          <p:nvPr/>
        </p:nvSpPr>
        <p:spPr>
          <a:xfrm>
            <a:off x="6835998" y="6472386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	   156.300</a:t>
            </a:r>
          </a:p>
        </p:txBody>
      </p:sp>
      <p:sp>
        <p:nvSpPr>
          <p:cNvPr id="111" name="Textfeld 110"/>
          <p:cNvSpPr txBox="1"/>
          <p:nvPr/>
        </p:nvSpPr>
        <p:spPr>
          <a:xfrm>
            <a:off x="148797" y="226485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100.000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145604" y="130177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    2.000</a:t>
            </a:r>
          </a:p>
        </p:txBody>
      </p:sp>
      <p:sp>
        <p:nvSpPr>
          <p:cNvPr id="118" name="Textfeld 117"/>
          <p:cNvSpPr txBox="1"/>
          <p:nvPr/>
        </p:nvSpPr>
        <p:spPr>
          <a:xfrm>
            <a:off x="150937" y="258210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    50.000</a:t>
            </a:r>
          </a:p>
        </p:txBody>
      </p:sp>
      <p:sp>
        <p:nvSpPr>
          <p:cNvPr id="120" name="Textfeld 119"/>
          <p:cNvSpPr txBox="1"/>
          <p:nvPr/>
        </p:nvSpPr>
        <p:spPr>
          <a:xfrm>
            <a:off x="7059425" y="24712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102.000</a:t>
            </a:r>
          </a:p>
        </p:txBody>
      </p:sp>
      <p:sp>
        <p:nvSpPr>
          <p:cNvPr id="121" name="Textfeld 120"/>
          <p:cNvSpPr txBox="1"/>
          <p:nvPr/>
        </p:nvSpPr>
        <p:spPr>
          <a:xfrm>
            <a:off x="7056232" y="130177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  30.000</a:t>
            </a:r>
          </a:p>
        </p:txBody>
      </p:sp>
      <p:sp>
        <p:nvSpPr>
          <p:cNvPr id="122" name="Textfeld 121"/>
          <p:cNvSpPr txBox="1"/>
          <p:nvPr/>
        </p:nvSpPr>
        <p:spPr>
          <a:xfrm>
            <a:off x="7061565" y="254624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   20.000</a:t>
            </a:r>
          </a:p>
        </p:txBody>
      </p:sp>
      <p:sp>
        <p:nvSpPr>
          <p:cNvPr id="123" name="Textfeld 122"/>
          <p:cNvSpPr txBox="1"/>
          <p:nvPr/>
        </p:nvSpPr>
        <p:spPr>
          <a:xfrm>
            <a:off x="136649" y="44646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(1)Kasse 	         600</a:t>
            </a:r>
          </a:p>
        </p:txBody>
      </p:sp>
      <p:sp>
        <p:nvSpPr>
          <p:cNvPr id="124" name="Textfeld 123"/>
          <p:cNvSpPr txBox="1"/>
          <p:nvPr/>
        </p:nvSpPr>
        <p:spPr>
          <a:xfrm>
            <a:off x="2051720" y="130177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(1)BGA 	          600</a:t>
            </a:r>
          </a:p>
        </p:txBody>
      </p:sp>
      <p:sp>
        <p:nvSpPr>
          <p:cNvPr id="125" name="Textfeld 124"/>
          <p:cNvSpPr txBox="1"/>
          <p:nvPr/>
        </p:nvSpPr>
        <p:spPr>
          <a:xfrm>
            <a:off x="5193177" y="130177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6">
                    <a:lumMod val="50000"/>
                  </a:schemeClr>
                </a:solidFill>
              </a:rPr>
              <a:t>SBK                  30.000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127000" y="2836844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(3)</a:t>
            </a:r>
            <a:r>
              <a:rPr lang="de-DE" sz="1200" dirty="0" err="1"/>
              <a:t>Sonst.Er</a:t>
            </a:r>
            <a:r>
              <a:rPr lang="de-DE" sz="1600" dirty="0"/>
              <a:t>.   </a:t>
            </a:r>
            <a:r>
              <a:rPr lang="de-DE" sz="1400" dirty="0"/>
              <a:t>  </a:t>
            </a:r>
            <a:r>
              <a:rPr lang="de-DE" sz="1100" dirty="0"/>
              <a:t> </a:t>
            </a:r>
            <a:r>
              <a:rPr lang="de-DE" sz="1600" dirty="0"/>
              <a:t>   16.300</a:t>
            </a:r>
          </a:p>
        </p:txBody>
      </p:sp>
      <p:cxnSp>
        <p:nvCxnSpPr>
          <p:cNvPr id="129" name="Gerade Verbindung 128"/>
          <p:cNvCxnSpPr/>
          <p:nvPr/>
        </p:nvCxnSpPr>
        <p:spPr>
          <a:xfrm>
            <a:off x="251520" y="735390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Gerade Verbindung 129"/>
          <p:cNvCxnSpPr/>
          <p:nvPr/>
        </p:nvCxnSpPr>
        <p:spPr>
          <a:xfrm>
            <a:off x="323928" y="1987976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130"/>
          <p:cNvCxnSpPr/>
          <p:nvPr/>
        </p:nvCxnSpPr>
        <p:spPr>
          <a:xfrm>
            <a:off x="251520" y="3365778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 Verbindung 131"/>
          <p:cNvCxnSpPr/>
          <p:nvPr/>
        </p:nvCxnSpPr>
        <p:spPr>
          <a:xfrm>
            <a:off x="5258172" y="836712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132"/>
          <p:cNvCxnSpPr/>
          <p:nvPr/>
        </p:nvCxnSpPr>
        <p:spPr>
          <a:xfrm>
            <a:off x="5364488" y="1628800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Gerade Verbindung 133"/>
          <p:cNvCxnSpPr/>
          <p:nvPr/>
        </p:nvCxnSpPr>
        <p:spPr>
          <a:xfrm>
            <a:off x="5292080" y="3090168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feld 134"/>
          <p:cNvSpPr txBox="1"/>
          <p:nvPr/>
        </p:nvSpPr>
        <p:spPr>
          <a:xfrm>
            <a:off x="215900" y="692696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100.600</a:t>
            </a:r>
          </a:p>
        </p:txBody>
      </p:sp>
      <p:sp>
        <p:nvSpPr>
          <p:cNvPr id="136" name="Textfeld 135"/>
          <p:cNvSpPr txBox="1"/>
          <p:nvPr/>
        </p:nvSpPr>
        <p:spPr>
          <a:xfrm>
            <a:off x="2051720" y="692974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100.600</a:t>
            </a:r>
          </a:p>
        </p:txBody>
      </p:sp>
      <p:sp>
        <p:nvSpPr>
          <p:cNvPr id="137" name="Textfeld 136"/>
          <p:cNvSpPr txBox="1"/>
          <p:nvPr/>
        </p:nvSpPr>
        <p:spPr>
          <a:xfrm>
            <a:off x="2067613" y="25282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3">
                    <a:lumMod val="75000"/>
                  </a:schemeClr>
                </a:solidFill>
              </a:rPr>
              <a:t>SBK              100.600</a:t>
            </a:r>
          </a:p>
        </p:txBody>
      </p:sp>
      <p:sp>
        <p:nvSpPr>
          <p:cNvPr id="138" name="Textfeld 137"/>
          <p:cNvSpPr txBox="1"/>
          <p:nvPr/>
        </p:nvSpPr>
        <p:spPr>
          <a:xfrm>
            <a:off x="313308" y="1974476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2.800</a:t>
            </a:r>
          </a:p>
        </p:txBody>
      </p:sp>
      <p:sp>
        <p:nvSpPr>
          <p:cNvPr id="139" name="Textfeld 138"/>
          <p:cNvSpPr txBox="1"/>
          <p:nvPr/>
        </p:nvSpPr>
        <p:spPr>
          <a:xfrm>
            <a:off x="2149128" y="1974754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2.800</a:t>
            </a:r>
          </a:p>
        </p:txBody>
      </p:sp>
      <p:sp>
        <p:nvSpPr>
          <p:cNvPr id="140" name="Textfeld 139"/>
          <p:cNvSpPr txBox="1"/>
          <p:nvPr/>
        </p:nvSpPr>
        <p:spPr>
          <a:xfrm>
            <a:off x="2114311" y="1722294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3">
                    <a:lumMod val="75000"/>
                  </a:schemeClr>
                </a:solidFill>
              </a:rPr>
              <a:t>SBK               </a:t>
            </a:r>
            <a:r>
              <a:rPr lang="de-DE" sz="1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de-DE" sz="1600" b="1" dirty="0">
                <a:solidFill>
                  <a:schemeClr val="accent3">
                    <a:lumMod val="75000"/>
                  </a:schemeClr>
                </a:solidFill>
              </a:rPr>
              <a:t>      400</a:t>
            </a:r>
          </a:p>
        </p:txBody>
      </p:sp>
      <p:sp>
        <p:nvSpPr>
          <p:cNvPr id="141" name="Textfeld 140"/>
          <p:cNvSpPr txBox="1"/>
          <p:nvPr/>
        </p:nvSpPr>
        <p:spPr>
          <a:xfrm>
            <a:off x="111696" y="334010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 66.300</a:t>
            </a:r>
          </a:p>
        </p:txBody>
      </p:sp>
      <p:sp>
        <p:nvSpPr>
          <p:cNvPr id="142" name="Textfeld 141"/>
          <p:cNvSpPr txBox="1"/>
          <p:nvPr/>
        </p:nvSpPr>
        <p:spPr>
          <a:xfrm>
            <a:off x="1947516" y="334037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  66.300</a:t>
            </a:r>
          </a:p>
        </p:txBody>
      </p:sp>
      <p:sp>
        <p:nvSpPr>
          <p:cNvPr id="143" name="Textfeld 142"/>
          <p:cNvSpPr txBox="1"/>
          <p:nvPr/>
        </p:nvSpPr>
        <p:spPr>
          <a:xfrm>
            <a:off x="2012042" y="3090446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3">
                    <a:lumMod val="75000"/>
                  </a:schemeClr>
                </a:solidFill>
              </a:rPr>
              <a:t>SBK              </a:t>
            </a:r>
            <a:r>
              <a:rPr lang="de-DE" sz="1400" b="1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lang="de-DE" sz="1600" b="1" dirty="0">
                <a:solidFill>
                  <a:schemeClr val="accent3">
                    <a:lumMod val="75000"/>
                  </a:schemeClr>
                </a:solidFill>
              </a:rPr>
              <a:t>   55.300</a:t>
            </a:r>
          </a:p>
        </p:txBody>
      </p:sp>
      <p:sp>
        <p:nvSpPr>
          <p:cNvPr id="144" name="Textfeld 143"/>
          <p:cNvSpPr txBox="1"/>
          <p:nvPr/>
        </p:nvSpPr>
        <p:spPr>
          <a:xfrm>
            <a:off x="5142625" y="78591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115.300</a:t>
            </a:r>
          </a:p>
        </p:txBody>
      </p:sp>
      <p:sp>
        <p:nvSpPr>
          <p:cNvPr id="145" name="Textfeld 144"/>
          <p:cNvSpPr txBox="1"/>
          <p:nvPr/>
        </p:nvSpPr>
        <p:spPr>
          <a:xfrm>
            <a:off x="6978445" y="78619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115.300</a:t>
            </a:r>
          </a:p>
        </p:txBody>
      </p:sp>
      <p:sp>
        <p:nvSpPr>
          <p:cNvPr id="146" name="Textfeld 145"/>
          <p:cNvSpPr txBox="1"/>
          <p:nvPr/>
        </p:nvSpPr>
        <p:spPr>
          <a:xfrm>
            <a:off x="5130049" y="25282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6">
                    <a:lumMod val="50000"/>
                  </a:schemeClr>
                </a:solidFill>
              </a:rPr>
              <a:t>SBK                  115.300</a:t>
            </a:r>
          </a:p>
        </p:txBody>
      </p:sp>
      <p:sp>
        <p:nvSpPr>
          <p:cNvPr id="150" name="Textfeld 149"/>
          <p:cNvSpPr txBox="1"/>
          <p:nvPr/>
        </p:nvSpPr>
        <p:spPr>
          <a:xfrm>
            <a:off x="5153737" y="301816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  20.000</a:t>
            </a:r>
          </a:p>
        </p:txBody>
      </p:sp>
      <p:sp>
        <p:nvSpPr>
          <p:cNvPr id="151" name="Textfeld 150"/>
          <p:cNvSpPr txBox="1"/>
          <p:nvPr/>
        </p:nvSpPr>
        <p:spPr>
          <a:xfrm>
            <a:off x="6989557" y="300573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20.000</a:t>
            </a:r>
          </a:p>
        </p:txBody>
      </p:sp>
      <p:sp>
        <p:nvSpPr>
          <p:cNvPr id="152" name="Textfeld 151"/>
          <p:cNvSpPr txBox="1"/>
          <p:nvPr/>
        </p:nvSpPr>
        <p:spPr>
          <a:xfrm>
            <a:off x="5141161" y="254881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(6) Bank            9.000</a:t>
            </a:r>
          </a:p>
        </p:txBody>
      </p:sp>
      <p:sp>
        <p:nvSpPr>
          <p:cNvPr id="153" name="Textfeld 152"/>
          <p:cNvSpPr txBox="1"/>
          <p:nvPr/>
        </p:nvSpPr>
        <p:spPr>
          <a:xfrm>
            <a:off x="2060685" y="148478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(5)</a:t>
            </a:r>
            <a:r>
              <a:rPr lang="de-DE" sz="1400" dirty="0" err="1"/>
              <a:t>Gehält</a:t>
            </a:r>
            <a:r>
              <a:rPr lang="de-DE" sz="1400" dirty="0"/>
              <a:t>.</a:t>
            </a:r>
            <a:r>
              <a:rPr lang="de-DE" sz="1600" dirty="0"/>
              <a:t> </a:t>
            </a:r>
            <a:r>
              <a:rPr lang="de-DE" dirty="0"/>
              <a:t> </a:t>
            </a:r>
            <a:r>
              <a:rPr lang="de-DE" sz="1600" dirty="0"/>
              <a:t>        1.800</a:t>
            </a:r>
          </a:p>
        </p:txBody>
      </p:sp>
      <p:grpSp>
        <p:nvGrpSpPr>
          <p:cNvPr id="10" name="Gruppieren 111"/>
          <p:cNvGrpSpPr/>
          <p:nvPr/>
        </p:nvGrpSpPr>
        <p:grpSpPr>
          <a:xfrm>
            <a:off x="175320" y="3606924"/>
            <a:ext cx="3675459" cy="830188"/>
            <a:chOff x="179512" y="4044054"/>
            <a:chExt cx="3675459" cy="830188"/>
          </a:xfrm>
        </p:grpSpPr>
        <p:cxnSp>
          <p:nvCxnSpPr>
            <p:cNvPr id="113" name="Gerade Verbindung 112"/>
            <p:cNvCxnSpPr/>
            <p:nvPr/>
          </p:nvCxnSpPr>
          <p:spPr>
            <a:xfrm>
              <a:off x="251520" y="4370186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 Verbindung 113"/>
            <p:cNvCxnSpPr/>
            <p:nvPr/>
          </p:nvCxnSpPr>
          <p:spPr>
            <a:xfrm>
              <a:off x="2051720" y="4370186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feld 114"/>
            <p:cNvSpPr txBox="1"/>
            <p:nvPr/>
          </p:nvSpPr>
          <p:spPr>
            <a:xfrm>
              <a:off x="179512" y="407286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116" name="Textfeld 115"/>
            <p:cNvSpPr txBox="1"/>
            <p:nvPr/>
          </p:nvSpPr>
          <p:spPr>
            <a:xfrm>
              <a:off x="3638947" y="40821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119" name="Textfeld 118"/>
            <p:cNvSpPr txBox="1"/>
            <p:nvPr/>
          </p:nvSpPr>
          <p:spPr>
            <a:xfrm>
              <a:off x="1259632" y="404405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Gehälter</a:t>
              </a:r>
            </a:p>
          </p:txBody>
        </p:sp>
      </p:grpSp>
      <p:grpSp>
        <p:nvGrpSpPr>
          <p:cNvPr id="16" name="Gruppieren 154"/>
          <p:cNvGrpSpPr/>
          <p:nvPr/>
        </p:nvGrpSpPr>
        <p:grpSpPr>
          <a:xfrm>
            <a:off x="5214739" y="3678932"/>
            <a:ext cx="3673549" cy="830188"/>
            <a:chOff x="5218931" y="4125354"/>
            <a:chExt cx="3673549" cy="830188"/>
          </a:xfrm>
        </p:grpSpPr>
        <p:cxnSp>
          <p:nvCxnSpPr>
            <p:cNvPr id="156" name="Gerade Verbindung 155"/>
            <p:cNvCxnSpPr/>
            <p:nvPr/>
          </p:nvCxnSpPr>
          <p:spPr>
            <a:xfrm>
              <a:off x="5292480" y="4451486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 Verbindung 156"/>
            <p:cNvCxnSpPr/>
            <p:nvPr/>
          </p:nvCxnSpPr>
          <p:spPr>
            <a:xfrm>
              <a:off x="7092280" y="4451486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feld 157"/>
            <p:cNvSpPr txBox="1"/>
            <p:nvPr/>
          </p:nvSpPr>
          <p:spPr>
            <a:xfrm>
              <a:off x="5218931" y="415416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159" name="Textfeld 158"/>
            <p:cNvSpPr txBox="1"/>
            <p:nvPr/>
          </p:nvSpPr>
          <p:spPr>
            <a:xfrm>
              <a:off x="8666559" y="41634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160" name="Textfeld 159"/>
            <p:cNvSpPr txBox="1"/>
            <p:nvPr/>
          </p:nvSpPr>
          <p:spPr>
            <a:xfrm>
              <a:off x="6300192" y="412535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/>
                <a:t>Sonst.Erträge</a:t>
              </a:r>
              <a:endParaRPr lang="de-DE" dirty="0"/>
            </a:p>
          </p:txBody>
        </p:sp>
      </p:grpSp>
      <p:sp>
        <p:nvSpPr>
          <p:cNvPr id="161" name="Textfeld 160"/>
          <p:cNvSpPr txBox="1"/>
          <p:nvPr/>
        </p:nvSpPr>
        <p:spPr>
          <a:xfrm>
            <a:off x="146745" y="394946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(5) Kasse 	        1.800</a:t>
            </a:r>
          </a:p>
        </p:txBody>
      </p:sp>
      <p:sp>
        <p:nvSpPr>
          <p:cNvPr id="164" name="Textfeld 163"/>
          <p:cNvSpPr txBox="1"/>
          <p:nvPr/>
        </p:nvSpPr>
        <p:spPr>
          <a:xfrm>
            <a:off x="7129381" y="402655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(3)Bank        16.300</a:t>
            </a:r>
          </a:p>
        </p:txBody>
      </p:sp>
      <p:cxnSp>
        <p:nvCxnSpPr>
          <p:cNvPr id="166" name="Gerade Verbindung 165"/>
          <p:cNvCxnSpPr/>
          <p:nvPr/>
        </p:nvCxnSpPr>
        <p:spPr>
          <a:xfrm>
            <a:off x="247328" y="4255860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Gerade Verbindung 166"/>
          <p:cNvCxnSpPr/>
          <p:nvPr/>
        </p:nvCxnSpPr>
        <p:spPr>
          <a:xfrm>
            <a:off x="5292080" y="4317712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feld 169"/>
          <p:cNvSpPr txBox="1"/>
          <p:nvPr/>
        </p:nvSpPr>
        <p:spPr>
          <a:xfrm>
            <a:off x="1978265" y="393737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chemeClr val="accent4">
                    <a:lumMod val="75000"/>
                  </a:schemeClr>
                </a:solidFill>
              </a:rPr>
              <a:t>GuV</a:t>
            </a:r>
            <a:r>
              <a:rPr lang="de-DE" sz="1600" dirty="0">
                <a:solidFill>
                  <a:schemeClr val="accent4">
                    <a:lumMod val="75000"/>
                  </a:schemeClr>
                </a:solidFill>
              </a:rPr>
              <a:t>                     1.800</a:t>
            </a:r>
          </a:p>
        </p:txBody>
      </p:sp>
      <p:sp>
        <p:nvSpPr>
          <p:cNvPr id="173" name="Textfeld 172"/>
          <p:cNvSpPr txBox="1"/>
          <p:nvPr/>
        </p:nvSpPr>
        <p:spPr>
          <a:xfrm>
            <a:off x="5136969" y="402968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de-DE" sz="1600" dirty="0" err="1">
                <a:solidFill>
                  <a:schemeClr val="accent5">
                    <a:lumMod val="75000"/>
                  </a:schemeClr>
                </a:solidFill>
              </a:rPr>
              <a:t>GuV</a:t>
            </a:r>
            <a:r>
              <a:rPr lang="de-DE" sz="1600" dirty="0">
                <a:solidFill>
                  <a:schemeClr val="accent5">
                    <a:lumMod val="75000"/>
                  </a:schemeClr>
                </a:solidFill>
              </a:rPr>
              <a:t>                16.300</a:t>
            </a:r>
          </a:p>
        </p:txBody>
      </p:sp>
      <p:grpSp>
        <p:nvGrpSpPr>
          <p:cNvPr id="22" name="Gruppieren 173"/>
          <p:cNvGrpSpPr/>
          <p:nvPr/>
        </p:nvGrpSpPr>
        <p:grpSpPr>
          <a:xfrm>
            <a:off x="256853" y="5316500"/>
            <a:ext cx="4603179" cy="1434953"/>
            <a:chOff x="2489101" y="337863"/>
            <a:chExt cx="4603179" cy="1434953"/>
          </a:xfrm>
        </p:grpSpPr>
        <p:cxnSp>
          <p:nvCxnSpPr>
            <p:cNvPr id="175" name="Gerade Verbindung 174"/>
            <p:cNvCxnSpPr/>
            <p:nvPr/>
          </p:nvCxnSpPr>
          <p:spPr>
            <a:xfrm>
              <a:off x="2489101" y="751961"/>
              <a:ext cx="4265065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Gerade Verbindung 175"/>
            <p:cNvCxnSpPr/>
            <p:nvPr/>
          </p:nvCxnSpPr>
          <p:spPr>
            <a:xfrm>
              <a:off x="4572040" y="751961"/>
              <a:ext cx="0" cy="10208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Textfeld 176"/>
            <p:cNvSpPr txBox="1"/>
            <p:nvPr/>
          </p:nvSpPr>
          <p:spPr>
            <a:xfrm>
              <a:off x="2513799" y="428237"/>
              <a:ext cx="1194105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/>
                <a:t>Soll</a:t>
              </a:r>
            </a:p>
          </p:txBody>
        </p:sp>
        <p:sp>
          <p:nvSpPr>
            <p:cNvPr id="178" name="Textfeld 177"/>
            <p:cNvSpPr txBox="1"/>
            <p:nvPr/>
          </p:nvSpPr>
          <p:spPr>
            <a:xfrm>
              <a:off x="6001217" y="441596"/>
              <a:ext cx="1091063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/>
                <a:t>Haben</a:t>
              </a:r>
            </a:p>
          </p:txBody>
        </p:sp>
        <p:sp>
          <p:nvSpPr>
            <p:cNvPr id="179" name="Textfeld 178"/>
            <p:cNvSpPr txBox="1"/>
            <p:nvPr/>
          </p:nvSpPr>
          <p:spPr>
            <a:xfrm>
              <a:off x="3184798" y="337863"/>
              <a:ext cx="2880320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b="1" dirty="0" err="1"/>
                <a:t>GuV</a:t>
              </a:r>
              <a:endParaRPr lang="de-DE" sz="2400" b="1" dirty="0"/>
            </a:p>
          </p:txBody>
        </p:sp>
      </p:grpSp>
      <p:sp>
        <p:nvSpPr>
          <p:cNvPr id="180" name="Textfeld 179"/>
          <p:cNvSpPr txBox="1"/>
          <p:nvPr/>
        </p:nvSpPr>
        <p:spPr>
          <a:xfrm>
            <a:off x="232470" y="5725898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>
                    <a:lumMod val="75000"/>
                  </a:schemeClr>
                </a:solidFill>
              </a:rPr>
              <a:t>Gehälter 	          1.800</a:t>
            </a:r>
          </a:p>
        </p:txBody>
      </p:sp>
      <p:sp>
        <p:nvSpPr>
          <p:cNvPr id="181" name="Textfeld 180"/>
          <p:cNvSpPr txBox="1"/>
          <p:nvPr/>
        </p:nvSpPr>
        <p:spPr>
          <a:xfrm>
            <a:off x="232470" y="5951214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4">
                    <a:lumMod val="75000"/>
                  </a:schemeClr>
                </a:solidFill>
              </a:rPr>
              <a:t>Zinsaufw</a:t>
            </a:r>
            <a:r>
              <a:rPr lang="de-DE" b="1" dirty="0">
                <a:solidFill>
                  <a:schemeClr val="accent4">
                    <a:lumMod val="75000"/>
                  </a:schemeClr>
                </a:solidFill>
              </a:rPr>
              <a:t>.	          2.000</a:t>
            </a:r>
          </a:p>
        </p:txBody>
      </p:sp>
      <p:sp>
        <p:nvSpPr>
          <p:cNvPr id="182" name="Textfeld 181"/>
          <p:cNvSpPr txBox="1"/>
          <p:nvPr/>
        </p:nvSpPr>
        <p:spPr>
          <a:xfrm>
            <a:off x="232470" y="6196046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EK </a:t>
            </a:r>
            <a:r>
              <a:rPr lang="de-DE" sz="1200" b="1" dirty="0"/>
              <a:t>(Gewinn) </a:t>
            </a:r>
            <a:r>
              <a:rPr lang="de-DE" b="1" dirty="0"/>
              <a:t>	  </a:t>
            </a:r>
            <a:r>
              <a:rPr lang="de-DE" sz="1400" b="1" dirty="0"/>
              <a:t> </a:t>
            </a:r>
            <a:r>
              <a:rPr lang="de-DE" b="1" dirty="0"/>
              <a:t>     13.300</a:t>
            </a:r>
          </a:p>
        </p:txBody>
      </p:sp>
      <p:sp>
        <p:nvSpPr>
          <p:cNvPr id="183" name="Textfeld 182"/>
          <p:cNvSpPr txBox="1"/>
          <p:nvPr/>
        </p:nvSpPr>
        <p:spPr>
          <a:xfrm>
            <a:off x="2309037" y="6011996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</a:rPr>
              <a:t>Mieterträge        </a:t>
            </a: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</a:rPr>
              <a:t> 800  </a:t>
            </a:r>
          </a:p>
        </p:txBody>
      </p:sp>
      <p:sp>
        <p:nvSpPr>
          <p:cNvPr id="184" name="Textfeld 183"/>
          <p:cNvSpPr txBox="1"/>
          <p:nvPr/>
        </p:nvSpPr>
        <p:spPr>
          <a:xfrm>
            <a:off x="2321737" y="5723964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5">
                    <a:lumMod val="75000"/>
                  </a:schemeClr>
                </a:solidFill>
              </a:rPr>
              <a:t>Sonst.Erl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</a:rPr>
              <a:t>.	        16.300</a:t>
            </a:r>
          </a:p>
        </p:txBody>
      </p:sp>
      <p:cxnSp>
        <p:nvCxnSpPr>
          <p:cNvPr id="186" name="Gerade Verbindung 185"/>
          <p:cNvCxnSpPr/>
          <p:nvPr/>
        </p:nvCxnSpPr>
        <p:spPr>
          <a:xfrm>
            <a:off x="395536" y="6535429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feld 186"/>
          <p:cNvSpPr txBox="1"/>
          <p:nvPr/>
        </p:nvSpPr>
        <p:spPr>
          <a:xfrm>
            <a:off x="280095" y="6507087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	       17.100</a:t>
            </a:r>
          </a:p>
        </p:txBody>
      </p:sp>
      <p:sp>
        <p:nvSpPr>
          <p:cNvPr id="190" name="Textfeld 189"/>
          <p:cNvSpPr txBox="1"/>
          <p:nvPr/>
        </p:nvSpPr>
        <p:spPr>
          <a:xfrm>
            <a:off x="7061565" y="49815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GuV</a:t>
            </a:r>
            <a:r>
              <a:rPr lang="de-DE" sz="1600" dirty="0"/>
              <a:t> </a:t>
            </a:r>
            <a:r>
              <a:rPr lang="de-DE" sz="1200" dirty="0"/>
              <a:t>	</a:t>
            </a:r>
            <a:r>
              <a:rPr lang="de-DE" sz="1400" dirty="0"/>
              <a:t>  </a:t>
            </a:r>
            <a:r>
              <a:rPr lang="de-DE" sz="1600" dirty="0"/>
              <a:t>  13.300</a:t>
            </a:r>
          </a:p>
        </p:txBody>
      </p:sp>
      <p:sp>
        <p:nvSpPr>
          <p:cNvPr id="191" name="Textfeld 190"/>
          <p:cNvSpPr txBox="1"/>
          <p:nvPr/>
        </p:nvSpPr>
        <p:spPr>
          <a:xfrm>
            <a:off x="143652" y="148478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(2)</a:t>
            </a:r>
            <a:r>
              <a:rPr lang="de-DE" sz="1400" dirty="0"/>
              <a:t> </a:t>
            </a:r>
            <a:r>
              <a:rPr lang="de-DE" sz="1600" dirty="0"/>
              <a:t>Miete </a:t>
            </a:r>
            <a:r>
              <a:rPr lang="de-DE" dirty="0"/>
              <a:t> </a:t>
            </a:r>
            <a:r>
              <a:rPr lang="de-DE" sz="1600" dirty="0"/>
              <a:t>     </a:t>
            </a:r>
            <a:r>
              <a:rPr lang="de-DE" sz="1400" dirty="0"/>
              <a:t> </a:t>
            </a:r>
            <a:r>
              <a:rPr lang="de-DE" sz="1600" dirty="0"/>
              <a:t> </a:t>
            </a:r>
            <a:r>
              <a:rPr lang="de-DE" sz="1200" dirty="0"/>
              <a:t> </a:t>
            </a:r>
            <a:r>
              <a:rPr lang="de-DE" sz="1600" dirty="0"/>
              <a:t>  800</a:t>
            </a:r>
          </a:p>
        </p:txBody>
      </p:sp>
      <p:cxnSp>
        <p:nvCxnSpPr>
          <p:cNvPr id="192" name="Gerade Verbindung 191"/>
          <p:cNvCxnSpPr/>
          <p:nvPr/>
        </p:nvCxnSpPr>
        <p:spPr>
          <a:xfrm>
            <a:off x="5364088" y="1664948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feld 192"/>
          <p:cNvSpPr txBox="1"/>
          <p:nvPr/>
        </p:nvSpPr>
        <p:spPr>
          <a:xfrm>
            <a:off x="5148064" y="277293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6">
                    <a:lumMod val="50000"/>
                  </a:schemeClr>
                </a:solidFill>
              </a:rPr>
              <a:t>  SBK                  11.000</a:t>
            </a:r>
          </a:p>
        </p:txBody>
      </p:sp>
      <p:grpSp>
        <p:nvGrpSpPr>
          <p:cNvPr id="28" name="Gruppieren 193"/>
          <p:cNvGrpSpPr/>
          <p:nvPr/>
        </p:nvGrpSpPr>
        <p:grpSpPr>
          <a:xfrm>
            <a:off x="5218931" y="4509120"/>
            <a:ext cx="3673549" cy="830188"/>
            <a:chOff x="5218931" y="4125354"/>
            <a:chExt cx="3673549" cy="830188"/>
          </a:xfrm>
        </p:grpSpPr>
        <p:cxnSp>
          <p:nvCxnSpPr>
            <p:cNvPr id="195" name="Gerade Verbindung 194"/>
            <p:cNvCxnSpPr/>
            <p:nvPr/>
          </p:nvCxnSpPr>
          <p:spPr>
            <a:xfrm>
              <a:off x="5292480" y="4451486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Gerade Verbindung 195"/>
            <p:cNvCxnSpPr/>
            <p:nvPr/>
          </p:nvCxnSpPr>
          <p:spPr>
            <a:xfrm>
              <a:off x="7092280" y="4451486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Textfeld 196"/>
            <p:cNvSpPr txBox="1"/>
            <p:nvPr/>
          </p:nvSpPr>
          <p:spPr>
            <a:xfrm>
              <a:off x="5218931" y="415416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198" name="Textfeld 197"/>
            <p:cNvSpPr txBox="1"/>
            <p:nvPr/>
          </p:nvSpPr>
          <p:spPr>
            <a:xfrm>
              <a:off x="8666559" y="41634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199" name="Textfeld 198"/>
            <p:cNvSpPr txBox="1"/>
            <p:nvPr/>
          </p:nvSpPr>
          <p:spPr>
            <a:xfrm>
              <a:off x="6300192" y="412535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Mieterträge</a:t>
              </a:r>
            </a:p>
          </p:txBody>
        </p:sp>
      </p:grpSp>
      <p:sp>
        <p:nvSpPr>
          <p:cNvPr id="200" name="Textfeld 199"/>
          <p:cNvSpPr txBox="1"/>
          <p:nvPr/>
        </p:nvSpPr>
        <p:spPr>
          <a:xfrm>
            <a:off x="7133573" y="485986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(2)Kasse             800</a:t>
            </a:r>
          </a:p>
        </p:txBody>
      </p:sp>
      <p:cxnSp>
        <p:nvCxnSpPr>
          <p:cNvPr id="201" name="Gerade Verbindung 200"/>
          <p:cNvCxnSpPr/>
          <p:nvPr/>
        </p:nvCxnSpPr>
        <p:spPr>
          <a:xfrm>
            <a:off x="5296272" y="5147900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feld 201"/>
          <p:cNvSpPr txBox="1"/>
          <p:nvPr/>
        </p:nvSpPr>
        <p:spPr>
          <a:xfrm>
            <a:off x="5141161" y="485986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de-DE" sz="1600" dirty="0" err="1">
                <a:solidFill>
                  <a:schemeClr val="accent5">
                    <a:lumMod val="75000"/>
                  </a:schemeClr>
                </a:solidFill>
              </a:rPr>
              <a:t>GuV</a:t>
            </a:r>
            <a:r>
              <a:rPr lang="de-DE" sz="1600" dirty="0">
                <a:solidFill>
                  <a:schemeClr val="accent5">
                    <a:lumMod val="75000"/>
                  </a:schemeClr>
                </a:solidFill>
              </a:rPr>
              <a:t>                     800</a:t>
            </a:r>
          </a:p>
        </p:txBody>
      </p:sp>
      <p:grpSp>
        <p:nvGrpSpPr>
          <p:cNvPr id="34" name="Gruppieren 202"/>
          <p:cNvGrpSpPr/>
          <p:nvPr/>
        </p:nvGrpSpPr>
        <p:grpSpPr>
          <a:xfrm>
            <a:off x="187624" y="4471020"/>
            <a:ext cx="3673549" cy="830188"/>
            <a:chOff x="5218931" y="4125354"/>
            <a:chExt cx="3673549" cy="830188"/>
          </a:xfrm>
        </p:grpSpPr>
        <p:cxnSp>
          <p:nvCxnSpPr>
            <p:cNvPr id="204" name="Gerade Verbindung 203"/>
            <p:cNvCxnSpPr/>
            <p:nvPr/>
          </p:nvCxnSpPr>
          <p:spPr>
            <a:xfrm>
              <a:off x="5292480" y="4451486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Gerade Verbindung 204"/>
            <p:cNvCxnSpPr/>
            <p:nvPr/>
          </p:nvCxnSpPr>
          <p:spPr>
            <a:xfrm>
              <a:off x="7092280" y="4451486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Textfeld 205"/>
            <p:cNvSpPr txBox="1"/>
            <p:nvPr/>
          </p:nvSpPr>
          <p:spPr>
            <a:xfrm>
              <a:off x="5218931" y="415416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207" name="Textfeld 206"/>
            <p:cNvSpPr txBox="1"/>
            <p:nvPr/>
          </p:nvSpPr>
          <p:spPr>
            <a:xfrm>
              <a:off x="8666559" y="41634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208" name="Textfeld 207"/>
            <p:cNvSpPr txBox="1"/>
            <p:nvPr/>
          </p:nvSpPr>
          <p:spPr>
            <a:xfrm>
              <a:off x="6300192" y="412535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/>
                <a:t>Zinsaufw</a:t>
              </a:r>
              <a:r>
                <a:rPr lang="de-DE" dirty="0"/>
                <a:t>.</a:t>
              </a:r>
            </a:p>
          </p:txBody>
        </p:sp>
      </p:grpSp>
      <p:sp>
        <p:nvSpPr>
          <p:cNvPr id="209" name="Textfeld 208"/>
          <p:cNvSpPr txBox="1"/>
          <p:nvPr/>
        </p:nvSpPr>
        <p:spPr>
          <a:xfrm>
            <a:off x="1998764" y="482176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GuV</a:t>
            </a:r>
            <a:r>
              <a:rPr lang="de-DE" sz="1600" dirty="0"/>
              <a:t>                    2.000</a:t>
            </a:r>
          </a:p>
        </p:txBody>
      </p:sp>
      <p:cxnSp>
        <p:nvCxnSpPr>
          <p:cNvPr id="210" name="Gerade Verbindung 209"/>
          <p:cNvCxnSpPr/>
          <p:nvPr/>
        </p:nvCxnSpPr>
        <p:spPr>
          <a:xfrm>
            <a:off x="264965" y="5171576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feld 210"/>
          <p:cNvSpPr txBox="1"/>
          <p:nvPr/>
        </p:nvSpPr>
        <p:spPr>
          <a:xfrm>
            <a:off x="109854" y="482176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(4) Bank            2.000</a:t>
            </a:r>
          </a:p>
        </p:txBody>
      </p:sp>
      <p:cxnSp>
        <p:nvCxnSpPr>
          <p:cNvPr id="212" name="Gerade Verbindung 211"/>
          <p:cNvCxnSpPr/>
          <p:nvPr/>
        </p:nvCxnSpPr>
        <p:spPr>
          <a:xfrm>
            <a:off x="244377" y="4291715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feld 212"/>
          <p:cNvSpPr txBox="1"/>
          <p:nvPr/>
        </p:nvSpPr>
        <p:spPr>
          <a:xfrm>
            <a:off x="2319574" y="6525344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	        17.100</a:t>
            </a:r>
          </a:p>
        </p:txBody>
      </p:sp>
      <p:sp>
        <p:nvSpPr>
          <p:cNvPr id="214" name="Textfeld 213"/>
          <p:cNvSpPr txBox="1"/>
          <p:nvPr/>
        </p:nvSpPr>
        <p:spPr>
          <a:xfrm>
            <a:off x="1979712" y="258639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(4) </a:t>
            </a:r>
            <a:r>
              <a:rPr lang="de-DE" sz="1600" dirty="0" err="1"/>
              <a:t>Zinsauf</a:t>
            </a:r>
            <a:r>
              <a:rPr lang="de-DE" sz="1600" dirty="0"/>
              <a:t>.         2.000</a:t>
            </a:r>
          </a:p>
        </p:txBody>
      </p:sp>
      <p:sp>
        <p:nvSpPr>
          <p:cNvPr id="215" name="Textfeld 214"/>
          <p:cNvSpPr txBox="1"/>
          <p:nvPr/>
        </p:nvSpPr>
        <p:spPr>
          <a:xfrm>
            <a:off x="1979712" y="2846429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(6) </a:t>
            </a:r>
            <a:r>
              <a:rPr lang="de-DE" sz="1600" dirty="0" err="1"/>
              <a:t>VerbaLL</a:t>
            </a:r>
            <a:r>
              <a:rPr lang="de-DE" sz="1600" dirty="0"/>
              <a:t>     </a:t>
            </a:r>
            <a:r>
              <a:rPr lang="de-DE" sz="1100" dirty="0"/>
              <a:t>  </a:t>
            </a:r>
            <a:r>
              <a:rPr lang="de-DE" sz="1600" dirty="0"/>
              <a:t>  9.000</a:t>
            </a:r>
          </a:p>
        </p:txBody>
      </p:sp>
      <p:cxnSp>
        <p:nvCxnSpPr>
          <p:cNvPr id="147" name="Gerade Verbindung 146"/>
          <p:cNvCxnSpPr/>
          <p:nvPr/>
        </p:nvCxnSpPr>
        <p:spPr>
          <a:xfrm>
            <a:off x="251520" y="5211270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147"/>
          <p:cNvCxnSpPr/>
          <p:nvPr/>
        </p:nvCxnSpPr>
        <p:spPr>
          <a:xfrm>
            <a:off x="5310010" y="5184087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148"/>
          <p:cNvCxnSpPr/>
          <p:nvPr/>
        </p:nvCxnSpPr>
        <p:spPr>
          <a:xfrm>
            <a:off x="5292480" y="4356139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/>
          <p:cNvCxnSpPr/>
          <p:nvPr/>
        </p:nvCxnSpPr>
        <p:spPr>
          <a:xfrm>
            <a:off x="247328" y="498158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Gerade Verbindung 164"/>
          <p:cNvCxnSpPr/>
          <p:nvPr/>
        </p:nvCxnSpPr>
        <p:spPr>
          <a:xfrm>
            <a:off x="242395" y="1562125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Gerade Verbindung 167"/>
          <p:cNvCxnSpPr/>
          <p:nvPr/>
        </p:nvCxnSpPr>
        <p:spPr>
          <a:xfrm>
            <a:off x="227137" y="1790725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168"/>
          <p:cNvCxnSpPr/>
          <p:nvPr/>
        </p:nvCxnSpPr>
        <p:spPr>
          <a:xfrm>
            <a:off x="194770" y="2883793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 Verbindung 170"/>
          <p:cNvCxnSpPr/>
          <p:nvPr/>
        </p:nvCxnSpPr>
        <p:spPr>
          <a:xfrm>
            <a:off x="179512" y="3112393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rade Verbindung 171"/>
          <p:cNvCxnSpPr/>
          <p:nvPr/>
        </p:nvCxnSpPr>
        <p:spPr>
          <a:xfrm>
            <a:off x="5278391" y="531687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Gerade Verbindung 187"/>
          <p:cNvCxnSpPr/>
          <p:nvPr/>
        </p:nvCxnSpPr>
        <p:spPr>
          <a:xfrm>
            <a:off x="5310010" y="2816081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  <p:bldP spid="97" grpId="0"/>
      <p:bldP spid="98" grpId="0"/>
      <p:bldP spid="99" grpId="0"/>
      <p:bldP spid="100" grpId="0"/>
      <p:bldP spid="102" grpId="0"/>
      <p:bldP spid="103" grpId="0"/>
      <p:bldP spid="111" grpId="0"/>
      <p:bldP spid="117" grpId="0"/>
      <p:bldP spid="118" grpId="0"/>
      <p:bldP spid="120" grpId="0"/>
      <p:bldP spid="121" grpId="0"/>
      <p:bldP spid="122" grpId="0"/>
      <p:bldP spid="123" grpId="0"/>
      <p:bldP spid="124" grpId="0"/>
      <p:bldP spid="125" grpId="0"/>
      <p:bldP spid="128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50" grpId="0"/>
      <p:bldP spid="151" grpId="0"/>
      <p:bldP spid="152" grpId="0"/>
      <p:bldP spid="153" grpId="0"/>
      <p:bldP spid="161" grpId="0"/>
      <p:bldP spid="164" grpId="0"/>
      <p:bldP spid="170" grpId="0"/>
      <p:bldP spid="173" grpId="0"/>
      <p:bldP spid="180" grpId="0"/>
      <p:bldP spid="181" grpId="0"/>
      <p:bldP spid="182" grpId="0"/>
      <p:bldP spid="183" grpId="0"/>
      <p:bldP spid="184" grpId="0"/>
      <p:bldP spid="187" grpId="0"/>
      <p:bldP spid="190" grpId="0"/>
      <p:bldP spid="191" grpId="0"/>
      <p:bldP spid="193" grpId="0"/>
      <p:bldP spid="200" grpId="0"/>
      <p:bldP spid="202" grpId="0"/>
      <p:bldP spid="209" grpId="0"/>
      <p:bldP spid="211" grpId="0"/>
      <p:bldP spid="213" grpId="0"/>
      <p:bldP spid="214" grpId="0"/>
      <p:bldP spid="2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Übung: Buchungssätze/ Erfolgskonten   B.S. 64 Nr. 51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228974"/>
              </p:ext>
            </p:extLst>
          </p:nvPr>
        </p:nvGraphicFramePr>
        <p:xfrm>
          <a:off x="395536" y="908720"/>
          <a:ext cx="8352928" cy="5670670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5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232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In T€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51    Monat:  ………  Jahr:.........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8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65,0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12,0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8,5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85,5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 a. LL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123,0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Umsatzerlöse für 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7,5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130,5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f. Löhne u. Gehälter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31,0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Zinsaufwendungen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6,8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für Telekom.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2,5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für Versicherungen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2,7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43,0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für 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72,0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72,0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für 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5,8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5,8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für 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2,3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2,3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90,9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88,6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Provisionserträge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2,3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 a. LL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82,6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Mietaufwendungen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6,7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89,3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Umsatzerlöse</a:t>
                      </a:r>
                      <a:r>
                        <a:rPr lang="de-DE" sz="1400" baseline="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für FE</a:t>
                      </a:r>
                      <a:endParaRPr lang="de-DE" sz="1400" dirty="0">
                        <a:solidFill>
                          <a:srgbClr val="00B05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62,0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62,0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944988"/>
              </p:ext>
            </p:extLst>
          </p:nvPr>
        </p:nvGraphicFramePr>
        <p:xfrm>
          <a:off x="683568" y="0"/>
          <a:ext cx="7920873" cy="6772464"/>
        </p:xfrm>
        <a:graphic>
          <a:graphicData uri="http://schemas.openxmlformats.org/drawingml/2006/table">
            <a:tbl>
              <a:tblPr/>
              <a:tblGrid>
                <a:gridCol w="880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Arial"/>
                        </a:rPr>
                        <a:t> 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 dirty="0" err="1">
                          <a:latin typeface="Arial"/>
                        </a:rPr>
                        <a:t>Aufw</a:t>
                      </a:r>
                      <a:r>
                        <a:rPr lang="de-DE" sz="1200" b="0" i="0" u="none" strike="noStrike" dirty="0">
                          <a:latin typeface="Arial"/>
                        </a:rPr>
                        <a:t>. Werkstoffe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Arial"/>
                        </a:rPr>
                        <a:t>              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Versich.aufw.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4.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72,0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80,1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3.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2,7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2,7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4.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5,8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4.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2,3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80,1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80,1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Aufw.Löhne+Gehälter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Umsatzerlöse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3.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31,0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Arial"/>
                        </a:rPr>
                        <a:t>192,5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2.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Times New Roman"/>
                        </a:rPr>
                        <a:t>130,5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7.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62,0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192,5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192,5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Mietaufw.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Provisionsertr.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6.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6,7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5.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2,3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 dirty="0" err="1">
                          <a:latin typeface="Arial"/>
                        </a:rPr>
                        <a:t>Aufw</a:t>
                      </a:r>
                      <a:r>
                        <a:rPr lang="de-DE" sz="1200" b="0" i="0" u="none" strike="noStrike" dirty="0">
                          <a:latin typeface="Arial"/>
                        </a:rPr>
                        <a:t> f. Telekom.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G+V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3.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A.f. WS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80,1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Times New Roman"/>
                        </a:rPr>
                        <a:t>Umsatzerl.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solidFill>
                            <a:srgbClr val="1F497D"/>
                          </a:solidFill>
                          <a:latin typeface="Times New Roman"/>
                        </a:rPr>
                        <a:t>192,5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 err="1">
                          <a:solidFill>
                            <a:srgbClr val="FF0000"/>
                          </a:solidFill>
                          <a:latin typeface="Times New Roman"/>
                        </a:rPr>
                        <a:t>A.f.</a:t>
                      </a:r>
                      <a:r>
                        <a:rPr lang="de-DE" sz="1200" b="0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 L+G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Times New Roman"/>
                        </a:rPr>
                        <a:t>Prov.ertr.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solidFill>
                            <a:srgbClr val="1F497D"/>
                          </a:solidFill>
                          <a:latin typeface="Times New Roman"/>
                        </a:rPr>
                        <a:t>2,3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Mietaufw.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 err="1">
                          <a:solidFill>
                            <a:srgbClr val="FF0000"/>
                          </a:solidFill>
                          <a:latin typeface="Times New Roman"/>
                        </a:rPr>
                        <a:t>A.f.Telek</a:t>
                      </a:r>
                      <a:r>
                        <a:rPr lang="de-DE" sz="1200" b="0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 err="1">
                          <a:solidFill>
                            <a:srgbClr val="FF0000"/>
                          </a:solidFill>
                          <a:latin typeface="Times New Roman"/>
                        </a:rPr>
                        <a:t>Zinsaufw</a:t>
                      </a:r>
                      <a:endParaRPr lang="de-DE" sz="1200" b="0" i="0" u="none" strike="noStrike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6,8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Vers.aufw.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Zinsaufw.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>
                          <a:solidFill>
                            <a:srgbClr val="00B050"/>
                          </a:solidFill>
                          <a:latin typeface="Times New Roman"/>
                        </a:rPr>
                        <a:t>Gewinn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1" i="0" u="none" strike="noStrike">
                          <a:solidFill>
                            <a:srgbClr val="00B050"/>
                          </a:solidFill>
                          <a:latin typeface="Arial"/>
                        </a:rPr>
                        <a:t>65,0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3.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6,8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6,8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194,8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194,8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Eigenkapital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SBK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642,0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AB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577,0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>
                          <a:solidFill>
                            <a:srgbClr val="00B050"/>
                          </a:solidFill>
                          <a:latin typeface="Times New Roman"/>
                        </a:rPr>
                        <a:t>Gewinn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1" i="0" u="none" strike="noStrike" dirty="0">
                          <a:solidFill>
                            <a:srgbClr val="00B050"/>
                          </a:solidFill>
                          <a:latin typeface="Arial"/>
                        </a:rPr>
                        <a:t>65,0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642,0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642,0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Übung: Erfolgskonten B.S. 63 Nr. 50 / </a:t>
            </a:r>
            <a:r>
              <a:rPr lang="de-DE" sz="2400" b="1" dirty="0"/>
              <a:t>nur</a:t>
            </a:r>
            <a:r>
              <a:rPr lang="de-DE" sz="2400" dirty="0"/>
              <a:t> laufende Buchungen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671562"/>
              </p:ext>
            </p:extLst>
          </p:nvPr>
        </p:nvGraphicFramePr>
        <p:xfrm>
          <a:off x="323528" y="548680"/>
          <a:ext cx="8352928" cy="6398056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232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In T€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50    Monat:  ………  Jahr:.........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4,5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Vorprodukte/Fremdbauteile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 1,5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1,2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7,2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Büromaterial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0,25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0,25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</a:t>
                      </a: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Fremdinstandhalt</a:t>
                      </a: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0,4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0,4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19,5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Umsatzerlöse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0,7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20,2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Gehälter + Löhne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13,0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13,0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6.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9,5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9,5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Mietaufwand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1,8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Telekommunikation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 0,35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Werbeaufwand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 0,78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4,52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7,45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8.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Umsatzerlöse für 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38,0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38,0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9.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Zinserträge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0,6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0,6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86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IAAAAAAAAAAwAAAAMAAAAA/////wQAJwwAAAAAAAAAAAAAIAD///////////////8AAAD///////////////8DAAAAAw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8O/NP0kumtIsBqGJHOwbuUFAAAAAAADAAAAAwADAAAAAQADAAAAAAD///////8DAAAAAAD///////8DAAAAAAD///////8DAAEA////////BAAAAAMAEAAL7yO4hGS6BECyYuWQPFNHC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BQMAAAAAAAAAAAAACAB////////////////AAAA////////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aAAZMaW5rZWRTaGFwZXNEYXRhUHJvcGVydHlfMAUAAAAAAAQAAAADAAQAAAABAAQAAAADAP///////wMAAgEDAAAAAwD///////8lAAZMaW5rZWRTaGFwZVByZXNlbnRhdGlvblNldHRpbmdzRGF0YV8wBQAAAAEABAAAAAAABAAAAAI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MO/NP0kumtIsBqGJHOwbuUDRGF0YQAbAAAABExpbmtlZFNoYXBlRGF0YQAFAAAAAAACTmFtZQAZAAAATGlua2VkU2hhcGVzRGF0YVByb3BlcnR5ABBWZXJzaW9uAAAAAAAJTGFzdFdyaXRlALMuhmqVAQAAAAEA/////8YAxgAAAAVfaWQAEAAAAATvI7iEZLoEQLJi5ZA8U0cKA0RhdGEAUwAAAAhQcmVzZW50YXRpb25TY2FubmVkRm9yTGlua2VkU2hhcGVzAAECTnVtYmVyRm9ybWF0U2VwYXJhdG9yTW9kZQAKAAAAQXV0b21hdGljAAACTmFtZQAkAAAATGlua2VkU2hhcGVQcmVzZW50YXRpb25TZXR0aW5nc0RhdGEAEFZlcnNpb24AAAAAAAlMYXN0V3JpdGUAKS+GapU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1000</Words>
  <Application>Microsoft Office PowerPoint</Application>
  <PresentationFormat>Bildschirmpräsentation (4:3)</PresentationFormat>
  <Paragraphs>405</Paragraphs>
  <Slides>13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Larissa-Design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Buchungsanweisungen (Soll an Haben)</vt:lpstr>
      <vt:lpstr>PowerPoint-Präsentation</vt:lpstr>
      <vt:lpstr>Übung: Buchungssätze/ Erfolgskonten   B.S. 64 Nr. 51</vt:lpstr>
      <vt:lpstr>PowerPoint-Präsentation</vt:lpstr>
      <vt:lpstr>Übung: Erfolgskonten B.S. 63 Nr. 50 / nur laufende Buchungen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Ralph Hoffmann</dc:creator>
  <cp:lastModifiedBy>Duong, Thi Quynh Nhi  SH/HZA-HAADD</cp:lastModifiedBy>
  <cp:revision>86</cp:revision>
  <dcterms:created xsi:type="dcterms:W3CDTF">2015-05-11T07:47:32Z</dcterms:created>
  <dcterms:modified xsi:type="dcterms:W3CDTF">2025-05-01T17:22:22Z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2025-03-06T08:53:19Z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19191b35-927a-4125-af1e-37b06f75f6e5</vt:lpwstr>
  </property>
  <property fmtid="{D5CDD505-2E9C-101B-9397-08002B2CF9AE}" pid="8" name="MSIP_Label_f33c2d95-ffb8-4f09-8d49-eacb0a6220f7_ContentBits">
    <vt:lpwstr>2</vt:lpwstr>
  </property>
  <property fmtid="{D5CDD505-2E9C-101B-9397-08002B2CF9AE}" pid="9" name="ClassificationContentMarkingFooterLocations">
    <vt:lpwstr>Larissa-Design:8</vt:lpwstr>
  </property>
  <property fmtid="{D5CDD505-2E9C-101B-9397-08002B2CF9AE}" pid="10" name="ClassificationContentMarkingFooterText">
    <vt:lpwstr>INTERNAL</vt:lpwstr>
  </property>
</Properties>
</file>