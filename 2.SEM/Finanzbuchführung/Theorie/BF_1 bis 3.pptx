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72" r:id="rId2"/>
    <p:sldId id="294" r:id="rId3"/>
    <p:sldId id="295" r:id="rId4"/>
    <p:sldId id="278" r:id="rId5"/>
    <p:sldId id="274" r:id="rId6"/>
    <p:sldId id="275" r:id="rId7"/>
    <p:sldId id="279" r:id="rId8"/>
    <p:sldId id="276" r:id="rId9"/>
    <p:sldId id="280" r:id="rId10"/>
    <p:sldId id="256" r:id="rId11"/>
    <p:sldId id="257" r:id="rId12"/>
    <p:sldId id="258" r:id="rId13"/>
    <p:sldId id="260" r:id="rId14"/>
    <p:sldId id="261" r:id="rId15"/>
    <p:sldId id="262" r:id="rId16"/>
    <p:sldId id="292" r:id="rId17"/>
    <p:sldId id="285" r:id="rId18"/>
    <p:sldId id="284" r:id="rId19"/>
    <p:sldId id="282" r:id="rId20"/>
    <p:sldId id="281" r:id="rId21"/>
    <p:sldId id="287" r:id="rId22"/>
    <p:sldId id="290" r:id="rId23"/>
    <p:sldId id="283" r:id="rId24"/>
    <p:sldId id="288" r:id="rId25"/>
    <p:sldId id="289" r:id="rId26"/>
    <p:sldId id="293" r:id="rId27"/>
    <p:sldId id="291" r:id="rId28"/>
  </p:sldIdLst>
  <p:sldSz cx="9144000" cy="6858000" type="screen4x3"/>
  <p:notesSz cx="6858000" cy="9945688"/>
  <p:custDataLst>
    <p:tags r:id="rId30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74" autoAdjust="0"/>
    <p:restoredTop sz="25926" autoAdjust="0"/>
  </p:normalViewPr>
  <p:slideViewPr>
    <p:cSldViewPr>
      <p:cViewPr varScale="1">
        <p:scale>
          <a:sx n="17" d="100"/>
          <a:sy n="17" d="100"/>
        </p:scale>
        <p:origin x="2780" y="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308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, Thi Quynh Nhi  SH/HZA-HAADD" userId="fa5d8dce-1e87-4da3-b2b1-08b1cf4c506d" providerId="ADAL" clId="{272DA7E3-2389-4D19-93AF-3C089B176451}"/>
    <pc:docChg chg="custSel modSld">
      <pc:chgData name="Duong, Thi Quynh Nhi  SH/HZA-HAADD" userId="fa5d8dce-1e87-4da3-b2b1-08b1cf4c506d" providerId="ADAL" clId="{272DA7E3-2389-4D19-93AF-3C089B176451}" dt="2025-02-27T10:14:46.922" v="1302" actId="20577"/>
      <pc:docMkLst>
        <pc:docMk/>
      </pc:docMkLst>
      <pc:sldChg chg="modNotesTx">
        <pc:chgData name="Duong, Thi Quynh Nhi  SH/HZA-HAADD" userId="fa5d8dce-1e87-4da3-b2b1-08b1cf4c506d" providerId="ADAL" clId="{272DA7E3-2389-4D19-93AF-3C089B176451}" dt="2025-02-27T10:14:46.922" v="1302" actId="20577"/>
        <pc:sldMkLst>
          <pc:docMk/>
          <pc:sldMk cId="0" sldId="287"/>
        </pc:sldMkLst>
      </pc:sldChg>
      <pc:sldChg chg="modNotesTx">
        <pc:chgData name="Duong, Thi Quynh Nhi  SH/HZA-HAADD" userId="fa5d8dce-1e87-4da3-b2b1-08b1cf4c506d" providerId="ADAL" clId="{272DA7E3-2389-4D19-93AF-3C089B176451}" dt="2025-02-27T08:44:34.006" v="21" actId="20577"/>
        <pc:sldMkLst>
          <pc:docMk/>
          <pc:sldMk cId="0" sldId="29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559C31-3F57-4376-8678-BB929BC1F74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687732B3-C892-4E64-8011-8FDB27B40EA8}">
      <dgm:prSet phldrT="[Text]"/>
      <dgm:spPr/>
      <dgm:t>
        <a:bodyPr/>
        <a:lstStyle/>
        <a:p>
          <a:r>
            <a:rPr lang="de-DE" dirty="0"/>
            <a:t>Buchführung</a:t>
          </a:r>
          <a:br>
            <a:rPr lang="de-DE" dirty="0"/>
          </a:br>
          <a:r>
            <a:rPr lang="de-DE" dirty="0"/>
            <a:t>(Finanzbuchhaltung)</a:t>
          </a:r>
        </a:p>
      </dgm:t>
    </dgm:pt>
    <dgm:pt modelId="{37F17078-0DFD-4CDA-B854-06D4E7BFE453}" type="parTrans" cxnId="{7B6EC70C-DEA9-45CE-8628-112361695D13}">
      <dgm:prSet/>
      <dgm:spPr/>
      <dgm:t>
        <a:bodyPr/>
        <a:lstStyle/>
        <a:p>
          <a:endParaRPr lang="de-DE"/>
        </a:p>
      </dgm:t>
    </dgm:pt>
    <dgm:pt modelId="{DBC139E6-2A91-40F6-8DBB-9851B9F9F18D}" type="sibTrans" cxnId="{7B6EC70C-DEA9-45CE-8628-112361695D13}">
      <dgm:prSet/>
      <dgm:spPr/>
      <dgm:t>
        <a:bodyPr/>
        <a:lstStyle/>
        <a:p>
          <a:endParaRPr lang="de-DE"/>
        </a:p>
      </dgm:t>
    </dgm:pt>
    <dgm:pt modelId="{3CDAC097-6188-4F3B-9A09-B63F33566CDB}">
      <dgm:prSet phldrT="[Text]"/>
      <dgm:spPr>
        <a:solidFill>
          <a:srgbClr val="FFFF00">
            <a:alpha val="90000"/>
          </a:srgbClr>
        </a:solidFill>
      </dgm:spPr>
      <dgm:t>
        <a:bodyPr/>
        <a:lstStyle/>
        <a:p>
          <a:r>
            <a:rPr lang="de-DE" dirty="0"/>
            <a:t>Zeitrechnung</a:t>
          </a:r>
          <a:br>
            <a:rPr lang="de-DE" dirty="0"/>
          </a:br>
          <a:r>
            <a:rPr lang="de-DE" dirty="0"/>
            <a:t>(Jahresabschluss, G+V, Bilanz)</a:t>
          </a:r>
        </a:p>
      </dgm:t>
    </dgm:pt>
    <dgm:pt modelId="{816890F5-6714-4584-932A-0A37194AAEEA}" type="parTrans" cxnId="{DAAB2BBF-B709-4683-9A5F-F80C1DD4601C}">
      <dgm:prSet/>
      <dgm:spPr/>
      <dgm:t>
        <a:bodyPr/>
        <a:lstStyle/>
        <a:p>
          <a:endParaRPr lang="de-DE"/>
        </a:p>
      </dgm:t>
    </dgm:pt>
    <dgm:pt modelId="{561C2E39-1278-4C76-AB28-8EBFAEEB0EE7}" type="sibTrans" cxnId="{DAAB2BBF-B709-4683-9A5F-F80C1DD4601C}">
      <dgm:prSet/>
      <dgm:spPr/>
      <dgm:t>
        <a:bodyPr/>
        <a:lstStyle/>
        <a:p>
          <a:endParaRPr lang="de-DE"/>
        </a:p>
      </dgm:t>
    </dgm:pt>
    <dgm:pt modelId="{C1E25EAE-7E8C-4622-B092-450C2F1F00CA}">
      <dgm:prSet phldrT="[Text]"/>
      <dgm:spPr>
        <a:solidFill>
          <a:srgbClr val="FFFF00">
            <a:alpha val="90000"/>
          </a:srgbClr>
        </a:solidFill>
      </dgm:spPr>
      <dgm:t>
        <a:bodyPr/>
        <a:lstStyle/>
        <a:p>
          <a:r>
            <a:rPr lang="de-DE" dirty="0"/>
            <a:t>Hierzu müssen alle Geschäftsfälle (durch Belege dokumentiert) erfasst und in Konten gebucht werde.</a:t>
          </a:r>
          <a:br>
            <a:rPr lang="de-DE" dirty="0"/>
          </a:br>
          <a:r>
            <a:rPr lang="de-DE" dirty="0"/>
            <a:t>Alle Vermögensbestände werden erfasst und bewertet.</a:t>
          </a:r>
          <a:br>
            <a:rPr lang="de-DE" dirty="0"/>
          </a:br>
          <a:r>
            <a:rPr lang="de-DE" dirty="0"/>
            <a:t>Erfolgsvorgänge werden erfasst und der Erfolg ermittelt.</a:t>
          </a:r>
        </a:p>
      </dgm:t>
    </dgm:pt>
    <dgm:pt modelId="{AD042B2E-404B-4CCC-9D62-73861E301ED6}" type="parTrans" cxnId="{BF8E8A73-D301-4360-AE7A-0408B4E81405}">
      <dgm:prSet/>
      <dgm:spPr/>
      <dgm:t>
        <a:bodyPr/>
        <a:lstStyle/>
        <a:p>
          <a:endParaRPr lang="de-DE"/>
        </a:p>
      </dgm:t>
    </dgm:pt>
    <dgm:pt modelId="{A08D13FF-295A-49E4-89C4-5D6AFC6E5766}" type="sibTrans" cxnId="{BF8E8A73-D301-4360-AE7A-0408B4E81405}">
      <dgm:prSet/>
      <dgm:spPr/>
      <dgm:t>
        <a:bodyPr/>
        <a:lstStyle/>
        <a:p>
          <a:endParaRPr lang="de-DE"/>
        </a:p>
      </dgm:t>
    </dgm:pt>
    <dgm:pt modelId="{E98276F7-957E-46FD-A69B-8F1BD22D46FD}">
      <dgm:prSet phldrT="[Text]"/>
      <dgm:spPr/>
      <dgm:t>
        <a:bodyPr/>
        <a:lstStyle/>
        <a:p>
          <a:r>
            <a:rPr lang="de-DE" dirty="0"/>
            <a:t>Kosten- und Leistungsrechnung</a:t>
          </a:r>
          <a:br>
            <a:rPr lang="de-DE" dirty="0"/>
          </a:br>
          <a:r>
            <a:rPr lang="de-DE" dirty="0"/>
            <a:t>(Betriebsbuchhaltung (KLR)</a:t>
          </a:r>
        </a:p>
      </dgm:t>
    </dgm:pt>
    <dgm:pt modelId="{6B96753F-4AC0-411D-9FFB-93674F84AFFD}" type="parTrans" cxnId="{AD4F306D-3541-4D37-ADDF-95A553FA560E}">
      <dgm:prSet/>
      <dgm:spPr/>
      <dgm:t>
        <a:bodyPr/>
        <a:lstStyle/>
        <a:p>
          <a:endParaRPr lang="de-DE"/>
        </a:p>
      </dgm:t>
    </dgm:pt>
    <dgm:pt modelId="{262B96D4-E766-44A4-AE8C-C20E9E8B94D2}" type="sibTrans" cxnId="{AD4F306D-3541-4D37-ADDF-95A553FA560E}">
      <dgm:prSet/>
      <dgm:spPr/>
      <dgm:t>
        <a:bodyPr/>
        <a:lstStyle/>
        <a:p>
          <a:endParaRPr lang="de-DE"/>
        </a:p>
      </dgm:t>
    </dgm:pt>
    <dgm:pt modelId="{6D1CC33B-FF2E-4E8C-90FF-1A45FE308B88}">
      <dgm:prSet phldrT="[Text]"/>
      <dgm:spPr/>
      <dgm:t>
        <a:bodyPr/>
        <a:lstStyle/>
        <a:p>
          <a:r>
            <a:rPr lang="de-DE" dirty="0"/>
            <a:t>Stück- und Zeitrechnung</a:t>
          </a:r>
          <a:br>
            <a:rPr lang="de-DE" dirty="0"/>
          </a:br>
          <a:r>
            <a:rPr lang="de-DE" dirty="0"/>
            <a:t>- Kostenarten</a:t>
          </a:r>
          <a:br>
            <a:rPr lang="de-DE" dirty="0"/>
          </a:br>
          <a:r>
            <a:rPr lang="de-DE" dirty="0"/>
            <a:t>   (Welche Kosten?)</a:t>
          </a:r>
          <a:br>
            <a:rPr lang="de-DE" dirty="0"/>
          </a:br>
          <a:r>
            <a:rPr lang="de-DE" dirty="0"/>
            <a:t>- Kostenstellen</a:t>
          </a:r>
          <a:br>
            <a:rPr lang="de-DE" dirty="0"/>
          </a:br>
          <a:r>
            <a:rPr lang="de-DE" dirty="0"/>
            <a:t>   (Wo entstehen die</a:t>
          </a:r>
          <a:br>
            <a:rPr lang="de-DE" dirty="0"/>
          </a:br>
          <a:r>
            <a:rPr lang="de-DE" dirty="0"/>
            <a:t>   Kosten?)</a:t>
          </a:r>
          <a:br>
            <a:rPr lang="de-DE" dirty="0"/>
          </a:br>
          <a:r>
            <a:rPr lang="de-DE" dirty="0"/>
            <a:t>- Kostenträger</a:t>
          </a:r>
          <a:br>
            <a:rPr lang="de-DE" dirty="0"/>
          </a:br>
          <a:r>
            <a:rPr lang="de-DE" dirty="0"/>
            <a:t>  (Wofür entstehen die</a:t>
          </a:r>
          <a:br>
            <a:rPr lang="de-DE" dirty="0"/>
          </a:br>
          <a:r>
            <a:rPr lang="de-DE" dirty="0"/>
            <a:t>  Kosten?)</a:t>
          </a:r>
          <a:br>
            <a:rPr lang="de-DE" dirty="0"/>
          </a:br>
          <a:r>
            <a:rPr lang="de-DE" dirty="0"/>
            <a:t>    - für Produkte und </a:t>
          </a:r>
          <a:br>
            <a:rPr lang="de-DE" dirty="0"/>
          </a:br>
          <a:r>
            <a:rPr lang="de-DE" dirty="0"/>
            <a:t>       Leistungen</a:t>
          </a:r>
          <a:br>
            <a:rPr lang="de-DE" dirty="0"/>
          </a:br>
          <a:endParaRPr lang="de-DE" dirty="0"/>
        </a:p>
      </dgm:t>
    </dgm:pt>
    <dgm:pt modelId="{901127AC-11D8-480F-AFB3-797412C0D65E}" type="parTrans" cxnId="{75DB0BDB-5E2E-4F9E-84EC-11E21824F990}">
      <dgm:prSet/>
      <dgm:spPr/>
      <dgm:t>
        <a:bodyPr/>
        <a:lstStyle/>
        <a:p>
          <a:endParaRPr lang="de-DE"/>
        </a:p>
      </dgm:t>
    </dgm:pt>
    <dgm:pt modelId="{0932FFE3-3039-4DDF-8F69-5620F78E1B30}" type="sibTrans" cxnId="{75DB0BDB-5E2E-4F9E-84EC-11E21824F990}">
      <dgm:prSet/>
      <dgm:spPr/>
      <dgm:t>
        <a:bodyPr/>
        <a:lstStyle/>
        <a:p>
          <a:endParaRPr lang="de-DE"/>
        </a:p>
      </dgm:t>
    </dgm:pt>
    <dgm:pt modelId="{D94E7EAB-A066-4FE8-9F40-1C0215D017A2}">
      <dgm:prSet phldrT="[Text]"/>
      <dgm:spPr/>
      <dgm:t>
        <a:bodyPr/>
        <a:lstStyle/>
        <a:p>
          <a:r>
            <a:rPr lang="de-DE" dirty="0"/>
            <a:t>Sonderrechnungsbereiche</a:t>
          </a:r>
          <a:br>
            <a:rPr lang="de-DE" dirty="0"/>
          </a:br>
          <a:r>
            <a:rPr lang="de-DE" dirty="0"/>
            <a:t>(Statistik und Planung)</a:t>
          </a:r>
        </a:p>
      </dgm:t>
    </dgm:pt>
    <dgm:pt modelId="{7B67FE8B-BCCD-41CA-B3B3-CB94D1836BC7}" type="parTrans" cxnId="{BC5AB74C-2935-40CD-91C6-22311534C06E}">
      <dgm:prSet/>
      <dgm:spPr/>
      <dgm:t>
        <a:bodyPr/>
        <a:lstStyle/>
        <a:p>
          <a:endParaRPr lang="de-DE"/>
        </a:p>
      </dgm:t>
    </dgm:pt>
    <dgm:pt modelId="{F56CEE2C-16F8-4929-8714-2A6A494FC2DB}" type="sibTrans" cxnId="{BC5AB74C-2935-40CD-91C6-22311534C06E}">
      <dgm:prSet/>
      <dgm:spPr/>
      <dgm:t>
        <a:bodyPr/>
        <a:lstStyle/>
        <a:p>
          <a:endParaRPr lang="de-DE"/>
        </a:p>
      </dgm:t>
    </dgm:pt>
    <dgm:pt modelId="{168A74EA-B60E-4531-908F-7F138ECE39AD}">
      <dgm:prSet phldrT="[Text]"/>
      <dgm:spPr/>
      <dgm:t>
        <a:bodyPr/>
        <a:lstStyle/>
        <a:p>
          <a:r>
            <a:rPr lang="de-DE" dirty="0"/>
            <a:t>Vergleichsrechnungen durchführen </a:t>
          </a:r>
          <a:br>
            <a:rPr lang="de-DE" dirty="0"/>
          </a:br>
          <a:r>
            <a:rPr lang="de-DE" dirty="0"/>
            <a:t>- Vorjahr – Berichtsjahr</a:t>
          </a:r>
          <a:br>
            <a:rPr lang="de-DE" dirty="0"/>
          </a:br>
          <a:r>
            <a:rPr lang="de-DE" dirty="0"/>
            <a:t>- Soll- Istwert</a:t>
          </a:r>
          <a:br>
            <a:rPr lang="de-DE" dirty="0"/>
          </a:br>
          <a:r>
            <a:rPr lang="de-DE" dirty="0"/>
            <a:t>- Vergleich mit der Branche bzw. Konkurrenz und Marktführung</a:t>
          </a:r>
          <a:br>
            <a:rPr lang="de-DE" dirty="0"/>
          </a:br>
          <a:r>
            <a:rPr lang="de-DE" dirty="0"/>
            <a:t>(</a:t>
          </a:r>
          <a:r>
            <a:rPr lang="de-DE" dirty="0" err="1"/>
            <a:t>Benchmarking</a:t>
          </a:r>
          <a:br>
            <a:rPr lang="de-DE" dirty="0"/>
          </a:br>
          <a:endParaRPr lang="de-DE" dirty="0"/>
        </a:p>
      </dgm:t>
    </dgm:pt>
    <dgm:pt modelId="{2BD8A260-4CE5-4A79-99F1-C7DAA1243C1A}" type="parTrans" cxnId="{25812272-2710-4FD0-858D-733E0A81D830}">
      <dgm:prSet/>
      <dgm:spPr/>
      <dgm:t>
        <a:bodyPr/>
        <a:lstStyle/>
        <a:p>
          <a:endParaRPr lang="de-DE"/>
        </a:p>
      </dgm:t>
    </dgm:pt>
    <dgm:pt modelId="{407C1532-D9C0-4743-BD27-88E8719ADF9E}" type="sibTrans" cxnId="{25812272-2710-4FD0-858D-733E0A81D830}">
      <dgm:prSet/>
      <dgm:spPr/>
      <dgm:t>
        <a:bodyPr/>
        <a:lstStyle/>
        <a:p>
          <a:endParaRPr lang="de-DE"/>
        </a:p>
      </dgm:t>
    </dgm:pt>
    <dgm:pt modelId="{AAB0D5C9-F976-4780-8CA1-2A6413337DD9}">
      <dgm:prSet phldrT="[Text]" phldr="1"/>
      <dgm:spPr/>
      <dgm:t>
        <a:bodyPr/>
        <a:lstStyle/>
        <a:p>
          <a:endParaRPr lang="de-DE"/>
        </a:p>
      </dgm:t>
    </dgm:pt>
    <dgm:pt modelId="{CCF6DA8B-BA96-4FD5-9E87-B1A96EEB1B48}" type="parTrans" cxnId="{B83034B2-2B9B-42BB-84AE-1CE68886CF92}">
      <dgm:prSet/>
      <dgm:spPr/>
      <dgm:t>
        <a:bodyPr/>
        <a:lstStyle/>
        <a:p>
          <a:endParaRPr lang="de-DE"/>
        </a:p>
      </dgm:t>
    </dgm:pt>
    <dgm:pt modelId="{0D7CE6B0-AEEF-4547-981D-C0B46711E30A}" type="sibTrans" cxnId="{B83034B2-2B9B-42BB-84AE-1CE68886CF92}">
      <dgm:prSet/>
      <dgm:spPr/>
      <dgm:t>
        <a:bodyPr/>
        <a:lstStyle/>
        <a:p>
          <a:endParaRPr lang="de-DE"/>
        </a:p>
      </dgm:t>
    </dgm:pt>
    <dgm:pt modelId="{94ACE321-657E-416D-8218-3D8FD34F1A11}">
      <dgm:prSet phldrT="[Text]"/>
      <dgm:spPr/>
      <dgm:t>
        <a:bodyPr/>
        <a:lstStyle/>
        <a:p>
          <a:r>
            <a:rPr lang="de-DE" dirty="0"/>
            <a:t>Dient der Information und Kontrolle und ist Grundlage für die Planung (z.B.  Kalkulation der Verkaufspreise</a:t>
          </a:r>
          <a:br>
            <a:rPr lang="de-DE" dirty="0"/>
          </a:br>
          <a:endParaRPr lang="de-DE" dirty="0"/>
        </a:p>
      </dgm:t>
    </dgm:pt>
    <dgm:pt modelId="{20842534-D616-4853-AE9C-1CF29F4840CF}" type="parTrans" cxnId="{549F65DC-0C90-45E8-87ED-4BF4112811E8}">
      <dgm:prSet/>
      <dgm:spPr/>
      <dgm:t>
        <a:bodyPr/>
        <a:lstStyle/>
        <a:p>
          <a:endParaRPr lang="de-DE"/>
        </a:p>
      </dgm:t>
    </dgm:pt>
    <dgm:pt modelId="{285D361A-80AC-41DE-B97D-F416257088AB}" type="sibTrans" cxnId="{549F65DC-0C90-45E8-87ED-4BF4112811E8}">
      <dgm:prSet/>
      <dgm:spPr/>
      <dgm:t>
        <a:bodyPr/>
        <a:lstStyle/>
        <a:p>
          <a:endParaRPr lang="de-DE"/>
        </a:p>
      </dgm:t>
    </dgm:pt>
    <dgm:pt modelId="{D60B662D-2693-494F-87C6-0162571E10FC}" type="pres">
      <dgm:prSet presAssocID="{60559C31-3F57-4376-8678-BB929BC1F747}" presName="Name0" presStyleCnt="0">
        <dgm:presLayoutVars>
          <dgm:dir/>
          <dgm:animLvl val="lvl"/>
          <dgm:resizeHandles val="exact"/>
        </dgm:presLayoutVars>
      </dgm:prSet>
      <dgm:spPr/>
    </dgm:pt>
    <dgm:pt modelId="{3F331286-E6AC-4D12-8F90-EE7A9CFB1790}" type="pres">
      <dgm:prSet presAssocID="{687732B3-C892-4E64-8011-8FDB27B40EA8}" presName="composite" presStyleCnt="0"/>
      <dgm:spPr/>
    </dgm:pt>
    <dgm:pt modelId="{65939496-2C5A-451B-A2CE-966292F2FDF6}" type="pres">
      <dgm:prSet presAssocID="{687732B3-C892-4E64-8011-8FDB27B40EA8}" presName="parTx" presStyleLbl="alignNode1" presStyleIdx="0" presStyleCnt="3" custLinFactNeighborX="-103" custLinFactNeighborY="6249">
        <dgm:presLayoutVars>
          <dgm:chMax val="0"/>
          <dgm:chPref val="0"/>
          <dgm:bulletEnabled val="1"/>
        </dgm:presLayoutVars>
      </dgm:prSet>
      <dgm:spPr/>
    </dgm:pt>
    <dgm:pt modelId="{2599BEFC-9B4E-4A6B-8685-5D6C8568A45E}" type="pres">
      <dgm:prSet presAssocID="{687732B3-C892-4E64-8011-8FDB27B40EA8}" presName="desTx" presStyleLbl="alignAccFollowNode1" presStyleIdx="0" presStyleCnt="3">
        <dgm:presLayoutVars>
          <dgm:bulletEnabled val="1"/>
        </dgm:presLayoutVars>
      </dgm:prSet>
      <dgm:spPr/>
    </dgm:pt>
    <dgm:pt modelId="{A928ABB5-3446-420F-BA2D-8521DA6EFF95}" type="pres">
      <dgm:prSet presAssocID="{DBC139E6-2A91-40F6-8DBB-9851B9F9F18D}" presName="space" presStyleCnt="0"/>
      <dgm:spPr/>
    </dgm:pt>
    <dgm:pt modelId="{F45E6D1B-E3C6-48BB-82FE-EC8CAAF9A02F}" type="pres">
      <dgm:prSet presAssocID="{E98276F7-957E-46FD-A69B-8F1BD22D46FD}" presName="composite" presStyleCnt="0"/>
      <dgm:spPr/>
    </dgm:pt>
    <dgm:pt modelId="{C1091183-9295-4F5C-A3B7-4F67D1EEC4CF}" type="pres">
      <dgm:prSet presAssocID="{E98276F7-957E-46FD-A69B-8F1BD22D46F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7ED292B-2976-4CF2-94AC-1AA110BCB754}" type="pres">
      <dgm:prSet presAssocID="{E98276F7-957E-46FD-A69B-8F1BD22D46FD}" presName="desTx" presStyleLbl="alignAccFollowNode1" presStyleIdx="1" presStyleCnt="3">
        <dgm:presLayoutVars>
          <dgm:bulletEnabled val="1"/>
        </dgm:presLayoutVars>
      </dgm:prSet>
      <dgm:spPr/>
    </dgm:pt>
    <dgm:pt modelId="{3936BB40-565B-4A13-8BDD-10087C4FE3C7}" type="pres">
      <dgm:prSet presAssocID="{262B96D4-E766-44A4-AE8C-C20E9E8B94D2}" presName="space" presStyleCnt="0"/>
      <dgm:spPr/>
    </dgm:pt>
    <dgm:pt modelId="{8C29136C-A0CC-4046-9D22-6EE501901E70}" type="pres">
      <dgm:prSet presAssocID="{D94E7EAB-A066-4FE8-9F40-1C0215D017A2}" presName="composite" presStyleCnt="0"/>
      <dgm:spPr/>
    </dgm:pt>
    <dgm:pt modelId="{80C2A865-F9CF-4F48-9771-A3F4926F9146}" type="pres">
      <dgm:prSet presAssocID="{D94E7EAB-A066-4FE8-9F40-1C0215D017A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79AE8B6-7EFB-49F2-9DBA-B48AF6DBC1B6}" type="pres">
      <dgm:prSet presAssocID="{D94E7EAB-A066-4FE8-9F40-1C0215D017A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558240A-1B53-4904-BBE9-915194DD4526}" type="presOf" srcId="{94ACE321-657E-416D-8218-3D8FD34F1A11}" destId="{A7ED292B-2976-4CF2-94AC-1AA110BCB754}" srcOrd="0" destOrd="1" presId="urn:microsoft.com/office/officeart/2005/8/layout/hList1"/>
    <dgm:cxn modelId="{7B6EC70C-DEA9-45CE-8628-112361695D13}" srcId="{60559C31-3F57-4376-8678-BB929BC1F747}" destId="{687732B3-C892-4E64-8011-8FDB27B40EA8}" srcOrd="0" destOrd="0" parTransId="{37F17078-0DFD-4CDA-B854-06D4E7BFE453}" sibTransId="{DBC139E6-2A91-40F6-8DBB-9851B9F9F18D}"/>
    <dgm:cxn modelId="{835F1745-06FE-40C3-94F8-13C97CE03260}" type="presOf" srcId="{E98276F7-957E-46FD-A69B-8F1BD22D46FD}" destId="{C1091183-9295-4F5C-A3B7-4F67D1EEC4CF}" srcOrd="0" destOrd="0" presId="urn:microsoft.com/office/officeart/2005/8/layout/hList1"/>
    <dgm:cxn modelId="{573CC549-AB72-4376-93C8-7E931613F589}" type="presOf" srcId="{AAB0D5C9-F976-4780-8CA1-2A6413337DD9}" destId="{779AE8B6-7EFB-49F2-9DBA-B48AF6DBC1B6}" srcOrd="0" destOrd="1" presId="urn:microsoft.com/office/officeart/2005/8/layout/hList1"/>
    <dgm:cxn modelId="{BC5AB74C-2935-40CD-91C6-22311534C06E}" srcId="{60559C31-3F57-4376-8678-BB929BC1F747}" destId="{D94E7EAB-A066-4FE8-9F40-1C0215D017A2}" srcOrd="2" destOrd="0" parTransId="{7B67FE8B-BCCD-41CA-B3B3-CB94D1836BC7}" sibTransId="{F56CEE2C-16F8-4929-8714-2A6A494FC2DB}"/>
    <dgm:cxn modelId="{AD4F306D-3541-4D37-ADDF-95A553FA560E}" srcId="{60559C31-3F57-4376-8678-BB929BC1F747}" destId="{E98276F7-957E-46FD-A69B-8F1BD22D46FD}" srcOrd="1" destOrd="0" parTransId="{6B96753F-4AC0-411D-9FFB-93674F84AFFD}" sibTransId="{262B96D4-E766-44A4-AE8C-C20E9E8B94D2}"/>
    <dgm:cxn modelId="{25812272-2710-4FD0-858D-733E0A81D830}" srcId="{D94E7EAB-A066-4FE8-9F40-1C0215D017A2}" destId="{168A74EA-B60E-4531-908F-7F138ECE39AD}" srcOrd="0" destOrd="0" parTransId="{2BD8A260-4CE5-4A79-99F1-C7DAA1243C1A}" sibTransId="{407C1532-D9C0-4743-BD27-88E8719ADF9E}"/>
    <dgm:cxn modelId="{C1443972-EE86-41C0-95FF-6CB0DC627EEA}" type="presOf" srcId="{168A74EA-B60E-4531-908F-7F138ECE39AD}" destId="{779AE8B6-7EFB-49F2-9DBA-B48AF6DBC1B6}" srcOrd="0" destOrd="0" presId="urn:microsoft.com/office/officeart/2005/8/layout/hList1"/>
    <dgm:cxn modelId="{BF8E8A73-D301-4360-AE7A-0408B4E81405}" srcId="{687732B3-C892-4E64-8011-8FDB27B40EA8}" destId="{C1E25EAE-7E8C-4622-B092-450C2F1F00CA}" srcOrd="1" destOrd="0" parTransId="{AD042B2E-404B-4CCC-9D62-73861E301ED6}" sibTransId="{A08D13FF-295A-49E4-89C4-5D6AFC6E5766}"/>
    <dgm:cxn modelId="{76346876-830A-46FA-B596-6AAD82CCA374}" type="presOf" srcId="{687732B3-C892-4E64-8011-8FDB27B40EA8}" destId="{65939496-2C5A-451B-A2CE-966292F2FDF6}" srcOrd="0" destOrd="0" presId="urn:microsoft.com/office/officeart/2005/8/layout/hList1"/>
    <dgm:cxn modelId="{4B214C7B-8933-4CF6-9C65-29C620E4F0B4}" type="presOf" srcId="{D94E7EAB-A066-4FE8-9F40-1C0215D017A2}" destId="{80C2A865-F9CF-4F48-9771-A3F4926F9146}" srcOrd="0" destOrd="0" presId="urn:microsoft.com/office/officeart/2005/8/layout/hList1"/>
    <dgm:cxn modelId="{8881D98A-23F7-4061-A097-330315A0DE13}" type="presOf" srcId="{3CDAC097-6188-4F3B-9A09-B63F33566CDB}" destId="{2599BEFC-9B4E-4A6B-8685-5D6C8568A45E}" srcOrd="0" destOrd="0" presId="urn:microsoft.com/office/officeart/2005/8/layout/hList1"/>
    <dgm:cxn modelId="{B399EFA9-D41F-4BA8-A8CC-619EF8B512DA}" type="presOf" srcId="{6D1CC33B-FF2E-4E8C-90FF-1A45FE308B88}" destId="{A7ED292B-2976-4CF2-94AC-1AA110BCB754}" srcOrd="0" destOrd="0" presId="urn:microsoft.com/office/officeart/2005/8/layout/hList1"/>
    <dgm:cxn modelId="{B83034B2-2B9B-42BB-84AE-1CE68886CF92}" srcId="{D94E7EAB-A066-4FE8-9F40-1C0215D017A2}" destId="{AAB0D5C9-F976-4780-8CA1-2A6413337DD9}" srcOrd="1" destOrd="0" parTransId="{CCF6DA8B-BA96-4FD5-9E87-B1A96EEB1B48}" sibTransId="{0D7CE6B0-AEEF-4547-981D-C0B46711E30A}"/>
    <dgm:cxn modelId="{74C6A5B8-C21A-4DF7-9460-F69E54163560}" type="presOf" srcId="{60559C31-3F57-4376-8678-BB929BC1F747}" destId="{D60B662D-2693-494F-87C6-0162571E10FC}" srcOrd="0" destOrd="0" presId="urn:microsoft.com/office/officeart/2005/8/layout/hList1"/>
    <dgm:cxn modelId="{07C406BF-1251-4B5F-9683-7EDEDE313118}" type="presOf" srcId="{C1E25EAE-7E8C-4622-B092-450C2F1F00CA}" destId="{2599BEFC-9B4E-4A6B-8685-5D6C8568A45E}" srcOrd="0" destOrd="1" presId="urn:microsoft.com/office/officeart/2005/8/layout/hList1"/>
    <dgm:cxn modelId="{DAAB2BBF-B709-4683-9A5F-F80C1DD4601C}" srcId="{687732B3-C892-4E64-8011-8FDB27B40EA8}" destId="{3CDAC097-6188-4F3B-9A09-B63F33566CDB}" srcOrd="0" destOrd="0" parTransId="{816890F5-6714-4584-932A-0A37194AAEEA}" sibTransId="{561C2E39-1278-4C76-AB28-8EBFAEEB0EE7}"/>
    <dgm:cxn modelId="{75DB0BDB-5E2E-4F9E-84EC-11E21824F990}" srcId="{E98276F7-957E-46FD-A69B-8F1BD22D46FD}" destId="{6D1CC33B-FF2E-4E8C-90FF-1A45FE308B88}" srcOrd="0" destOrd="0" parTransId="{901127AC-11D8-480F-AFB3-797412C0D65E}" sibTransId="{0932FFE3-3039-4DDF-8F69-5620F78E1B30}"/>
    <dgm:cxn modelId="{549F65DC-0C90-45E8-87ED-4BF4112811E8}" srcId="{E98276F7-957E-46FD-A69B-8F1BD22D46FD}" destId="{94ACE321-657E-416D-8218-3D8FD34F1A11}" srcOrd="1" destOrd="0" parTransId="{20842534-D616-4853-AE9C-1CF29F4840CF}" sibTransId="{285D361A-80AC-41DE-B97D-F416257088AB}"/>
    <dgm:cxn modelId="{A9855507-9789-4F5D-89D9-6A6F63961241}" type="presParOf" srcId="{D60B662D-2693-494F-87C6-0162571E10FC}" destId="{3F331286-E6AC-4D12-8F90-EE7A9CFB1790}" srcOrd="0" destOrd="0" presId="urn:microsoft.com/office/officeart/2005/8/layout/hList1"/>
    <dgm:cxn modelId="{9F76AAF2-9DDB-4665-A72D-56A2B99DAD71}" type="presParOf" srcId="{3F331286-E6AC-4D12-8F90-EE7A9CFB1790}" destId="{65939496-2C5A-451B-A2CE-966292F2FDF6}" srcOrd="0" destOrd="0" presId="urn:microsoft.com/office/officeart/2005/8/layout/hList1"/>
    <dgm:cxn modelId="{765D82B2-D335-43B6-9C40-3807FBC8315B}" type="presParOf" srcId="{3F331286-E6AC-4D12-8F90-EE7A9CFB1790}" destId="{2599BEFC-9B4E-4A6B-8685-5D6C8568A45E}" srcOrd="1" destOrd="0" presId="urn:microsoft.com/office/officeart/2005/8/layout/hList1"/>
    <dgm:cxn modelId="{EBD28973-741D-4484-A49B-117B2A7E9E29}" type="presParOf" srcId="{D60B662D-2693-494F-87C6-0162571E10FC}" destId="{A928ABB5-3446-420F-BA2D-8521DA6EFF95}" srcOrd="1" destOrd="0" presId="urn:microsoft.com/office/officeart/2005/8/layout/hList1"/>
    <dgm:cxn modelId="{32FD3F3A-A5A5-4E70-8AA5-791175E25D7D}" type="presParOf" srcId="{D60B662D-2693-494F-87C6-0162571E10FC}" destId="{F45E6D1B-E3C6-48BB-82FE-EC8CAAF9A02F}" srcOrd="2" destOrd="0" presId="urn:microsoft.com/office/officeart/2005/8/layout/hList1"/>
    <dgm:cxn modelId="{5E863561-0BF8-44B9-AB7A-2205E41DF1A5}" type="presParOf" srcId="{F45E6D1B-E3C6-48BB-82FE-EC8CAAF9A02F}" destId="{C1091183-9295-4F5C-A3B7-4F67D1EEC4CF}" srcOrd="0" destOrd="0" presId="urn:microsoft.com/office/officeart/2005/8/layout/hList1"/>
    <dgm:cxn modelId="{AEA96F63-21CB-45CF-8378-DB4F578792EE}" type="presParOf" srcId="{F45E6D1B-E3C6-48BB-82FE-EC8CAAF9A02F}" destId="{A7ED292B-2976-4CF2-94AC-1AA110BCB754}" srcOrd="1" destOrd="0" presId="urn:microsoft.com/office/officeart/2005/8/layout/hList1"/>
    <dgm:cxn modelId="{306937CE-0AB6-4263-98B6-E012AC513B33}" type="presParOf" srcId="{D60B662D-2693-494F-87C6-0162571E10FC}" destId="{3936BB40-565B-4A13-8BDD-10087C4FE3C7}" srcOrd="3" destOrd="0" presId="urn:microsoft.com/office/officeart/2005/8/layout/hList1"/>
    <dgm:cxn modelId="{23851F61-597C-46A6-BFE2-6A88A4C57A86}" type="presParOf" srcId="{D60B662D-2693-494F-87C6-0162571E10FC}" destId="{8C29136C-A0CC-4046-9D22-6EE501901E70}" srcOrd="4" destOrd="0" presId="urn:microsoft.com/office/officeart/2005/8/layout/hList1"/>
    <dgm:cxn modelId="{C59F0B5F-ABFB-44F9-B659-35DB95500CBF}" type="presParOf" srcId="{8C29136C-A0CC-4046-9D22-6EE501901E70}" destId="{80C2A865-F9CF-4F48-9771-A3F4926F9146}" srcOrd="0" destOrd="0" presId="urn:microsoft.com/office/officeart/2005/8/layout/hList1"/>
    <dgm:cxn modelId="{BC9C031A-7E0B-4031-91DE-A57DA092DD1F}" type="presParOf" srcId="{8C29136C-A0CC-4046-9D22-6EE501901E70}" destId="{779AE8B6-7EFB-49F2-9DBA-B48AF6DBC1B6}" srcOrd="1" destOrd="0" presId="urn:microsoft.com/office/officeart/2005/8/layout/hLis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39496-2C5A-451B-A2CE-966292F2FDF6}">
      <dsp:nvSpPr>
        <dsp:cNvPr id="0" name=""/>
        <dsp:cNvSpPr/>
      </dsp:nvSpPr>
      <dsp:spPr>
        <a:xfrm>
          <a:off x="0" y="159791"/>
          <a:ext cx="2457273" cy="4451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Buchführung</a:t>
          </a:r>
          <a:br>
            <a:rPr lang="de-DE" sz="1200" kern="1200" dirty="0"/>
          </a:br>
          <a:r>
            <a:rPr lang="de-DE" sz="1200" kern="1200" dirty="0"/>
            <a:t>(Finanzbuchhaltung)</a:t>
          </a:r>
        </a:p>
      </dsp:txBody>
      <dsp:txXfrm>
        <a:off x="0" y="159791"/>
        <a:ext cx="2457273" cy="445179"/>
      </dsp:txXfrm>
    </dsp:sp>
    <dsp:sp modelId="{2599BEFC-9B4E-4A6B-8685-5D6C8568A45E}">
      <dsp:nvSpPr>
        <dsp:cNvPr id="0" name=""/>
        <dsp:cNvSpPr/>
      </dsp:nvSpPr>
      <dsp:spPr>
        <a:xfrm>
          <a:off x="2520" y="577152"/>
          <a:ext cx="2457273" cy="3051067"/>
        </a:xfrm>
        <a:prstGeom prst="rect">
          <a:avLst/>
        </a:prstGeom>
        <a:solidFill>
          <a:srgbClr val="FFFF00">
            <a:alpha val="90000"/>
          </a:srgb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Zeitrechnung</a:t>
          </a:r>
          <a:br>
            <a:rPr lang="de-DE" sz="1200" kern="1200" dirty="0"/>
          </a:br>
          <a:r>
            <a:rPr lang="de-DE" sz="1200" kern="1200" dirty="0"/>
            <a:t>(Jahresabschluss, G+V, Bilanz)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Hierzu müssen alle Geschäftsfälle (durch Belege dokumentiert) erfasst und in Konten gebucht werde.</a:t>
          </a:r>
          <a:br>
            <a:rPr lang="de-DE" sz="1200" kern="1200" dirty="0"/>
          </a:br>
          <a:r>
            <a:rPr lang="de-DE" sz="1200" kern="1200" dirty="0"/>
            <a:t>Alle Vermögensbestände werden erfasst und bewertet.</a:t>
          </a:r>
          <a:br>
            <a:rPr lang="de-DE" sz="1200" kern="1200" dirty="0"/>
          </a:br>
          <a:r>
            <a:rPr lang="de-DE" sz="1200" kern="1200" dirty="0"/>
            <a:t>Erfolgsvorgänge werden erfasst und der Erfolg ermittelt.</a:t>
          </a:r>
        </a:p>
      </dsp:txBody>
      <dsp:txXfrm>
        <a:off x="2520" y="577152"/>
        <a:ext cx="2457273" cy="3051067"/>
      </dsp:txXfrm>
    </dsp:sp>
    <dsp:sp modelId="{C1091183-9295-4F5C-A3B7-4F67D1EEC4CF}">
      <dsp:nvSpPr>
        <dsp:cNvPr id="0" name=""/>
        <dsp:cNvSpPr/>
      </dsp:nvSpPr>
      <dsp:spPr>
        <a:xfrm>
          <a:off x="2803811" y="131972"/>
          <a:ext cx="2457273" cy="4451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Kosten- und Leistungsrechnung</a:t>
          </a:r>
          <a:br>
            <a:rPr lang="de-DE" sz="1200" kern="1200" dirty="0"/>
          </a:br>
          <a:r>
            <a:rPr lang="de-DE" sz="1200" kern="1200" dirty="0"/>
            <a:t>(Betriebsbuchhaltung (KLR)</a:t>
          </a:r>
        </a:p>
      </dsp:txBody>
      <dsp:txXfrm>
        <a:off x="2803811" y="131972"/>
        <a:ext cx="2457273" cy="445179"/>
      </dsp:txXfrm>
    </dsp:sp>
    <dsp:sp modelId="{A7ED292B-2976-4CF2-94AC-1AA110BCB754}">
      <dsp:nvSpPr>
        <dsp:cNvPr id="0" name=""/>
        <dsp:cNvSpPr/>
      </dsp:nvSpPr>
      <dsp:spPr>
        <a:xfrm>
          <a:off x="2803811" y="577152"/>
          <a:ext cx="2457273" cy="30510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Stück- und Zeitrechnung</a:t>
          </a:r>
          <a:br>
            <a:rPr lang="de-DE" sz="1200" kern="1200" dirty="0"/>
          </a:br>
          <a:r>
            <a:rPr lang="de-DE" sz="1200" kern="1200" dirty="0"/>
            <a:t>- Kostenarten</a:t>
          </a:r>
          <a:br>
            <a:rPr lang="de-DE" sz="1200" kern="1200" dirty="0"/>
          </a:br>
          <a:r>
            <a:rPr lang="de-DE" sz="1200" kern="1200" dirty="0"/>
            <a:t>   (Welche Kosten?)</a:t>
          </a:r>
          <a:br>
            <a:rPr lang="de-DE" sz="1200" kern="1200" dirty="0"/>
          </a:br>
          <a:r>
            <a:rPr lang="de-DE" sz="1200" kern="1200" dirty="0"/>
            <a:t>- Kostenstellen</a:t>
          </a:r>
          <a:br>
            <a:rPr lang="de-DE" sz="1200" kern="1200" dirty="0"/>
          </a:br>
          <a:r>
            <a:rPr lang="de-DE" sz="1200" kern="1200" dirty="0"/>
            <a:t>   (Wo entstehen die</a:t>
          </a:r>
          <a:br>
            <a:rPr lang="de-DE" sz="1200" kern="1200" dirty="0"/>
          </a:br>
          <a:r>
            <a:rPr lang="de-DE" sz="1200" kern="1200" dirty="0"/>
            <a:t>   Kosten?)</a:t>
          </a:r>
          <a:br>
            <a:rPr lang="de-DE" sz="1200" kern="1200" dirty="0"/>
          </a:br>
          <a:r>
            <a:rPr lang="de-DE" sz="1200" kern="1200" dirty="0"/>
            <a:t>- Kostenträger</a:t>
          </a:r>
          <a:br>
            <a:rPr lang="de-DE" sz="1200" kern="1200" dirty="0"/>
          </a:br>
          <a:r>
            <a:rPr lang="de-DE" sz="1200" kern="1200" dirty="0"/>
            <a:t>  (Wofür entstehen die</a:t>
          </a:r>
          <a:br>
            <a:rPr lang="de-DE" sz="1200" kern="1200" dirty="0"/>
          </a:br>
          <a:r>
            <a:rPr lang="de-DE" sz="1200" kern="1200" dirty="0"/>
            <a:t>  Kosten?)</a:t>
          </a:r>
          <a:br>
            <a:rPr lang="de-DE" sz="1200" kern="1200" dirty="0"/>
          </a:br>
          <a:r>
            <a:rPr lang="de-DE" sz="1200" kern="1200" dirty="0"/>
            <a:t>    - für Produkte und </a:t>
          </a:r>
          <a:br>
            <a:rPr lang="de-DE" sz="1200" kern="1200" dirty="0"/>
          </a:br>
          <a:r>
            <a:rPr lang="de-DE" sz="1200" kern="1200" dirty="0"/>
            <a:t>       Leistungen</a:t>
          </a:r>
          <a:br>
            <a:rPr lang="de-DE" sz="1200" kern="1200" dirty="0"/>
          </a:br>
          <a:endParaRPr lang="de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Dient der Information und Kontrolle und ist Grundlage für die Planung (z.B.  Kalkulation der Verkaufspreise</a:t>
          </a:r>
          <a:br>
            <a:rPr lang="de-DE" sz="1200" kern="1200" dirty="0"/>
          </a:br>
          <a:endParaRPr lang="de-DE" sz="1200" kern="1200" dirty="0"/>
        </a:p>
      </dsp:txBody>
      <dsp:txXfrm>
        <a:off x="2803811" y="577152"/>
        <a:ext cx="2457273" cy="3051067"/>
      </dsp:txXfrm>
    </dsp:sp>
    <dsp:sp modelId="{80C2A865-F9CF-4F48-9771-A3F4926F9146}">
      <dsp:nvSpPr>
        <dsp:cNvPr id="0" name=""/>
        <dsp:cNvSpPr/>
      </dsp:nvSpPr>
      <dsp:spPr>
        <a:xfrm>
          <a:off x="5605102" y="131972"/>
          <a:ext cx="2457273" cy="4451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Sonderrechnungsbereiche</a:t>
          </a:r>
          <a:br>
            <a:rPr lang="de-DE" sz="1200" kern="1200" dirty="0"/>
          </a:br>
          <a:r>
            <a:rPr lang="de-DE" sz="1200" kern="1200" dirty="0"/>
            <a:t>(Statistik und Planung)</a:t>
          </a:r>
        </a:p>
      </dsp:txBody>
      <dsp:txXfrm>
        <a:off x="5605102" y="131972"/>
        <a:ext cx="2457273" cy="445179"/>
      </dsp:txXfrm>
    </dsp:sp>
    <dsp:sp modelId="{779AE8B6-7EFB-49F2-9DBA-B48AF6DBC1B6}">
      <dsp:nvSpPr>
        <dsp:cNvPr id="0" name=""/>
        <dsp:cNvSpPr/>
      </dsp:nvSpPr>
      <dsp:spPr>
        <a:xfrm>
          <a:off x="5605102" y="577152"/>
          <a:ext cx="2457273" cy="30510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/>
            <a:t>Vergleichsrechnungen durchführen </a:t>
          </a:r>
          <a:br>
            <a:rPr lang="de-DE" sz="1200" kern="1200" dirty="0"/>
          </a:br>
          <a:r>
            <a:rPr lang="de-DE" sz="1200" kern="1200" dirty="0"/>
            <a:t>- Vorjahr – Berichtsjahr</a:t>
          </a:r>
          <a:br>
            <a:rPr lang="de-DE" sz="1200" kern="1200" dirty="0"/>
          </a:br>
          <a:r>
            <a:rPr lang="de-DE" sz="1200" kern="1200" dirty="0"/>
            <a:t>- Soll- Istwert</a:t>
          </a:r>
          <a:br>
            <a:rPr lang="de-DE" sz="1200" kern="1200" dirty="0"/>
          </a:br>
          <a:r>
            <a:rPr lang="de-DE" sz="1200" kern="1200" dirty="0"/>
            <a:t>- Vergleich mit der Branche bzw. Konkurrenz und Marktführung</a:t>
          </a:r>
          <a:br>
            <a:rPr lang="de-DE" sz="1200" kern="1200" dirty="0"/>
          </a:br>
          <a:r>
            <a:rPr lang="de-DE" sz="1200" kern="1200" dirty="0"/>
            <a:t>(</a:t>
          </a:r>
          <a:r>
            <a:rPr lang="de-DE" sz="1200" kern="1200" dirty="0" err="1"/>
            <a:t>Benchmarking</a:t>
          </a:r>
          <a:br>
            <a:rPr lang="de-DE" sz="1200" kern="1200" dirty="0"/>
          </a:br>
          <a:endParaRPr lang="de-DE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de-DE" sz="1200" kern="1200"/>
        </a:p>
      </dsp:txBody>
      <dsp:txXfrm>
        <a:off x="5605102" y="577152"/>
        <a:ext cx="2457273" cy="30510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7842"/>
          </a:xfrm>
          <a:prstGeom prst="rect">
            <a:avLst/>
          </a:prstGeom>
        </p:spPr>
        <p:txBody>
          <a:bodyPr vert="horz" lIns="91870" tIns="45935" rIns="91870" bIns="45935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7842"/>
          </a:xfrm>
          <a:prstGeom prst="rect">
            <a:avLst/>
          </a:prstGeom>
        </p:spPr>
        <p:txBody>
          <a:bodyPr vert="horz" lIns="91870" tIns="45935" rIns="91870" bIns="45935" rtlCol="0"/>
          <a:lstStyle>
            <a:lvl1pPr algn="r">
              <a:defRPr sz="1200"/>
            </a:lvl1pPr>
          </a:lstStyle>
          <a:p>
            <a:fld id="{2FDD97B9-892F-49DB-9BC0-291F5109F8D7}" type="datetimeFigureOut">
              <a:rPr lang="de-DE" smtClean="0"/>
              <a:t>27.02.2025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1244600"/>
            <a:ext cx="4473575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70" tIns="45935" rIns="91870" bIns="45935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480" y="4785955"/>
            <a:ext cx="5487041" cy="3915926"/>
          </a:xfrm>
          <a:prstGeom prst="rect">
            <a:avLst/>
          </a:prstGeom>
        </p:spPr>
        <p:txBody>
          <a:bodyPr vert="horz" lIns="91870" tIns="45935" rIns="91870" bIns="45935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47846"/>
            <a:ext cx="2972547" cy="497842"/>
          </a:xfrm>
          <a:prstGeom prst="rect">
            <a:avLst/>
          </a:prstGeom>
        </p:spPr>
        <p:txBody>
          <a:bodyPr vert="horz" lIns="91870" tIns="45935" rIns="91870" bIns="45935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47846"/>
            <a:ext cx="2972547" cy="497842"/>
          </a:xfrm>
          <a:prstGeom prst="rect">
            <a:avLst/>
          </a:prstGeom>
        </p:spPr>
        <p:txBody>
          <a:bodyPr vert="horz" lIns="91870" tIns="45935" rIns="91870" bIns="45935" rtlCol="0" anchor="b"/>
          <a:lstStyle>
            <a:lvl1pPr algn="r">
              <a:defRPr sz="1200"/>
            </a:lvl1pPr>
          </a:lstStyle>
          <a:p>
            <a:fld id="{BDC89485-3120-423E-9756-04DB061D7D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163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79C0A283-DF93-4490-B715-B56C51EAD3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6442" indent="-28709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8372" indent="-229674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7721" indent="-229674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67070" indent="-229674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26419" indent="-22967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85767" indent="-22967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45116" indent="-22967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4465" indent="-22967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7914060-B775-416F-8D55-B1D96E42C9A2}" type="slidenum">
              <a:rPr lang="de-DE" altLang="de-DE" sz="1200"/>
              <a:pPr eaLnBrk="1" hangingPunct="1"/>
              <a:t>2</a:t>
            </a:fld>
            <a:endParaRPr lang="de-DE" altLang="de-DE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965B3B8-0C19-4681-94BB-E00A18819A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640A2E-2571-40A6-A094-E39F33162A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de-DE" alt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Zur Veranschaulichung habe ich Ihnen in der Datei „BF_11“ ein frei gewähltes Bsp. für ein </a:t>
            </a:r>
            <a:r>
              <a:rPr lang="de-DE" b="1" dirty="0"/>
              <a:t>Inventar</a:t>
            </a:r>
            <a:r>
              <a:rPr lang="de-DE" dirty="0"/>
              <a:t> einer „Chemie AG“ beigefügt. Dessen Zahlen werden später nach der Folie 10 für eine Darstellung in Form einer </a:t>
            </a:r>
            <a:r>
              <a:rPr lang="de-DE" b="1" dirty="0"/>
              <a:t>Bilanz</a:t>
            </a:r>
            <a:r>
              <a:rPr lang="de-DE" dirty="0"/>
              <a:t> wieder aufgegriffen. </a:t>
            </a:r>
          </a:p>
          <a:p>
            <a:r>
              <a:rPr lang="de-DE" dirty="0"/>
              <a:t>Zum Bearbeiten der </a:t>
            </a:r>
            <a:r>
              <a:rPr lang="de-DE" b="1" dirty="0"/>
              <a:t>Anwendungsaufgabe</a:t>
            </a:r>
            <a:r>
              <a:rPr lang="de-DE" dirty="0"/>
              <a:t> können Sie die Dateien „BF12“ (Vorlage) und „BF13“ (Lösung) verwenden.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89485-3120-423E-9756-04DB061D7D61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5863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Zur „Umwandlung“ des </a:t>
            </a:r>
            <a:r>
              <a:rPr lang="de-DE" b="1" dirty="0"/>
              <a:t>Inventars</a:t>
            </a:r>
            <a:r>
              <a:rPr lang="de-DE" dirty="0"/>
              <a:t> der „Chemie AG“ in eine </a:t>
            </a:r>
            <a:r>
              <a:rPr lang="de-DE" b="1" dirty="0"/>
              <a:t>Bilanz</a:t>
            </a:r>
            <a:r>
              <a:rPr lang="de-DE" dirty="0"/>
              <a:t> verwenden Sie bitte die Dateien „BF_14“ (Vorlage) und „BF_15“ (Lösung).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89485-3120-423E-9756-04DB061D7D61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7396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SB: </a:t>
            </a:r>
            <a:r>
              <a:rPr lang="en-US" dirty="0" err="1"/>
              <a:t>Schlussbestand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89485-3120-423E-9756-04DB061D7D61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6908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Barverkauf</a:t>
            </a:r>
            <a:r>
              <a:rPr lang="en-US" dirty="0"/>
              <a:t> </a:t>
            </a:r>
            <a:r>
              <a:rPr lang="en-US" dirty="0" err="1"/>
              <a:t>eines</a:t>
            </a:r>
            <a:r>
              <a:rPr lang="en-US" dirty="0"/>
              <a:t> </a:t>
            </a:r>
            <a:r>
              <a:rPr lang="en-US" dirty="0" err="1"/>
              <a:t>gebrauchten</a:t>
            </a:r>
            <a:r>
              <a:rPr lang="en-US" dirty="0"/>
              <a:t> </a:t>
            </a:r>
            <a:r>
              <a:rPr lang="en-US" dirty="0" err="1"/>
              <a:t>Personalcomputer</a:t>
            </a:r>
            <a:r>
              <a:rPr lang="en-US" dirty="0"/>
              <a:t> lt. KB 412  </a:t>
            </a:r>
          </a:p>
          <a:p>
            <a:pPr marL="228600" indent="-228600">
              <a:buAutoNum type="arabicPeriod"/>
            </a:pPr>
            <a:r>
              <a:rPr lang="en-US" dirty="0" err="1"/>
              <a:t>Barabhebung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Bankskonto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Zielkauf</a:t>
            </a:r>
            <a:r>
              <a:rPr lang="en-US" dirty="0"/>
              <a:t> von </a:t>
            </a:r>
            <a:r>
              <a:rPr lang="en-US" dirty="0" err="1"/>
              <a:t>rohstoffen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Umwandlung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Lieferantenschuld</a:t>
            </a:r>
            <a:r>
              <a:rPr lang="en-US" dirty="0"/>
              <a:t> in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Darlehenschulde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Kunde </a:t>
            </a:r>
            <a:r>
              <a:rPr lang="en-US" dirty="0" err="1"/>
              <a:t>überweist</a:t>
            </a:r>
            <a:r>
              <a:rPr lang="en-US" dirty="0"/>
              <a:t> </a:t>
            </a:r>
            <a:r>
              <a:rPr lang="en-US" dirty="0" err="1"/>
              <a:t>fälligen</a:t>
            </a:r>
            <a:r>
              <a:rPr lang="en-US" dirty="0"/>
              <a:t> </a:t>
            </a:r>
            <a:r>
              <a:rPr lang="en-US" dirty="0" err="1"/>
              <a:t>Rechnungsbertrag</a:t>
            </a:r>
            <a:r>
              <a:rPr lang="en-US" dirty="0"/>
              <a:t> auf das </a:t>
            </a:r>
            <a:r>
              <a:rPr lang="en-US" dirty="0" err="1"/>
              <a:t>Bankkonto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Barkauf</a:t>
            </a:r>
            <a:r>
              <a:rPr lang="en-US" dirty="0"/>
              <a:t> von </a:t>
            </a:r>
            <a:r>
              <a:rPr lang="en-US" dirty="0" err="1"/>
              <a:t>Hilfsstoffen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Eingangsrechnung</a:t>
            </a:r>
            <a:r>
              <a:rPr lang="en-US" dirty="0"/>
              <a:t> für Kauf von </a:t>
            </a:r>
            <a:r>
              <a:rPr lang="en-US" dirty="0" err="1"/>
              <a:t>Betriebsstoffen</a:t>
            </a:r>
            <a:r>
              <a:rPr lang="en-US" dirty="0"/>
              <a:t> auf Ziel</a:t>
            </a:r>
          </a:p>
          <a:p>
            <a:pPr marL="228600" indent="-228600">
              <a:buAutoNum type="arabicPeriod"/>
            </a:pPr>
            <a:r>
              <a:rPr lang="en-US" dirty="0"/>
              <a:t>Kauf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Maschine</a:t>
            </a:r>
            <a:r>
              <a:rPr lang="en-US" dirty="0"/>
              <a:t> für den </a:t>
            </a:r>
            <a:r>
              <a:rPr lang="en-US" dirty="0" err="1"/>
              <a:t>Produktionsbetrieb</a:t>
            </a:r>
            <a:r>
              <a:rPr lang="en-US" dirty="0"/>
              <a:t> auf Ziel</a:t>
            </a:r>
          </a:p>
          <a:p>
            <a:pPr marL="228600" indent="-228600">
              <a:buAutoNum type="arabicPeriod"/>
            </a:pPr>
            <a:r>
              <a:rPr lang="en-US" dirty="0" err="1"/>
              <a:t>Überweisung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Postbankkonto</a:t>
            </a:r>
            <a:r>
              <a:rPr lang="en-US" dirty="0"/>
              <a:t> auf das </a:t>
            </a:r>
            <a:r>
              <a:rPr lang="en-US" dirty="0" err="1"/>
              <a:t>Bankkonto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Ausgleich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</a:rPr>
              <a:t>Eingangsrechnung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Banküberweisung</a:t>
            </a:r>
            <a:r>
              <a:rPr lang="en-US" dirty="0"/>
              <a:t>   (</a:t>
            </a:r>
            <a:r>
              <a:rPr lang="en-US" dirty="0" err="1"/>
              <a:t>hier</a:t>
            </a:r>
            <a:r>
              <a:rPr lang="en-US" dirty="0"/>
              <a:t>: </a:t>
            </a:r>
            <a:r>
              <a:rPr lang="en-US" dirty="0" err="1"/>
              <a:t>betriebliches</a:t>
            </a:r>
            <a:r>
              <a:rPr lang="en-US" dirty="0"/>
              <a:t> </a:t>
            </a:r>
            <a:r>
              <a:rPr lang="en-US" dirty="0" err="1"/>
              <a:t>Prozesswertschöpfung</a:t>
            </a:r>
            <a:r>
              <a:rPr lang="en-US" dirty="0"/>
              <a:t>)  (note: </a:t>
            </a:r>
            <a:r>
              <a:rPr lang="en-US" dirty="0" err="1"/>
              <a:t>Eingangsrechung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Beschaffung</a:t>
            </a:r>
            <a:r>
              <a:rPr lang="en-US" dirty="0">
                <a:sym typeface="Wingdings" panose="05000000000000000000" pitchFamily="2" charset="2"/>
              </a:rPr>
              <a:t>, Produktion)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Bareinzahlung</a:t>
            </a:r>
            <a:r>
              <a:rPr lang="en-US" dirty="0"/>
              <a:t> auf </a:t>
            </a:r>
            <a:r>
              <a:rPr lang="en-US" dirty="0" err="1"/>
              <a:t>Bankkonto</a:t>
            </a:r>
            <a:r>
              <a:rPr lang="en-US" dirty="0"/>
              <a:t> </a:t>
            </a:r>
          </a:p>
          <a:p>
            <a:pPr marL="228600" indent="-228600">
              <a:buAutoNum type="arabicPeriod"/>
            </a:pPr>
            <a:r>
              <a:rPr lang="en-US" dirty="0"/>
              <a:t>Kunde </a:t>
            </a:r>
            <a:r>
              <a:rPr lang="en-US" dirty="0" err="1"/>
              <a:t>begleicht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fällige</a:t>
            </a:r>
            <a:r>
              <a:rPr lang="en-US" dirty="0"/>
              <a:t> </a:t>
            </a:r>
            <a:r>
              <a:rPr lang="en-US" dirty="0" err="1"/>
              <a:t>Rechnung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Überweisung</a:t>
            </a:r>
            <a:r>
              <a:rPr lang="en-US" dirty="0"/>
              <a:t> </a:t>
            </a:r>
          </a:p>
          <a:p>
            <a:pPr marL="228600" indent="-228600">
              <a:buAutoNum type="arabicPeriod"/>
            </a:pPr>
            <a:r>
              <a:rPr lang="en-US" dirty="0"/>
              <a:t>Kauf </a:t>
            </a:r>
            <a:r>
              <a:rPr lang="en-US" dirty="0" err="1"/>
              <a:t>eines</a:t>
            </a:r>
            <a:r>
              <a:rPr lang="en-US" dirty="0"/>
              <a:t> </a:t>
            </a:r>
            <a:r>
              <a:rPr lang="en-US" dirty="0" err="1"/>
              <a:t>Kopiergeräts</a:t>
            </a:r>
            <a:r>
              <a:rPr lang="en-US" dirty="0"/>
              <a:t> auf Ziel</a:t>
            </a:r>
          </a:p>
          <a:p>
            <a:pPr marL="228600" indent="-228600">
              <a:buAutoNum type="arabicPeriod"/>
            </a:pPr>
            <a:r>
              <a:rPr lang="en-US" dirty="0" err="1"/>
              <a:t>Überweisung</a:t>
            </a:r>
            <a:r>
              <a:rPr lang="en-US" dirty="0"/>
              <a:t> an </a:t>
            </a:r>
            <a:r>
              <a:rPr lang="en-US" dirty="0" err="1"/>
              <a:t>Lieferanten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Ausgleich von ER 468</a:t>
            </a:r>
          </a:p>
          <a:p>
            <a:pPr marL="228600" indent="-228600">
              <a:buAutoNum type="arabicPeriod"/>
            </a:pPr>
            <a:r>
              <a:rPr lang="en-US" dirty="0" err="1"/>
              <a:t>Aufnahme</a:t>
            </a:r>
            <a:r>
              <a:rPr lang="en-US" dirty="0"/>
              <a:t> </a:t>
            </a:r>
            <a:r>
              <a:rPr lang="en-US" dirty="0" err="1"/>
              <a:t>eines</a:t>
            </a:r>
            <a:r>
              <a:rPr lang="en-US" dirty="0"/>
              <a:t> </a:t>
            </a:r>
            <a:r>
              <a:rPr lang="en-US" dirty="0" err="1"/>
              <a:t>Hypothekendarlehens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der Sparkasse</a:t>
            </a:r>
          </a:p>
          <a:p>
            <a:pPr marL="228600" indent="-228600">
              <a:buAutoNum type="arabicPeriod"/>
            </a:pPr>
            <a:r>
              <a:rPr lang="en-US" dirty="0"/>
              <a:t>Kauf </a:t>
            </a:r>
            <a:r>
              <a:rPr lang="en-US" dirty="0" err="1"/>
              <a:t>eines</a:t>
            </a:r>
            <a:r>
              <a:rPr lang="en-US" dirty="0"/>
              <a:t> </a:t>
            </a:r>
            <a:r>
              <a:rPr lang="en-US" dirty="0" err="1"/>
              <a:t>Baugrundstücks</a:t>
            </a:r>
            <a:r>
              <a:rPr lang="en-US" dirty="0"/>
              <a:t> </a:t>
            </a:r>
            <a:r>
              <a:rPr lang="en-US" dirty="0" err="1"/>
              <a:t>gegen</a:t>
            </a:r>
            <a:r>
              <a:rPr lang="en-US" dirty="0"/>
              <a:t> </a:t>
            </a:r>
            <a:r>
              <a:rPr lang="en-US" dirty="0" err="1"/>
              <a:t>Banküberweisung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Barverkauf</a:t>
            </a:r>
            <a:r>
              <a:rPr lang="en-US" dirty="0"/>
              <a:t> </a:t>
            </a:r>
            <a:r>
              <a:rPr lang="en-US" dirty="0" err="1"/>
              <a:t>eines</a:t>
            </a:r>
            <a:r>
              <a:rPr lang="en-US" dirty="0"/>
              <a:t> </a:t>
            </a:r>
            <a:r>
              <a:rPr lang="en-US" dirty="0" err="1"/>
              <a:t>gebrauchten</a:t>
            </a:r>
            <a:r>
              <a:rPr lang="en-US" dirty="0"/>
              <a:t> </a:t>
            </a:r>
            <a:r>
              <a:rPr lang="en-US" dirty="0" err="1"/>
              <a:t>Geschäfts</a:t>
            </a:r>
            <a:r>
              <a:rPr lang="en-US" dirty="0"/>
              <a:t>-PKW</a:t>
            </a:r>
          </a:p>
          <a:p>
            <a:pPr marL="0" indent="0">
              <a:buNone/>
            </a:pPr>
            <a:r>
              <a:rPr lang="en-US" dirty="0"/>
              <a:t>18. </a:t>
            </a:r>
            <a:r>
              <a:rPr lang="en-US" dirty="0" err="1"/>
              <a:t>Tilgung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Darlehensschuld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Banküberweisung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19. Kunde </a:t>
            </a:r>
            <a:r>
              <a:rPr lang="en-US" dirty="0" err="1"/>
              <a:t>begleicht</a:t>
            </a:r>
            <a:r>
              <a:rPr lang="en-US" dirty="0"/>
              <a:t> </a:t>
            </a:r>
            <a:r>
              <a:rPr lang="en-US" dirty="0" err="1"/>
              <a:t>lt</a:t>
            </a:r>
            <a:r>
              <a:rPr lang="en-US" dirty="0"/>
              <a:t> KA 220  die AR 451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Banküberweisung</a:t>
            </a: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89485-3120-423E-9756-04DB061D7D61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8531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89485-3120-423E-9756-04DB061D7D61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782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zur Vereinfachung verzichten wir auf das Konto EBK und die dazugehörigen Buchungen und beschränken uns auf die „einfache Übernahme“ der Eröffnungsbestände auf die jeweils richtige Seite der Bestandskonten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89485-3120-423E-9756-04DB061D7D61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8545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BB821-84BE-4CCB-A128-FD2A7A2EB148}" type="datetimeFigureOut">
              <a:rPr lang="de-DE"/>
              <a:pPr>
                <a:defRPr/>
              </a:pPr>
              <a:t>27.02.2025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EAF7E3-A86E-4244-826E-50260534BD4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204B3-0332-4BDF-AEC3-83870EB36908}" type="datetimeFigureOut">
              <a:rPr lang="de-DE"/>
              <a:pPr>
                <a:defRPr/>
              </a:pPr>
              <a:t>27.02.2025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80D44-8733-4C09-9900-3D8CC576ADF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B1942-B15F-4F9A-B49D-25106293FE09}" type="datetimeFigureOut">
              <a:rPr lang="de-DE"/>
              <a:pPr>
                <a:defRPr/>
              </a:pPr>
              <a:t>27.02.2025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18E14A-31CE-4348-AFEA-FC6427A7250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E01755-8E11-43A8-BCBD-F776FC35CC0E}" type="datetimeFigureOut">
              <a:rPr lang="de-DE"/>
              <a:pPr>
                <a:defRPr/>
              </a:pPr>
              <a:t>27.02.2025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886C8-0DEB-4E80-A45E-E30358359CB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FDE89-6A25-498B-AD63-F8B9ADC857B9}" type="datetimeFigureOut">
              <a:rPr lang="de-DE"/>
              <a:pPr>
                <a:defRPr/>
              </a:pPr>
              <a:t>27.02.2025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FAF6A-9355-4EF9-94ED-14A2F0EFCE9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F5606-0E7D-4D2E-B260-331859C303F5}" type="datetimeFigureOut">
              <a:rPr lang="de-DE"/>
              <a:pPr>
                <a:defRPr/>
              </a:pPr>
              <a:t>27.02.2025</a:t>
            </a:fld>
            <a:endParaRPr lang="de-DE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A32920-5497-4062-BDB4-9679F288286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54BD1-0DD9-4630-A047-F2E40595A129}" type="datetimeFigureOut">
              <a:rPr lang="de-DE"/>
              <a:pPr>
                <a:defRPr/>
              </a:pPr>
              <a:t>27.02.2025</a:t>
            </a:fld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DF1B0-AEEB-4DA0-8C88-146455A7FF3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181ADE-823B-4E57-A533-A71E3A93C3E7}" type="datetimeFigureOut">
              <a:rPr lang="de-DE"/>
              <a:pPr>
                <a:defRPr/>
              </a:pPr>
              <a:t>27.02.2025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10CEC2-F8F8-4766-86C2-1733578ACCC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8A972-3EF8-4205-AA0B-7318E1A03442}" type="datetimeFigureOut">
              <a:rPr lang="de-DE"/>
              <a:pPr>
                <a:defRPr/>
              </a:pPr>
              <a:t>27.02.2025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D9098F-F87F-43AD-9865-0F4C122C6FD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72605A-01C7-49AB-B136-212B7990D8A0}" type="datetimeFigureOut">
              <a:rPr lang="de-DE"/>
              <a:pPr>
                <a:defRPr/>
              </a:pPr>
              <a:t>27.02.2025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72F83-4605-44D3-8FFB-3586175EEFE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D09A9B-499E-4718-90AC-33B7E0B0945F}" type="datetimeFigureOut">
              <a:rPr lang="de-DE"/>
              <a:pPr>
                <a:defRPr/>
              </a:pPr>
              <a:t>27.02.2025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EE88A-EE42-4122-8BAC-9FAD4CEC83E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BE6E2A2-1BBA-43B8-AE64-92170A017FAB}" type="datetimeFigureOut">
              <a:rPr lang="de-DE"/>
              <a:pPr>
                <a:defRPr/>
              </a:pPr>
              <a:t>27.02.2025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8BBA0E8-5AD3-4776-BFC9-954AC94CBCA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4D4D100-AFF4-23B9-EB4A-3319DB422E5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66387" y="6672580"/>
            <a:ext cx="433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/>
          <p:cNvSpPr/>
          <p:nvPr/>
        </p:nvSpPr>
        <p:spPr>
          <a:xfrm>
            <a:off x="755650" y="836613"/>
            <a:ext cx="7777163" cy="518477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6000" b="1" dirty="0">
                <a:solidFill>
                  <a:schemeClr val="tx1"/>
                </a:solidFill>
              </a:rPr>
              <a:t>Überblick</a:t>
            </a:r>
            <a:br>
              <a:rPr lang="de-DE" sz="6000" b="1" dirty="0">
                <a:solidFill>
                  <a:schemeClr val="tx1"/>
                </a:solidFill>
              </a:rPr>
            </a:br>
            <a:r>
              <a:rPr lang="de-DE" sz="6000" b="1" dirty="0">
                <a:solidFill>
                  <a:schemeClr val="tx1"/>
                </a:solidFill>
              </a:rPr>
              <a:t>Geschäftsprozesse im Unternehmen</a:t>
            </a:r>
            <a:br>
              <a:rPr lang="de-DE" sz="6000" b="1" dirty="0">
                <a:solidFill>
                  <a:schemeClr val="tx1"/>
                </a:solidFill>
              </a:rPr>
            </a:br>
            <a:r>
              <a:rPr lang="de-DE" sz="4000" b="1" dirty="0">
                <a:solidFill>
                  <a:schemeClr val="tx1"/>
                </a:solidFill>
              </a:rPr>
              <a:t>[vgl. Lehrbuch S. 9-10] </a:t>
            </a:r>
            <a:br>
              <a:rPr lang="de-DE" sz="4000" b="1" dirty="0">
                <a:solidFill>
                  <a:schemeClr val="tx1"/>
                </a:solidFill>
              </a:rPr>
            </a:br>
            <a:endParaRPr lang="de-DE" sz="4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ußzeilenplatzhalter 3">
            <a:extLst>
              <a:ext uri="{FF2B5EF4-FFF2-40B4-BE49-F238E27FC236}">
                <a16:creationId xmlns:a16="http://schemas.microsoft.com/office/drawing/2014/main" id="{BE779A9F-9954-4209-9ACE-DB4CABFD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de-DE" altLang="de-DE" sz="1400" dirty="0"/>
          </a:p>
        </p:txBody>
      </p:sp>
      <p:sp>
        <p:nvSpPr>
          <p:cNvPr id="4099" name="AutoShape 2">
            <a:extLst>
              <a:ext uri="{FF2B5EF4-FFF2-40B4-BE49-F238E27FC236}">
                <a16:creationId xmlns:a16="http://schemas.microsoft.com/office/drawing/2014/main" id="{2535F916-123D-40D4-A885-77E74E2B51B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66800" y="533400"/>
            <a:ext cx="7018338" cy="5830888"/>
          </a:xfrm>
          <a:prstGeom prst="roundRect">
            <a:avLst>
              <a:gd name="adj" fmla="val 0"/>
            </a:avLst>
          </a:prstGeom>
          <a:pattFill prst="pct25">
            <a:fgClr>
              <a:srgbClr val="A1E2FF"/>
            </a:fgClr>
            <a:bgClr>
              <a:srgbClr val="E0FFDF"/>
            </a:bgClr>
          </a:pattFill>
          <a:ln w="38100">
            <a:solidFill>
              <a:srgbClr val="4000A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4100" name="Text Box 3">
            <a:extLst>
              <a:ext uri="{FF2B5EF4-FFF2-40B4-BE49-F238E27FC236}">
                <a16:creationId xmlns:a16="http://schemas.microsoft.com/office/drawing/2014/main" id="{89FA08A4-D13C-4F65-8487-505179E41754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193675" y="5299075"/>
            <a:ext cx="1295400" cy="7556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72000" rIns="0" bIns="0" anchorCtr="1"/>
          <a:lstStyle>
            <a:lvl1pPr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ts val="1600"/>
              </a:lnSpc>
              <a:buClr>
                <a:srgbClr val="FFFFFF"/>
              </a:buClr>
              <a:buSzPct val="90000"/>
              <a:buFont typeface="Monotype Sorts" pitchFamily="2" charset="2"/>
              <a:buNone/>
            </a:pPr>
            <a:r>
              <a:rPr lang="de-DE" altLang="de-DE" sz="2000" b="1" i="1"/>
              <a:t>Eigen-tümer</a:t>
            </a:r>
          </a:p>
        </p:txBody>
      </p:sp>
      <p:sp>
        <p:nvSpPr>
          <p:cNvPr id="4101" name="Text Box 4">
            <a:extLst>
              <a:ext uri="{FF2B5EF4-FFF2-40B4-BE49-F238E27FC236}">
                <a16:creationId xmlns:a16="http://schemas.microsoft.com/office/drawing/2014/main" id="{1E3FD497-D32B-4C73-A20D-E326156F3026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1185069" y="1793082"/>
            <a:ext cx="3278187" cy="7556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72000" rIns="0" bIns="0" anchorCtr="1"/>
          <a:lstStyle>
            <a:lvl1pPr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buClr>
                <a:srgbClr val="FFFFFF"/>
              </a:buClr>
              <a:buSzPct val="90000"/>
              <a:buFont typeface="Monotype Sorts" pitchFamily="2" charset="2"/>
              <a:buNone/>
            </a:pPr>
            <a:r>
              <a:rPr lang="de-DE" altLang="de-DE" sz="2000" b="1" i="1">
                <a:solidFill>
                  <a:srgbClr val="000000"/>
                </a:solidFill>
              </a:rPr>
              <a:t>Lieferanten</a:t>
            </a:r>
            <a:endParaRPr lang="de-DE" altLang="de-DE" sz="2000"/>
          </a:p>
        </p:txBody>
      </p:sp>
      <p:sp>
        <p:nvSpPr>
          <p:cNvPr id="4102" name="Text Box 5">
            <a:extLst>
              <a:ext uri="{FF2B5EF4-FFF2-40B4-BE49-F238E27FC236}">
                <a16:creationId xmlns:a16="http://schemas.microsoft.com/office/drawing/2014/main" id="{33FF0A04-6D11-45E0-9E4A-B13AFCD8B977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6823075" y="2479675"/>
            <a:ext cx="3733800" cy="7556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72000" anchor="b" anchorCtr="1"/>
          <a:lstStyle>
            <a:lvl1pPr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Clr>
                <a:srgbClr val="FFFFFF"/>
              </a:buClr>
              <a:buSzPct val="90000"/>
              <a:buFont typeface="Monotype Sorts" pitchFamily="2" charset="2"/>
              <a:buNone/>
            </a:pPr>
            <a:r>
              <a:rPr lang="de-DE" altLang="de-DE" sz="2000" b="1" i="1">
                <a:solidFill>
                  <a:srgbClr val="000000"/>
                </a:solidFill>
              </a:rPr>
              <a:t>Kunden</a:t>
            </a:r>
            <a:endParaRPr lang="de-DE" altLang="de-DE" sz="2000"/>
          </a:p>
        </p:txBody>
      </p:sp>
      <p:sp>
        <p:nvSpPr>
          <p:cNvPr id="4103" name="Text Box 6">
            <a:extLst>
              <a:ext uri="{FF2B5EF4-FFF2-40B4-BE49-F238E27FC236}">
                <a16:creationId xmlns:a16="http://schemas.microsoft.com/office/drawing/2014/main" id="{3114508C-AFA3-423A-8F2B-573206376C3A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7889875" y="5222875"/>
            <a:ext cx="1600200" cy="7556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72000" anchor="b" anchorCtr="1"/>
          <a:lstStyle>
            <a:lvl1pPr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Clr>
                <a:srgbClr val="FFFFFF"/>
              </a:buClr>
              <a:buSzPct val="90000"/>
              <a:buFont typeface="Monotype Sorts" pitchFamily="2" charset="2"/>
              <a:buNone/>
            </a:pPr>
            <a:r>
              <a:rPr lang="de-DE" altLang="de-DE" sz="2000" b="1" i="1"/>
              <a:t>Banken</a:t>
            </a:r>
          </a:p>
        </p:txBody>
      </p:sp>
      <p:sp>
        <p:nvSpPr>
          <p:cNvPr id="4104" name="Rectangle 7">
            <a:extLst>
              <a:ext uri="{FF2B5EF4-FFF2-40B4-BE49-F238E27FC236}">
                <a16:creationId xmlns:a16="http://schemas.microsoft.com/office/drawing/2014/main" id="{2CF0C5C6-AAE0-42BE-9D46-1AB8393FC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 rot="16200000">
            <a:off x="3421062" y="-1379537"/>
            <a:ext cx="549275" cy="4191000"/>
          </a:xfrm>
          <a:noFill/>
        </p:spPr>
        <p:txBody>
          <a:bodyPr vert="eaVert" anchor="t">
            <a:spAutoFit/>
          </a:bodyPr>
          <a:lstStyle/>
          <a:p>
            <a:pPr algn="r" eaLnBrk="1" hangingPunct="1"/>
            <a:r>
              <a:rPr lang="de-DE" altLang="de-DE" sz="2400">
                <a:solidFill>
                  <a:schemeClr val="accent2"/>
                </a:solidFill>
                <a:latin typeface="Arial Rounded MT Bold" panose="020F0704030504030204" pitchFamily="34" charset="0"/>
              </a:rPr>
              <a:t>Industriebetrieb allgemein</a:t>
            </a:r>
          </a:p>
        </p:txBody>
      </p:sp>
      <p:sp>
        <p:nvSpPr>
          <p:cNvPr id="4105" name="Rectangle 8">
            <a:extLst>
              <a:ext uri="{FF2B5EF4-FFF2-40B4-BE49-F238E27FC236}">
                <a16:creationId xmlns:a16="http://schemas.microsoft.com/office/drawing/2014/main" id="{CE2D1C1D-1B5E-417D-9F89-9F380AAB9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914400"/>
            <a:ext cx="6502400" cy="896938"/>
          </a:xfrm>
          <a:prstGeom prst="rect">
            <a:avLst/>
          </a:prstGeom>
          <a:solidFill>
            <a:srgbClr val="FFFFD0"/>
          </a:solidFill>
          <a:ln w="2857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6153" name="Rectangle 9">
            <a:extLst>
              <a:ext uri="{FF2B5EF4-FFF2-40B4-BE49-F238E27FC236}">
                <a16:creationId xmlns:a16="http://schemas.microsoft.com/office/drawing/2014/main" id="{04907B0A-94A6-4A2F-AEC0-6D74D64F1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981075"/>
            <a:ext cx="1658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100"/>
              </a:lnSpc>
            </a:pPr>
            <a:r>
              <a:rPr lang="de-DE" altLang="de-DE" sz="2200" b="1">
                <a:solidFill>
                  <a:srgbClr val="000099"/>
                </a:solidFill>
                <a:latin typeface="Arial" panose="020B0604020202020204" pitchFamily="34" charset="0"/>
              </a:rPr>
              <a:t>Anlagen</a:t>
            </a:r>
            <a:br>
              <a:rPr lang="de-DE" altLang="de-DE" sz="2200">
                <a:solidFill>
                  <a:srgbClr val="000099"/>
                </a:solidFill>
                <a:latin typeface="Arial" panose="020B0604020202020204" pitchFamily="34" charset="0"/>
              </a:rPr>
            </a:br>
            <a:r>
              <a:rPr lang="de-DE" altLang="de-DE" sz="1800">
                <a:solidFill>
                  <a:srgbClr val="000099"/>
                </a:solidFill>
                <a:latin typeface="Arial" panose="020B0604020202020204" pitchFamily="34" charset="0"/>
              </a:rPr>
              <a:t>= Betriebsmittel</a:t>
            </a:r>
            <a:r>
              <a:rPr lang="de-DE" altLang="de-DE" sz="2200">
                <a:solidFill>
                  <a:srgbClr val="000099"/>
                </a:solidFill>
                <a:latin typeface="Arial" panose="020B0604020202020204" pitchFamily="34" charset="0"/>
              </a:rPr>
              <a:t> </a:t>
            </a:r>
            <a:endParaRPr lang="de-DE" altLang="de-DE" sz="1600"/>
          </a:p>
        </p:txBody>
      </p:sp>
      <p:sp>
        <p:nvSpPr>
          <p:cNvPr id="4107" name="Rectangle 10">
            <a:extLst>
              <a:ext uri="{FF2B5EF4-FFF2-40B4-BE49-F238E27FC236}">
                <a16:creationId xmlns:a16="http://schemas.microsoft.com/office/drawing/2014/main" id="{095A309C-2BF0-4F40-B63C-34CC341B6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600200"/>
            <a:ext cx="6502400" cy="2844800"/>
          </a:xfrm>
          <a:prstGeom prst="rect">
            <a:avLst/>
          </a:prstGeom>
          <a:solidFill>
            <a:srgbClr val="FFFFD0"/>
          </a:solidFill>
          <a:ln w="2857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2D8EAFEE-2388-4ACC-8387-5D3BD0818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676400"/>
            <a:ext cx="16192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1600"/>
              </a:lnSpc>
            </a:pPr>
            <a:r>
              <a:rPr lang="de-DE" altLang="de-DE" sz="1500" b="1">
                <a:solidFill>
                  <a:srgbClr val="000099"/>
                </a:solidFill>
                <a:latin typeface="Arial" panose="020B0604020202020204" pitchFamily="34" charset="0"/>
              </a:rPr>
              <a:t>Vorräte im </a:t>
            </a:r>
            <a:br>
              <a:rPr lang="de-DE" altLang="de-DE" sz="1500" b="1">
                <a:solidFill>
                  <a:srgbClr val="000099"/>
                </a:solidFill>
                <a:latin typeface="Arial" panose="020B0604020202020204" pitchFamily="34" charset="0"/>
              </a:rPr>
            </a:br>
            <a:r>
              <a:rPr lang="de-DE" altLang="de-DE" sz="1500" b="1">
                <a:solidFill>
                  <a:srgbClr val="000099"/>
                </a:solidFill>
                <a:latin typeface="Arial" panose="020B0604020202020204" pitchFamily="34" charset="0"/>
              </a:rPr>
              <a:t>Leistungsprozess</a:t>
            </a:r>
            <a:endParaRPr lang="de-DE" altLang="de-DE" sz="1600"/>
          </a:p>
        </p:txBody>
      </p:sp>
      <p:sp>
        <p:nvSpPr>
          <p:cNvPr id="4109" name="Rectangle 12">
            <a:extLst>
              <a:ext uri="{FF2B5EF4-FFF2-40B4-BE49-F238E27FC236}">
                <a16:creationId xmlns:a16="http://schemas.microsoft.com/office/drawing/2014/main" id="{114B4EF6-BF9D-44E2-9248-AF5840003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876800"/>
            <a:ext cx="6502400" cy="1390650"/>
          </a:xfrm>
          <a:prstGeom prst="rect">
            <a:avLst/>
          </a:prstGeom>
          <a:solidFill>
            <a:srgbClr val="FFFFD0"/>
          </a:solidFill>
          <a:ln w="2857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F1A9FFD7-BB4A-498E-A2E5-FF3E71BB6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195888"/>
            <a:ext cx="26670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de-DE" altLang="de-DE" sz="1800" b="1">
                <a:solidFill>
                  <a:srgbClr val="000099"/>
                </a:solidFill>
                <a:latin typeface="Arial" panose="020B0604020202020204" pitchFamily="34" charset="0"/>
              </a:rPr>
              <a:t>Kapital zur</a:t>
            </a:r>
            <a:br>
              <a:rPr lang="de-DE" altLang="de-DE" sz="1800" b="1">
                <a:solidFill>
                  <a:srgbClr val="000099"/>
                </a:solidFill>
                <a:latin typeface="Arial" panose="020B0604020202020204" pitchFamily="34" charset="0"/>
              </a:rPr>
            </a:br>
            <a:r>
              <a:rPr lang="de-DE" altLang="de-DE" sz="1800" b="1">
                <a:solidFill>
                  <a:srgbClr val="000099"/>
                </a:solidFill>
                <a:latin typeface="Arial" panose="020B0604020202020204" pitchFamily="34" charset="0"/>
              </a:rPr>
              <a:t>Finanzierung</a:t>
            </a:r>
            <a:br>
              <a:rPr lang="de-DE" altLang="de-DE" sz="1800" b="1">
                <a:solidFill>
                  <a:srgbClr val="000099"/>
                </a:solidFill>
                <a:latin typeface="Arial" panose="020B0604020202020204" pitchFamily="34" charset="0"/>
              </a:rPr>
            </a:br>
            <a:r>
              <a:rPr lang="de-DE" altLang="de-DE" sz="1800" b="1">
                <a:solidFill>
                  <a:srgbClr val="000099"/>
                </a:solidFill>
                <a:latin typeface="Arial" panose="020B0604020202020204" pitchFamily="34" charset="0"/>
              </a:rPr>
              <a:t>der Anlagen und Vorräte</a:t>
            </a:r>
            <a:endParaRPr lang="de-DE" altLang="de-DE" sz="1800"/>
          </a:p>
        </p:txBody>
      </p:sp>
      <p:sp>
        <p:nvSpPr>
          <p:cNvPr id="4111" name="Rectangle 14">
            <a:extLst>
              <a:ext uri="{FF2B5EF4-FFF2-40B4-BE49-F238E27FC236}">
                <a16:creationId xmlns:a16="http://schemas.microsoft.com/office/drawing/2014/main" id="{D296B478-1973-4731-BF8A-459AF4BBB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0" y="4422775"/>
            <a:ext cx="69215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4112" name="Rectangle 15">
            <a:extLst>
              <a:ext uri="{FF2B5EF4-FFF2-40B4-BE49-F238E27FC236}">
                <a16:creationId xmlns:a16="http://schemas.microsoft.com/office/drawing/2014/main" id="{AD2F552F-6FE9-4DCA-913B-46CC0BD84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25" y="6477000"/>
            <a:ext cx="1476375" cy="10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de-DE" altLang="de-DE"/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7EB1C49A-9398-43F8-8A75-23FE97F0348A}"/>
              </a:ext>
            </a:extLst>
          </p:cNvPr>
          <p:cNvGrpSpPr>
            <a:grpSpLocks/>
          </p:cNvGrpSpPr>
          <p:nvPr/>
        </p:nvGrpSpPr>
        <p:grpSpPr bwMode="auto">
          <a:xfrm>
            <a:off x="6692900" y="4572000"/>
            <a:ext cx="1612900" cy="2041525"/>
            <a:chOff x="3936" y="2880"/>
            <a:chExt cx="1016" cy="1286"/>
          </a:xfrm>
        </p:grpSpPr>
        <p:sp>
          <p:nvSpPr>
            <p:cNvPr id="4151" name="Freeform 17">
              <a:extLst>
                <a:ext uri="{FF2B5EF4-FFF2-40B4-BE49-F238E27FC236}">
                  <a16:creationId xmlns:a16="http://schemas.microsoft.com/office/drawing/2014/main" id="{FA1ED427-7AC3-4523-B826-E60F18D1E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4038"/>
              <a:ext cx="171" cy="72"/>
            </a:xfrm>
            <a:custGeom>
              <a:avLst/>
              <a:gdLst>
                <a:gd name="T0" fmla="*/ 0 w 171"/>
                <a:gd name="T1" fmla="*/ 0 h 144"/>
                <a:gd name="T2" fmla="*/ 85 w 171"/>
                <a:gd name="T3" fmla="*/ 144 h 144"/>
                <a:gd name="T4" fmla="*/ 171 w 171"/>
                <a:gd name="T5" fmla="*/ 0 h 144"/>
                <a:gd name="T6" fmla="*/ 0 w 171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44"/>
                <a:gd name="T14" fmla="*/ 171 w 171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44">
                  <a:moveTo>
                    <a:pt x="0" y="0"/>
                  </a:moveTo>
                  <a:lnTo>
                    <a:pt x="85" y="144"/>
                  </a:lnTo>
                  <a:lnTo>
                    <a:pt x="1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52" name="Rectangle 18">
              <a:extLst>
                <a:ext uri="{FF2B5EF4-FFF2-40B4-BE49-F238E27FC236}">
                  <a16:creationId xmlns:a16="http://schemas.microsoft.com/office/drawing/2014/main" id="{E6D490D6-51F5-4C3F-B8C3-8A946D0E5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" y="2880"/>
              <a:ext cx="49" cy="11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de-DE" altLang="de-DE"/>
            </a:p>
          </p:txBody>
        </p:sp>
        <p:sp>
          <p:nvSpPr>
            <p:cNvPr id="4153" name="Rectangle 19">
              <a:extLst>
                <a:ext uri="{FF2B5EF4-FFF2-40B4-BE49-F238E27FC236}">
                  <a16:creationId xmlns:a16="http://schemas.microsoft.com/office/drawing/2014/main" id="{8ECCA45F-1724-4254-86CA-B20F252DC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4080"/>
              <a:ext cx="824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de-DE" altLang="de-DE" sz="900" b="1">
                  <a:solidFill>
                    <a:srgbClr val="000000"/>
                  </a:solidFill>
                  <a:latin typeface="Arial" panose="020B0604020202020204" pitchFamily="34" charset="0"/>
                </a:rPr>
                <a:t>Materialreste, Abwässer</a:t>
              </a:r>
              <a:endParaRPr lang="de-DE" altLang="de-DE" sz="900"/>
            </a:p>
          </p:txBody>
        </p:sp>
      </p:grpSp>
      <p:sp>
        <p:nvSpPr>
          <p:cNvPr id="4114" name="Rectangle 20">
            <a:extLst>
              <a:ext uri="{FF2B5EF4-FFF2-40B4-BE49-F238E27FC236}">
                <a16:creationId xmlns:a16="http://schemas.microsoft.com/office/drawing/2014/main" id="{1E2D3AF2-4950-4979-A8C5-690BC86A6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725" y="6477000"/>
            <a:ext cx="2060575" cy="10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4115" name="Rectangle 21">
            <a:extLst>
              <a:ext uri="{FF2B5EF4-FFF2-40B4-BE49-F238E27FC236}">
                <a16:creationId xmlns:a16="http://schemas.microsoft.com/office/drawing/2014/main" id="{01B2961E-088F-464F-8FAD-9BB19FD49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850" y="304800"/>
            <a:ext cx="3597275" cy="10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6166" name="Rectangle 22">
            <a:extLst>
              <a:ext uri="{FF2B5EF4-FFF2-40B4-BE49-F238E27FC236}">
                <a16:creationId xmlns:a16="http://schemas.microsoft.com/office/drawing/2014/main" id="{00531DFB-2A29-4C08-AD87-C00481752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209800"/>
            <a:ext cx="3352800" cy="1849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1600"/>
              </a:lnSpc>
            </a:pPr>
            <a:r>
              <a:rPr lang="de-DE" altLang="de-DE" sz="1800" b="1" i="1" dirty="0" err="1">
                <a:solidFill>
                  <a:srgbClr val="280078"/>
                </a:solidFill>
              </a:rPr>
              <a:t>Produktentwicklung,Konstruktion</a:t>
            </a:r>
            <a:endParaRPr lang="de-DE" altLang="de-DE" sz="1800" b="1" i="1" dirty="0">
              <a:solidFill>
                <a:srgbClr val="280078"/>
              </a:solidFill>
            </a:endParaRPr>
          </a:p>
          <a:p>
            <a:pPr algn="ctr" eaLnBrk="1" hangingPunct="1">
              <a:lnSpc>
                <a:spcPts val="1600"/>
              </a:lnSpc>
            </a:pPr>
            <a:r>
              <a:rPr lang="de-DE" altLang="de-DE" sz="1800" b="1" i="1" dirty="0">
                <a:solidFill>
                  <a:srgbClr val="280078"/>
                </a:solidFill>
              </a:rPr>
              <a:t>Disposition (Bedarfsermittlung),</a:t>
            </a:r>
            <a:br>
              <a:rPr lang="de-DE" altLang="de-DE" sz="1800" b="1" i="1" dirty="0">
                <a:solidFill>
                  <a:srgbClr val="280078"/>
                </a:solidFill>
              </a:rPr>
            </a:br>
            <a:r>
              <a:rPr lang="de-DE" altLang="de-DE" sz="1800" b="1" i="1" dirty="0">
                <a:solidFill>
                  <a:srgbClr val="280078"/>
                </a:solidFill>
              </a:rPr>
              <a:t>Einkauf</a:t>
            </a:r>
            <a:r>
              <a:rPr lang="de-DE" altLang="de-DE" sz="1800" b="1" i="1" dirty="0"/>
              <a:t>,</a:t>
            </a:r>
            <a:br>
              <a:rPr lang="de-DE" altLang="de-DE" sz="1800" b="1" i="1" dirty="0"/>
            </a:br>
            <a:r>
              <a:rPr lang="de-DE" altLang="de-DE" sz="1800" b="1" i="1" dirty="0">
                <a:solidFill>
                  <a:srgbClr val="280078"/>
                </a:solidFill>
              </a:rPr>
              <a:t>Teilefertigung,</a:t>
            </a:r>
          </a:p>
          <a:p>
            <a:pPr algn="ctr" eaLnBrk="1" hangingPunct="1">
              <a:lnSpc>
                <a:spcPts val="1600"/>
              </a:lnSpc>
            </a:pPr>
            <a:r>
              <a:rPr lang="de-DE" altLang="de-DE" sz="1800" b="1" i="1" dirty="0">
                <a:solidFill>
                  <a:srgbClr val="280078"/>
                </a:solidFill>
              </a:rPr>
              <a:t>Endmontage,</a:t>
            </a:r>
            <a:br>
              <a:rPr lang="de-DE" altLang="de-DE" sz="1800" b="1" i="1" dirty="0">
                <a:solidFill>
                  <a:srgbClr val="280078"/>
                </a:solidFill>
              </a:rPr>
            </a:br>
            <a:r>
              <a:rPr lang="de-DE" altLang="de-DE" sz="1800" b="1" i="1" dirty="0">
                <a:solidFill>
                  <a:srgbClr val="280078"/>
                </a:solidFill>
              </a:rPr>
              <a:t>Qualitätskontrolle,</a:t>
            </a:r>
            <a:br>
              <a:rPr lang="de-DE" altLang="de-DE" sz="1800" b="1" i="1" dirty="0">
                <a:solidFill>
                  <a:srgbClr val="280078"/>
                </a:solidFill>
              </a:rPr>
            </a:br>
            <a:r>
              <a:rPr lang="de-DE" altLang="de-DE" sz="1800" b="1" i="1" dirty="0">
                <a:solidFill>
                  <a:srgbClr val="280078"/>
                </a:solidFill>
              </a:rPr>
              <a:t>Lagerung,</a:t>
            </a:r>
            <a:br>
              <a:rPr lang="de-DE" altLang="de-DE" sz="1800" b="1" i="1" dirty="0">
                <a:solidFill>
                  <a:srgbClr val="280078"/>
                </a:solidFill>
              </a:rPr>
            </a:br>
            <a:endParaRPr lang="de-DE" altLang="de-DE" sz="1800" b="1" i="1" dirty="0">
              <a:solidFill>
                <a:srgbClr val="280078"/>
              </a:solidFill>
            </a:endParaRPr>
          </a:p>
          <a:p>
            <a:pPr algn="ctr" eaLnBrk="1" hangingPunct="1">
              <a:lnSpc>
                <a:spcPts val="1600"/>
              </a:lnSpc>
            </a:pPr>
            <a:r>
              <a:rPr lang="de-DE" altLang="de-DE" sz="1800" b="1" i="1" dirty="0" err="1">
                <a:solidFill>
                  <a:srgbClr val="280078"/>
                </a:solidFill>
              </a:rPr>
              <a:t>Verkauf,Auslieferung</a:t>
            </a:r>
            <a:endParaRPr lang="de-DE" altLang="de-DE" sz="1800" b="1" i="1" dirty="0">
              <a:solidFill>
                <a:srgbClr val="280078"/>
              </a:solidFill>
            </a:endParaRPr>
          </a:p>
        </p:txBody>
      </p:sp>
      <p:sp>
        <p:nvSpPr>
          <p:cNvPr id="4117" name="Rectangle 23">
            <a:extLst>
              <a:ext uri="{FF2B5EF4-FFF2-40B4-BE49-F238E27FC236}">
                <a16:creationId xmlns:a16="http://schemas.microsoft.com/office/drawing/2014/main" id="{1F4943CB-E222-47D3-9B66-1888D3453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527050"/>
            <a:ext cx="303212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de-DE" altLang="de-DE"/>
          </a:p>
        </p:txBody>
      </p:sp>
      <p:sp>
        <p:nvSpPr>
          <p:cNvPr id="4118" name="Rectangle 24">
            <a:extLst>
              <a:ext uri="{FF2B5EF4-FFF2-40B4-BE49-F238E27FC236}">
                <a16:creationId xmlns:a16="http://schemas.microsoft.com/office/drawing/2014/main" id="{BF8A1532-F84A-4E4E-B0B8-94F286B61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53975"/>
            <a:ext cx="9032875" cy="3825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0" bIns="180000" anchor="ctr" anchorCtr="1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de-DE" altLang="de-DE" sz="1800" b="1" i="1">
                <a:solidFill>
                  <a:srgbClr val="000000"/>
                </a:solidFill>
              </a:rPr>
              <a:t>staatliche Einrichtungen</a:t>
            </a:r>
          </a:p>
        </p:txBody>
      </p:sp>
      <p:sp>
        <p:nvSpPr>
          <p:cNvPr id="4119" name="Text Box 25">
            <a:extLst>
              <a:ext uri="{FF2B5EF4-FFF2-40B4-BE49-F238E27FC236}">
                <a16:creationId xmlns:a16="http://schemas.microsoft.com/office/drawing/2014/main" id="{F8E0A699-F8EF-4B7C-8B83-C7A57744D3C7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79375" y="4041775"/>
            <a:ext cx="1066800" cy="7556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72000" rIns="0" bIns="0" anchorCtr="1"/>
          <a:lstStyle>
            <a:lvl1pPr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4508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ts val="1600"/>
              </a:lnSpc>
              <a:buClr>
                <a:srgbClr val="FFFFFF"/>
              </a:buClr>
              <a:buSzPct val="90000"/>
              <a:buFont typeface="Monotype Sorts" pitchFamily="2" charset="2"/>
              <a:buNone/>
            </a:pPr>
            <a:r>
              <a:rPr lang="de-DE" altLang="de-DE" sz="2000" b="1" i="1"/>
              <a:t>Arbeit-nehmer</a:t>
            </a:r>
          </a:p>
        </p:txBody>
      </p:sp>
      <p:sp>
        <p:nvSpPr>
          <p:cNvPr id="4120" name="Rectangle 26">
            <a:extLst>
              <a:ext uri="{FF2B5EF4-FFF2-40B4-BE49-F238E27FC236}">
                <a16:creationId xmlns:a16="http://schemas.microsoft.com/office/drawing/2014/main" id="{BA15A586-975F-4CD3-87DB-C0C6BB7F9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" y="6440488"/>
            <a:ext cx="9032875" cy="3825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08000" bIns="0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de-DE" altLang="de-DE" sz="1800" b="1" i="1" dirty="0">
                <a:solidFill>
                  <a:srgbClr val="000000"/>
                </a:solidFill>
              </a:rPr>
              <a:t>natürliche Umwelt</a:t>
            </a:r>
          </a:p>
        </p:txBody>
      </p:sp>
      <p:sp>
        <p:nvSpPr>
          <p:cNvPr id="6171" name="AutoShape 27">
            <a:extLst>
              <a:ext uri="{FF2B5EF4-FFF2-40B4-BE49-F238E27FC236}">
                <a16:creationId xmlns:a16="http://schemas.microsoft.com/office/drawing/2014/main" id="{FF84022B-CD2B-45DC-A519-FB48B5A5F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181600"/>
            <a:ext cx="2438400" cy="685800"/>
          </a:xfrm>
          <a:prstGeom prst="leftArrow">
            <a:avLst>
              <a:gd name="adj1" fmla="val 50000"/>
              <a:gd name="adj2" fmla="val 88889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de-DE" altLang="de-DE" sz="1600" b="1">
                <a:solidFill>
                  <a:srgbClr val="FFFFCC"/>
                </a:solidFill>
                <a:latin typeface="Arial" panose="020B0604020202020204" pitchFamily="34" charset="0"/>
              </a:rPr>
              <a:t>Geld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D24BC4F-2040-47E0-9194-7D8B82B95626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810000"/>
            <a:ext cx="2209800" cy="990600"/>
            <a:chOff x="1008" y="2400"/>
            <a:chExt cx="1248" cy="624"/>
          </a:xfrm>
        </p:grpSpPr>
        <p:sp>
          <p:nvSpPr>
            <p:cNvPr id="4149" name="AutoShape 29">
              <a:extLst>
                <a:ext uri="{FF2B5EF4-FFF2-40B4-BE49-F238E27FC236}">
                  <a16:creationId xmlns:a16="http://schemas.microsoft.com/office/drawing/2014/main" id="{AEAB6B29-25A4-43A2-9C18-0EC6F7F26BE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008" y="2640"/>
              <a:ext cx="1248" cy="384"/>
            </a:xfrm>
            <a:prstGeom prst="leftArrow">
              <a:avLst>
                <a:gd name="adj1" fmla="val 50000"/>
                <a:gd name="adj2" fmla="val 81250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18000" tIns="0" rIns="18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Arbeitskraft</a:t>
              </a:r>
              <a:b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</a:b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der Arbeiter</a:t>
              </a:r>
            </a:p>
          </p:txBody>
        </p:sp>
        <p:sp>
          <p:nvSpPr>
            <p:cNvPr id="4150" name="AutoShape 30">
              <a:extLst>
                <a:ext uri="{FF2B5EF4-FFF2-40B4-BE49-F238E27FC236}">
                  <a16:creationId xmlns:a16="http://schemas.microsoft.com/office/drawing/2014/main" id="{6BFEE065-C53A-4BA2-97A5-643D55E7673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008" y="2400"/>
              <a:ext cx="1248" cy="384"/>
            </a:xfrm>
            <a:prstGeom prst="leftArrow">
              <a:avLst>
                <a:gd name="adj1" fmla="val 50000"/>
                <a:gd name="adj2" fmla="val 81250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18000" tIns="0" rIns="18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Arbeitskraft</a:t>
              </a:r>
              <a:b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</a:b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der Angestellten</a:t>
              </a:r>
            </a:p>
          </p:txBody>
        </p:sp>
      </p:grpSp>
      <p:grpSp>
        <p:nvGrpSpPr>
          <p:cNvPr id="4" name="Group 31">
            <a:extLst>
              <a:ext uri="{FF2B5EF4-FFF2-40B4-BE49-F238E27FC236}">
                <a16:creationId xmlns:a16="http://schemas.microsoft.com/office/drawing/2014/main" id="{6D06C068-33E2-4940-93D3-FDB340F10BA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124200"/>
            <a:ext cx="2209800" cy="838200"/>
            <a:chOff x="960" y="1968"/>
            <a:chExt cx="1104" cy="528"/>
          </a:xfrm>
        </p:grpSpPr>
        <p:sp>
          <p:nvSpPr>
            <p:cNvPr id="4147" name="AutoShape 32">
              <a:extLst>
                <a:ext uri="{FF2B5EF4-FFF2-40B4-BE49-F238E27FC236}">
                  <a16:creationId xmlns:a16="http://schemas.microsoft.com/office/drawing/2014/main" id="{0D0A8525-40CC-44DF-89CE-18D5CF24DD8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0" y="2208"/>
              <a:ext cx="1104" cy="288"/>
            </a:xfrm>
            <a:prstGeom prst="leftArrow">
              <a:avLst>
                <a:gd name="adj1" fmla="val 50000"/>
                <a:gd name="adj2" fmla="val 95833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18000" tIns="0" rIns="18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HW: Warengruppe B</a:t>
              </a:r>
            </a:p>
          </p:txBody>
        </p:sp>
        <p:sp>
          <p:nvSpPr>
            <p:cNvPr id="4148" name="AutoShape 33">
              <a:extLst>
                <a:ext uri="{FF2B5EF4-FFF2-40B4-BE49-F238E27FC236}">
                  <a16:creationId xmlns:a16="http://schemas.microsoft.com/office/drawing/2014/main" id="{3FB82E9E-7296-4657-8D06-A02426ED1D6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0" y="1968"/>
              <a:ext cx="1104" cy="336"/>
            </a:xfrm>
            <a:prstGeom prst="leftArrow">
              <a:avLst>
                <a:gd name="adj1" fmla="val 50000"/>
                <a:gd name="adj2" fmla="val 82143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18000" tIns="0" rIns="18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HW: Warengruppe A</a:t>
              </a:r>
            </a:p>
          </p:txBody>
        </p:sp>
      </p:grpSp>
      <p:grpSp>
        <p:nvGrpSpPr>
          <p:cNvPr id="5" name="Group 34">
            <a:extLst>
              <a:ext uri="{FF2B5EF4-FFF2-40B4-BE49-F238E27FC236}">
                <a16:creationId xmlns:a16="http://schemas.microsoft.com/office/drawing/2014/main" id="{A21770E0-4218-4F2B-935A-F611296B80F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905000"/>
            <a:ext cx="2209800" cy="1447800"/>
            <a:chOff x="960" y="1200"/>
            <a:chExt cx="1104" cy="912"/>
          </a:xfrm>
        </p:grpSpPr>
        <p:sp>
          <p:nvSpPr>
            <p:cNvPr id="4143" name="AutoShape 35">
              <a:extLst>
                <a:ext uri="{FF2B5EF4-FFF2-40B4-BE49-F238E27FC236}">
                  <a16:creationId xmlns:a16="http://schemas.microsoft.com/office/drawing/2014/main" id="{66E4CCB6-A842-47F6-A596-570D1D48574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0" y="1776"/>
              <a:ext cx="1104" cy="336"/>
            </a:xfrm>
            <a:prstGeom prst="leftArrow">
              <a:avLst>
                <a:gd name="adj1" fmla="val 50000"/>
                <a:gd name="adj2" fmla="val 82143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18000" tIns="0" rIns="18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Betriebsstoffe</a:t>
              </a:r>
            </a:p>
          </p:txBody>
        </p:sp>
        <p:sp>
          <p:nvSpPr>
            <p:cNvPr id="4144" name="AutoShape 36">
              <a:extLst>
                <a:ext uri="{FF2B5EF4-FFF2-40B4-BE49-F238E27FC236}">
                  <a16:creationId xmlns:a16="http://schemas.microsoft.com/office/drawing/2014/main" id="{E437EC25-FAB5-4FB0-B73C-D4BC3A28760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0" y="1584"/>
              <a:ext cx="1104" cy="336"/>
            </a:xfrm>
            <a:prstGeom prst="leftArrow">
              <a:avLst>
                <a:gd name="adj1" fmla="val 50000"/>
                <a:gd name="adj2" fmla="val 82143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18000" tIns="0" rIns="18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Hilfsstoffe</a:t>
              </a:r>
            </a:p>
          </p:txBody>
        </p:sp>
        <p:sp>
          <p:nvSpPr>
            <p:cNvPr id="4145" name="AutoShape 37">
              <a:extLst>
                <a:ext uri="{FF2B5EF4-FFF2-40B4-BE49-F238E27FC236}">
                  <a16:creationId xmlns:a16="http://schemas.microsoft.com/office/drawing/2014/main" id="{59A6111A-2429-4DB6-846D-BB78E79DF42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0" y="1392"/>
              <a:ext cx="1104" cy="336"/>
            </a:xfrm>
            <a:prstGeom prst="leftArrow">
              <a:avLst>
                <a:gd name="adj1" fmla="val 50000"/>
                <a:gd name="adj2" fmla="val 82143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18000" tIns="0" rIns="18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Fremdbauteile</a:t>
              </a:r>
            </a:p>
          </p:txBody>
        </p:sp>
        <p:sp>
          <p:nvSpPr>
            <p:cNvPr id="4146" name="AutoShape 38">
              <a:extLst>
                <a:ext uri="{FF2B5EF4-FFF2-40B4-BE49-F238E27FC236}">
                  <a16:creationId xmlns:a16="http://schemas.microsoft.com/office/drawing/2014/main" id="{7B46C9DB-87D7-47B5-BA88-3B16449D63D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0" y="1200"/>
              <a:ext cx="1104" cy="336"/>
            </a:xfrm>
            <a:prstGeom prst="leftArrow">
              <a:avLst>
                <a:gd name="adj1" fmla="val 50000"/>
                <a:gd name="adj2" fmla="val 82143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18000" tIns="0" rIns="18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Rohstoffe</a:t>
              </a:r>
            </a:p>
          </p:txBody>
        </p:sp>
      </p:grpSp>
      <p:sp>
        <p:nvSpPr>
          <p:cNvPr id="6183" name="AutoShape 39">
            <a:extLst>
              <a:ext uri="{FF2B5EF4-FFF2-40B4-BE49-F238E27FC236}">
                <a16:creationId xmlns:a16="http://schemas.microsoft.com/office/drawing/2014/main" id="{7C17D23B-53E3-46B5-9A86-6C251CFD9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143000"/>
            <a:ext cx="792163" cy="7620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 w="9525">
            <a:solidFill>
              <a:srgbClr val="00CCFF"/>
            </a:solidFill>
            <a:miter lim="800000"/>
            <a:headEnd/>
            <a:tailEnd/>
          </a:ln>
        </p:spPr>
        <p:txBody>
          <a:bodyPr vert="eaVert" lIns="0" tIns="0" rIns="0" bIns="36000" anchor="ctr" anchorCtr="1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1300"/>
              </a:lnSpc>
            </a:pPr>
            <a:r>
              <a:rPr lang="de-DE" altLang="de-DE" sz="1400" b="1">
                <a:solidFill>
                  <a:srgbClr val="FFFFCC"/>
                </a:solidFill>
                <a:latin typeface="Arial" panose="020B0604020202020204" pitchFamily="34" charset="0"/>
              </a:rPr>
              <a:t>Nut-zung</a:t>
            </a:r>
          </a:p>
        </p:txBody>
      </p:sp>
      <p:grpSp>
        <p:nvGrpSpPr>
          <p:cNvPr id="6" name="Group 40">
            <a:extLst>
              <a:ext uri="{FF2B5EF4-FFF2-40B4-BE49-F238E27FC236}">
                <a16:creationId xmlns:a16="http://schemas.microsoft.com/office/drawing/2014/main" id="{6DADB1A5-6F61-4186-95D9-497D5BDEAC35}"/>
              </a:ext>
            </a:extLst>
          </p:cNvPr>
          <p:cNvGrpSpPr>
            <a:grpSpLocks/>
          </p:cNvGrpSpPr>
          <p:nvPr/>
        </p:nvGrpSpPr>
        <p:grpSpPr bwMode="auto">
          <a:xfrm>
            <a:off x="2609850" y="304800"/>
            <a:ext cx="3638550" cy="1600200"/>
            <a:chOff x="1644" y="192"/>
            <a:chExt cx="2292" cy="1152"/>
          </a:xfrm>
        </p:grpSpPr>
        <p:sp>
          <p:nvSpPr>
            <p:cNvPr id="4141" name="Rectangle 41">
              <a:extLst>
                <a:ext uri="{FF2B5EF4-FFF2-40B4-BE49-F238E27FC236}">
                  <a16:creationId xmlns:a16="http://schemas.microsoft.com/office/drawing/2014/main" id="{181BADA1-2548-488F-B37D-25DACC3AC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" y="194"/>
              <a:ext cx="2004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de-DE" altLang="de-DE" sz="900" b="1">
                  <a:solidFill>
                    <a:srgbClr val="000000"/>
                  </a:solidFill>
                  <a:latin typeface="Arial" panose="020B0604020202020204" pitchFamily="34" charset="0"/>
                </a:rPr>
                <a:t>öffentliche Güter: Straßen, Bildung, Sicherheit, Recht usw.</a:t>
              </a:r>
              <a:endParaRPr lang="de-DE" altLang="de-DE" sz="900">
                <a:latin typeface="Arial" panose="020B0604020202020204" pitchFamily="34" charset="0"/>
              </a:endParaRPr>
            </a:p>
          </p:txBody>
        </p:sp>
        <p:sp>
          <p:nvSpPr>
            <p:cNvPr id="4142" name="AutoShape 42">
              <a:extLst>
                <a:ext uri="{FF2B5EF4-FFF2-40B4-BE49-F238E27FC236}">
                  <a16:creationId xmlns:a16="http://schemas.microsoft.com/office/drawing/2014/main" id="{EDE01E2B-FB73-4749-A17B-1EDA0B477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92"/>
              <a:ext cx="384" cy="1152"/>
            </a:xfrm>
            <a:prstGeom prst="downArrow">
              <a:avLst>
                <a:gd name="adj1" fmla="val 50000"/>
                <a:gd name="adj2" fmla="val 75000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vert="eaVert" lIns="0" tIns="0" rIns="0" bIns="3600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3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Nutzung</a:t>
              </a:r>
            </a:p>
          </p:txBody>
        </p:sp>
      </p:grpSp>
      <p:grpSp>
        <p:nvGrpSpPr>
          <p:cNvPr id="7" name="Group 43">
            <a:extLst>
              <a:ext uri="{FF2B5EF4-FFF2-40B4-BE49-F238E27FC236}">
                <a16:creationId xmlns:a16="http://schemas.microsoft.com/office/drawing/2014/main" id="{C315B258-1B6F-4C93-B534-3B106F4098F1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1524000"/>
            <a:ext cx="2590800" cy="2286000"/>
            <a:chOff x="3600" y="1440"/>
            <a:chExt cx="1200" cy="1440"/>
          </a:xfrm>
        </p:grpSpPr>
        <p:sp>
          <p:nvSpPr>
            <p:cNvPr id="4137" name="AutoShape 44">
              <a:extLst>
                <a:ext uri="{FF2B5EF4-FFF2-40B4-BE49-F238E27FC236}">
                  <a16:creationId xmlns:a16="http://schemas.microsoft.com/office/drawing/2014/main" id="{1D15B17B-850A-41C0-A656-15068013442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600" y="1440"/>
              <a:ext cx="1200" cy="336"/>
            </a:xfrm>
            <a:prstGeom prst="leftArrow">
              <a:avLst>
                <a:gd name="adj1" fmla="val 50000"/>
                <a:gd name="adj2" fmla="val 89286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Erzeugnisgruppe A</a:t>
              </a:r>
            </a:p>
          </p:txBody>
        </p:sp>
        <p:sp>
          <p:nvSpPr>
            <p:cNvPr id="4138" name="AutoShape 45">
              <a:extLst>
                <a:ext uri="{FF2B5EF4-FFF2-40B4-BE49-F238E27FC236}">
                  <a16:creationId xmlns:a16="http://schemas.microsoft.com/office/drawing/2014/main" id="{6A7E1BB1-B30E-45D3-B31A-7883BEBD4A8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600" y="1776"/>
              <a:ext cx="1200" cy="336"/>
            </a:xfrm>
            <a:prstGeom prst="leftArrow">
              <a:avLst>
                <a:gd name="adj1" fmla="val 50000"/>
                <a:gd name="adj2" fmla="val 89286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Erzeugnisgruppe B</a:t>
              </a:r>
            </a:p>
          </p:txBody>
        </p:sp>
        <p:sp>
          <p:nvSpPr>
            <p:cNvPr id="4139" name="AutoShape 46">
              <a:extLst>
                <a:ext uri="{FF2B5EF4-FFF2-40B4-BE49-F238E27FC236}">
                  <a16:creationId xmlns:a16="http://schemas.microsoft.com/office/drawing/2014/main" id="{88682EB2-D57C-4C98-9A05-9442D28D60B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696" y="2304"/>
              <a:ext cx="1104" cy="288"/>
            </a:xfrm>
            <a:prstGeom prst="leftArrow">
              <a:avLst>
                <a:gd name="adj1" fmla="val 50000"/>
                <a:gd name="adj2" fmla="val 95833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18000" tIns="0" rIns="18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HW: Warengruppe A</a:t>
              </a:r>
            </a:p>
          </p:txBody>
        </p:sp>
        <p:sp>
          <p:nvSpPr>
            <p:cNvPr id="4140" name="AutoShape 47">
              <a:extLst>
                <a:ext uri="{FF2B5EF4-FFF2-40B4-BE49-F238E27FC236}">
                  <a16:creationId xmlns:a16="http://schemas.microsoft.com/office/drawing/2014/main" id="{B3ED6612-9E35-40C9-BAD5-DB80F97AE8E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696" y="2592"/>
              <a:ext cx="1104" cy="288"/>
            </a:xfrm>
            <a:prstGeom prst="leftArrow">
              <a:avLst>
                <a:gd name="adj1" fmla="val 50000"/>
                <a:gd name="adj2" fmla="val 95833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18000" tIns="0" rIns="18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HW: Warengruppe B</a:t>
              </a:r>
            </a:p>
          </p:txBody>
        </p:sp>
      </p:grpSp>
      <p:grpSp>
        <p:nvGrpSpPr>
          <p:cNvPr id="8" name="Group 48">
            <a:extLst>
              <a:ext uri="{FF2B5EF4-FFF2-40B4-BE49-F238E27FC236}">
                <a16:creationId xmlns:a16="http://schemas.microsoft.com/office/drawing/2014/main" id="{9E60B6F5-B3A5-464F-AC97-7C6398813AC4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762000"/>
            <a:ext cx="2286000" cy="1143000"/>
            <a:chOff x="960" y="480"/>
            <a:chExt cx="1248" cy="720"/>
          </a:xfrm>
        </p:grpSpPr>
        <p:sp>
          <p:nvSpPr>
            <p:cNvPr id="4134" name="AutoShape 49">
              <a:extLst>
                <a:ext uri="{FF2B5EF4-FFF2-40B4-BE49-F238E27FC236}">
                  <a16:creationId xmlns:a16="http://schemas.microsoft.com/office/drawing/2014/main" id="{16AE771B-C0F7-476A-9E82-FA00DC15B54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0" y="480"/>
              <a:ext cx="1248" cy="336"/>
            </a:xfrm>
            <a:prstGeom prst="leftArrow">
              <a:avLst>
                <a:gd name="adj1" fmla="val 50000"/>
                <a:gd name="adj2" fmla="val 92857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18000" tIns="0" rIns="18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Grundstücke</a:t>
              </a:r>
            </a:p>
          </p:txBody>
        </p:sp>
        <p:sp>
          <p:nvSpPr>
            <p:cNvPr id="4135" name="AutoShape 50">
              <a:extLst>
                <a:ext uri="{FF2B5EF4-FFF2-40B4-BE49-F238E27FC236}">
                  <a16:creationId xmlns:a16="http://schemas.microsoft.com/office/drawing/2014/main" id="{DBB08314-C8C3-4175-950F-8BC1D94E687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0" y="672"/>
              <a:ext cx="1248" cy="336"/>
            </a:xfrm>
            <a:prstGeom prst="leftArrow">
              <a:avLst>
                <a:gd name="adj1" fmla="val 50000"/>
                <a:gd name="adj2" fmla="val 92857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18000" tIns="0" rIns="18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technische Anlagen</a:t>
              </a:r>
              <a:b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</a:b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 und Maschinen</a:t>
              </a:r>
            </a:p>
          </p:txBody>
        </p:sp>
        <p:sp>
          <p:nvSpPr>
            <p:cNvPr id="4136" name="AutoShape 51">
              <a:extLst>
                <a:ext uri="{FF2B5EF4-FFF2-40B4-BE49-F238E27FC236}">
                  <a16:creationId xmlns:a16="http://schemas.microsoft.com/office/drawing/2014/main" id="{E82E7DEE-DB65-4922-8491-13B448A3E10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0" y="864"/>
              <a:ext cx="1248" cy="336"/>
            </a:xfrm>
            <a:prstGeom prst="leftArrow">
              <a:avLst>
                <a:gd name="adj1" fmla="val 50000"/>
                <a:gd name="adj2" fmla="val 92857"/>
              </a:avLst>
            </a:prstGeom>
            <a:solidFill>
              <a:srgbClr val="0000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lIns="18000" tIns="0" rIns="1800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200"/>
                </a:lnSpc>
              </a:pP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Lager- und Büroein-</a:t>
              </a:r>
              <a:b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</a:br>
              <a:r>
                <a:rPr lang="de-DE" altLang="de-DE" sz="1400" b="1">
                  <a:solidFill>
                    <a:srgbClr val="FFFFCC"/>
                  </a:solidFill>
                  <a:latin typeface="Arial" panose="020B0604020202020204" pitchFamily="34" charset="0"/>
                </a:rPr>
                <a:t> richtung, Fahrzeuge</a:t>
              </a:r>
            </a:p>
          </p:txBody>
        </p:sp>
      </p:grpSp>
      <p:grpSp>
        <p:nvGrpSpPr>
          <p:cNvPr id="9" name="Group 52">
            <a:extLst>
              <a:ext uri="{FF2B5EF4-FFF2-40B4-BE49-F238E27FC236}">
                <a16:creationId xmlns:a16="http://schemas.microsoft.com/office/drawing/2014/main" id="{AB6CC0A7-D06D-49BE-A4B4-61CF94B5A003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648200"/>
            <a:ext cx="1908175" cy="1981200"/>
            <a:chOff x="958" y="2928"/>
            <a:chExt cx="1202" cy="1248"/>
          </a:xfrm>
        </p:grpSpPr>
        <p:sp>
          <p:nvSpPr>
            <p:cNvPr id="4132" name="Rectangle 53">
              <a:extLst>
                <a:ext uri="{FF2B5EF4-FFF2-40B4-BE49-F238E27FC236}">
                  <a16:creationId xmlns:a16="http://schemas.microsoft.com/office/drawing/2014/main" id="{56A1E7C7-3FA9-4276-B914-2648A196F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" y="4082"/>
              <a:ext cx="1148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de-DE" altLang="de-DE" sz="900" b="1">
                  <a:solidFill>
                    <a:srgbClr val="000000"/>
                  </a:solidFill>
                  <a:latin typeface="Arial" panose="020B0604020202020204" pitchFamily="34" charset="0"/>
                </a:rPr>
                <a:t>Luft, Sonnenenergie, Schwerkraft</a:t>
              </a:r>
              <a:endParaRPr lang="de-DE" altLang="de-DE" sz="900"/>
            </a:p>
          </p:txBody>
        </p:sp>
        <p:sp>
          <p:nvSpPr>
            <p:cNvPr id="4133" name="Line 54">
              <a:extLst>
                <a:ext uri="{FF2B5EF4-FFF2-40B4-BE49-F238E27FC236}">
                  <a16:creationId xmlns:a16="http://schemas.microsoft.com/office/drawing/2014/main" id="{2A24AA05-D2CA-4FBD-BAFD-99B2B72AFB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928"/>
              <a:ext cx="0" cy="1248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de-DE"/>
            </a:p>
          </p:txBody>
        </p:sp>
      </p:grpSp>
      <p:sp>
        <p:nvSpPr>
          <p:cNvPr id="6199" name="AutoShape 55">
            <a:extLst>
              <a:ext uri="{FF2B5EF4-FFF2-40B4-BE49-F238E27FC236}">
                <a16:creationId xmlns:a16="http://schemas.microsoft.com/office/drawing/2014/main" id="{F1824785-CDBE-4F1C-9485-9A1EA44DBC7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85800" y="5257800"/>
            <a:ext cx="2743200" cy="609600"/>
          </a:xfrm>
          <a:prstGeom prst="leftArrow">
            <a:avLst>
              <a:gd name="adj1" fmla="val 50000"/>
              <a:gd name="adj2" fmla="val 11250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de-DE" altLang="de-DE" sz="1600" b="1">
                <a:solidFill>
                  <a:srgbClr val="FFFFCC"/>
                </a:solidFill>
                <a:latin typeface="Arial" panose="020B0604020202020204" pitchFamily="34" charset="0"/>
              </a:rPr>
              <a:t>Geld</a:t>
            </a:r>
          </a:p>
        </p:txBody>
      </p:sp>
      <p:sp>
        <p:nvSpPr>
          <p:cNvPr id="6200" name="AutoShape 56">
            <a:extLst>
              <a:ext uri="{FF2B5EF4-FFF2-40B4-BE49-F238E27FC236}">
                <a16:creationId xmlns:a16="http://schemas.microsoft.com/office/drawing/2014/main" id="{AEFD4232-A39A-48B1-9ACD-C59E8CEF0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886200"/>
            <a:ext cx="2209800" cy="685800"/>
          </a:xfrm>
          <a:prstGeom prst="leftArrow">
            <a:avLst>
              <a:gd name="adj1" fmla="val 50000"/>
              <a:gd name="adj2" fmla="val 80556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de-DE" altLang="de-DE" sz="1600" b="1" dirty="0">
                <a:solidFill>
                  <a:srgbClr val="FFFFCC"/>
                </a:solidFill>
                <a:latin typeface="Arial" panose="020B0604020202020204" pitchFamily="34" charset="0"/>
              </a:rPr>
              <a:t>Geld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3" grpId="0" autoUpdateAnimBg="0"/>
      <p:bldP spid="6155" grpId="0" autoUpdateAnimBg="0"/>
      <p:bldP spid="6157" grpId="0" autoUpdateAnimBg="0"/>
      <p:bldP spid="6166" grpId="0" autoUpdateAnimBg="0"/>
      <p:bldP spid="6171" grpId="0" animBg="1" autoUpdateAnimBg="0"/>
      <p:bldP spid="6183" grpId="0" animBg="1" autoUpdateAnimBg="0"/>
      <p:bldP spid="6199" grpId="0" animBg="1" autoUpdateAnimBg="0"/>
      <p:bldP spid="6200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/>
          <p:cNvSpPr/>
          <p:nvPr/>
        </p:nvSpPr>
        <p:spPr>
          <a:xfrm>
            <a:off x="755650" y="836613"/>
            <a:ext cx="7777163" cy="518477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6000" b="1" dirty="0">
                <a:solidFill>
                  <a:schemeClr val="tx1"/>
                </a:solidFill>
              </a:rPr>
              <a:t>Grundlagen</a:t>
            </a:r>
            <a:br>
              <a:rPr lang="de-DE" sz="6000" b="1" dirty="0">
                <a:solidFill>
                  <a:schemeClr val="tx1"/>
                </a:solidFill>
              </a:rPr>
            </a:br>
            <a:r>
              <a:rPr lang="de-DE" sz="6000" b="1" dirty="0">
                <a:solidFill>
                  <a:schemeClr val="tx1"/>
                </a:solidFill>
              </a:rPr>
              <a:t>Buchführung</a:t>
            </a:r>
            <a:br>
              <a:rPr lang="de-DE" sz="6000" b="1" dirty="0">
                <a:solidFill>
                  <a:schemeClr val="tx1"/>
                </a:solidFill>
              </a:rPr>
            </a:br>
            <a:r>
              <a:rPr lang="de-DE" sz="4000" b="1" dirty="0">
                <a:solidFill>
                  <a:schemeClr val="tx1"/>
                </a:solidFill>
              </a:rPr>
              <a:t>[MA-WWI24SEA, Hoffmann] </a:t>
            </a:r>
            <a:br>
              <a:rPr lang="de-DE" sz="4000" b="1" dirty="0">
                <a:solidFill>
                  <a:schemeClr val="tx1"/>
                </a:solidFill>
              </a:rPr>
            </a:br>
            <a:endParaRPr lang="de-DE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1134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/>
            <a:r>
              <a:rPr lang="de-DE" sz="2800" dirty="0"/>
              <a:t>Gliederung von „Technik der Finanzbuchführung“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850" y="1268413"/>
            <a:ext cx="8362950" cy="4857750"/>
          </a:xfrm>
        </p:spPr>
        <p:txBody>
          <a:bodyPr rtlCol="0">
            <a:normAutofit fontScale="77500" lnSpcReduction="20000"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3100" dirty="0"/>
              <a:t>Aufgaben, Bereiche und gesetzliche Grundlagen des Rechnungswesens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3100" dirty="0"/>
              <a:t>Inventur, Inventar, Bilanz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3100" dirty="0"/>
              <a:t>Buchen auf Bestandskonten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3100" dirty="0"/>
              <a:t>Buchen auf Erfolgskonten; Übung: Geschäftsgang buchen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3100" dirty="0"/>
              <a:t>Abschreibung auf Sachanlagen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3100" dirty="0"/>
              <a:t>Bestandsveränderungen an Erzeugnissen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3100" dirty="0"/>
              <a:t>Umsatzsteuer beim Ein- und Verkauf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3100" dirty="0"/>
              <a:t>Exkurs: Privatkonto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3100" dirty="0"/>
              <a:t>Organisation der Buchführung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3100" dirty="0"/>
              <a:t>Buchungen beim Verkauf von Sachanlagevermögen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3100" dirty="0"/>
              <a:t>Buchungen im Personalbereich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3100" dirty="0"/>
              <a:t>Jahresabschluss im Industriebetrieb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de-DE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de-DE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feld 1"/>
          <p:cNvSpPr txBox="1">
            <a:spLocks noChangeArrowheads="1"/>
          </p:cNvSpPr>
          <p:nvPr/>
        </p:nvSpPr>
        <p:spPr bwMode="auto">
          <a:xfrm>
            <a:off x="755650" y="620713"/>
            <a:ext cx="79930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de-DE">
                <a:latin typeface="Calibri" pitchFamily="34" charset="0"/>
              </a:rPr>
              <a:t>Grundlagen Rechnungswesen</a:t>
            </a:r>
          </a:p>
        </p:txBody>
      </p:sp>
      <p:sp>
        <p:nvSpPr>
          <p:cNvPr id="3" name="Wolkenförmige Legende 2"/>
          <p:cNvSpPr/>
          <p:nvPr/>
        </p:nvSpPr>
        <p:spPr>
          <a:xfrm>
            <a:off x="2555875" y="1268413"/>
            <a:ext cx="3529013" cy="1439862"/>
          </a:xfrm>
          <a:prstGeom prst="cloudCallout">
            <a:avLst>
              <a:gd name="adj1" fmla="val -81218"/>
              <a:gd name="adj2" fmla="val 783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dirty="0"/>
              <a:t>Warum benötigt ein Unternehmen ein Rechnungswesen?</a:t>
            </a:r>
          </a:p>
        </p:txBody>
      </p:sp>
      <p:sp>
        <p:nvSpPr>
          <p:cNvPr id="4100" name="Textfeld 5"/>
          <p:cNvSpPr txBox="1">
            <a:spLocks noChangeArrowheads="1"/>
          </p:cNvSpPr>
          <p:nvPr/>
        </p:nvSpPr>
        <p:spPr bwMode="auto">
          <a:xfrm>
            <a:off x="611188" y="3429000"/>
            <a:ext cx="7777162" cy="258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de-DE" dirty="0">
                <a:latin typeface="Calibri" pitchFamily="34" charset="0"/>
              </a:rPr>
              <a:t>Schreiben Sie auf Karteikarten jeweils eine typische Aufgabe, die das betriebliche Rechnungswesen erfüllen sollte!</a:t>
            </a:r>
            <a:br>
              <a:rPr lang="de-DE" dirty="0">
                <a:latin typeface="Calibri" pitchFamily="34" charset="0"/>
              </a:rPr>
            </a:br>
            <a:r>
              <a:rPr lang="de-DE" dirty="0">
                <a:latin typeface="Calibri" pitchFamily="34" charset="0"/>
              </a:rPr>
              <a:t>Nennen Sie hierzu jeweils ein aussagekräftiges Beispiel!</a:t>
            </a:r>
          </a:p>
          <a:p>
            <a:pPr marL="342900" indent="-342900">
              <a:buFontTx/>
              <a:buAutoNum type="arabicPeriod"/>
            </a:pPr>
            <a:r>
              <a:rPr lang="de-DE" dirty="0">
                <a:latin typeface="Calibri" pitchFamily="34" charset="0"/>
              </a:rPr>
              <a:t>Ordnen Sie die auf Karteikarten geschriebenen Aufgaben den auf der Pinwand vorgegebenen Teilbereichen zu!</a:t>
            </a:r>
          </a:p>
          <a:p>
            <a:pPr marL="342900" indent="-342900">
              <a:buFontTx/>
              <a:buAutoNum type="arabicPeriod"/>
            </a:pPr>
            <a:r>
              <a:rPr lang="de-DE" dirty="0">
                <a:latin typeface="Calibri" pitchFamily="34" charset="0"/>
              </a:rPr>
              <a:t>Begründen Sie dabei, warum die entsprechenden Aufgaben unbedingt erledigt werden müssen.</a:t>
            </a:r>
          </a:p>
          <a:p>
            <a:pPr marL="342900" indent="-342900">
              <a:buFontTx/>
              <a:buAutoNum type="arabicPeriod"/>
            </a:pPr>
            <a:endParaRPr lang="de-DE" dirty="0">
              <a:latin typeface="Calibri" pitchFamily="34" charset="0"/>
            </a:endParaRPr>
          </a:p>
          <a:p>
            <a:pPr marL="342900" indent="-342900">
              <a:buFontTx/>
              <a:buAutoNum type="arabicPeriod"/>
            </a:pPr>
            <a:endParaRPr lang="de-DE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 1"/>
          <p:cNvGraphicFramePr/>
          <p:nvPr/>
        </p:nvGraphicFramePr>
        <p:xfrm>
          <a:off x="539552" y="1397000"/>
          <a:ext cx="8064896" cy="3760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123" name="Textfeld 2"/>
          <p:cNvSpPr txBox="1">
            <a:spLocks noChangeArrowheads="1"/>
          </p:cNvSpPr>
          <p:nvPr/>
        </p:nvSpPr>
        <p:spPr bwMode="auto">
          <a:xfrm>
            <a:off x="611188" y="188913"/>
            <a:ext cx="77771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de-DE" sz="3600" b="1" dirty="0">
                <a:latin typeface="Calibri" pitchFamily="34" charset="0"/>
              </a:rPr>
              <a:t> Aufgabenbereiche des betrieblichen Rechnungswesens</a:t>
            </a:r>
          </a:p>
        </p:txBody>
      </p:sp>
      <p:sp>
        <p:nvSpPr>
          <p:cNvPr id="5124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tabLst>
                <a:tab pos="450850" algn="l"/>
              </a:tabLst>
            </a:pPr>
            <a:endParaRPr lang="de-DE"/>
          </a:p>
        </p:txBody>
      </p:sp>
      <p:sp>
        <p:nvSpPr>
          <p:cNvPr id="5125" name="Textfeld 4"/>
          <p:cNvSpPr txBox="1">
            <a:spLocks noChangeArrowheads="1"/>
          </p:cNvSpPr>
          <p:nvPr/>
        </p:nvSpPr>
        <p:spPr bwMode="auto">
          <a:xfrm>
            <a:off x="611188" y="5661025"/>
            <a:ext cx="8064500" cy="1354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de-DE" sz="2800">
                <a:solidFill>
                  <a:srgbClr val="FF0000"/>
                </a:solidFill>
                <a:latin typeface="Calibri" pitchFamily="34" charset="0"/>
              </a:rPr>
              <a:t>Controlling</a:t>
            </a:r>
            <a:endParaRPr lang="de-DE">
              <a:latin typeface="Calibri" pitchFamily="34" charset="0"/>
            </a:endParaRPr>
          </a:p>
          <a:p>
            <a:r>
              <a:rPr lang="de-DE">
                <a:solidFill>
                  <a:srgbClr val="FF0000"/>
                </a:solidFill>
                <a:latin typeface="Calibri" pitchFamily="34" charset="0"/>
              </a:rPr>
              <a:t>- zielgerichtetes Kontroll- und Steuerungsinstrument</a:t>
            </a:r>
            <a:br>
              <a:rPr lang="de-DE">
                <a:solidFill>
                  <a:srgbClr val="FF0000"/>
                </a:solidFill>
                <a:latin typeface="Calibri" pitchFamily="34" charset="0"/>
              </a:rPr>
            </a:br>
            <a:r>
              <a:rPr lang="de-DE">
                <a:solidFill>
                  <a:srgbClr val="FF0000"/>
                </a:solidFill>
                <a:latin typeface="Calibri" pitchFamily="34" charset="0"/>
              </a:rPr>
              <a:t>   (Soll- Istwerte festlegen und überwachen und Abweichungsanalysen durchführen</a:t>
            </a:r>
          </a:p>
          <a:p>
            <a:endParaRPr lang="de-DE">
              <a:latin typeface="Calibri" pitchFamily="34" charset="0"/>
            </a:endParaRPr>
          </a:p>
        </p:txBody>
      </p:sp>
      <p:cxnSp>
        <p:nvCxnSpPr>
          <p:cNvPr id="11" name="Gerade Verbindung 10"/>
          <p:cNvCxnSpPr/>
          <p:nvPr/>
        </p:nvCxnSpPr>
        <p:spPr>
          <a:xfrm>
            <a:off x="1908175" y="5157788"/>
            <a:ext cx="5472113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>
            <a:off x="4500563" y="5157788"/>
            <a:ext cx="0" cy="574675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/>
        </p:nvCxnSpPr>
        <p:spPr>
          <a:xfrm>
            <a:off x="1908175" y="5013325"/>
            <a:ext cx="0" cy="144463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9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tabLst>
                <a:tab pos="450850" algn="l"/>
              </a:tabLst>
            </a:pPr>
            <a:endParaRPr lang="de-DE"/>
          </a:p>
        </p:txBody>
      </p:sp>
      <p:cxnSp>
        <p:nvCxnSpPr>
          <p:cNvPr id="20" name="Gerade Verbindung 19"/>
          <p:cNvCxnSpPr/>
          <p:nvPr/>
        </p:nvCxnSpPr>
        <p:spPr>
          <a:xfrm>
            <a:off x="7380288" y="5013325"/>
            <a:ext cx="0" cy="144463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/>
          <p:cNvCxnSpPr/>
          <p:nvPr/>
        </p:nvCxnSpPr>
        <p:spPr>
          <a:xfrm>
            <a:off x="4500563" y="5013325"/>
            <a:ext cx="0" cy="21590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pPr eaLnBrk="1" hangingPunct="1"/>
            <a:r>
              <a:rPr lang="de-DE" sz="3600" b="1" dirty="0"/>
              <a:t>Gesetzliche Grundlagen der Buchführung</a:t>
            </a:r>
            <a:br>
              <a:rPr lang="de-DE" sz="3600" b="1" dirty="0"/>
            </a:br>
            <a:endParaRPr lang="de-DE" sz="2700" b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de-DE" b="1" dirty="0"/>
              <a:t>Buchführungspflicht für den „Kaufmann“</a:t>
            </a:r>
            <a:br>
              <a:rPr lang="de-DE" dirty="0"/>
            </a:br>
            <a:r>
              <a:rPr lang="de-DE" dirty="0"/>
              <a:t>„Jeder Kaufmann ist verpflichtet, Bücher zu führen und in diesen seine Handlungsgeschäfte und die Lage seines Vermögens nach den Grundsätzen ordnungsmäßiger Buchführung ersichtlich zu machen“ HGB § 238,1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de-DE" b="1" dirty="0"/>
              <a:t>Grundsätze ordnungsgemäßer Buchführung beachten </a:t>
            </a:r>
            <a:br>
              <a:rPr lang="de-DE" dirty="0"/>
            </a:br>
            <a:r>
              <a:rPr lang="de-DE" dirty="0"/>
              <a:t>- klar und übersichtlich</a:t>
            </a:r>
            <a:br>
              <a:rPr lang="de-DE" dirty="0"/>
            </a:br>
            <a:r>
              <a:rPr lang="de-DE" dirty="0"/>
              <a:t>- Erfassung aller Geschäftsfälle</a:t>
            </a:r>
            <a:br>
              <a:rPr lang="de-DE" dirty="0"/>
            </a:br>
            <a:r>
              <a:rPr lang="de-DE" dirty="0"/>
              <a:t>- „Keine Buchung ohne Beleg“</a:t>
            </a:r>
            <a:br>
              <a:rPr lang="de-DE" dirty="0"/>
            </a:br>
            <a:r>
              <a:rPr lang="de-DE" dirty="0"/>
              <a:t>- Ordnungsmäßige Aufbewahrung der Buchführungs-</a:t>
            </a:r>
            <a:br>
              <a:rPr lang="de-DE" dirty="0"/>
            </a:br>
            <a:r>
              <a:rPr lang="de-DE" dirty="0"/>
              <a:t>   unterlagen</a:t>
            </a:r>
            <a:br>
              <a:rPr lang="de-DE" dirty="0"/>
            </a:br>
            <a:r>
              <a:rPr lang="de-DE" dirty="0"/>
              <a:t>[vgl. Lehrbuch Schmolke </a:t>
            </a:r>
            <a:r>
              <a:rPr lang="de-DE" dirty="0" err="1"/>
              <a:t>Deitermann</a:t>
            </a:r>
            <a:r>
              <a:rPr lang="de-DE" dirty="0"/>
              <a:t> (=SD), Kap. B1]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feld 2"/>
          <p:cNvSpPr txBox="1">
            <a:spLocks noChangeArrowheads="1"/>
          </p:cNvSpPr>
          <p:nvPr/>
        </p:nvSpPr>
        <p:spPr bwMode="auto">
          <a:xfrm>
            <a:off x="1042988" y="836613"/>
            <a:ext cx="74168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de-DE" sz="3600" b="1">
                <a:latin typeface="Calibri" pitchFamily="34" charset="0"/>
              </a:rPr>
              <a:t>3. Inventar, Inventur, Bilanz</a:t>
            </a:r>
          </a:p>
        </p:txBody>
      </p:sp>
      <p:sp>
        <p:nvSpPr>
          <p:cNvPr id="6" name="Textfeld 5"/>
          <p:cNvSpPr txBox="1">
            <a:spLocks noChangeArrowheads="1"/>
          </p:cNvSpPr>
          <p:nvPr/>
        </p:nvSpPr>
        <p:spPr bwMode="auto">
          <a:xfrm>
            <a:off x="900113" y="1700213"/>
            <a:ext cx="7343775" cy="4894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2400" b="1" dirty="0">
                <a:latin typeface="Calibri" pitchFamily="34" charset="0"/>
              </a:rPr>
              <a:t>Der Kaufmann ist verpflichtet,</a:t>
            </a:r>
            <a:br>
              <a:rPr lang="de-DE" sz="2400" b="1" dirty="0">
                <a:latin typeface="Calibri" pitchFamily="34" charset="0"/>
              </a:rPr>
            </a:br>
            <a:br>
              <a:rPr lang="de-DE" sz="2400" b="1" dirty="0">
                <a:latin typeface="Calibri" pitchFamily="34" charset="0"/>
              </a:rPr>
            </a:br>
            <a:r>
              <a:rPr lang="de-DE" sz="2400" b="1" dirty="0">
                <a:latin typeface="Calibri" pitchFamily="34" charset="0"/>
              </a:rPr>
              <a:t>Vermögen und Schulden festzustellen</a:t>
            </a:r>
            <a:br>
              <a:rPr lang="de-DE" sz="2400" b="1" dirty="0">
                <a:latin typeface="Calibri" pitchFamily="34" charset="0"/>
              </a:rPr>
            </a:br>
            <a:br>
              <a:rPr lang="de-DE" sz="2400" b="1" dirty="0">
                <a:latin typeface="Calibri" pitchFamily="34" charset="0"/>
              </a:rPr>
            </a:br>
            <a:r>
              <a:rPr lang="de-DE" sz="2400" b="1" dirty="0">
                <a:latin typeface="Calibri" pitchFamily="34" charset="0"/>
              </a:rPr>
              <a:t>und zwar </a:t>
            </a:r>
            <a:br>
              <a:rPr lang="de-DE" sz="2400" b="1" dirty="0">
                <a:latin typeface="Calibri" pitchFamily="34" charset="0"/>
              </a:rPr>
            </a:br>
            <a:br>
              <a:rPr lang="de-DE" sz="2400" b="1" dirty="0">
                <a:latin typeface="Calibri" pitchFamily="34" charset="0"/>
              </a:rPr>
            </a:br>
            <a:r>
              <a:rPr lang="de-DE" sz="2400" b="1" dirty="0">
                <a:latin typeface="Calibri" pitchFamily="34" charset="0"/>
              </a:rPr>
              <a:t>bei Gründung und Übernahme des Unternehmens</a:t>
            </a:r>
          </a:p>
          <a:p>
            <a:r>
              <a:rPr lang="de-DE" sz="2400" b="1" dirty="0">
                <a:latin typeface="Calibri" pitchFamily="34" charset="0"/>
              </a:rPr>
              <a:t>Am Ende eines jeden Geschäftsjahres</a:t>
            </a:r>
          </a:p>
          <a:p>
            <a:r>
              <a:rPr lang="de-DE" sz="2400" b="1" dirty="0">
                <a:latin typeface="Calibri" pitchFamily="34" charset="0"/>
              </a:rPr>
              <a:t>Bei Auflösung und Verkauf eines Unternehmens.</a:t>
            </a:r>
            <a:br>
              <a:rPr lang="de-DE" sz="2400" b="1" dirty="0">
                <a:latin typeface="Calibri" pitchFamily="34" charset="0"/>
              </a:rPr>
            </a:br>
            <a:endParaRPr lang="de-DE" sz="2400" b="1" dirty="0">
              <a:latin typeface="Calibri" pitchFamily="34" charset="0"/>
            </a:endParaRPr>
          </a:p>
          <a:p>
            <a:r>
              <a:rPr lang="de-DE" sz="2400" b="1" dirty="0">
                <a:latin typeface="Calibri" pitchFamily="34" charset="0"/>
              </a:rPr>
              <a:t>Rechtsgrundlage: HGB § 240</a:t>
            </a:r>
          </a:p>
          <a:p>
            <a:endParaRPr lang="de-DE" sz="2400" dirty="0">
              <a:latin typeface="Calibri" pitchFamily="34" charset="0"/>
            </a:endParaRPr>
          </a:p>
          <a:p>
            <a:r>
              <a:rPr lang="de-DE" sz="2400" dirty="0">
                <a:latin typeface="Calibri" pitchFamily="34" charset="0"/>
              </a:rPr>
              <a:t>Anwendungsaufgabe: vgl. Lehrbuch S. 25, Nr.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el 3"/>
          <p:cNvSpPr>
            <a:spLocks noGrp="1"/>
          </p:cNvSpPr>
          <p:nvPr>
            <p:ph type="title"/>
          </p:nvPr>
        </p:nvSpPr>
        <p:spPr>
          <a:xfrm>
            <a:off x="468313" y="404813"/>
            <a:ext cx="8229600" cy="1152525"/>
          </a:xfrm>
        </p:spPr>
        <p:txBody>
          <a:bodyPr/>
          <a:lstStyle/>
          <a:p>
            <a:pPr eaLnBrk="1" hangingPunct="1"/>
            <a:r>
              <a:rPr lang="de-DE" sz="3600" b="1" dirty="0"/>
              <a:t>3. Inventar, Inventur, Bilanz</a:t>
            </a:r>
            <a:br>
              <a:rPr lang="de-DE" sz="3600" b="1" dirty="0"/>
            </a:br>
            <a:r>
              <a:rPr lang="de-DE" sz="2800" b="1" dirty="0"/>
              <a:t>- Inventurverfahren (vgl. HGB § 241, B.S. 19 f)</a:t>
            </a:r>
            <a:br>
              <a:rPr lang="de-DE" sz="2800" b="1" dirty="0"/>
            </a:br>
            <a:endParaRPr lang="de-DE" sz="2800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>
          <a:xfrm>
            <a:off x="179388" y="1268412"/>
            <a:ext cx="8964612" cy="5328939"/>
          </a:xfrm>
        </p:spPr>
        <p:txBody>
          <a:bodyPr/>
          <a:lstStyle/>
          <a:p>
            <a:pPr marL="514350" indent="-514350" eaLnBrk="1" hangingPunct="1">
              <a:buFont typeface="Calibri" pitchFamily="34" charset="0"/>
              <a:buAutoNum type="arabicPeriod"/>
            </a:pPr>
            <a:r>
              <a:rPr lang="de-DE" sz="2400" b="1" dirty="0"/>
              <a:t>Nach der Art Bestandsaufnahme</a:t>
            </a:r>
            <a:br>
              <a:rPr lang="de-DE" sz="2400" dirty="0"/>
            </a:br>
            <a:r>
              <a:rPr lang="de-DE" sz="2400" dirty="0"/>
              <a:t>- „körperliche Inventur für Gegenstände; z.B. Maschinen, </a:t>
            </a:r>
            <a:br>
              <a:rPr lang="de-DE" sz="2400" dirty="0"/>
            </a:br>
            <a:r>
              <a:rPr lang="de-DE" sz="2400" dirty="0"/>
              <a:t>- „Buchinventur für „nichtkörperliche Gegen-</a:t>
            </a:r>
            <a:br>
              <a:rPr lang="de-DE" sz="2400" dirty="0"/>
            </a:br>
            <a:r>
              <a:rPr lang="de-DE" sz="2400" dirty="0"/>
              <a:t>    stände“; z.B. Bankguthaben </a:t>
            </a:r>
          </a:p>
          <a:p>
            <a:pPr marL="514350" indent="-514350" eaLnBrk="1" hangingPunct="1">
              <a:buFont typeface="Calibri" pitchFamily="34" charset="0"/>
              <a:buAutoNum type="arabicPeriod"/>
            </a:pPr>
            <a:r>
              <a:rPr lang="de-DE" sz="2400" b="1" dirty="0"/>
              <a:t>Nach dem Zeitpunkt der Bestandsaufnahme</a:t>
            </a:r>
            <a:br>
              <a:rPr lang="de-DE" sz="2400" dirty="0"/>
            </a:br>
            <a:r>
              <a:rPr lang="de-DE" sz="2400" dirty="0"/>
              <a:t>- </a:t>
            </a:r>
            <a:r>
              <a:rPr lang="de-DE" sz="2400" b="1" dirty="0"/>
              <a:t>Stichtags- bzw. zeitnahe Inventur </a:t>
            </a:r>
            <a:r>
              <a:rPr lang="de-DE" sz="2400" dirty="0"/>
              <a:t>(+- 10 Tage) [§ 240,3]</a:t>
            </a:r>
            <a:br>
              <a:rPr lang="de-DE" sz="2400" dirty="0"/>
            </a:br>
            <a:br>
              <a:rPr lang="de-DE" sz="2400" dirty="0"/>
            </a:br>
            <a:r>
              <a:rPr lang="de-DE" sz="2400" dirty="0"/>
              <a:t>- </a:t>
            </a:r>
            <a:r>
              <a:rPr lang="de-DE" sz="2400" b="1" dirty="0"/>
              <a:t>zeitlich verlegte Inventur </a:t>
            </a:r>
            <a:r>
              <a:rPr lang="de-DE" sz="2400" dirty="0"/>
              <a:t>(3 Mon./2 Mon.) [§  241,3]</a:t>
            </a:r>
            <a:br>
              <a:rPr lang="de-DE" sz="2400" dirty="0"/>
            </a:br>
            <a:br>
              <a:rPr lang="de-DE" sz="2400" dirty="0"/>
            </a:br>
            <a:r>
              <a:rPr lang="de-DE" sz="2400" dirty="0"/>
              <a:t>- </a:t>
            </a:r>
            <a:r>
              <a:rPr lang="de-DE" sz="2400" b="1" dirty="0"/>
              <a:t>permanente Inventur </a:t>
            </a:r>
            <a:r>
              <a:rPr lang="de-DE" sz="2400" dirty="0"/>
              <a:t>[§ 241,2]</a:t>
            </a:r>
            <a:br>
              <a:rPr lang="de-DE" sz="2400" dirty="0"/>
            </a:br>
            <a:r>
              <a:rPr lang="de-DE" sz="2400" dirty="0"/>
              <a:t>   Ständige buchmäßige Bestandsfortführung bei jähr-</a:t>
            </a:r>
            <a:br>
              <a:rPr lang="de-DE" sz="2400" dirty="0"/>
            </a:br>
            <a:r>
              <a:rPr lang="de-DE" sz="2400" dirty="0"/>
              <a:t>   </a:t>
            </a:r>
            <a:r>
              <a:rPr lang="de-DE" sz="2400" dirty="0" err="1"/>
              <a:t>lich</a:t>
            </a:r>
            <a:r>
              <a:rPr lang="de-DE" sz="2400" dirty="0"/>
              <a:t> einmaliger Kontrollinventur; Termin ist frei wählbar</a:t>
            </a:r>
            <a:br>
              <a:rPr lang="de-DE" sz="2400" dirty="0"/>
            </a:br>
            <a:r>
              <a:rPr lang="de-DE" sz="2400" dirty="0"/>
              <a:t>- </a:t>
            </a:r>
            <a:r>
              <a:rPr lang="de-DE" sz="2400" b="1" dirty="0"/>
              <a:t>Stichprobeninventur</a:t>
            </a:r>
            <a:r>
              <a:rPr lang="de-DE" sz="2400" dirty="0"/>
              <a:t> mit Hilfe math.-statistischer Methoden</a:t>
            </a:r>
            <a:br>
              <a:rPr lang="de-DE" sz="2400" dirty="0"/>
            </a:br>
            <a:r>
              <a:rPr lang="de-DE" sz="2400" dirty="0"/>
              <a:t>   [§ 241,1]</a:t>
            </a:r>
            <a:br>
              <a:rPr lang="de-DE" sz="2400" dirty="0"/>
            </a:br>
            <a:endParaRPr lang="de-DE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05 Lösung-Arbeitsblatt-Was ist die Bilanz-Bilanzerstellung"/>
          <p:cNvPicPr>
            <a:picLocks noChangeAspect="1" noChangeArrowheads="1"/>
          </p:cNvPicPr>
          <p:nvPr/>
        </p:nvPicPr>
        <p:blipFill>
          <a:blip r:embed="rId3" cstate="print"/>
          <a:srcRect l="51642"/>
          <a:stretch>
            <a:fillRect/>
          </a:stretch>
        </p:blipFill>
        <p:spPr bwMode="auto">
          <a:xfrm>
            <a:off x="0" y="530225"/>
            <a:ext cx="4684713" cy="632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 descr="karikatu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45038" y="404813"/>
            <a:ext cx="4398962" cy="544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0" name="Rechteck 3"/>
          <p:cNvSpPr>
            <a:spLocks noChangeArrowheads="1"/>
          </p:cNvSpPr>
          <p:nvPr/>
        </p:nvSpPr>
        <p:spPr bwMode="auto">
          <a:xfrm>
            <a:off x="179388" y="260350"/>
            <a:ext cx="33131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b="1">
                <a:latin typeface="Calibri" pitchFamily="34" charset="0"/>
              </a:rPr>
              <a:t>3. Inventar, Inventur, Bilanz</a:t>
            </a:r>
            <a:endParaRPr lang="de-DE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de-DE">
              <a:latin typeface="Calibri" pitchFamily="34" charset="0"/>
            </a:endParaRPr>
          </a:p>
        </p:txBody>
      </p:sp>
      <p:sp>
        <p:nvSpPr>
          <p:cNvPr id="2051" name="AutoShape 3"/>
          <p:cNvSpPr>
            <a:spLocks noChangeArrowheads="1"/>
          </p:cNvSpPr>
          <p:nvPr/>
        </p:nvSpPr>
        <p:spPr bwMode="auto">
          <a:xfrm>
            <a:off x="611188" y="188913"/>
            <a:ext cx="8064500" cy="704850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latin typeface="+mn-lt"/>
              <a:cs typeface="+mn-cs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1403350" y="171341"/>
            <a:ext cx="615632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de-DE" b="1" u="sng" dirty="0">
                <a:latin typeface="Comic Sans MS" pitchFamily="66" charset="0"/>
                <a:cs typeface="Times New Roman" pitchFamily="18" charset="0"/>
              </a:rPr>
              <a:t>Die Auswirkungen von Geschäftsfällen in der Bilanz (Wertveränderungen in der Bilanz)  </a:t>
            </a:r>
            <a:r>
              <a:rPr lang="de-DE" b="1" u="sng" dirty="0">
                <a:solidFill>
                  <a:srgbClr val="FF0000"/>
                </a:solidFill>
                <a:latin typeface="Comic Sans MS" pitchFamily="66" charset="0"/>
                <a:cs typeface="Times New Roman" pitchFamily="18" charset="0"/>
              </a:rPr>
              <a:t>[vgl. SD.S. 33 f]</a:t>
            </a:r>
            <a:endParaRPr lang="de-DE" dirty="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539750" y="1052513"/>
            <a:ext cx="8208963" cy="5762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000"/>
              </a:spcAft>
              <a:defRPr/>
            </a:pPr>
            <a:r>
              <a:rPr lang="de-DE" sz="1600" b="1" dirty="0">
                <a:latin typeface="Arial" pitchFamily="34" charset="0"/>
                <a:cs typeface="Arial" pitchFamily="34" charset="0"/>
              </a:rPr>
              <a:t>Merke: Jeder  Geschäftsvorfall hat Auswirkungen auf die Bilanz. Hinsichtlich ihrer</a:t>
            </a:r>
            <a:br>
              <a:rPr lang="de-DE" sz="1600" b="1" dirty="0">
                <a:latin typeface="Arial" pitchFamily="34" charset="0"/>
                <a:cs typeface="Arial" pitchFamily="34" charset="0"/>
              </a:rPr>
            </a:br>
            <a:r>
              <a:rPr lang="de-DE" sz="1600" b="1" dirty="0">
                <a:latin typeface="Arial" pitchFamily="34" charset="0"/>
                <a:cs typeface="Arial" pitchFamily="34" charset="0"/>
              </a:rPr>
              <a:t>             Auswirkungen lassen sich 4 Arten von Geschäftsvorfällen unterscheiden.</a:t>
            </a:r>
          </a:p>
        </p:txBody>
      </p:sp>
      <p:sp>
        <p:nvSpPr>
          <p:cNvPr id="8" name="Rechteck 7"/>
          <p:cNvSpPr/>
          <p:nvPr/>
        </p:nvSpPr>
        <p:spPr>
          <a:xfrm>
            <a:off x="539552" y="4509120"/>
            <a:ext cx="7777163" cy="25442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Aft>
                <a:spcPts val="1000"/>
              </a:spcAft>
              <a:buFontTx/>
              <a:buAutoNum type="arabicPeriod"/>
              <a:defRPr/>
            </a:pPr>
            <a:r>
              <a:rPr lang="de-DE" dirty="0">
                <a:latin typeface="Comic Sans MS" pitchFamily="66" charset="0"/>
                <a:cs typeface="Arial" pitchFamily="34" charset="0"/>
              </a:rPr>
              <a:t>Einkauf von Waren gegen Barzahlung von 1.000,00  €</a:t>
            </a:r>
          </a:p>
          <a:p>
            <a:pPr marL="342900" indent="-342900">
              <a:spcAft>
                <a:spcPts val="1000"/>
              </a:spcAft>
              <a:defRPr/>
            </a:pPr>
            <a:r>
              <a:rPr lang="de-DE" dirty="0">
                <a:latin typeface="Comic Sans MS" pitchFamily="66" charset="0"/>
                <a:cs typeface="Arial" pitchFamily="34" charset="0"/>
              </a:rPr>
              <a:t>2.  Eine kurzfristige Lieferschuld in Höhe von 1.500,00 € wird  durch ein aufgenommenes Bankdarlehen  getilgt.</a:t>
            </a:r>
          </a:p>
          <a:p>
            <a:pPr marL="266700" indent="-266700">
              <a:spcAft>
                <a:spcPts val="1000"/>
              </a:spcAft>
              <a:defRPr/>
            </a:pPr>
            <a:r>
              <a:rPr lang="de-DE" dirty="0">
                <a:latin typeface="Comic Sans MS" pitchFamily="66" charset="0"/>
                <a:cs typeface="Arial" pitchFamily="34" charset="0"/>
              </a:rPr>
              <a:t>3.  Zahlung einer Liefererrechnung in Höhe von 800,00 € durch  </a:t>
            </a:r>
            <a:br>
              <a:rPr lang="de-DE" dirty="0">
                <a:latin typeface="Comic Sans MS" pitchFamily="66" charset="0"/>
                <a:cs typeface="Arial" pitchFamily="34" charset="0"/>
              </a:rPr>
            </a:br>
            <a:r>
              <a:rPr lang="de-DE" dirty="0">
                <a:latin typeface="Comic Sans MS" pitchFamily="66" charset="0"/>
                <a:cs typeface="Arial" pitchFamily="34" charset="0"/>
              </a:rPr>
              <a:t> Banküberweisung. </a:t>
            </a:r>
          </a:p>
          <a:p>
            <a:pPr marL="266700" indent="-266700">
              <a:spcAft>
                <a:spcPts val="1000"/>
              </a:spcAft>
              <a:defRPr/>
            </a:pPr>
            <a:r>
              <a:rPr lang="de-DE" dirty="0">
                <a:latin typeface="Comic Sans MS" pitchFamily="66" charset="0"/>
                <a:cs typeface="Arial" pitchFamily="34" charset="0"/>
              </a:rPr>
              <a:t>4.  Einkauf von Waren auf Ziel lt. Eingangsrechnung v. 1.500,00 €</a:t>
            </a:r>
          </a:p>
          <a:p>
            <a:pPr>
              <a:spcAft>
                <a:spcPts val="1000"/>
              </a:spcAft>
              <a:defRPr/>
            </a:pPr>
            <a:endParaRPr lang="de-DE" dirty="0"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9" name="Textfeld 8"/>
          <p:cNvSpPr txBox="1">
            <a:spLocks noChangeArrowheads="1"/>
          </p:cNvSpPr>
          <p:nvPr/>
        </p:nvSpPr>
        <p:spPr bwMode="auto">
          <a:xfrm>
            <a:off x="539750" y="1700213"/>
            <a:ext cx="8208963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>
                <a:latin typeface="Calibri" pitchFamily="34" charset="0"/>
              </a:rPr>
              <a:t>Es sind folgende Bestände zum 01.01. gegeben:</a:t>
            </a:r>
          </a:p>
          <a:p>
            <a:r>
              <a:rPr lang="de-DE" dirty="0">
                <a:latin typeface="Calibri" pitchFamily="34" charset="0"/>
              </a:rPr>
              <a:t>Waren:	8.000,00     Bankguthaben  3.000,00  Darlehen:	            2.000,00</a:t>
            </a:r>
            <a:br>
              <a:rPr lang="de-DE" dirty="0">
                <a:latin typeface="Calibri" pitchFamily="34" charset="0"/>
              </a:rPr>
            </a:br>
            <a:r>
              <a:rPr lang="de-DE" dirty="0">
                <a:latin typeface="Calibri" pitchFamily="34" charset="0"/>
              </a:rPr>
              <a:t>Kassenbestand:	1.500,00	   Eigenkapital                 ?     Verbindlichkeiten:  2.500,00</a:t>
            </a:r>
          </a:p>
        </p:txBody>
      </p:sp>
      <p:graphicFrame>
        <p:nvGraphicFramePr>
          <p:cNvPr id="12" name="Tabelle 11"/>
          <p:cNvGraphicFramePr>
            <a:graphicFrameLocks noGrp="1"/>
          </p:cNvGraphicFramePr>
          <p:nvPr/>
        </p:nvGraphicFramePr>
        <p:xfrm>
          <a:off x="1258888" y="2636838"/>
          <a:ext cx="6096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816">
                <a:tc gridSpan="2">
                  <a:txBody>
                    <a:bodyPr/>
                    <a:lstStyle/>
                    <a:p>
                      <a:r>
                        <a:rPr lang="de-DE" dirty="0"/>
                        <a:t>Aktiva                             Bilanz</a:t>
                      </a:r>
                      <a:r>
                        <a:rPr lang="de-DE" baseline="0" dirty="0"/>
                        <a:t> zum 01.01.                           </a:t>
                      </a:r>
                      <a:r>
                        <a:rPr lang="de-DE" dirty="0"/>
                        <a:t>Passiva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Waren                           8.000,00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Eigenkapital                 8.000,00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Kasse                             1.500,00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Darlehen</a:t>
                      </a:r>
                      <a:r>
                        <a:rPr lang="de-DE" baseline="0" dirty="0"/>
                        <a:t>                      2.000,00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Bankguthaben             3.000,00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Verbindlichkeiten        2.500,00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                                     12.500,00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                                   12.500,00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/>
      <p:bldP spid="2054" grpId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/>
          <p:cNvGraphicFramePr>
            <a:graphicFrameLocks noGrp="1"/>
          </p:cNvGraphicFramePr>
          <p:nvPr/>
        </p:nvGraphicFramePr>
        <p:xfrm>
          <a:off x="900113" y="404813"/>
          <a:ext cx="7598281" cy="3859633"/>
        </p:xfrm>
        <a:graphic>
          <a:graphicData uri="http://schemas.openxmlformats.org/drawingml/2006/table">
            <a:tbl>
              <a:tblPr/>
              <a:tblGrid>
                <a:gridCol w="2398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1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8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20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400" b="1" dirty="0">
                          <a:latin typeface="Comic Sans MS"/>
                          <a:ea typeface="Times New Roman"/>
                          <a:cs typeface="Times New Roman"/>
                        </a:rPr>
                        <a:t>1. betroffener</a:t>
                      </a:r>
                      <a:endParaRPr lang="de-DE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400" b="1" dirty="0">
                          <a:latin typeface="Comic Sans MS"/>
                          <a:ea typeface="Times New Roman"/>
                          <a:cs typeface="Times New Roman"/>
                        </a:rPr>
                        <a:t>Bilanzposten</a:t>
                      </a:r>
                      <a:endParaRPr lang="de-DE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400" b="1" dirty="0">
                          <a:latin typeface="Comic Sans MS"/>
                          <a:ea typeface="Times New Roman"/>
                          <a:cs typeface="Times New Roman"/>
                        </a:rPr>
                        <a:t>(Mehrung oder Minderung)</a:t>
                      </a:r>
                      <a:endParaRPr lang="de-DE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400" b="1" dirty="0">
                          <a:latin typeface="Comic Sans MS"/>
                          <a:ea typeface="Times New Roman"/>
                          <a:cs typeface="Times New Roman"/>
                        </a:rPr>
                        <a:t>2. betroffener</a:t>
                      </a:r>
                      <a:endParaRPr lang="de-DE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400" b="1" kern="1200" dirty="0">
                          <a:solidFill>
                            <a:schemeClr val="tx1"/>
                          </a:solidFill>
                          <a:latin typeface="Comic Sans MS"/>
                          <a:ea typeface="Times New Roman"/>
                          <a:cs typeface="Times New Roman"/>
                        </a:rPr>
                        <a:t>Bilanzposten</a:t>
                      </a:r>
                      <a:br>
                        <a:rPr lang="de-DE" sz="1400" b="1" kern="1200" dirty="0">
                          <a:solidFill>
                            <a:schemeClr val="tx1"/>
                          </a:solidFill>
                          <a:latin typeface="Comic Sans MS"/>
                          <a:ea typeface="Times New Roman"/>
                          <a:cs typeface="Times New Roman"/>
                        </a:rPr>
                      </a:br>
                      <a:r>
                        <a:rPr lang="de-DE" sz="1400" b="1" kern="1200" dirty="0">
                          <a:solidFill>
                            <a:schemeClr val="tx1"/>
                          </a:solidFill>
                          <a:latin typeface="Comic Sans MS"/>
                          <a:ea typeface="Times New Roman"/>
                          <a:cs typeface="Times New Roman"/>
                        </a:rPr>
                        <a:t>(Mehrung oder Minderung)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400" b="1" dirty="0">
                          <a:latin typeface="Comic Sans MS"/>
                          <a:ea typeface="Times New Roman"/>
                          <a:cs typeface="Times New Roman"/>
                        </a:rPr>
                        <a:t>Art  des Grundfalles</a:t>
                      </a:r>
                      <a:endParaRPr lang="de-DE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58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dirty="0">
                          <a:latin typeface="+mn-lt"/>
                          <a:ea typeface="Times New Roman"/>
                          <a:cs typeface="Times New Roman"/>
                        </a:rPr>
                        <a:t>Waren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dirty="0">
                          <a:latin typeface="+mn-lt"/>
                          <a:ea typeface="Times New Roman"/>
                          <a:cs typeface="Times New Roman"/>
                        </a:rPr>
                        <a:t>Mehrung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Kasse </a:t>
                      </a:r>
                    </a:p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Minderung</a:t>
                      </a:r>
                      <a:endParaRPr lang="de-DE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Aktivtausch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69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Minderung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Darlehen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Mehrung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Passivtausch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5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Minderung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Minderung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Aktiv Passiv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baseline="0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Minderung </a:t>
                      </a:r>
                      <a:endParaRPr lang="de-DE" sz="2000" b="1" kern="1200" dirty="0">
                        <a:solidFill>
                          <a:srgbClr val="FF0000"/>
                        </a:solidFill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69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Waren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Mehrung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Mehrung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de-DE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Aktiv</a:t>
                      </a:r>
                      <a:r>
                        <a:rPr lang="de-DE" sz="2000" b="1" kern="1200" baseline="0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 Passiv 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e-DE" sz="2000" b="1" kern="1200" baseline="0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 Mehrung                </a:t>
                      </a:r>
                      <a:endParaRPr lang="de-DE" sz="2000" b="1" kern="1200" dirty="0">
                        <a:solidFill>
                          <a:srgbClr val="FF0000"/>
                        </a:solidFill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 l="18900" t="20160" r="20621" b="10115"/>
          <a:stretch>
            <a:fillRect/>
          </a:stretch>
        </p:blipFill>
        <p:spPr bwMode="auto">
          <a:xfrm>
            <a:off x="0" y="881063"/>
            <a:ext cx="9144000" cy="5976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468313" y="115888"/>
            <a:ext cx="8064500" cy="576262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dirty="0">
                <a:latin typeface="+mn-lt"/>
                <a:cs typeface="+mn-cs"/>
              </a:rPr>
              <a:t>Die Entwicklung der Konten aus der Bilanz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 l="28349" t="19321" r="26291" b="7082"/>
          <a:stretch>
            <a:fillRect/>
          </a:stretch>
        </p:blipFill>
        <p:spPr bwMode="auto">
          <a:xfrm>
            <a:off x="1116013" y="188913"/>
            <a:ext cx="6911975" cy="630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extfeld 2"/>
          <p:cNvSpPr txBox="1">
            <a:spLocks noChangeArrowheads="1"/>
          </p:cNvSpPr>
          <p:nvPr/>
        </p:nvSpPr>
        <p:spPr bwMode="auto">
          <a:xfrm>
            <a:off x="2268538" y="1773238"/>
            <a:ext cx="158273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b="1">
                <a:latin typeface="Calibri" pitchFamily="34" charset="0"/>
              </a:rPr>
              <a:t>Aktivkonten</a:t>
            </a:r>
          </a:p>
        </p:txBody>
      </p:sp>
      <p:sp>
        <p:nvSpPr>
          <p:cNvPr id="14340" name="Textfeld 3"/>
          <p:cNvSpPr txBox="1">
            <a:spLocks noChangeArrowheads="1"/>
          </p:cNvSpPr>
          <p:nvPr/>
        </p:nvSpPr>
        <p:spPr bwMode="auto">
          <a:xfrm>
            <a:off x="5435600" y="1773238"/>
            <a:ext cx="15843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b="1">
                <a:latin typeface="Calibri" pitchFamily="34" charset="0"/>
              </a:rPr>
              <a:t>Passivkonten</a:t>
            </a:r>
          </a:p>
        </p:txBody>
      </p:sp>
      <p:sp>
        <p:nvSpPr>
          <p:cNvPr id="14341" name="Textfeld 4"/>
          <p:cNvSpPr txBox="1">
            <a:spLocks noChangeArrowheads="1"/>
          </p:cNvSpPr>
          <p:nvPr/>
        </p:nvSpPr>
        <p:spPr bwMode="auto">
          <a:xfrm>
            <a:off x="2627313" y="2276475"/>
            <a:ext cx="10080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Waren</a:t>
            </a:r>
          </a:p>
        </p:txBody>
      </p:sp>
      <p:sp>
        <p:nvSpPr>
          <p:cNvPr id="14342" name="Textfeld 5"/>
          <p:cNvSpPr txBox="1">
            <a:spLocks noChangeArrowheads="1"/>
          </p:cNvSpPr>
          <p:nvPr/>
        </p:nvSpPr>
        <p:spPr bwMode="auto">
          <a:xfrm>
            <a:off x="1763713" y="2565400"/>
            <a:ext cx="12239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AB    8.000</a:t>
            </a:r>
          </a:p>
        </p:txBody>
      </p:sp>
      <p:sp>
        <p:nvSpPr>
          <p:cNvPr id="14343" name="Textfeld 6"/>
          <p:cNvSpPr txBox="1">
            <a:spLocks noChangeArrowheads="1"/>
          </p:cNvSpPr>
          <p:nvPr/>
        </p:nvSpPr>
        <p:spPr bwMode="auto">
          <a:xfrm>
            <a:off x="2700338" y="3573463"/>
            <a:ext cx="100806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Bank</a:t>
            </a:r>
          </a:p>
        </p:txBody>
      </p:sp>
      <p:sp>
        <p:nvSpPr>
          <p:cNvPr id="14344" name="Textfeld 7"/>
          <p:cNvSpPr txBox="1">
            <a:spLocks noChangeArrowheads="1"/>
          </p:cNvSpPr>
          <p:nvPr/>
        </p:nvSpPr>
        <p:spPr bwMode="auto">
          <a:xfrm>
            <a:off x="2627313" y="4941888"/>
            <a:ext cx="100806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Kasse</a:t>
            </a:r>
          </a:p>
        </p:txBody>
      </p:sp>
      <p:sp>
        <p:nvSpPr>
          <p:cNvPr id="14345" name="Textfeld 8"/>
          <p:cNvSpPr txBox="1">
            <a:spLocks noChangeArrowheads="1"/>
          </p:cNvSpPr>
          <p:nvPr/>
        </p:nvSpPr>
        <p:spPr bwMode="auto">
          <a:xfrm>
            <a:off x="6011863" y="2205038"/>
            <a:ext cx="1008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EK</a:t>
            </a:r>
          </a:p>
        </p:txBody>
      </p:sp>
      <p:sp>
        <p:nvSpPr>
          <p:cNvPr id="14346" name="Textfeld 9"/>
          <p:cNvSpPr txBox="1">
            <a:spLocks noChangeArrowheads="1"/>
          </p:cNvSpPr>
          <p:nvPr/>
        </p:nvSpPr>
        <p:spPr bwMode="auto">
          <a:xfrm>
            <a:off x="5724525" y="3573463"/>
            <a:ext cx="10795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Darlehen</a:t>
            </a:r>
          </a:p>
        </p:txBody>
      </p:sp>
      <p:sp>
        <p:nvSpPr>
          <p:cNvPr id="14347" name="Textfeld 10"/>
          <p:cNvSpPr txBox="1">
            <a:spLocks noChangeArrowheads="1"/>
          </p:cNvSpPr>
          <p:nvPr/>
        </p:nvSpPr>
        <p:spPr bwMode="auto">
          <a:xfrm>
            <a:off x="5724525" y="4941888"/>
            <a:ext cx="122396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Verb. a.L.L</a:t>
            </a:r>
          </a:p>
        </p:txBody>
      </p:sp>
      <p:sp>
        <p:nvSpPr>
          <p:cNvPr id="14348" name="Textfeld 11"/>
          <p:cNvSpPr txBox="1">
            <a:spLocks noChangeArrowheads="1"/>
          </p:cNvSpPr>
          <p:nvPr/>
        </p:nvSpPr>
        <p:spPr bwMode="auto">
          <a:xfrm>
            <a:off x="1835150" y="3933825"/>
            <a:ext cx="12239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AB    3.000</a:t>
            </a:r>
          </a:p>
        </p:txBody>
      </p:sp>
      <p:sp>
        <p:nvSpPr>
          <p:cNvPr id="14349" name="Textfeld 12"/>
          <p:cNvSpPr txBox="1">
            <a:spLocks noChangeArrowheads="1"/>
          </p:cNvSpPr>
          <p:nvPr/>
        </p:nvSpPr>
        <p:spPr bwMode="auto">
          <a:xfrm>
            <a:off x="1835150" y="5300663"/>
            <a:ext cx="12239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AB    1.500</a:t>
            </a:r>
          </a:p>
        </p:txBody>
      </p:sp>
      <p:sp>
        <p:nvSpPr>
          <p:cNvPr id="14350" name="Textfeld 13"/>
          <p:cNvSpPr txBox="1">
            <a:spLocks noChangeArrowheads="1"/>
          </p:cNvSpPr>
          <p:nvPr/>
        </p:nvSpPr>
        <p:spPr bwMode="auto">
          <a:xfrm>
            <a:off x="6300788" y="2565400"/>
            <a:ext cx="12239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AB   8.000</a:t>
            </a:r>
          </a:p>
        </p:txBody>
      </p:sp>
      <p:sp>
        <p:nvSpPr>
          <p:cNvPr id="14351" name="Textfeld 14"/>
          <p:cNvSpPr txBox="1">
            <a:spLocks noChangeArrowheads="1"/>
          </p:cNvSpPr>
          <p:nvPr/>
        </p:nvSpPr>
        <p:spPr bwMode="auto">
          <a:xfrm>
            <a:off x="6300788" y="3933825"/>
            <a:ext cx="12239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AB    2.000</a:t>
            </a:r>
          </a:p>
        </p:txBody>
      </p:sp>
      <p:sp>
        <p:nvSpPr>
          <p:cNvPr id="14352" name="Textfeld 15"/>
          <p:cNvSpPr txBox="1">
            <a:spLocks noChangeArrowheads="1"/>
          </p:cNvSpPr>
          <p:nvPr/>
        </p:nvSpPr>
        <p:spPr bwMode="auto">
          <a:xfrm>
            <a:off x="6372225" y="5300663"/>
            <a:ext cx="12239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AB    2.500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468313" y="115888"/>
            <a:ext cx="8064500" cy="576262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dirty="0">
                <a:latin typeface="+mn-lt"/>
                <a:cs typeface="+mn-cs"/>
              </a:rPr>
              <a:t>Buchung auf den Konten</a:t>
            </a:r>
          </a:p>
        </p:txBody>
      </p:sp>
      <p:sp>
        <p:nvSpPr>
          <p:cNvPr id="9" name="Abgerundetes Rechteck 8"/>
          <p:cNvSpPr/>
          <p:nvPr/>
        </p:nvSpPr>
        <p:spPr>
          <a:xfrm>
            <a:off x="683568" y="1700808"/>
            <a:ext cx="3384376" cy="50405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Aktivkonten</a:t>
            </a:r>
          </a:p>
        </p:txBody>
      </p:sp>
      <p:sp>
        <p:nvSpPr>
          <p:cNvPr id="10" name="Abgerundetes Rechteck 9"/>
          <p:cNvSpPr/>
          <p:nvPr/>
        </p:nvSpPr>
        <p:spPr>
          <a:xfrm>
            <a:off x="4932040" y="1700808"/>
            <a:ext cx="3384376" cy="50405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Passivkonten</a:t>
            </a:r>
          </a:p>
        </p:txBody>
      </p:sp>
      <p:sp>
        <p:nvSpPr>
          <p:cNvPr id="11" name="Rechteck 10"/>
          <p:cNvSpPr/>
          <p:nvPr/>
        </p:nvSpPr>
        <p:spPr>
          <a:xfrm>
            <a:off x="539750" y="2997200"/>
            <a:ext cx="1728788" cy="431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2000" dirty="0">
                <a:solidFill>
                  <a:schemeClr val="tx1"/>
                </a:solidFill>
              </a:rPr>
              <a:t>AB</a:t>
            </a:r>
          </a:p>
        </p:txBody>
      </p:sp>
      <p:sp>
        <p:nvSpPr>
          <p:cNvPr id="13" name="Rechteck 12"/>
          <p:cNvSpPr/>
          <p:nvPr/>
        </p:nvSpPr>
        <p:spPr>
          <a:xfrm>
            <a:off x="539750" y="3429000"/>
            <a:ext cx="1728788" cy="10795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2000" dirty="0">
                <a:solidFill>
                  <a:schemeClr val="tx1"/>
                </a:solidFill>
              </a:rPr>
              <a:t>Zugänge</a:t>
            </a:r>
            <a:br>
              <a:rPr lang="de-DE" sz="2000" dirty="0">
                <a:solidFill>
                  <a:schemeClr val="tx1"/>
                </a:solidFill>
              </a:rPr>
            </a:br>
            <a:r>
              <a:rPr lang="de-DE" sz="2000" dirty="0">
                <a:solidFill>
                  <a:schemeClr val="tx1"/>
                </a:solidFill>
              </a:rPr>
              <a:t>(Mehrung)</a:t>
            </a:r>
          </a:p>
        </p:txBody>
      </p:sp>
      <p:sp>
        <p:nvSpPr>
          <p:cNvPr id="14" name="Rechteck 13"/>
          <p:cNvSpPr/>
          <p:nvPr/>
        </p:nvSpPr>
        <p:spPr>
          <a:xfrm>
            <a:off x="2268538" y="2997200"/>
            <a:ext cx="1727200" cy="1079500"/>
          </a:xfrm>
          <a:prstGeom prst="rect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dirty="0">
                <a:solidFill>
                  <a:schemeClr val="tx1"/>
                </a:solidFill>
              </a:rPr>
              <a:t>Abgänge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(Minderung)</a:t>
            </a:r>
          </a:p>
        </p:txBody>
      </p:sp>
      <p:sp>
        <p:nvSpPr>
          <p:cNvPr id="15" name="Rechteck 14"/>
          <p:cNvSpPr/>
          <p:nvPr/>
        </p:nvSpPr>
        <p:spPr>
          <a:xfrm>
            <a:off x="2268538" y="4076700"/>
            <a:ext cx="1727200" cy="431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dirty="0" err="1"/>
              <a:t>s</a:t>
            </a:r>
            <a:r>
              <a:rPr lang="de-DE" dirty="0" err="1">
                <a:solidFill>
                  <a:schemeClr val="tx1"/>
                </a:solidFill>
              </a:rPr>
              <a:t>Saldo</a:t>
            </a:r>
            <a:r>
              <a:rPr lang="de-DE" dirty="0">
                <a:solidFill>
                  <a:schemeClr val="tx1"/>
                </a:solidFill>
              </a:rPr>
              <a:t> (EB)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>
          <a:xfrm>
            <a:off x="6659563" y="2997200"/>
            <a:ext cx="1728787" cy="431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2000" dirty="0">
                <a:solidFill>
                  <a:schemeClr val="tx1"/>
                </a:solidFill>
              </a:rPr>
              <a:t>AB</a:t>
            </a:r>
          </a:p>
        </p:txBody>
      </p:sp>
      <p:sp>
        <p:nvSpPr>
          <p:cNvPr id="18" name="Rechteck 17"/>
          <p:cNvSpPr/>
          <p:nvPr/>
        </p:nvSpPr>
        <p:spPr>
          <a:xfrm>
            <a:off x="6659563" y="3429000"/>
            <a:ext cx="1728787" cy="10795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2000" dirty="0">
                <a:solidFill>
                  <a:schemeClr val="tx1"/>
                </a:solidFill>
              </a:rPr>
              <a:t>Zugänge</a:t>
            </a:r>
            <a:br>
              <a:rPr lang="de-DE" sz="2000" dirty="0">
                <a:solidFill>
                  <a:schemeClr val="tx1"/>
                </a:solidFill>
              </a:rPr>
            </a:br>
            <a:r>
              <a:rPr lang="de-DE" sz="2000" dirty="0">
                <a:solidFill>
                  <a:schemeClr val="tx1"/>
                </a:solidFill>
              </a:rPr>
              <a:t>(Mehrung)</a:t>
            </a:r>
          </a:p>
        </p:txBody>
      </p:sp>
      <p:sp>
        <p:nvSpPr>
          <p:cNvPr id="19" name="Rechteck 18"/>
          <p:cNvSpPr/>
          <p:nvPr/>
        </p:nvSpPr>
        <p:spPr>
          <a:xfrm>
            <a:off x="4932363" y="2997200"/>
            <a:ext cx="1727200" cy="1079500"/>
          </a:xfrm>
          <a:prstGeom prst="rect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dirty="0">
                <a:solidFill>
                  <a:schemeClr val="tx1"/>
                </a:solidFill>
              </a:rPr>
              <a:t>Abgänge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(Minderung)</a:t>
            </a:r>
          </a:p>
        </p:txBody>
      </p:sp>
      <p:sp>
        <p:nvSpPr>
          <p:cNvPr id="20" name="Rechteck 19"/>
          <p:cNvSpPr/>
          <p:nvPr/>
        </p:nvSpPr>
        <p:spPr>
          <a:xfrm>
            <a:off x="4932363" y="4076700"/>
            <a:ext cx="1727200" cy="431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dirty="0" err="1"/>
              <a:t>s</a:t>
            </a:r>
            <a:r>
              <a:rPr lang="de-DE" dirty="0" err="1">
                <a:solidFill>
                  <a:schemeClr val="tx1"/>
                </a:solidFill>
              </a:rPr>
              <a:t>Saldo</a:t>
            </a:r>
            <a:r>
              <a:rPr lang="de-DE" dirty="0">
                <a:solidFill>
                  <a:schemeClr val="tx1"/>
                </a:solidFill>
              </a:rPr>
              <a:t> (EB)</a:t>
            </a:r>
            <a:endParaRPr lang="de-DE" dirty="0"/>
          </a:p>
        </p:txBody>
      </p:sp>
      <p:sp>
        <p:nvSpPr>
          <p:cNvPr id="21" name="Textfeld 20"/>
          <p:cNvSpPr txBox="1">
            <a:spLocks noChangeArrowheads="1"/>
          </p:cNvSpPr>
          <p:nvPr/>
        </p:nvSpPr>
        <p:spPr bwMode="auto">
          <a:xfrm>
            <a:off x="539750" y="2708275"/>
            <a:ext cx="5175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>
                <a:latin typeface="Calibri" pitchFamily="34" charset="0"/>
              </a:rPr>
              <a:t>Soll</a:t>
            </a:r>
          </a:p>
        </p:txBody>
      </p:sp>
      <p:sp>
        <p:nvSpPr>
          <p:cNvPr id="22" name="Textfeld 21"/>
          <p:cNvSpPr txBox="1">
            <a:spLocks noChangeArrowheads="1"/>
          </p:cNvSpPr>
          <p:nvPr/>
        </p:nvSpPr>
        <p:spPr bwMode="auto">
          <a:xfrm>
            <a:off x="3276600" y="2700338"/>
            <a:ext cx="79851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>
                <a:latin typeface="Calibri" pitchFamily="34" charset="0"/>
              </a:rPr>
              <a:t>Haben</a:t>
            </a:r>
          </a:p>
        </p:txBody>
      </p:sp>
      <p:sp>
        <p:nvSpPr>
          <p:cNvPr id="23" name="Textfeld 22"/>
          <p:cNvSpPr txBox="1">
            <a:spLocks noChangeArrowheads="1"/>
          </p:cNvSpPr>
          <p:nvPr/>
        </p:nvSpPr>
        <p:spPr bwMode="auto">
          <a:xfrm>
            <a:off x="4859338" y="2700338"/>
            <a:ext cx="5191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>
                <a:latin typeface="Calibri" pitchFamily="34" charset="0"/>
              </a:rPr>
              <a:t>Soll</a:t>
            </a:r>
          </a:p>
        </p:txBody>
      </p:sp>
      <p:sp>
        <p:nvSpPr>
          <p:cNvPr id="24" name="Textfeld 23"/>
          <p:cNvSpPr txBox="1">
            <a:spLocks noChangeArrowheads="1"/>
          </p:cNvSpPr>
          <p:nvPr/>
        </p:nvSpPr>
        <p:spPr bwMode="auto">
          <a:xfrm>
            <a:off x="7667625" y="2700338"/>
            <a:ext cx="8001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>
                <a:latin typeface="Calibri" pitchFamily="34" charset="0"/>
              </a:rPr>
              <a:t>Haben</a:t>
            </a:r>
          </a:p>
        </p:txBody>
      </p:sp>
      <p:sp>
        <p:nvSpPr>
          <p:cNvPr id="25" name="Textfeld 24"/>
          <p:cNvSpPr txBox="1">
            <a:spLocks noChangeArrowheads="1"/>
          </p:cNvSpPr>
          <p:nvPr/>
        </p:nvSpPr>
        <p:spPr bwMode="auto">
          <a:xfrm>
            <a:off x="1908175" y="2708275"/>
            <a:ext cx="738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>
                <a:latin typeface="Calibri" pitchFamily="34" charset="0"/>
              </a:rPr>
              <a:t>Konto</a:t>
            </a:r>
          </a:p>
        </p:txBody>
      </p:sp>
      <p:sp>
        <p:nvSpPr>
          <p:cNvPr id="26" name="Textfeld 25"/>
          <p:cNvSpPr txBox="1">
            <a:spLocks noChangeArrowheads="1"/>
          </p:cNvSpPr>
          <p:nvPr/>
        </p:nvSpPr>
        <p:spPr bwMode="auto">
          <a:xfrm>
            <a:off x="6372225" y="2708275"/>
            <a:ext cx="738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>
                <a:latin typeface="Calibri" pitchFamily="34" charset="0"/>
              </a:rPr>
              <a:t>Konto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04"/>
          <p:cNvGrpSpPr>
            <a:grpSpLocks/>
          </p:cNvGrpSpPr>
          <p:nvPr/>
        </p:nvGrpSpPr>
        <p:grpSpPr bwMode="auto">
          <a:xfrm>
            <a:off x="179388" y="1844675"/>
            <a:ext cx="3675062" cy="830263"/>
            <a:chOff x="179512" y="2171846"/>
            <a:chExt cx="3675459" cy="830188"/>
          </a:xfrm>
        </p:grpSpPr>
        <p:cxnSp>
          <p:nvCxnSpPr>
            <p:cNvPr id="11" name="Gerade Verbindung 10"/>
            <p:cNvCxnSpPr/>
            <p:nvPr/>
          </p:nvCxnSpPr>
          <p:spPr>
            <a:xfrm>
              <a:off x="252545" y="2497255"/>
              <a:ext cx="3599251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11"/>
            <p:cNvCxnSpPr/>
            <p:nvPr/>
          </p:nvCxnSpPr>
          <p:spPr>
            <a:xfrm>
              <a:off x="2051376" y="2497255"/>
              <a:ext cx="0" cy="5047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38" name="Textfeld 12"/>
            <p:cNvSpPr txBox="1">
              <a:spLocks noChangeArrowheads="1"/>
            </p:cNvSpPr>
            <p:nvPr/>
          </p:nvSpPr>
          <p:spPr bwMode="auto">
            <a:xfrm>
              <a:off x="179512" y="2200654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S</a:t>
              </a:r>
            </a:p>
          </p:txBody>
        </p:sp>
        <p:sp>
          <p:nvSpPr>
            <p:cNvPr id="18539" name="Textfeld 13"/>
            <p:cNvSpPr txBox="1">
              <a:spLocks noChangeArrowheads="1"/>
            </p:cNvSpPr>
            <p:nvPr/>
          </p:nvSpPr>
          <p:spPr bwMode="auto">
            <a:xfrm>
              <a:off x="3638947" y="2209946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H</a:t>
              </a:r>
            </a:p>
          </p:txBody>
        </p:sp>
        <p:sp>
          <p:nvSpPr>
            <p:cNvPr id="18540" name="Textfeld 14"/>
            <p:cNvSpPr txBox="1">
              <a:spLocks noChangeArrowheads="1"/>
            </p:cNvSpPr>
            <p:nvPr/>
          </p:nvSpPr>
          <p:spPr bwMode="auto">
            <a:xfrm>
              <a:off x="1259632" y="2171846"/>
              <a:ext cx="15841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 dirty="0">
                  <a:latin typeface="Calibri" pitchFamily="34" charset="0"/>
                </a:rPr>
                <a:t>Waren</a:t>
              </a:r>
            </a:p>
          </p:txBody>
        </p:sp>
      </p:grpSp>
      <p:grpSp>
        <p:nvGrpSpPr>
          <p:cNvPr id="3" name="Gruppieren 106"/>
          <p:cNvGrpSpPr>
            <a:grpSpLocks/>
          </p:cNvGrpSpPr>
          <p:nvPr/>
        </p:nvGrpSpPr>
        <p:grpSpPr bwMode="auto">
          <a:xfrm>
            <a:off x="179388" y="4040188"/>
            <a:ext cx="3675062" cy="830262"/>
            <a:chOff x="179512" y="4044054"/>
            <a:chExt cx="3675459" cy="830188"/>
          </a:xfrm>
        </p:grpSpPr>
        <p:cxnSp>
          <p:nvCxnSpPr>
            <p:cNvPr id="17" name="Gerade Verbindung 16"/>
            <p:cNvCxnSpPr/>
            <p:nvPr/>
          </p:nvCxnSpPr>
          <p:spPr>
            <a:xfrm>
              <a:off x="250957" y="4369462"/>
              <a:ext cx="360083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7"/>
            <p:cNvCxnSpPr/>
            <p:nvPr/>
          </p:nvCxnSpPr>
          <p:spPr>
            <a:xfrm>
              <a:off x="2051376" y="4369462"/>
              <a:ext cx="0" cy="50478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33" name="Textfeld 18"/>
            <p:cNvSpPr txBox="1">
              <a:spLocks noChangeArrowheads="1"/>
            </p:cNvSpPr>
            <p:nvPr/>
          </p:nvSpPr>
          <p:spPr bwMode="auto">
            <a:xfrm>
              <a:off x="179512" y="4072862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S</a:t>
              </a:r>
            </a:p>
          </p:txBody>
        </p:sp>
        <p:sp>
          <p:nvSpPr>
            <p:cNvPr id="18534" name="Textfeld 19"/>
            <p:cNvSpPr txBox="1">
              <a:spLocks noChangeArrowheads="1"/>
            </p:cNvSpPr>
            <p:nvPr/>
          </p:nvSpPr>
          <p:spPr bwMode="auto">
            <a:xfrm>
              <a:off x="3638947" y="4082154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H</a:t>
              </a:r>
            </a:p>
          </p:txBody>
        </p:sp>
        <p:sp>
          <p:nvSpPr>
            <p:cNvPr id="18535" name="Textfeld 20"/>
            <p:cNvSpPr txBox="1">
              <a:spLocks noChangeArrowheads="1"/>
            </p:cNvSpPr>
            <p:nvPr/>
          </p:nvSpPr>
          <p:spPr bwMode="auto">
            <a:xfrm>
              <a:off x="1259632" y="4044054"/>
              <a:ext cx="15841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 dirty="0" err="1">
                  <a:latin typeface="Calibri" pitchFamily="34" charset="0"/>
                </a:rPr>
                <a:t>Bankguth</a:t>
              </a:r>
              <a:r>
                <a:rPr lang="de-DE" dirty="0">
                  <a:latin typeface="Calibri" pitchFamily="34" charset="0"/>
                </a:rPr>
                <a:t>.</a:t>
              </a:r>
            </a:p>
          </p:txBody>
        </p:sp>
      </p:grpSp>
      <p:grpSp>
        <p:nvGrpSpPr>
          <p:cNvPr id="4" name="Gruppieren 109"/>
          <p:cNvGrpSpPr>
            <a:grpSpLocks/>
          </p:cNvGrpSpPr>
          <p:nvPr/>
        </p:nvGrpSpPr>
        <p:grpSpPr bwMode="auto">
          <a:xfrm>
            <a:off x="5219700" y="4121150"/>
            <a:ext cx="3673475" cy="830263"/>
            <a:chOff x="5218931" y="4125354"/>
            <a:chExt cx="3673549" cy="830188"/>
          </a:xfrm>
        </p:grpSpPr>
        <p:cxnSp>
          <p:nvCxnSpPr>
            <p:cNvPr id="23" name="Gerade Verbindung 22"/>
            <p:cNvCxnSpPr/>
            <p:nvPr/>
          </p:nvCxnSpPr>
          <p:spPr>
            <a:xfrm>
              <a:off x="5291957" y="4450763"/>
              <a:ext cx="3600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23"/>
            <p:cNvCxnSpPr/>
            <p:nvPr/>
          </p:nvCxnSpPr>
          <p:spPr>
            <a:xfrm>
              <a:off x="7092219" y="4450763"/>
              <a:ext cx="0" cy="5047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28" name="Textfeld 24"/>
            <p:cNvSpPr txBox="1">
              <a:spLocks noChangeArrowheads="1"/>
            </p:cNvSpPr>
            <p:nvPr/>
          </p:nvSpPr>
          <p:spPr bwMode="auto">
            <a:xfrm>
              <a:off x="5218931" y="4154162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S</a:t>
              </a:r>
            </a:p>
          </p:txBody>
        </p:sp>
        <p:sp>
          <p:nvSpPr>
            <p:cNvPr id="18529" name="Textfeld 25"/>
            <p:cNvSpPr txBox="1">
              <a:spLocks noChangeArrowheads="1"/>
            </p:cNvSpPr>
            <p:nvPr/>
          </p:nvSpPr>
          <p:spPr bwMode="auto">
            <a:xfrm>
              <a:off x="8666559" y="4163454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H</a:t>
              </a:r>
            </a:p>
          </p:txBody>
        </p:sp>
        <p:sp>
          <p:nvSpPr>
            <p:cNvPr id="18530" name="Textfeld 26"/>
            <p:cNvSpPr txBox="1">
              <a:spLocks noChangeArrowheads="1"/>
            </p:cNvSpPr>
            <p:nvPr/>
          </p:nvSpPr>
          <p:spPr bwMode="auto">
            <a:xfrm>
              <a:off x="6300192" y="4125354"/>
              <a:ext cx="15841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>
                  <a:latin typeface="Calibri" pitchFamily="34" charset="0"/>
                </a:rPr>
                <a:t>Darlehen</a:t>
              </a:r>
            </a:p>
          </p:txBody>
        </p:sp>
      </p:grpSp>
      <p:grpSp>
        <p:nvGrpSpPr>
          <p:cNvPr id="5" name="Gruppieren 108"/>
          <p:cNvGrpSpPr>
            <a:grpSpLocks/>
          </p:cNvGrpSpPr>
          <p:nvPr/>
        </p:nvGrpSpPr>
        <p:grpSpPr bwMode="auto">
          <a:xfrm>
            <a:off x="5219700" y="2790825"/>
            <a:ext cx="3673475" cy="830263"/>
            <a:chOff x="5218931" y="3117242"/>
            <a:chExt cx="3673549" cy="830188"/>
          </a:xfrm>
        </p:grpSpPr>
        <p:cxnSp>
          <p:nvCxnSpPr>
            <p:cNvPr id="29" name="Gerade Verbindung 28"/>
            <p:cNvCxnSpPr/>
            <p:nvPr/>
          </p:nvCxnSpPr>
          <p:spPr>
            <a:xfrm>
              <a:off x="5291957" y="3442651"/>
              <a:ext cx="3600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29"/>
            <p:cNvCxnSpPr/>
            <p:nvPr/>
          </p:nvCxnSpPr>
          <p:spPr>
            <a:xfrm>
              <a:off x="7092219" y="3442651"/>
              <a:ext cx="0" cy="5047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23" name="Textfeld 30"/>
            <p:cNvSpPr txBox="1">
              <a:spLocks noChangeArrowheads="1"/>
            </p:cNvSpPr>
            <p:nvPr/>
          </p:nvSpPr>
          <p:spPr bwMode="auto">
            <a:xfrm>
              <a:off x="5218931" y="3146050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 dirty="0">
                  <a:latin typeface="Calibri" pitchFamily="34" charset="0"/>
                </a:rPr>
                <a:t>S</a:t>
              </a:r>
            </a:p>
          </p:txBody>
        </p:sp>
        <p:sp>
          <p:nvSpPr>
            <p:cNvPr id="18524" name="Textfeld 31"/>
            <p:cNvSpPr txBox="1">
              <a:spLocks noChangeArrowheads="1"/>
            </p:cNvSpPr>
            <p:nvPr/>
          </p:nvSpPr>
          <p:spPr bwMode="auto">
            <a:xfrm>
              <a:off x="8666559" y="3155342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H</a:t>
              </a:r>
            </a:p>
          </p:txBody>
        </p:sp>
        <p:sp>
          <p:nvSpPr>
            <p:cNvPr id="18525" name="Textfeld 32"/>
            <p:cNvSpPr txBox="1">
              <a:spLocks noChangeArrowheads="1"/>
            </p:cNvSpPr>
            <p:nvPr/>
          </p:nvSpPr>
          <p:spPr bwMode="auto">
            <a:xfrm>
              <a:off x="6300192" y="3117242"/>
              <a:ext cx="15841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 dirty="0" err="1">
                  <a:latin typeface="Calibri" pitchFamily="34" charset="0"/>
                </a:rPr>
                <a:t>Verb.aLL</a:t>
              </a:r>
              <a:endParaRPr lang="de-DE" dirty="0">
                <a:latin typeface="Calibri" pitchFamily="34" charset="0"/>
              </a:endParaRPr>
            </a:p>
          </p:txBody>
        </p:sp>
      </p:grpSp>
      <p:grpSp>
        <p:nvGrpSpPr>
          <p:cNvPr id="6" name="Gruppieren 107"/>
          <p:cNvGrpSpPr>
            <a:grpSpLocks/>
          </p:cNvGrpSpPr>
          <p:nvPr/>
        </p:nvGrpSpPr>
        <p:grpSpPr bwMode="auto">
          <a:xfrm>
            <a:off x="5219700" y="1854200"/>
            <a:ext cx="3673475" cy="830263"/>
            <a:chOff x="5218931" y="2181138"/>
            <a:chExt cx="3673549" cy="830188"/>
          </a:xfrm>
        </p:grpSpPr>
        <p:cxnSp>
          <p:nvCxnSpPr>
            <p:cNvPr id="35" name="Gerade Verbindung 34"/>
            <p:cNvCxnSpPr/>
            <p:nvPr/>
          </p:nvCxnSpPr>
          <p:spPr>
            <a:xfrm>
              <a:off x="5291957" y="2506547"/>
              <a:ext cx="3600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35"/>
            <p:cNvCxnSpPr/>
            <p:nvPr/>
          </p:nvCxnSpPr>
          <p:spPr>
            <a:xfrm>
              <a:off x="7092219" y="2506547"/>
              <a:ext cx="0" cy="5047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18" name="Textfeld 36"/>
            <p:cNvSpPr txBox="1">
              <a:spLocks noChangeArrowheads="1"/>
            </p:cNvSpPr>
            <p:nvPr/>
          </p:nvSpPr>
          <p:spPr bwMode="auto">
            <a:xfrm>
              <a:off x="5218931" y="2209946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S</a:t>
              </a:r>
            </a:p>
          </p:txBody>
        </p:sp>
        <p:sp>
          <p:nvSpPr>
            <p:cNvPr id="18519" name="Textfeld 37"/>
            <p:cNvSpPr txBox="1">
              <a:spLocks noChangeArrowheads="1"/>
            </p:cNvSpPr>
            <p:nvPr/>
          </p:nvSpPr>
          <p:spPr bwMode="auto">
            <a:xfrm>
              <a:off x="8666559" y="2219238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H</a:t>
              </a:r>
            </a:p>
          </p:txBody>
        </p:sp>
        <p:sp>
          <p:nvSpPr>
            <p:cNvPr id="18520" name="Textfeld 38"/>
            <p:cNvSpPr txBox="1">
              <a:spLocks noChangeArrowheads="1"/>
            </p:cNvSpPr>
            <p:nvPr/>
          </p:nvSpPr>
          <p:spPr bwMode="auto">
            <a:xfrm>
              <a:off x="6300192" y="2181138"/>
              <a:ext cx="15841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>
                  <a:latin typeface="Calibri" pitchFamily="34" charset="0"/>
                </a:rPr>
                <a:t>EK</a:t>
              </a:r>
            </a:p>
          </p:txBody>
        </p:sp>
      </p:grpSp>
      <p:grpSp>
        <p:nvGrpSpPr>
          <p:cNvPr id="7" name="Gruppieren 105"/>
          <p:cNvGrpSpPr>
            <a:grpSpLocks/>
          </p:cNvGrpSpPr>
          <p:nvPr/>
        </p:nvGrpSpPr>
        <p:grpSpPr bwMode="auto">
          <a:xfrm>
            <a:off x="179512" y="2924944"/>
            <a:ext cx="3675062" cy="830263"/>
            <a:chOff x="179512" y="3107950"/>
            <a:chExt cx="3675459" cy="830188"/>
          </a:xfrm>
        </p:grpSpPr>
        <p:cxnSp>
          <p:nvCxnSpPr>
            <p:cNvPr id="41" name="Gerade Verbindung 40"/>
            <p:cNvCxnSpPr/>
            <p:nvPr/>
          </p:nvCxnSpPr>
          <p:spPr>
            <a:xfrm>
              <a:off x="250957" y="3433359"/>
              <a:ext cx="360083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41"/>
            <p:cNvCxnSpPr/>
            <p:nvPr/>
          </p:nvCxnSpPr>
          <p:spPr>
            <a:xfrm>
              <a:off x="2051376" y="3433359"/>
              <a:ext cx="0" cy="5047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13" name="Textfeld 42"/>
            <p:cNvSpPr txBox="1">
              <a:spLocks noChangeArrowheads="1"/>
            </p:cNvSpPr>
            <p:nvPr/>
          </p:nvSpPr>
          <p:spPr bwMode="auto">
            <a:xfrm>
              <a:off x="179512" y="3136758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S</a:t>
              </a:r>
            </a:p>
          </p:txBody>
        </p:sp>
        <p:sp>
          <p:nvSpPr>
            <p:cNvPr id="18514" name="Textfeld 43"/>
            <p:cNvSpPr txBox="1">
              <a:spLocks noChangeArrowheads="1"/>
            </p:cNvSpPr>
            <p:nvPr/>
          </p:nvSpPr>
          <p:spPr bwMode="auto">
            <a:xfrm>
              <a:off x="3638947" y="3146050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H</a:t>
              </a:r>
            </a:p>
          </p:txBody>
        </p:sp>
        <p:sp>
          <p:nvSpPr>
            <p:cNvPr id="18515" name="Textfeld 44"/>
            <p:cNvSpPr txBox="1">
              <a:spLocks noChangeArrowheads="1"/>
            </p:cNvSpPr>
            <p:nvPr/>
          </p:nvSpPr>
          <p:spPr bwMode="auto">
            <a:xfrm>
              <a:off x="1259632" y="3107950"/>
              <a:ext cx="15841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 dirty="0">
                  <a:latin typeface="Calibri" pitchFamily="34" charset="0"/>
                </a:rPr>
                <a:t>Kasse</a:t>
              </a:r>
            </a:p>
          </p:txBody>
        </p:sp>
      </p:grpSp>
      <p:grpSp>
        <p:nvGrpSpPr>
          <p:cNvPr id="8" name="Gruppieren 87"/>
          <p:cNvGrpSpPr>
            <a:grpSpLocks/>
          </p:cNvGrpSpPr>
          <p:nvPr/>
        </p:nvGrpSpPr>
        <p:grpSpPr bwMode="auto">
          <a:xfrm>
            <a:off x="2489200" y="338138"/>
            <a:ext cx="4603750" cy="1435100"/>
            <a:chOff x="2489101" y="337863"/>
            <a:chExt cx="4603179" cy="1434953"/>
          </a:xfrm>
        </p:grpSpPr>
        <p:cxnSp>
          <p:nvCxnSpPr>
            <p:cNvPr id="61" name="Gerade Verbindung 60"/>
            <p:cNvCxnSpPr/>
            <p:nvPr/>
          </p:nvCxnSpPr>
          <p:spPr>
            <a:xfrm>
              <a:off x="2489101" y="752158"/>
              <a:ext cx="426508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 Verbindung 61"/>
            <p:cNvCxnSpPr/>
            <p:nvPr/>
          </p:nvCxnSpPr>
          <p:spPr>
            <a:xfrm>
              <a:off x="4571643" y="752158"/>
              <a:ext cx="0" cy="102065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08" name="Textfeld 62"/>
            <p:cNvSpPr txBox="1">
              <a:spLocks noChangeArrowheads="1"/>
            </p:cNvSpPr>
            <p:nvPr/>
          </p:nvSpPr>
          <p:spPr bwMode="auto">
            <a:xfrm>
              <a:off x="2513799" y="428237"/>
              <a:ext cx="1194105" cy="53098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Aktiva</a:t>
              </a:r>
            </a:p>
          </p:txBody>
        </p:sp>
        <p:sp>
          <p:nvSpPr>
            <p:cNvPr id="18509" name="Textfeld 63"/>
            <p:cNvSpPr txBox="1">
              <a:spLocks noChangeArrowheads="1"/>
            </p:cNvSpPr>
            <p:nvPr/>
          </p:nvSpPr>
          <p:spPr bwMode="auto">
            <a:xfrm>
              <a:off x="6001217" y="441596"/>
              <a:ext cx="1091063" cy="3692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 dirty="0">
                  <a:latin typeface="Calibri" pitchFamily="34" charset="0"/>
                </a:rPr>
                <a:t>Passiva</a:t>
              </a:r>
            </a:p>
          </p:txBody>
        </p:sp>
        <p:sp>
          <p:nvSpPr>
            <p:cNvPr id="18510" name="Textfeld 64"/>
            <p:cNvSpPr txBox="1">
              <a:spLocks noChangeArrowheads="1"/>
            </p:cNvSpPr>
            <p:nvPr/>
          </p:nvSpPr>
          <p:spPr bwMode="auto">
            <a:xfrm>
              <a:off x="3480976" y="337863"/>
              <a:ext cx="2182126" cy="4616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 sz="2400" b="1">
                  <a:latin typeface="Calibri" pitchFamily="34" charset="0"/>
                </a:rPr>
                <a:t>Bilanz</a:t>
              </a:r>
            </a:p>
          </p:txBody>
        </p:sp>
      </p:grpSp>
      <p:sp>
        <p:nvSpPr>
          <p:cNvPr id="67" name="Textfeld 66"/>
          <p:cNvSpPr txBox="1">
            <a:spLocks noChangeArrowheads="1"/>
          </p:cNvSpPr>
          <p:nvPr/>
        </p:nvSpPr>
        <p:spPr bwMode="auto">
          <a:xfrm>
            <a:off x="2465388" y="747713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>
                <a:latin typeface="Calibri" pitchFamily="34" charset="0"/>
              </a:rPr>
              <a:t>Waren 	     8.000,00</a:t>
            </a:r>
          </a:p>
        </p:txBody>
      </p:sp>
      <p:sp>
        <p:nvSpPr>
          <p:cNvPr id="76" name="Textfeld 75"/>
          <p:cNvSpPr txBox="1">
            <a:spLocks noChangeArrowheads="1"/>
          </p:cNvSpPr>
          <p:nvPr/>
        </p:nvSpPr>
        <p:spPr bwMode="auto">
          <a:xfrm>
            <a:off x="2465388" y="97313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>
                <a:latin typeface="Calibri" pitchFamily="34" charset="0"/>
              </a:rPr>
              <a:t>Kasse 	     1.500,00</a:t>
            </a:r>
          </a:p>
        </p:txBody>
      </p:sp>
      <p:sp>
        <p:nvSpPr>
          <p:cNvPr id="77" name="Textfeld 76"/>
          <p:cNvSpPr txBox="1">
            <a:spLocks noChangeArrowheads="1"/>
          </p:cNvSpPr>
          <p:nvPr/>
        </p:nvSpPr>
        <p:spPr bwMode="auto">
          <a:xfrm>
            <a:off x="2465388" y="1217612"/>
            <a:ext cx="2190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de-DE" dirty="0" err="1">
                <a:latin typeface="Calibri" pitchFamily="34" charset="0"/>
              </a:rPr>
              <a:t>Bankguth</a:t>
            </a:r>
            <a:r>
              <a:rPr lang="de-DE" dirty="0">
                <a:latin typeface="Calibri" pitchFamily="34" charset="0"/>
              </a:rPr>
              <a:t>.    3.000,00</a:t>
            </a:r>
          </a:p>
        </p:txBody>
      </p:sp>
      <p:sp>
        <p:nvSpPr>
          <p:cNvPr id="78" name="Textfeld 77"/>
          <p:cNvSpPr txBox="1">
            <a:spLocks noChangeArrowheads="1"/>
          </p:cNvSpPr>
          <p:nvPr/>
        </p:nvSpPr>
        <p:spPr bwMode="auto">
          <a:xfrm>
            <a:off x="4541838" y="75723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EK 	   ?</a:t>
            </a:r>
          </a:p>
        </p:txBody>
      </p:sp>
      <p:sp>
        <p:nvSpPr>
          <p:cNvPr id="79" name="Textfeld 78"/>
          <p:cNvSpPr txBox="1">
            <a:spLocks noChangeArrowheads="1"/>
          </p:cNvSpPr>
          <p:nvPr/>
        </p:nvSpPr>
        <p:spPr bwMode="auto">
          <a:xfrm>
            <a:off x="4554538" y="97313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>
                <a:latin typeface="Calibri" pitchFamily="34" charset="0"/>
              </a:rPr>
              <a:t>Darlehen 	     2.000,00</a:t>
            </a:r>
          </a:p>
        </p:txBody>
      </p:sp>
      <p:sp>
        <p:nvSpPr>
          <p:cNvPr id="80" name="Textfeld 79"/>
          <p:cNvSpPr txBox="1">
            <a:spLocks noChangeArrowheads="1"/>
          </p:cNvSpPr>
          <p:nvPr/>
        </p:nvSpPr>
        <p:spPr bwMode="auto">
          <a:xfrm>
            <a:off x="4560888" y="1217613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 err="1">
                <a:latin typeface="Calibri" pitchFamily="34" charset="0"/>
              </a:rPr>
              <a:t>Verb.a.LL</a:t>
            </a:r>
            <a:r>
              <a:rPr lang="de-DE" dirty="0">
                <a:latin typeface="Calibri" pitchFamily="34" charset="0"/>
              </a:rPr>
              <a:t> 	     2.500,00</a:t>
            </a:r>
          </a:p>
        </p:txBody>
      </p:sp>
      <p:cxnSp>
        <p:nvCxnSpPr>
          <p:cNvPr id="82" name="Gerade Verbindung 81"/>
          <p:cNvCxnSpPr/>
          <p:nvPr/>
        </p:nvCxnSpPr>
        <p:spPr>
          <a:xfrm>
            <a:off x="2538413" y="1484313"/>
            <a:ext cx="41036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feld 82"/>
          <p:cNvSpPr txBox="1">
            <a:spLocks noChangeArrowheads="1"/>
          </p:cNvSpPr>
          <p:nvPr/>
        </p:nvSpPr>
        <p:spPr bwMode="auto">
          <a:xfrm>
            <a:off x="2513013" y="1430338"/>
            <a:ext cx="2190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>
                <a:latin typeface="Calibri" pitchFamily="34" charset="0"/>
              </a:rPr>
              <a:t>	  12.500,00</a:t>
            </a:r>
          </a:p>
        </p:txBody>
      </p:sp>
      <p:sp>
        <p:nvSpPr>
          <p:cNvPr id="84" name="Textfeld 83"/>
          <p:cNvSpPr txBox="1">
            <a:spLocks noChangeArrowheads="1"/>
          </p:cNvSpPr>
          <p:nvPr/>
        </p:nvSpPr>
        <p:spPr bwMode="auto">
          <a:xfrm>
            <a:off x="4603750" y="1430338"/>
            <a:ext cx="2190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>
                <a:latin typeface="Calibri" pitchFamily="34" charset="0"/>
              </a:rPr>
              <a:t>	  12.500,00</a:t>
            </a:r>
          </a:p>
        </p:txBody>
      </p:sp>
      <p:sp>
        <p:nvSpPr>
          <p:cNvPr id="85" name="Textfeld 84"/>
          <p:cNvSpPr txBox="1"/>
          <p:nvPr/>
        </p:nvSpPr>
        <p:spPr>
          <a:xfrm>
            <a:off x="5607050" y="785813"/>
            <a:ext cx="1220788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t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dirty="0">
                <a:latin typeface="+mn-lt"/>
                <a:cs typeface="+mn-cs"/>
              </a:rPr>
              <a:t>  8.000,00</a:t>
            </a:r>
          </a:p>
        </p:txBody>
      </p:sp>
      <p:sp>
        <p:nvSpPr>
          <p:cNvPr id="18451" name="Rechteck 85"/>
          <p:cNvSpPr>
            <a:spLocks noChangeArrowheads="1"/>
          </p:cNvSpPr>
          <p:nvPr/>
        </p:nvSpPr>
        <p:spPr bwMode="auto">
          <a:xfrm>
            <a:off x="107504" y="44450"/>
            <a:ext cx="903649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Bestände: Waren 8.000,00; Kasse 1.500,00; </a:t>
            </a:r>
            <a:r>
              <a:rPr lang="de-DE" sz="1600" dirty="0" err="1">
                <a:latin typeface="Calibri" pitchFamily="34" charset="0"/>
              </a:rPr>
              <a:t>Bankguth</a:t>
            </a:r>
            <a:r>
              <a:rPr lang="de-DE" sz="1600" dirty="0">
                <a:latin typeface="Calibri" pitchFamily="34" charset="0"/>
              </a:rPr>
              <a:t> 3.000,00; Darlehen 2.000,00; </a:t>
            </a:r>
            <a:r>
              <a:rPr lang="de-DE" sz="1600" dirty="0" err="1">
                <a:latin typeface="Calibri" pitchFamily="34" charset="0"/>
              </a:rPr>
              <a:t>Verb.LL</a:t>
            </a:r>
            <a:r>
              <a:rPr lang="de-DE" sz="1600" dirty="0">
                <a:latin typeface="Calibri" pitchFamily="34" charset="0"/>
              </a:rPr>
              <a:t> 2.500,00; EK ?</a:t>
            </a:r>
          </a:p>
        </p:txBody>
      </p:sp>
      <p:grpSp>
        <p:nvGrpSpPr>
          <p:cNvPr id="9" name="Gruppieren 88"/>
          <p:cNvGrpSpPr>
            <a:grpSpLocks/>
          </p:cNvGrpSpPr>
          <p:nvPr/>
        </p:nvGrpSpPr>
        <p:grpSpPr bwMode="auto">
          <a:xfrm>
            <a:off x="2508250" y="5326063"/>
            <a:ext cx="4603750" cy="1435100"/>
            <a:chOff x="2489101" y="337863"/>
            <a:chExt cx="4603179" cy="1434953"/>
          </a:xfrm>
        </p:grpSpPr>
        <p:cxnSp>
          <p:nvCxnSpPr>
            <p:cNvPr id="90" name="Gerade Verbindung 89"/>
            <p:cNvCxnSpPr/>
            <p:nvPr/>
          </p:nvCxnSpPr>
          <p:spPr>
            <a:xfrm>
              <a:off x="2489101" y="752158"/>
              <a:ext cx="426508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 Verbindung 90"/>
            <p:cNvCxnSpPr/>
            <p:nvPr/>
          </p:nvCxnSpPr>
          <p:spPr>
            <a:xfrm>
              <a:off x="4571643" y="752158"/>
              <a:ext cx="0" cy="102065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03" name="Textfeld 91"/>
            <p:cNvSpPr txBox="1">
              <a:spLocks noChangeArrowheads="1"/>
            </p:cNvSpPr>
            <p:nvPr/>
          </p:nvSpPr>
          <p:spPr bwMode="auto">
            <a:xfrm>
              <a:off x="2513799" y="428237"/>
              <a:ext cx="1194105" cy="3692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 dirty="0">
                  <a:latin typeface="Calibri" pitchFamily="34" charset="0"/>
                </a:rPr>
                <a:t>Soll</a:t>
              </a:r>
            </a:p>
          </p:txBody>
        </p:sp>
        <p:sp>
          <p:nvSpPr>
            <p:cNvPr id="18504" name="Textfeld 92"/>
            <p:cNvSpPr txBox="1">
              <a:spLocks noChangeArrowheads="1"/>
            </p:cNvSpPr>
            <p:nvPr/>
          </p:nvSpPr>
          <p:spPr bwMode="auto">
            <a:xfrm>
              <a:off x="6001217" y="441596"/>
              <a:ext cx="1091063" cy="3692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 dirty="0">
                  <a:latin typeface="Calibri" pitchFamily="34" charset="0"/>
                </a:rPr>
                <a:t>Haben</a:t>
              </a:r>
            </a:p>
          </p:txBody>
        </p:sp>
        <p:sp>
          <p:nvSpPr>
            <p:cNvPr id="18505" name="Textfeld 93"/>
            <p:cNvSpPr txBox="1">
              <a:spLocks noChangeArrowheads="1"/>
            </p:cNvSpPr>
            <p:nvPr/>
          </p:nvSpPr>
          <p:spPr bwMode="auto">
            <a:xfrm>
              <a:off x="3184798" y="337863"/>
              <a:ext cx="2880320" cy="4616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 sz="2400" b="1">
                  <a:latin typeface="Calibri" pitchFamily="34" charset="0"/>
                </a:rPr>
                <a:t>Schlussbilanz(konto)</a:t>
              </a:r>
            </a:p>
          </p:txBody>
        </p:sp>
      </p:grpSp>
      <p:sp>
        <p:nvSpPr>
          <p:cNvPr id="95" name="Textfeld 94"/>
          <p:cNvSpPr txBox="1">
            <a:spLocks noChangeArrowheads="1"/>
          </p:cNvSpPr>
          <p:nvPr/>
        </p:nvSpPr>
        <p:spPr bwMode="auto">
          <a:xfrm>
            <a:off x="2484438" y="573563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>
                <a:latin typeface="Calibri" pitchFamily="34" charset="0"/>
              </a:rPr>
              <a:t>Waren 	   10.500,00</a:t>
            </a:r>
          </a:p>
        </p:txBody>
      </p:sp>
      <p:sp>
        <p:nvSpPr>
          <p:cNvPr id="96" name="Textfeld 95"/>
          <p:cNvSpPr txBox="1">
            <a:spLocks noChangeArrowheads="1"/>
          </p:cNvSpPr>
          <p:nvPr/>
        </p:nvSpPr>
        <p:spPr bwMode="auto">
          <a:xfrm>
            <a:off x="2484438" y="5959475"/>
            <a:ext cx="2190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>
                <a:latin typeface="Calibri" pitchFamily="34" charset="0"/>
              </a:rPr>
              <a:t>Kasse 	        500,00</a:t>
            </a:r>
          </a:p>
        </p:txBody>
      </p:sp>
      <p:sp>
        <p:nvSpPr>
          <p:cNvPr id="97" name="Textfeld 96"/>
          <p:cNvSpPr txBox="1">
            <a:spLocks noChangeArrowheads="1"/>
          </p:cNvSpPr>
          <p:nvPr/>
        </p:nvSpPr>
        <p:spPr bwMode="auto">
          <a:xfrm>
            <a:off x="2484438" y="620553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>
                <a:latin typeface="Calibri" pitchFamily="34" charset="0"/>
              </a:rPr>
              <a:t>Bank 	     2.200,00</a:t>
            </a:r>
          </a:p>
        </p:txBody>
      </p:sp>
      <p:sp>
        <p:nvSpPr>
          <p:cNvPr id="98" name="Textfeld 97"/>
          <p:cNvSpPr txBox="1">
            <a:spLocks noChangeArrowheads="1"/>
          </p:cNvSpPr>
          <p:nvPr/>
        </p:nvSpPr>
        <p:spPr bwMode="auto">
          <a:xfrm>
            <a:off x="4560888" y="5743575"/>
            <a:ext cx="2190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EK 	   ?</a:t>
            </a:r>
          </a:p>
        </p:txBody>
      </p:sp>
      <p:sp>
        <p:nvSpPr>
          <p:cNvPr id="99" name="Textfeld 98"/>
          <p:cNvSpPr txBox="1">
            <a:spLocks noChangeArrowheads="1"/>
          </p:cNvSpPr>
          <p:nvPr/>
        </p:nvSpPr>
        <p:spPr bwMode="auto">
          <a:xfrm>
            <a:off x="4573588" y="5959475"/>
            <a:ext cx="2190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>
                <a:latin typeface="Calibri" pitchFamily="34" charset="0"/>
              </a:rPr>
              <a:t>Darlehen 	     3.500,00</a:t>
            </a:r>
          </a:p>
        </p:txBody>
      </p:sp>
      <p:sp>
        <p:nvSpPr>
          <p:cNvPr id="100" name="Textfeld 99"/>
          <p:cNvSpPr txBox="1">
            <a:spLocks noChangeArrowheads="1"/>
          </p:cNvSpPr>
          <p:nvPr/>
        </p:nvSpPr>
        <p:spPr bwMode="auto">
          <a:xfrm>
            <a:off x="4597400" y="620553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 err="1">
                <a:latin typeface="Calibri" pitchFamily="34" charset="0"/>
              </a:rPr>
              <a:t>Verb.a.LL</a:t>
            </a:r>
            <a:r>
              <a:rPr lang="de-DE" dirty="0">
                <a:latin typeface="Calibri" pitchFamily="34" charset="0"/>
              </a:rPr>
              <a:t> 	    1.700,00</a:t>
            </a:r>
          </a:p>
        </p:txBody>
      </p:sp>
      <p:cxnSp>
        <p:nvCxnSpPr>
          <p:cNvPr id="101" name="Gerade Verbindung 100"/>
          <p:cNvCxnSpPr/>
          <p:nvPr/>
        </p:nvCxnSpPr>
        <p:spPr>
          <a:xfrm>
            <a:off x="2646363" y="6543675"/>
            <a:ext cx="4105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feld 101"/>
          <p:cNvSpPr txBox="1">
            <a:spLocks noChangeArrowheads="1"/>
          </p:cNvSpPr>
          <p:nvPr/>
        </p:nvSpPr>
        <p:spPr bwMode="auto">
          <a:xfrm>
            <a:off x="2532063" y="651668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>
                <a:latin typeface="Calibri" pitchFamily="34" charset="0"/>
              </a:rPr>
              <a:t>	  13.200,00</a:t>
            </a:r>
          </a:p>
        </p:txBody>
      </p:sp>
      <p:sp>
        <p:nvSpPr>
          <p:cNvPr id="103" name="Textfeld 102"/>
          <p:cNvSpPr txBox="1">
            <a:spLocks noChangeArrowheads="1"/>
          </p:cNvSpPr>
          <p:nvPr/>
        </p:nvSpPr>
        <p:spPr bwMode="auto">
          <a:xfrm>
            <a:off x="4622800" y="6472238"/>
            <a:ext cx="2190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>
                <a:latin typeface="Calibri" pitchFamily="34" charset="0"/>
              </a:rPr>
              <a:t>	 13.200,00</a:t>
            </a:r>
          </a:p>
        </p:txBody>
      </p:sp>
      <p:sp>
        <p:nvSpPr>
          <p:cNvPr id="104" name="Textfeld 103"/>
          <p:cNvSpPr txBox="1"/>
          <p:nvPr/>
        </p:nvSpPr>
        <p:spPr>
          <a:xfrm>
            <a:off x="5626100" y="5773738"/>
            <a:ext cx="1220788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t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dirty="0">
                <a:latin typeface="+mn-lt"/>
                <a:cs typeface="+mn-cs"/>
              </a:rPr>
              <a:t>  8.000,00</a:t>
            </a:r>
          </a:p>
        </p:txBody>
      </p:sp>
      <p:sp>
        <p:nvSpPr>
          <p:cNvPr id="111" name="Textfeld 110"/>
          <p:cNvSpPr txBox="1">
            <a:spLocks noChangeArrowheads="1"/>
          </p:cNvSpPr>
          <p:nvPr/>
        </p:nvSpPr>
        <p:spPr bwMode="auto">
          <a:xfrm>
            <a:off x="149225" y="2127250"/>
            <a:ext cx="21907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AB 	  8.000,00</a:t>
            </a:r>
          </a:p>
        </p:txBody>
      </p:sp>
      <p:sp>
        <p:nvSpPr>
          <p:cNvPr id="117" name="Textfeld 116"/>
          <p:cNvSpPr txBox="1">
            <a:spLocks noChangeArrowheads="1"/>
          </p:cNvSpPr>
          <p:nvPr/>
        </p:nvSpPr>
        <p:spPr bwMode="auto">
          <a:xfrm>
            <a:off x="107504" y="3284984"/>
            <a:ext cx="2190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AB 	  1.500,00</a:t>
            </a:r>
          </a:p>
        </p:txBody>
      </p:sp>
      <p:sp>
        <p:nvSpPr>
          <p:cNvPr id="118" name="Textfeld 117"/>
          <p:cNvSpPr txBox="1">
            <a:spLocks noChangeArrowheads="1"/>
          </p:cNvSpPr>
          <p:nvPr/>
        </p:nvSpPr>
        <p:spPr bwMode="auto">
          <a:xfrm>
            <a:off x="150813" y="438308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AB 	 3.000,00</a:t>
            </a:r>
          </a:p>
        </p:txBody>
      </p:sp>
      <p:sp>
        <p:nvSpPr>
          <p:cNvPr id="120" name="Textfeld 119"/>
          <p:cNvSpPr txBox="1">
            <a:spLocks noChangeArrowheads="1"/>
          </p:cNvSpPr>
          <p:nvPr/>
        </p:nvSpPr>
        <p:spPr bwMode="auto">
          <a:xfrm>
            <a:off x="7059613" y="2127250"/>
            <a:ext cx="21907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AB 	  8.000,00</a:t>
            </a:r>
          </a:p>
        </p:txBody>
      </p:sp>
      <p:sp>
        <p:nvSpPr>
          <p:cNvPr id="121" name="Textfeld 120"/>
          <p:cNvSpPr txBox="1">
            <a:spLocks noChangeArrowheads="1"/>
          </p:cNvSpPr>
          <p:nvPr/>
        </p:nvSpPr>
        <p:spPr bwMode="auto">
          <a:xfrm>
            <a:off x="7056438" y="3101975"/>
            <a:ext cx="21907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AB 	  2.500,00</a:t>
            </a:r>
          </a:p>
        </p:txBody>
      </p:sp>
      <p:sp>
        <p:nvSpPr>
          <p:cNvPr id="122" name="Textfeld 121"/>
          <p:cNvSpPr txBox="1">
            <a:spLocks noChangeArrowheads="1"/>
          </p:cNvSpPr>
          <p:nvPr/>
        </p:nvSpPr>
        <p:spPr bwMode="auto">
          <a:xfrm>
            <a:off x="7061200" y="438308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AB 	  2.000,00</a:t>
            </a:r>
          </a:p>
        </p:txBody>
      </p:sp>
      <p:sp>
        <p:nvSpPr>
          <p:cNvPr id="123" name="Textfeld 122"/>
          <p:cNvSpPr txBox="1">
            <a:spLocks noChangeArrowheads="1"/>
          </p:cNvSpPr>
          <p:nvPr/>
        </p:nvSpPr>
        <p:spPr bwMode="auto">
          <a:xfrm>
            <a:off x="107504" y="2348880"/>
            <a:ext cx="21907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(1) 	   1.000,00</a:t>
            </a:r>
            <a:br>
              <a:rPr lang="de-DE" sz="1600" dirty="0">
                <a:latin typeface="Calibri" pitchFamily="34" charset="0"/>
              </a:rPr>
            </a:br>
            <a:endParaRPr lang="de-DE" sz="1600" dirty="0">
              <a:latin typeface="Calibri" pitchFamily="34" charset="0"/>
            </a:endParaRPr>
          </a:p>
        </p:txBody>
      </p:sp>
      <p:sp>
        <p:nvSpPr>
          <p:cNvPr id="124" name="Textfeld 123"/>
          <p:cNvSpPr txBox="1">
            <a:spLocks noChangeArrowheads="1"/>
          </p:cNvSpPr>
          <p:nvPr/>
        </p:nvSpPr>
        <p:spPr bwMode="auto">
          <a:xfrm>
            <a:off x="2051720" y="3284984"/>
            <a:ext cx="21923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(1) 	   1.000,00</a:t>
            </a:r>
          </a:p>
        </p:txBody>
      </p:sp>
      <p:sp>
        <p:nvSpPr>
          <p:cNvPr id="125" name="Textfeld 124"/>
          <p:cNvSpPr txBox="1">
            <a:spLocks noChangeArrowheads="1"/>
          </p:cNvSpPr>
          <p:nvPr/>
        </p:nvSpPr>
        <p:spPr bwMode="auto">
          <a:xfrm>
            <a:off x="5192713" y="3101975"/>
            <a:ext cx="21907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(2)                  1.500,00</a:t>
            </a:r>
          </a:p>
        </p:txBody>
      </p:sp>
      <p:sp>
        <p:nvSpPr>
          <p:cNvPr id="126" name="Textfeld 125"/>
          <p:cNvSpPr txBox="1">
            <a:spLocks noChangeArrowheads="1"/>
          </p:cNvSpPr>
          <p:nvPr/>
        </p:nvSpPr>
        <p:spPr bwMode="auto">
          <a:xfrm>
            <a:off x="7020272" y="4584700"/>
            <a:ext cx="228247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(2)                  1.500,00</a:t>
            </a:r>
          </a:p>
        </p:txBody>
      </p:sp>
      <p:cxnSp>
        <p:nvCxnSpPr>
          <p:cNvPr id="129" name="Gerade Verbindung 128"/>
          <p:cNvCxnSpPr/>
          <p:nvPr/>
        </p:nvCxnSpPr>
        <p:spPr>
          <a:xfrm>
            <a:off x="395536" y="2852936"/>
            <a:ext cx="3600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Gerade Verbindung 129"/>
          <p:cNvCxnSpPr/>
          <p:nvPr/>
        </p:nvCxnSpPr>
        <p:spPr>
          <a:xfrm>
            <a:off x="323850" y="3787775"/>
            <a:ext cx="3600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130"/>
          <p:cNvCxnSpPr/>
          <p:nvPr/>
        </p:nvCxnSpPr>
        <p:spPr>
          <a:xfrm>
            <a:off x="250825" y="4903788"/>
            <a:ext cx="3600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Gerade Verbindung 131"/>
          <p:cNvCxnSpPr/>
          <p:nvPr/>
        </p:nvCxnSpPr>
        <p:spPr>
          <a:xfrm>
            <a:off x="5257800" y="2492375"/>
            <a:ext cx="3600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 Verbindung 132"/>
          <p:cNvCxnSpPr/>
          <p:nvPr/>
        </p:nvCxnSpPr>
        <p:spPr>
          <a:xfrm>
            <a:off x="5292725" y="3811588"/>
            <a:ext cx="35988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Gerade Verbindung 133"/>
          <p:cNvCxnSpPr/>
          <p:nvPr/>
        </p:nvCxnSpPr>
        <p:spPr>
          <a:xfrm>
            <a:off x="5436096" y="4941168"/>
            <a:ext cx="35988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feld 134"/>
          <p:cNvSpPr txBox="1">
            <a:spLocks noChangeArrowheads="1"/>
          </p:cNvSpPr>
          <p:nvPr/>
        </p:nvSpPr>
        <p:spPr bwMode="auto">
          <a:xfrm>
            <a:off x="179512" y="278092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                  10.500,00</a:t>
            </a:r>
          </a:p>
        </p:txBody>
      </p:sp>
      <p:sp>
        <p:nvSpPr>
          <p:cNvPr id="136" name="Textfeld 135"/>
          <p:cNvSpPr txBox="1">
            <a:spLocks noChangeArrowheads="1"/>
          </p:cNvSpPr>
          <p:nvPr/>
        </p:nvSpPr>
        <p:spPr bwMode="auto">
          <a:xfrm>
            <a:off x="1979712" y="2780928"/>
            <a:ext cx="219233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                     10.500,00</a:t>
            </a:r>
          </a:p>
        </p:txBody>
      </p:sp>
      <p:sp>
        <p:nvSpPr>
          <p:cNvPr id="137" name="Textfeld 136"/>
          <p:cNvSpPr txBox="1">
            <a:spLocks noChangeArrowheads="1"/>
          </p:cNvSpPr>
          <p:nvPr/>
        </p:nvSpPr>
        <p:spPr bwMode="auto">
          <a:xfrm>
            <a:off x="2123728" y="2132856"/>
            <a:ext cx="219233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SB              10.500,00</a:t>
            </a:r>
          </a:p>
        </p:txBody>
      </p:sp>
      <p:sp>
        <p:nvSpPr>
          <p:cNvPr id="138" name="Textfeld 137"/>
          <p:cNvSpPr txBox="1">
            <a:spLocks noChangeArrowheads="1"/>
          </p:cNvSpPr>
          <p:nvPr/>
        </p:nvSpPr>
        <p:spPr bwMode="auto">
          <a:xfrm>
            <a:off x="312738" y="3775075"/>
            <a:ext cx="21907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                  1.500,00</a:t>
            </a:r>
          </a:p>
        </p:txBody>
      </p:sp>
      <p:sp>
        <p:nvSpPr>
          <p:cNvPr id="139" name="Textfeld 138"/>
          <p:cNvSpPr txBox="1">
            <a:spLocks noChangeArrowheads="1"/>
          </p:cNvSpPr>
          <p:nvPr/>
        </p:nvSpPr>
        <p:spPr bwMode="auto">
          <a:xfrm>
            <a:off x="2149475" y="3775075"/>
            <a:ext cx="21907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                    1.500,00</a:t>
            </a:r>
          </a:p>
        </p:txBody>
      </p:sp>
      <p:sp>
        <p:nvSpPr>
          <p:cNvPr id="140" name="Textfeld 139"/>
          <p:cNvSpPr txBox="1">
            <a:spLocks noChangeArrowheads="1"/>
          </p:cNvSpPr>
          <p:nvPr/>
        </p:nvSpPr>
        <p:spPr bwMode="auto">
          <a:xfrm>
            <a:off x="2123728" y="350100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SB                    500,00</a:t>
            </a:r>
          </a:p>
        </p:txBody>
      </p:sp>
      <p:sp>
        <p:nvSpPr>
          <p:cNvPr id="141" name="Textfeld 140"/>
          <p:cNvSpPr txBox="1">
            <a:spLocks noChangeArrowheads="1"/>
          </p:cNvSpPr>
          <p:nvPr/>
        </p:nvSpPr>
        <p:spPr bwMode="auto">
          <a:xfrm>
            <a:off x="111125" y="491648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                    3.000,00</a:t>
            </a:r>
          </a:p>
        </p:txBody>
      </p:sp>
      <p:sp>
        <p:nvSpPr>
          <p:cNvPr id="142" name="Textfeld 141"/>
          <p:cNvSpPr txBox="1">
            <a:spLocks noChangeArrowheads="1"/>
          </p:cNvSpPr>
          <p:nvPr/>
        </p:nvSpPr>
        <p:spPr bwMode="auto">
          <a:xfrm>
            <a:off x="1947863" y="491648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                         3.000,00</a:t>
            </a:r>
          </a:p>
        </p:txBody>
      </p:sp>
      <p:sp>
        <p:nvSpPr>
          <p:cNvPr id="143" name="Textfeld 142"/>
          <p:cNvSpPr txBox="1">
            <a:spLocks noChangeArrowheads="1"/>
          </p:cNvSpPr>
          <p:nvPr/>
        </p:nvSpPr>
        <p:spPr bwMode="auto">
          <a:xfrm>
            <a:off x="1963738" y="4365104"/>
            <a:ext cx="2190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(3)                      800,00</a:t>
            </a:r>
          </a:p>
        </p:txBody>
      </p:sp>
      <p:sp>
        <p:nvSpPr>
          <p:cNvPr id="144" name="Textfeld 143"/>
          <p:cNvSpPr txBox="1">
            <a:spLocks noChangeArrowheads="1"/>
          </p:cNvSpPr>
          <p:nvPr/>
        </p:nvSpPr>
        <p:spPr bwMode="auto">
          <a:xfrm>
            <a:off x="5141913" y="2471738"/>
            <a:ext cx="21923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                      8.000,00</a:t>
            </a:r>
          </a:p>
        </p:txBody>
      </p:sp>
      <p:sp>
        <p:nvSpPr>
          <p:cNvPr id="145" name="Textfeld 144"/>
          <p:cNvSpPr txBox="1">
            <a:spLocks noChangeArrowheads="1"/>
          </p:cNvSpPr>
          <p:nvPr/>
        </p:nvSpPr>
        <p:spPr bwMode="auto">
          <a:xfrm>
            <a:off x="6978650" y="247173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                       8.000,00</a:t>
            </a:r>
          </a:p>
        </p:txBody>
      </p:sp>
      <p:sp>
        <p:nvSpPr>
          <p:cNvPr id="146" name="Textfeld 145"/>
          <p:cNvSpPr txBox="1">
            <a:spLocks noChangeArrowheads="1"/>
          </p:cNvSpPr>
          <p:nvPr/>
        </p:nvSpPr>
        <p:spPr bwMode="auto">
          <a:xfrm>
            <a:off x="5130800" y="215423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SB                   8.000,00</a:t>
            </a:r>
          </a:p>
        </p:txBody>
      </p:sp>
      <p:sp>
        <p:nvSpPr>
          <p:cNvPr id="147" name="Textfeld 146"/>
          <p:cNvSpPr txBox="1">
            <a:spLocks noChangeArrowheads="1"/>
          </p:cNvSpPr>
          <p:nvPr/>
        </p:nvSpPr>
        <p:spPr bwMode="auto">
          <a:xfrm>
            <a:off x="5334000" y="3760788"/>
            <a:ext cx="21907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                   4.000,00</a:t>
            </a:r>
          </a:p>
        </p:txBody>
      </p:sp>
      <p:sp>
        <p:nvSpPr>
          <p:cNvPr id="148" name="Textfeld 147"/>
          <p:cNvSpPr txBox="1">
            <a:spLocks noChangeArrowheads="1"/>
          </p:cNvSpPr>
          <p:nvPr/>
        </p:nvSpPr>
        <p:spPr bwMode="auto">
          <a:xfrm>
            <a:off x="6996113" y="3760788"/>
            <a:ext cx="21907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                      4.000,00</a:t>
            </a:r>
          </a:p>
        </p:txBody>
      </p:sp>
      <p:sp>
        <p:nvSpPr>
          <p:cNvPr id="149" name="Textfeld 148"/>
          <p:cNvSpPr txBox="1">
            <a:spLocks noChangeArrowheads="1"/>
          </p:cNvSpPr>
          <p:nvPr/>
        </p:nvSpPr>
        <p:spPr bwMode="auto">
          <a:xfrm>
            <a:off x="5121275" y="3536950"/>
            <a:ext cx="21907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 SB                  1.700,00</a:t>
            </a:r>
          </a:p>
        </p:txBody>
      </p:sp>
      <p:sp>
        <p:nvSpPr>
          <p:cNvPr id="150" name="Textfeld 149"/>
          <p:cNvSpPr txBox="1">
            <a:spLocks noChangeArrowheads="1"/>
          </p:cNvSpPr>
          <p:nvPr/>
        </p:nvSpPr>
        <p:spPr bwMode="auto">
          <a:xfrm>
            <a:off x="5220072" y="4941168"/>
            <a:ext cx="21923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                      3.500,00</a:t>
            </a:r>
          </a:p>
        </p:txBody>
      </p:sp>
      <p:sp>
        <p:nvSpPr>
          <p:cNvPr id="151" name="Textfeld 150"/>
          <p:cNvSpPr txBox="1">
            <a:spLocks noChangeArrowheads="1"/>
          </p:cNvSpPr>
          <p:nvPr/>
        </p:nvSpPr>
        <p:spPr bwMode="auto">
          <a:xfrm>
            <a:off x="6953250" y="4941168"/>
            <a:ext cx="21907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                       3.500,00</a:t>
            </a:r>
          </a:p>
        </p:txBody>
      </p:sp>
      <p:sp>
        <p:nvSpPr>
          <p:cNvPr id="152" name="Textfeld 151"/>
          <p:cNvSpPr txBox="1">
            <a:spLocks noChangeArrowheads="1"/>
          </p:cNvSpPr>
          <p:nvPr/>
        </p:nvSpPr>
        <p:spPr bwMode="auto">
          <a:xfrm>
            <a:off x="5141913" y="447198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  SB                  3.500,00</a:t>
            </a:r>
          </a:p>
        </p:txBody>
      </p:sp>
      <p:sp>
        <p:nvSpPr>
          <p:cNvPr id="154" name="Textfeld 153"/>
          <p:cNvSpPr txBox="1">
            <a:spLocks noChangeArrowheads="1"/>
          </p:cNvSpPr>
          <p:nvPr/>
        </p:nvSpPr>
        <p:spPr bwMode="auto">
          <a:xfrm>
            <a:off x="5202238" y="3311525"/>
            <a:ext cx="21907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(3)	      800,00</a:t>
            </a:r>
          </a:p>
        </p:txBody>
      </p:sp>
      <p:sp>
        <p:nvSpPr>
          <p:cNvPr id="110" name="Textfeld 109"/>
          <p:cNvSpPr txBox="1">
            <a:spLocks noChangeArrowheads="1"/>
          </p:cNvSpPr>
          <p:nvPr/>
        </p:nvSpPr>
        <p:spPr bwMode="auto">
          <a:xfrm>
            <a:off x="2051720" y="4653136"/>
            <a:ext cx="226275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SB                   2.200,00</a:t>
            </a:r>
          </a:p>
        </p:txBody>
      </p:sp>
      <p:sp>
        <p:nvSpPr>
          <p:cNvPr id="112" name="Textfeld 111"/>
          <p:cNvSpPr txBox="1">
            <a:spLocks noChangeArrowheads="1"/>
          </p:cNvSpPr>
          <p:nvPr/>
        </p:nvSpPr>
        <p:spPr bwMode="auto">
          <a:xfrm>
            <a:off x="107504" y="2564904"/>
            <a:ext cx="21907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(4)                  1.500,00</a:t>
            </a:r>
            <a:br>
              <a:rPr lang="de-DE" sz="1600" dirty="0">
                <a:latin typeface="Calibri" pitchFamily="34" charset="0"/>
              </a:rPr>
            </a:br>
            <a:endParaRPr lang="de-DE" sz="1600" dirty="0">
              <a:latin typeface="Calibri" pitchFamily="34" charset="0"/>
            </a:endParaRPr>
          </a:p>
        </p:txBody>
      </p:sp>
      <p:sp>
        <p:nvSpPr>
          <p:cNvPr id="108" name="Textfeld 107"/>
          <p:cNvSpPr txBox="1">
            <a:spLocks noChangeArrowheads="1"/>
          </p:cNvSpPr>
          <p:nvPr/>
        </p:nvSpPr>
        <p:spPr bwMode="auto">
          <a:xfrm>
            <a:off x="6953250" y="3284984"/>
            <a:ext cx="21907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(4)                   1.500,00</a:t>
            </a:r>
            <a:br>
              <a:rPr lang="de-DE" sz="1600" dirty="0">
                <a:latin typeface="Calibri" pitchFamily="34" charset="0"/>
              </a:rPr>
            </a:br>
            <a:endParaRPr lang="de-DE" sz="16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6" grpId="0"/>
      <p:bldP spid="77" grpId="0"/>
      <p:bldP spid="78" grpId="0"/>
      <p:bldP spid="79" grpId="0"/>
      <p:bldP spid="80" grpId="0"/>
      <p:bldP spid="83" grpId="0"/>
      <p:bldP spid="84" grpId="0"/>
      <p:bldP spid="85" grpId="0" animBg="1"/>
      <p:bldP spid="95" grpId="0"/>
      <p:bldP spid="96" grpId="0"/>
      <p:bldP spid="97" grpId="0"/>
      <p:bldP spid="98" grpId="0"/>
      <p:bldP spid="99" grpId="0"/>
      <p:bldP spid="100" grpId="0"/>
      <p:bldP spid="102" grpId="0"/>
      <p:bldP spid="103" grpId="0"/>
      <p:bldP spid="104" grpId="0" animBg="1"/>
      <p:bldP spid="111" grpId="0"/>
      <p:bldP spid="117" grpId="0"/>
      <p:bldP spid="118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4" grpId="0"/>
      <p:bldP spid="110" grpId="0"/>
      <p:bldP spid="112" grpId="0"/>
      <p:bldP spid="10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hteck 1"/>
          <p:cNvSpPr>
            <a:spLocks noChangeArrowheads="1"/>
          </p:cNvSpPr>
          <p:nvPr/>
        </p:nvSpPr>
        <p:spPr bwMode="auto">
          <a:xfrm>
            <a:off x="323850" y="476250"/>
            <a:ext cx="8280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Buchungsanweisungen: (entsprechend dem Bsp: Wertänderungen in der Bilanz</a:t>
            </a:r>
            <a:br>
              <a:rPr lang="de-DE">
                <a:latin typeface="Calibri" pitchFamily="34" charset="0"/>
              </a:rPr>
            </a:br>
            <a:r>
              <a:rPr lang="de-DE">
                <a:latin typeface="Calibri" pitchFamily="34" charset="0"/>
              </a:rPr>
              <a:t>(vgl. Folien 9-10)</a:t>
            </a:r>
          </a:p>
        </p:txBody>
      </p:sp>
      <p:graphicFrame>
        <p:nvGraphicFramePr>
          <p:cNvPr id="3" name="Tabelle 2"/>
          <p:cNvGraphicFramePr>
            <a:graphicFrameLocks noGrp="1"/>
          </p:cNvGraphicFramePr>
          <p:nvPr/>
        </p:nvGraphicFramePr>
        <p:xfrm>
          <a:off x="250825" y="1125538"/>
          <a:ext cx="79208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Lfd. Nr.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Soll-</a:t>
                      </a:r>
                      <a:r>
                        <a:rPr lang="de-DE" dirty="0" err="1"/>
                        <a:t>Kto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Haben-</a:t>
                      </a:r>
                      <a:r>
                        <a:rPr lang="de-DE" dirty="0" err="1"/>
                        <a:t>Kto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Soll-Betrag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Haben-Betrag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Waren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aseline="0" dirty="0"/>
                        <a:t>           </a:t>
                      </a:r>
                      <a:r>
                        <a:rPr lang="de-DE" dirty="0"/>
                        <a:t>1.000,00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        1.000,00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Verbindlichkeiten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Darlehen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         1.500,00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        1.500,00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Verbindlichkeiten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Bankguthaben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            800,00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           800,00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Waren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Verbindlichkeiten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aseline="0" dirty="0"/>
                        <a:t>           1.5</a:t>
                      </a:r>
                      <a:r>
                        <a:rPr lang="de-DE" dirty="0"/>
                        <a:t>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        1.500,00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elle 3"/>
          <p:cNvGraphicFramePr>
            <a:graphicFrameLocks noGrp="1"/>
          </p:cNvGraphicFramePr>
          <p:nvPr/>
        </p:nvGraphicFramePr>
        <p:xfrm>
          <a:off x="1259632" y="3645024"/>
          <a:ext cx="6096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816">
                <a:tc gridSpan="2">
                  <a:txBody>
                    <a:bodyPr/>
                    <a:lstStyle/>
                    <a:p>
                      <a:r>
                        <a:rPr lang="de-DE" dirty="0"/>
                        <a:t>Aktiva                  Schlussbilanz</a:t>
                      </a:r>
                      <a:r>
                        <a:rPr lang="de-DE" baseline="0" dirty="0"/>
                        <a:t> zum 01.12.                        </a:t>
                      </a:r>
                      <a:r>
                        <a:rPr lang="de-DE" dirty="0"/>
                        <a:t>Passiva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Waren                         10.500,00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Eigenkapital                 8.000,00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Kasse                                500,00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Darlehen</a:t>
                      </a:r>
                      <a:r>
                        <a:rPr lang="de-DE" baseline="0" dirty="0"/>
                        <a:t>                      3.500,00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Bankguthaben             2.200,00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Verbindlichkeiten        1.700,00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                                     13.200,00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                                   13.200,00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de-DE" sz="3200"/>
              <a:t>Reihenfolge der Buchungsarbeiten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908050"/>
            <a:ext cx="8578850" cy="54737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de-DE" sz="2400" dirty="0"/>
              <a:t>Eröffnungsbilanz  des neuen Jahres entspricht der Schlussbilanz des Vorjahres</a:t>
            </a:r>
          </a:p>
          <a:p>
            <a:pPr>
              <a:buFont typeface="Wingdings" pitchFamily="2" charset="2"/>
              <a:buChar char="Ø"/>
            </a:pPr>
            <a:r>
              <a:rPr lang="de-DE" sz="2400" dirty="0"/>
              <a:t>Anfangsbestände auf aktive </a:t>
            </a:r>
            <a:r>
              <a:rPr lang="de-DE" sz="2400"/>
              <a:t>und passive Bestandskonten </a:t>
            </a:r>
            <a:r>
              <a:rPr lang="de-DE" sz="2400" dirty="0"/>
              <a:t>vortragen</a:t>
            </a:r>
          </a:p>
          <a:p>
            <a:pPr>
              <a:buFont typeface="Wingdings" pitchFamily="2" charset="2"/>
              <a:buChar char="Ø"/>
            </a:pPr>
            <a:r>
              <a:rPr lang="de-DE" sz="2400" dirty="0"/>
              <a:t>Geschäftsfälle im lfd. Jahr in zeitlicher Reihenfolge in Form von Buchungssätzen dokumentieren</a:t>
            </a:r>
          </a:p>
          <a:p>
            <a:pPr>
              <a:buFont typeface="Wingdings" pitchFamily="2" charset="2"/>
              <a:buChar char="Ø"/>
            </a:pPr>
            <a:r>
              <a:rPr lang="de-DE" sz="2400" dirty="0"/>
              <a:t>Geschäftsfälle entsprechend der Buchungssätze in den Konten des Hauptbuches buchen</a:t>
            </a:r>
          </a:p>
          <a:p>
            <a:pPr>
              <a:buFont typeface="Wingdings" pitchFamily="2" charset="2"/>
              <a:buChar char="Ø"/>
            </a:pPr>
            <a:r>
              <a:rPr lang="de-DE" sz="2400" dirty="0"/>
              <a:t>Schlussbestände in allen Bestandskonten ermitteln in das Schlussbilanzkonto übernehmen; alle Bestandskonten abschließen</a:t>
            </a:r>
          </a:p>
          <a:p>
            <a:pPr>
              <a:buFont typeface="Wingdings" pitchFamily="2" charset="2"/>
              <a:buChar char="Ø"/>
            </a:pPr>
            <a:r>
              <a:rPr lang="de-DE" sz="2400" dirty="0"/>
              <a:t>Schlussbilanz erstellen</a:t>
            </a:r>
            <a:br>
              <a:rPr lang="de-DE" sz="2400" dirty="0"/>
            </a:br>
            <a:r>
              <a:rPr lang="de-DE" sz="2400" b="1" dirty="0">
                <a:solidFill>
                  <a:srgbClr val="FF0000"/>
                </a:solidFill>
              </a:rPr>
              <a:t>Annahme: Die Schlussbestände auf den Konten</a:t>
            </a:r>
            <a:br>
              <a:rPr lang="de-DE" sz="2400" b="1" dirty="0">
                <a:solidFill>
                  <a:srgbClr val="FF0000"/>
                </a:solidFill>
              </a:rPr>
            </a:br>
            <a:r>
              <a:rPr lang="de-DE" sz="2400" b="1" dirty="0">
                <a:solidFill>
                  <a:srgbClr val="FF0000"/>
                </a:solidFill>
              </a:rPr>
              <a:t>                    entsprechen den Beständen aus der Inventur!</a:t>
            </a:r>
          </a:p>
          <a:p>
            <a:pPr>
              <a:buFont typeface="Wingdings" pitchFamily="2" charset="2"/>
              <a:buChar char="Ø"/>
            </a:pPr>
            <a:endParaRPr lang="de-DE" sz="2800" dirty="0"/>
          </a:p>
          <a:p>
            <a:pPr>
              <a:buFont typeface="Wingdings" pitchFamily="2" charset="2"/>
              <a:buChar char="Ø"/>
            </a:pP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250825" y="274638"/>
            <a:ext cx="8713788" cy="1209675"/>
          </a:xfrm>
          <a:ln w="12700"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de-DE" sz="3200" dirty="0"/>
              <a:t>Erstellen Sie für die folgenden Geschäftsfälle die Buchungssätze (Soll an Haben)</a:t>
            </a:r>
            <a:br>
              <a:rPr lang="de-DE" sz="3200" dirty="0"/>
            </a:br>
            <a:r>
              <a:rPr lang="de-DE" sz="1800" dirty="0"/>
              <a:t>(vgl. Arbeitsblatt zur Folie 20)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0825" y="1600200"/>
            <a:ext cx="8713788" cy="2044700"/>
          </a:xfrm>
        </p:spPr>
        <p:txBody>
          <a:bodyPr rtlCol="0">
            <a:normAutofit fontScale="77500" lnSpcReduction="20000"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2900" dirty="0"/>
              <a:t>Kauf einer Büroeinrichtung zum Preis von 3.000,00 € gegen Barzahlung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2900" dirty="0"/>
              <a:t>Eine </a:t>
            </a:r>
            <a:r>
              <a:rPr lang="de-DE" sz="2900" dirty="0" err="1"/>
              <a:t>Liefererverbindlichkeit</a:t>
            </a:r>
            <a:r>
              <a:rPr lang="de-DE" sz="2900" dirty="0"/>
              <a:t>  in Höhe von 5.000,00 €  wird durch Aufnahme eines langfristigen Darlehens ausgeglichen.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2900" dirty="0"/>
              <a:t>Eine Verbindlichkeit in  Höhe von 1.000,00 € wird bar bezahlt.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de-DE" sz="2900" dirty="0"/>
              <a:t>Es wird ein Darlehen in Höhe von 4.000,00 € aufgenommen; der Betrag wird auf dem Bankkonto gutgeschrieben.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endParaRPr lang="de-DE" dirty="0"/>
          </a:p>
        </p:txBody>
      </p:sp>
      <p:graphicFrame>
        <p:nvGraphicFramePr>
          <p:cNvPr id="4" name="Tabelle 3"/>
          <p:cNvGraphicFramePr>
            <a:graphicFrameLocks noGrp="1"/>
          </p:cNvGraphicFramePr>
          <p:nvPr/>
        </p:nvGraphicFramePr>
        <p:xfrm>
          <a:off x="468313" y="3500438"/>
          <a:ext cx="8208912" cy="3159326"/>
        </p:xfrm>
        <a:graphic>
          <a:graphicData uri="http://schemas.openxmlformats.org/drawingml/2006/table">
            <a:tbl>
              <a:tblPr/>
              <a:tblGrid>
                <a:gridCol w="680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8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4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20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6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</a:t>
                      </a:r>
                      <a:br>
                        <a:rPr lang="de-DE" sz="16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6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..........................Monat: ...........Jahr:.........</a:t>
                      </a:r>
                      <a:endParaRPr lang="de-DE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15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>
                          <a:latin typeface="Times New Roman"/>
                          <a:ea typeface="Times New Roman"/>
                          <a:cs typeface="Times New Roman"/>
                        </a:rPr>
                        <a:t>Lfd Nr.</a:t>
                      </a:r>
                      <a:endParaRPr lang="de-DE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578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>
                          <a:latin typeface="Times New Roman"/>
                          <a:ea typeface="Times New Roman"/>
                          <a:cs typeface="Times New Roman"/>
                        </a:rPr>
                        <a:t>Haben-Kto</a:t>
                      </a:r>
                      <a:endParaRPr lang="de-DE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578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BGA	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 3.000,00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3.000,00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578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Darlehen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baseline="0" dirty="0">
                          <a:latin typeface="Times New Roman"/>
                          <a:ea typeface="Times New Roman"/>
                          <a:cs typeface="Times New Roman"/>
                        </a:rPr>
                        <a:t> 5.000,00</a:t>
                      </a:r>
                      <a:endParaRPr lang="de-DE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5.000,00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578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3.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 1.000,00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1.000,00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578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4.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Darlehen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 4.000,00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dirty="0">
                          <a:latin typeface="Times New Roman"/>
                          <a:ea typeface="Times New Roman"/>
                          <a:cs typeface="Times New Roman"/>
                        </a:rPr>
                        <a:t>4.000,00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578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nimBg="1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uppieren 104"/>
          <p:cNvGrpSpPr>
            <a:grpSpLocks/>
          </p:cNvGrpSpPr>
          <p:nvPr/>
        </p:nvGrpSpPr>
        <p:grpSpPr bwMode="auto">
          <a:xfrm>
            <a:off x="179388" y="1844675"/>
            <a:ext cx="3675062" cy="830263"/>
            <a:chOff x="179512" y="2171846"/>
            <a:chExt cx="3675459" cy="830188"/>
          </a:xfrm>
        </p:grpSpPr>
        <p:cxnSp>
          <p:nvCxnSpPr>
            <p:cNvPr id="11" name="Gerade Verbindung 10"/>
            <p:cNvCxnSpPr/>
            <p:nvPr/>
          </p:nvCxnSpPr>
          <p:spPr>
            <a:xfrm>
              <a:off x="252545" y="2497255"/>
              <a:ext cx="3599251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11"/>
            <p:cNvCxnSpPr/>
            <p:nvPr/>
          </p:nvCxnSpPr>
          <p:spPr>
            <a:xfrm>
              <a:off x="2051376" y="2497255"/>
              <a:ext cx="0" cy="5047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38" name="Textfeld 12"/>
            <p:cNvSpPr txBox="1">
              <a:spLocks noChangeArrowheads="1"/>
            </p:cNvSpPr>
            <p:nvPr/>
          </p:nvSpPr>
          <p:spPr bwMode="auto">
            <a:xfrm>
              <a:off x="179512" y="2200654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S</a:t>
              </a:r>
            </a:p>
          </p:txBody>
        </p:sp>
        <p:sp>
          <p:nvSpPr>
            <p:cNvPr id="18539" name="Textfeld 13"/>
            <p:cNvSpPr txBox="1">
              <a:spLocks noChangeArrowheads="1"/>
            </p:cNvSpPr>
            <p:nvPr/>
          </p:nvSpPr>
          <p:spPr bwMode="auto">
            <a:xfrm>
              <a:off x="3638947" y="2209946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H</a:t>
              </a:r>
            </a:p>
          </p:txBody>
        </p:sp>
        <p:sp>
          <p:nvSpPr>
            <p:cNvPr id="18540" name="Textfeld 14"/>
            <p:cNvSpPr txBox="1">
              <a:spLocks noChangeArrowheads="1"/>
            </p:cNvSpPr>
            <p:nvPr/>
          </p:nvSpPr>
          <p:spPr bwMode="auto">
            <a:xfrm>
              <a:off x="1259632" y="2171846"/>
              <a:ext cx="15841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 dirty="0">
                  <a:latin typeface="Calibri" pitchFamily="34" charset="0"/>
                </a:rPr>
                <a:t>BGA</a:t>
              </a:r>
            </a:p>
          </p:txBody>
        </p:sp>
      </p:grpSp>
      <p:grpSp>
        <p:nvGrpSpPr>
          <p:cNvPr id="18435" name="Gruppieren 106"/>
          <p:cNvGrpSpPr>
            <a:grpSpLocks/>
          </p:cNvGrpSpPr>
          <p:nvPr/>
        </p:nvGrpSpPr>
        <p:grpSpPr bwMode="auto">
          <a:xfrm>
            <a:off x="179388" y="4040188"/>
            <a:ext cx="3675062" cy="830262"/>
            <a:chOff x="179512" y="4044054"/>
            <a:chExt cx="3675459" cy="830188"/>
          </a:xfrm>
        </p:grpSpPr>
        <p:cxnSp>
          <p:nvCxnSpPr>
            <p:cNvPr id="17" name="Gerade Verbindung 16"/>
            <p:cNvCxnSpPr/>
            <p:nvPr/>
          </p:nvCxnSpPr>
          <p:spPr>
            <a:xfrm>
              <a:off x="250957" y="4369462"/>
              <a:ext cx="360083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7"/>
            <p:cNvCxnSpPr/>
            <p:nvPr/>
          </p:nvCxnSpPr>
          <p:spPr>
            <a:xfrm>
              <a:off x="2051376" y="4369462"/>
              <a:ext cx="0" cy="50478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33" name="Textfeld 18"/>
            <p:cNvSpPr txBox="1">
              <a:spLocks noChangeArrowheads="1"/>
            </p:cNvSpPr>
            <p:nvPr/>
          </p:nvSpPr>
          <p:spPr bwMode="auto">
            <a:xfrm>
              <a:off x="179512" y="4072862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S</a:t>
              </a:r>
            </a:p>
          </p:txBody>
        </p:sp>
        <p:sp>
          <p:nvSpPr>
            <p:cNvPr id="18534" name="Textfeld 19"/>
            <p:cNvSpPr txBox="1">
              <a:spLocks noChangeArrowheads="1"/>
            </p:cNvSpPr>
            <p:nvPr/>
          </p:nvSpPr>
          <p:spPr bwMode="auto">
            <a:xfrm>
              <a:off x="3638947" y="4082154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H</a:t>
              </a:r>
            </a:p>
          </p:txBody>
        </p:sp>
        <p:sp>
          <p:nvSpPr>
            <p:cNvPr id="18535" name="Textfeld 20"/>
            <p:cNvSpPr txBox="1">
              <a:spLocks noChangeArrowheads="1"/>
            </p:cNvSpPr>
            <p:nvPr/>
          </p:nvSpPr>
          <p:spPr bwMode="auto">
            <a:xfrm>
              <a:off x="1259632" y="4044054"/>
              <a:ext cx="15841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>
                  <a:latin typeface="Calibri" pitchFamily="34" charset="0"/>
                </a:rPr>
                <a:t>Bank</a:t>
              </a:r>
            </a:p>
          </p:txBody>
        </p:sp>
      </p:grpSp>
      <p:grpSp>
        <p:nvGrpSpPr>
          <p:cNvPr id="18436" name="Gruppieren 109"/>
          <p:cNvGrpSpPr>
            <a:grpSpLocks/>
          </p:cNvGrpSpPr>
          <p:nvPr/>
        </p:nvGrpSpPr>
        <p:grpSpPr bwMode="auto">
          <a:xfrm>
            <a:off x="5219700" y="4121150"/>
            <a:ext cx="3673475" cy="830263"/>
            <a:chOff x="5218931" y="4125354"/>
            <a:chExt cx="3673549" cy="830188"/>
          </a:xfrm>
        </p:grpSpPr>
        <p:cxnSp>
          <p:nvCxnSpPr>
            <p:cNvPr id="23" name="Gerade Verbindung 22"/>
            <p:cNvCxnSpPr/>
            <p:nvPr/>
          </p:nvCxnSpPr>
          <p:spPr>
            <a:xfrm>
              <a:off x="5291957" y="4450763"/>
              <a:ext cx="3600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23"/>
            <p:cNvCxnSpPr/>
            <p:nvPr/>
          </p:nvCxnSpPr>
          <p:spPr>
            <a:xfrm>
              <a:off x="7092219" y="4450763"/>
              <a:ext cx="0" cy="5047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28" name="Textfeld 24"/>
            <p:cNvSpPr txBox="1">
              <a:spLocks noChangeArrowheads="1"/>
            </p:cNvSpPr>
            <p:nvPr/>
          </p:nvSpPr>
          <p:spPr bwMode="auto">
            <a:xfrm>
              <a:off x="5218931" y="4154162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S</a:t>
              </a:r>
            </a:p>
          </p:txBody>
        </p:sp>
        <p:sp>
          <p:nvSpPr>
            <p:cNvPr id="18529" name="Textfeld 25"/>
            <p:cNvSpPr txBox="1">
              <a:spLocks noChangeArrowheads="1"/>
            </p:cNvSpPr>
            <p:nvPr/>
          </p:nvSpPr>
          <p:spPr bwMode="auto">
            <a:xfrm>
              <a:off x="8666559" y="4163454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H</a:t>
              </a:r>
            </a:p>
          </p:txBody>
        </p:sp>
        <p:sp>
          <p:nvSpPr>
            <p:cNvPr id="18530" name="Textfeld 26"/>
            <p:cNvSpPr txBox="1">
              <a:spLocks noChangeArrowheads="1"/>
            </p:cNvSpPr>
            <p:nvPr/>
          </p:nvSpPr>
          <p:spPr bwMode="auto">
            <a:xfrm>
              <a:off x="6300192" y="4125354"/>
              <a:ext cx="15841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>
                  <a:latin typeface="Calibri" pitchFamily="34" charset="0"/>
                </a:rPr>
                <a:t>Darlehen</a:t>
              </a:r>
            </a:p>
          </p:txBody>
        </p:sp>
      </p:grpSp>
      <p:grpSp>
        <p:nvGrpSpPr>
          <p:cNvPr id="18437" name="Gruppieren 108"/>
          <p:cNvGrpSpPr>
            <a:grpSpLocks/>
          </p:cNvGrpSpPr>
          <p:nvPr/>
        </p:nvGrpSpPr>
        <p:grpSpPr bwMode="auto">
          <a:xfrm>
            <a:off x="5219700" y="2790825"/>
            <a:ext cx="3673475" cy="830263"/>
            <a:chOff x="5218931" y="3117242"/>
            <a:chExt cx="3673549" cy="830188"/>
          </a:xfrm>
        </p:grpSpPr>
        <p:cxnSp>
          <p:nvCxnSpPr>
            <p:cNvPr id="29" name="Gerade Verbindung 28"/>
            <p:cNvCxnSpPr/>
            <p:nvPr/>
          </p:nvCxnSpPr>
          <p:spPr>
            <a:xfrm>
              <a:off x="5291957" y="3442651"/>
              <a:ext cx="3600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29"/>
            <p:cNvCxnSpPr/>
            <p:nvPr/>
          </p:nvCxnSpPr>
          <p:spPr>
            <a:xfrm>
              <a:off x="7092219" y="3442651"/>
              <a:ext cx="0" cy="5047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23" name="Textfeld 30"/>
            <p:cNvSpPr txBox="1">
              <a:spLocks noChangeArrowheads="1"/>
            </p:cNvSpPr>
            <p:nvPr/>
          </p:nvSpPr>
          <p:spPr bwMode="auto">
            <a:xfrm>
              <a:off x="5218931" y="3146050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S</a:t>
              </a:r>
            </a:p>
          </p:txBody>
        </p:sp>
        <p:sp>
          <p:nvSpPr>
            <p:cNvPr id="18524" name="Textfeld 31"/>
            <p:cNvSpPr txBox="1">
              <a:spLocks noChangeArrowheads="1"/>
            </p:cNvSpPr>
            <p:nvPr/>
          </p:nvSpPr>
          <p:spPr bwMode="auto">
            <a:xfrm>
              <a:off x="8666559" y="3155342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H</a:t>
              </a:r>
            </a:p>
          </p:txBody>
        </p:sp>
        <p:sp>
          <p:nvSpPr>
            <p:cNvPr id="18525" name="Textfeld 32"/>
            <p:cNvSpPr txBox="1">
              <a:spLocks noChangeArrowheads="1"/>
            </p:cNvSpPr>
            <p:nvPr/>
          </p:nvSpPr>
          <p:spPr bwMode="auto">
            <a:xfrm>
              <a:off x="6300192" y="3117242"/>
              <a:ext cx="15841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>
                  <a:latin typeface="Calibri" pitchFamily="34" charset="0"/>
                </a:rPr>
                <a:t>Verb.aLL</a:t>
              </a:r>
            </a:p>
          </p:txBody>
        </p:sp>
      </p:grpSp>
      <p:grpSp>
        <p:nvGrpSpPr>
          <p:cNvPr id="18438" name="Gruppieren 107"/>
          <p:cNvGrpSpPr>
            <a:grpSpLocks/>
          </p:cNvGrpSpPr>
          <p:nvPr/>
        </p:nvGrpSpPr>
        <p:grpSpPr bwMode="auto">
          <a:xfrm>
            <a:off x="5219700" y="1854200"/>
            <a:ext cx="3673475" cy="830263"/>
            <a:chOff x="5218931" y="2181138"/>
            <a:chExt cx="3673549" cy="830188"/>
          </a:xfrm>
        </p:grpSpPr>
        <p:cxnSp>
          <p:nvCxnSpPr>
            <p:cNvPr id="35" name="Gerade Verbindung 34"/>
            <p:cNvCxnSpPr/>
            <p:nvPr/>
          </p:nvCxnSpPr>
          <p:spPr>
            <a:xfrm>
              <a:off x="5291957" y="2506547"/>
              <a:ext cx="36005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35"/>
            <p:cNvCxnSpPr/>
            <p:nvPr/>
          </p:nvCxnSpPr>
          <p:spPr>
            <a:xfrm>
              <a:off x="7092219" y="2506547"/>
              <a:ext cx="0" cy="5047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18" name="Textfeld 36"/>
            <p:cNvSpPr txBox="1">
              <a:spLocks noChangeArrowheads="1"/>
            </p:cNvSpPr>
            <p:nvPr/>
          </p:nvSpPr>
          <p:spPr bwMode="auto">
            <a:xfrm>
              <a:off x="5218931" y="2209946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S</a:t>
              </a:r>
            </a:p>
          </p:txBody>
        </p:sp>
        <p:sp>
          <p:nvSpPr>
            <p:cNvPr id="18519" name="Textfeld 37"/>
            <p:cNvSpPr txBox="1">
              <a:spLocks noChangeArrowheads="1"/>
            </p:cNvSpPr>
            <p:nvPr/>
          </p:nvSpPr>
          <p:spPr bwMode="auto">
            <a:xfrm>
              <a:off x="8666559" y="2219238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H</a:t>
              </a:r>
            </a:p>
          </p:txBody>
        </p:sp>
        <p:sp>
          <p:nvSpPr>
            <p:cNvPr id="18520" name="Textfeld 38"/>
            <p:cNvSpPr txBox="1">
              <a:spLocks noChangeArrowheads="1"/>
            </p:cNvSpPr>
            <p:nvPr/>
          </p:nvSpPr>
          <p:spPr bwMode="auto">
            <a:xfrm>
              <a:off x="6300192" y="2181138"/>
              <a:ext cx="15841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>
                  <a:latin typeface="Calibri" pitchFamily="34" charset="0"/>
                </a:rPr>
                <a:t>EK</a:t>
              </a:r>
            </a:p>
          </p:txBody>
        </p:sp>
      </p:grpSp>
      <p:grpSp>
        <p:nvGrpSpPr>
          <p:cNvPr id="18439" name="Gruppieren 105"/>
          <p:cNvGrpSpPr>
            <a:grpSpLocks/>
          </p:cNvGrpSpPr>
          <p:nvPr/>
        </p:nvGrpSpPr>
        <p:grpSpPr bwMode="auto">
          <a:xfrm>
            <a:off x="179388" y="2781300"/>
            <a:ext cx="3675062" cy="830263"/>
            <a:chOff x="179512" y="3107950"/>
            <a:chExt cx="3675459" cy="830188"/>
          </a:xfrm>
        </p:grpSpPr>
        <p:cxnSp>
          <p:nvCxnSpPr>
            <p:cNvPr id="41" name="Gerade Verbindung 40"/>
            <p:cNvCxnSpPr/>
            <p:nvPr/>
          </p:nvCxnSpPr>
          <p:spPr>
            <a:xfrm>
              <a:off x="250957" y="3433359"/>
              <a:ext cx="360083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41"/>
            <p:cNvCxnSpPr/>
            <p:nvPr/>
          </p:nvCxnSpPr>
          <p:spPr>
            <a:xfrm>
              <a:off x="2051376" y="3433359"/>
              <a:ext cx="0" cy="5047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13" name="Textfeld 42"/>
            <p:cNvSpPr txBox="1">
              <a:spLocks noChangeArrowheads="1"/>
            </p:cNvSpPr>
            <p:nvPr/>
          </p:nvSpPr>
          <p:spPr bwMode="auto">
            <a:xfrm>
              <a:off x="179512" y="3136758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S</a:t>
              </a:r>
            </a:p>
          </p:txBody>
        </p:sp>
        <p:sp>
          <p:nvSpPr>
            <p:cNvPr id="18514" name="Textfeld 43"/>
            <p:cNvSpPr txBox="1">
              <a:spLocks noChangeArrowheads="1"/>
            </p:cNvSpPr>
            <p:nvPr/>
          </p:nvSpPr>
          <p:spPr bwMode="auto">
            <a:xfrm>
              <a:off x="3638947" y="3146050"/>
              <a:ext cx="2160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H</a:t>
              </a:r>
            </a:p>
          </p:txBody>
        </p:sp>
        <p:sp>
          <p:nvSpPr>
            <p:cNvPr id="18515" name="Textfeld 44"/>
            <p:cNvSpPr txBox="1">
              <a:spLocks noChangeArrowheads="1"/>
            </p:cNvSpPr>
            <p:nvPr/>
          </p:nvSpPr>
          <p:spPr bwMode="auto">
            <a:xfrm>
              <a:off x="1259632" y="3107950"/>
              <a:ext cx="15841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>
                  <a:latin typeface="Calibri" pitchFamily="34" charset="0"/>
                </a:rPr>
                <a:t>Kasse</a:t>
              </a:r>
            </a:p>
          </p:txBody>
        </p:sp>
      </p:grpSp>
      <p:grpSp>
        <p:nvGrpSpPr>
          <p:cNvPr id="18440" name="Gruppieren 87"/>
          <p:cNvGrpSpPr>
            <a:grpSpLocks/>
          </p:cNvGrpSpPr>
          <p:nvPr/>
        </p:nvGrpSpPr>
        <p:grpSpPr bwMode="auto">
          <a:xfrm>
            <a:off x="2489200" y="338138"/>
            <a:ext cx="4603750" cy="1435100"/>
            <a:chOff x="2489101" y="337863"/>
            <a:chExt cx="4603179" cy="1434953"/>
          </a:xfrm>
        </p:grpSpPr>
        <p:cxnSp>
          <p:nvCxnSpPr>
            <p:cNvPr id="61" name="Gerade Verbindung 60"/>
            <p:cNvCxnSpPr/>
            <p:nvPr/>
          </p:nvCxnSpPr>
          <p:spPr>
            <a:xfrm>
              <a:off x="2489101" y="752158"/>
              <a:ext cx="426508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 Verbindung 61"/>
            <p:cNvCxnSpPr/>
            <p:nvPr/>
          </p:nvCxnSpPr>
          <p:spPr>
            <a:xfrm>
              <a:off x="4571643" y="752158"/>
              <a:ext cx="0" cy="102065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08" name="Textfeld 62"/>
            <p:cNvSpPr txBox="1">
              <a:spLocks noChangeArrowheads="1"/>
            </p:cNvSpPr>
            <p:nvPr/>
          </p:nvSpPr>
          <p:spPr bwMode="auto">
            <a:xfrm>
              <a:off x="2513799" y="428237"/>
              <a:ext cx="1194105" cy="53098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Aktiva</a:t>
              </a:r>
            </a:p>
          </p:txBody>
        </p:sp>
        <p:sp>
          <p:nvSpPr>
            <p:cNvPr id="18509" name="Textfeld 63"/>
            <p:cNvSpPr txBox="1">
              <a:spLocks noChangeArrowheads="1"/>
            </p:cNvSpPr>
            <p:nvPr/>
          </p:nvSpPr>
          <p:spPr bwMode="auto">
            <a:xfrm>
              <a:off x="6001217" y="441596"/>
              <a:ext cx="1091063" cy="3692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 dirty="0">
                  <a:latin typeface="Calibri" pitchFamily="34" charset="0"/>
                </a:rPr>
                <a:t>Passiva</a:t>
              </a:r>
            </a:p>
          </p:txBody>
        </p:sp>
        <p:sp>
          <p:nvSpPr>
            <p:cNvPr id="18510" name="Textfeld 64"/>
            <p:cNvSpPr txBox="1">
              <a:spLocks noChangeArrowheads="1"/>
            </p:cNvSpPr>
            <p:nvPr/>
          </p:nvSpPr>
          <p:spPr bwMode="auto">
            <a:xfrm>
              <a:off x="3480976" y="337863"/>
              <a:ext cx="2182126" cy="4616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 sz="2400" b="1">
                  <a:latin typeface="Calibri" pitchFamily="34" charset="0"/>
                </a:rPr>
                <a:t>Bilanz</a:t>
              </a:r>
            </a:p>
          </p:txBody>
        </p:sp>
      </p:grpSp>
      <p:sp>
        <p:nvSpPr>
          <p:cNvPr id="67" name="Textfeld 66"/>
          <p:cNvSpPr txBox="1">
            <a:spLocks noChangeArrowheads="1"/>
          </p:cNvSpPr>
          <p:nvPr/>
        </p:nvSpPr>
        <p:spPr bwMode="auto">
          <a:xfrm>
            <a:off x="2465388" y="747713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dirty="0">
                <a:latin typeface="Calibri" pitchFamily="34" charset="0"/>
              </a:rPr>
              <a:t>BGA 	   60.000,00</a:t>
            </a:r>
          </a:p>
        </p:txBody>
      </p:sp>
      <p:sp>
        <p:nvSpPr>
          <p:cNvPr id="76" name="Textfeld 75"/>
          <p:cNvSpPr txBox="1">
            <a:spLocks noChangeArrowheads="1"/>
          </p:cNvSpPr>
          <p:nvPr/>
        </p:nvSpPr>
        <p:spPr bwMode="auto">
          <a:xfrm>
            <a:off x="2465388" y="97313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Kasse 	   35.000,00</a:t>
            </a:r>
          </a:p>
        </p:txBody>
      </p:sp>
      <p:sp>
        <p:nvSpPr>
          <p:cNvPr id="77" name="Textfeld 76"/>
          <p:cNvSpPr txBox="1">
            <a:spLocks noChangeArrowheads="1"/>
          </p:cNvSpPr>
          <p:nvPr/>
        </p:nvSpPr>
        <p:spPr bwMode="auto">
          <a:xfrm>
            <a:off x="2465388" y="1217613"/>
            <a:ext cx="2190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Bank 	     5.000,00</a:t>
            </a:r>
          </a:p>
        </p:txBody>
      </p:sp>
      <p:sp>
        <p:nvSpPr>
          <p:cNvPr id="78" name="Textfeld 77"/>
          <p:cNvSpPr txBox="1">
            <a:spLocks noChangeArrowheads="1"/>
          </p:cNvSpPr>
          <p:nvPr/>
        </p:nvSpPr>
        <p:spPr bwMode="auto">
          <a:xfrm>
            <a:off x="4541838" y="75723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EK 	   ?</a:t>
            </a:r>
          </a:p>
        </p:txBody>
      </p:sp>
      <p:sp>
        <p:nvSpPr>
          <p:cNvPr id="79" name="Textfeld 78"/>
          <p:cNvSpPr txBox="1">
            <a:spLocks noChangeArrowheads="1"/>
          </p:cNvSpPr>
          <p:nvPr/>
        </p:nvSpPr>
        <p:spPr bwMode="auto">
          <a:xfrm>
            <a:off x="4554538" y="97313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Verb.a.LL 	   10.000,00</a:t>
            </a:r>
          </a:p>
        </p:txBody>
      </p:sp>
      <p:sp>
        <p:nvSpPr>
          <p:cNvPr id="80" name="Textfeld 79"/>
          <p:cNvSpPr txBox="1">
            <a:spLocks noChangeArrowheads="1"/>
          </p:cNvSpPr>
          <p:nvPr/>
        </p:nvSpPr>
        <p:spPr bwMode="auto">
          <a:xfrm>
            <a:off x="4560888" y="1217613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Darlehen 	   20.000,00</a:t>
            </a:r>
          </a:p>
        </p:txBody>
      </p:sp>
      <p:cxnSp>
        <p:nvCxnSpPr>
          <p:cNvPr id="82" name="Gerade Verbindung 81"/>
          <p:cNvCxnSpPr/>
          <p:nvPr/>
        </p:nvCxnSpPr>
        <p:spPr>
          <a:xfrm>
            <a:off x="2538413" y="1484313"/>
            <a:ext cx="41036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feld 82"/>
          <p:cNvSpPr txBox="1">
            <a:spLocks noChangeArrowheads="1"/>
          </p:cNvSpPr>
          <p:nvPr/>
        </p:nvSpPr>
        <p:spPr bwMode="auto">
          <a:xfrm>
            <a:off x="2513013" y="1430338"/>
            <a:ext cx="2190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	100.000,00</a:t>
            </a:r>
          </a:p>
        </p:txBody>
      </p:sp>
      <p:sp>
        <p:nvSpPr>
          <p:cNvPr id="84" name="Textfeld 83"/>
          <p:cNvSpPr txBox="1">
            <a:spLocks noChangeArrowheads="1"/>
          </p:cNvSpPr>
          <p:nvPr/>
        </p:nvSpPr>
        <p:spPr bwMode="auto">
          <a:xfrm>
            <a:off x="4603750" y="1430338"/>
            <a:ext cx="2190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	100.000,00</a:t>
            </a:r>
          </a:p>
        </p:txBody>
      </p:sp>
      <p:sp>
        <p:nvSpPr>
          <p:cNvPr id="85" name="Textfeld 84"/>
          <p:cNvSpPr txBox="1"/>
          <p:nvPr/>
        </p:nvSpPr>
        <p:spPr>
          <a:xfrm>
            <a:off x="5607050" y="785813"/>
            <a:ext cx="1220788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t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dirty="0">
                <a:latin typeface="+mn-lt"/>
                <a:cs typeface="+mn-cs"/>
              </a:rPr>
              <a:t>70.000,00</a:t>
            </a:r>
          </a:p>
        </p:txBody>
      </p:sp>
      <p:sp>
        <p:nvSpPr>
          <p:cNvPr id="18451" name="Rechteck 85"/>
          <p:cNvSpPr>
            <a:spLocks noChangeArrowheads="1"/>
          </p:cNvSpPr>
          <p:nvPr/>
        </p:nvSpPr>
        <p:spPr bwMode="auto">
          <a:xfrm>
            <a:off x="179388" y="44450"/>
            <a:ext cx="87852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Bestände: BGA 60.000,00; Kasse 35.000,00; Bank 5.000,00; Darlehen 20.000,00; </a:t>
            </a:r>
            <a:r>
              <a:rPr lang="de-DE" sz="1600" dirty="0" err="1">
                <a:latin typeface="Calibri" pitchFamily="34" charset="0"/>
              </a:rPr>
              <a:t>Verb.LL</a:t>
            </a:r>
            <a:r>
              <a:rPr lang="de-DE" sz="1600" dirty="0">
                <a:latin typeface="Calibri" pitchFamily="34" charset="0"/>
              </a:rPr>
              <a:t> 10.000,00; EK ?</a:t>
            </a:r>
          </a:p>
        </p:txBody>
      </p:sp>
      <p:grpSp>
        <p:nvGrpSpPr>
          <p:cNvPr id="18452" name="Gruppieren 88"/>
          <p:cNvGrpSpPr>
            <a:grpSpLocks/>
          </p:cNvGrpSpPr>
          <p:nvPr/>
        </p:nvGrpSpPr>
        <p:grpSpPr bwMode="auto">
          <a:xfrm>
            <a:off x="2508250" y="5326063"/>
            <a:ext cx="4603750" cy="1435100"/>
            <a:chOff x="2489101" y="337863"/>
            <a:chExt cx="4603179" cy="1434953"/>
          </a:xfrm>
        </p:grpSpPr>
        <p:cxnSp>
          <p:nvCxnSpPr>
            <p:cNvPr id="90" name="Gerade Verbindung 89"/>
            <p:cNvCxnSpPr/>
            <p:nvPr/>
          </p:nvCxnSpPr>
          <p:spPr>
            <a:xfrm>
              <a:off x="2489101" y="752158"/>
              <a:ext cx="426508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 Verbindung 90"/>
            <p:cNvCxnSpPr/>
            <p:nvPr/>
          </p:nvCxnSpPr>
          <p:spPr>
            <a:xfrm>
              <a:off x="4571643" y="752158"/>
              <a:ext cx="0" cy="102065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03" name="Textfeld 91"/>
            <p:cNvSpPr txBox="1">
              <a:spLocks noChangeArrowheads="1"/>
            </p:cNvSpPr>
            <p:nvPr/>
          </p:nvSpPr>
          <p:spPr bwMode="auto">
            <a:xfrm>
              <a:off x="2513799" y="428237"/>
              <a:ext cx="1194105" cy="53098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>
                  <a:latin typeface="Calibri" pitchFamily="34" charset="0"/>
                </a:rPr>
                <a:t>Aktiva</a:t>
              </a:r>
            </a:p>
          </p:txBody>
        </p:sp>
        <p:sp>
          <p:nvSpPr>
            <p:cNvPr id="18504" name="Textfeld 92"/>
            <p:cNvSpPr txBox="1">
              <a:spLocks noChangeArrowheads="1"/>
            </p:cNvSpPr>
            <p:nvPr/>
          </p:nvSpPr>
          <p:spPr bwMode="auto">
            <a:xfrm>
              <a:off x="6001217" y="441596"/>
              <a:ext cx="1091063" cy="3692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e-DE" dirty="0">
                  <a:latin typeface="Calibri" pitchFamily="34" charset="0"/>
                </a:rPr>
                <a:t>Passiva</a:t>
              </a:r>
            </a:p>
          </p:txBody>
        </p:sp>
        <p:sp>
          <p:nvSpPr>
            <p:cNvPr id="18505" name="Textfeld 93"/>
            <p:cNvSpPr txBox="1">
              <a:spLocks noChangeArrowheads="1"/>
            </p:cNvSpPr>
            <p:nvPr/>
          </p:nvSpPr>
          <p:spPr bwMode="auto">
            <a:xfrm>
              <a:off x="3184798" y="337863"/>
              <a:ext cx="2880320" cy="4616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de-DE" sz="2400" b="1">
                  <a:latin typeface="Calibri" pitchFamily="34" charset="0"/>
                </a:rPr>
                <a:t>Schlussbilanz(konto)</a:t>
              </a:r>
            </a:p>
          </p:txBody>
        </p:sp>
      </p:grpSp>
      <p:sp>
        <p:nvSpPr>
          <p:cNvPr id="95" name="Textfeld 94"/>
          <p:cNvSpPr txBox="1">
            <a:spLocks noChangeArrowheads="1"/>
          </p:cNvSpPr>
          <p:nvPr/>
        </p:nvSpPr>
        <p:spPr bwMode="auto">
          <a:xfrm>
            <a:off x="2484438" y="573563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BGA 	   63.000,00</a:t>
            </a:r>
          </a:p>
        </p:txBody>
      </p:sp>
      <p:sp>
        <p:nvSpPr>
          <p:cNvPr id="96" name="Textfeld 95"/>
          <p:cNvSpPr txBox="1">
            <a:spLocks noChangeArrowheads="1"/>
          </p:cNvSpPr>
          <p:nvPr/>
        </p:nvSpPr>
        <p:spPr bwMode="auto">
          <a:xfrm>
            <a:off x="2484438" y="5959475"/>
            <a:ext cx="2190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Kasse 	   31.000,00</a:t>
            </a:r>
          </a:p>
        </p:txBody>
      </p:sp>
      <p:sp>
        <p:nvSpPr>
          <p:cNvPr id="97" name="Textfeld 96"/>
          <p:cNvSpPr txBox="1">
            <a:spLocks noChangeArrowheads="1"/>
          </p:cNvSpPr>
          <p:nvPr/>
        </p:nvSpPr>
        <p:spPr bwMode="auto">
          <a:xfrm>
            <a:off x="2484438" y="620553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Bank 	     9.000,00</a:t>
            </a:r>
          </a:p>
        </p:txBody>
      </p:sp>
      <p:sp>
        <p:nvSpPr>
          <p:cNvPr id="98" name="Textfeld 97"/>
          <p:cNvSpPr txBox="1">
            <a:spLocks noChangeArrowheads="1"/>
          </p:cNvSpPr>
          <p:nvPr/>
        </p:nvSpPr>
        <p:spPr bwMode="auto">
          <a:xfrm>
            <a:off x="4560888" y="5743575"/>
            <a:ext cx="2190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EK 	   ?</a:t>
            </a:r>
          </a:p>
        </p:txBody>
      </p:sp>
      <p:sp>
        <p:nvSpPr>
          <p:cNvPr id="99" name="Textfeld 98"/>
          <p:cNvSpPr txBox="1">
            <a:spLocks noChangeArrowheads="1"/>
          </p:cNvSpPr>
          <p:nvPr/>
        </p:nvSpPr>
        <p:spPr bwMode="auto">
          <a:xfrm>
            <a:off x="4573588" y="5959475"/>
            <a:ext cx="2190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Verb.a.LL 	     4.000,00</a:t>
            </a:r>
          </a:p>
        </p:txBody>
      </p:sp>
      <p:sp>
        <p:nvSpPr>
          <p:cNvPr id="100" name="Textfeld 99"/>
          <p:cNvSpPr txBox="1">
            <a:spLocks noChangeArrowheads="1"/>
          </p:cNvSpPr>
          <p:nvPr/>
        </p:nvSpPr>
        <p:spPr bwMode="auto">
          <a:xfrm>
            <a:off x="4597400" y="620553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Darlehen 	   29.000,00</a:t>
            </a:r>
          </a:p>
        </p:txBody>
      </p:sp>
      <p:cxnSp>
        <p:nvCxnSpPr>
          <p:cNvPr id="101" name="Gerade Verbindung 100"/>
          <p:cNvCxnSpPr/>
          <p:nvPr/>
        </p:nvCxnSpPr>
        <p:spPr>
          <a:xfrm>
            <a:off x="2646363" y="6543675"/>
            <a:ext cx="4105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feld 101"/>
          <p:cNvSpPr txBox="1">
            <a:spLocks noChangeArrowheads="1"/>
          </p:cNvSpPr>
          <p:nvPr/>
        </p:nvSpPr>
        <p:spPr bwMode="auto">
          <a:xfrm>
            <a:off x="2532063" y="651668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	103.000,00</a:t>
            </a:r>
          </a:p>
        </p:txBody>
      </p:sp>
      <p:sp>
        <p:nvSpPr>
          <p:cNvPr id="103" name="Textfeld 102"/>
          <p:cNvSpPr txBox="1">
            <a:spLocks noChangeArrowheads="1"/>
          </p:cNvSpPr>
          <p:nvPr/>
        </p:nvSpPr>
        <p:spPr bwMode="auto">
          <a:xfrm>
            <a:off x="4622800" y="6472238"/>
            <a:ext cx="2190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>
                <a:latin typeface="Calibri" pitchFamily="34" charset="0"/>
              </a:rPr>
              <a:t>	103.000,00</a:t>
            </a:r>
          </a:p>
        </p:txBody>
      </p:sp>
      <p:sp>
        <p:nvSpPr>
          <p:cNvPr id="104" name="Textfeld 103"/>
          <p:cNvSpPr txBox="1"/>
          <p:nvPr/>
        </p:nvSpPr>
        <p:spPr>
          <a:xfrm>
            <a:off x="5626100" y="5773738"/>
            <a:ext cx="1220788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t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dirty="0">
                <a:latin typeface="+mn-lt"/>
                <a:cs typeface="+mn-cs"/>
              </a:rPr>
              <a:t>70.000,00</a:t>
            </a:r>
          </a:p>
        </p:txBody>
      </p:sp>
      <p:sp>
        <p:nvSpPr>
          <p:cNvPr id="111" name="Textfeld 110"/>
          <p:cNvSpPr txBox="1">
            <a:spLocks noChangeArrowheads="1"/>
          </p:cNvSpPr>
          <p:nvPr/>
        </p:nvSpPr>
        <p:spPr bwMode="auto">
          <a:xfrm>
            <a:off x="149225" y="2127250"/>
            <a:ext cx="21907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AB 	60.000,00</a:t>
            </a:r>
          </a:p>
        </p:txBody>
      </p:sp>
      <p:sp>
        <p:nvSpPr>
          <p:cNvPr id="117" name="Textfeld 116"/>
          <p:cNvSpPr txBox="1">
            <a:spLocks noChangeArrowheads="1"/>
          </p:cNvSpPr>
          <p:nvPr/>
        </p:nvSpPr>
        <p:spPr bwMode="auto">
          <a:xfrm>
            <a:off x="146050" y="3101975"/>
            <a:ext cx="21907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AB 	35.000,00</a:t>
            </a:r>
          </a:p>
        </p:txBody>
      </p:sp>
      <p:sp>
        <p:nvSpPr>
          <p:cNvPr id="118" name="Textfeld 117"/>
          <p:cNvSpPr txBox="1">
            <a:spLocks noChangeArrowheads="1"/>
          </p:cNvSpPr>
          <p:nvPr/>
        </p:nvSpPr>
        <p:spPr bwMode="auto">
          <a:xfrm>
            <a:off x="150813" y="438308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AB 	 5.000,00</a:t>
            </a:r>
          </a:p>
        </p:txBody>
      </p:sp>
      <p:sp>
        <p:nvSpPr>
          <p:cNvPr id="120" name="Textfeld 119"/>
          <p:cNvSpPr txBox="1">
            <a:spLocks noChangeArrowheads="1"/>
          </p:cNvSpPr>
          <p:nvPr/>
        </p:nvSpPr>
        <p:spPr bwMode="auto">
          <a:xfrm>
            <a:off x="7059613" y="2127250"/>
            <a:ext cx="21907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AB 	70.000,00</a:t>
            </a:r>
          </a:p>
        </p:txBody>
      </p:sp>
      <p:sp>
        <p:nvSpPr>
          <p:cNvPr id="121" name="Textfeld 120"/>
          <p:cNvSpPr txBox="1">
            <a:spLocks noChangeArrowheads="1"/>
          </p:cNvSpPr>
          <p:nvPr/>
        </p:nvSpPr>
        <p:spPr bwMode="auto">
          <a:xfrm>
            <a:off x="7056438" y="3101975"/>
            <a:ext cx="21907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AB 	10.000,00</a:t>
            </a:r>
          </a:p>
        </p:txBody>
      </p:sp>
      <p:sp>
        <p:nvSpPr>
          <p:cNvPr id="122" name="Textfeld 121"/>
          <p:cNvSpPr txBox="1">
            <a:spLocks noChangeArrowheads="1"/>
          </p:cNvSpPr>
          <p:nvPr/>
        </p:nvSpPr>
        <p:spPr bwMode="auto">
          <a:xfrm>
            <a:off x="7061200" y="438308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AB 	20.000,00</a:t>
            </a:r>
          </a:p>
        </p:txBody>
      </p:sp>
      <p:sp>
        <p:nvSpPr>
          <p:cNvPr id="123" name="Textfeld 122"/>
          <p:cNvSpPr txBox="1">
            <a:spLocks noChangeArrowheads="1"/>
          </p:cNvSpPr>
          <p:nvPr/>
        </p:nvSpPr>
        <p:spPr bwMode="auto">
          <a:xfrm>
            <a:off x="131763" y="2347913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(1) 	   3.000,00</a:t>
            </a:r>
          </a:p>
        </p:txBody>
      </p:sp>
      <p:sp>
        <p:nvSpPr>
          <p:cNvPr id="124" name="Textfeld 123"/>
          <p:cNvSpPr txBox="1">
            <a:spLocks noChangeArrowheads="1"/>
          </p:cNvSpPr>
          <p:nvPr/>
        </p:nvSpPr>
        <p:spPr bwMode="auto">
          <a:xfrm>
            <a:off x="2051050" y="3101975"/>
            <a:ext cx="21923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(1) 	   3.000,00</a:t>
            </a:r>
          </a:p>
        </p:txBody>
      </p:sp>
      <p:sp>
        <p:nvSpPr>
          <p:cNvPr id="125" name="Textfeld 124"/>
          <p:cNvSpPr txBox="1">
            <a:spLocks noChangeArrowheads="1"/>
          </p:cNvSpPr>
          <p:nvPr/>
        </p:nvSpPr>
        <p:spPr bwMode="auto">
          <a:xfrm>
            <a:off x="5192713" y="3101975"/>
            <a:ext cx="21907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(2)                  5.000,00</a:t>
            </a:r>
          </a:p>
        </p:txBody>
      </p:sp>
      <p:sp>
        <p:nvSpPr>
          <p:cNvPr id="126" name="Textfeld 125"/>
          <p:cNvSpPr txBox="1">
            <a:spLocks noChangeArrowheads="1"/>
          </p:cNvSpPr>
          <p:nvPr/>
        </p:nvSpPr>
        <p:spPr bwMode="auto">
          <a:xfrm>
            <a:off x="7112000" y="4584700"/>
            <a:ext cx="21907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(2)                5.000,00</a:t>
            </a:r>
          </a:p>
        </p:txBody>
      </p:sp>
      <p:sp>
        <p:nvSpPr>
          <p:cNvPr id="127" name="Textfeld 126"/>
          <p:cNvSpPr txBox="1">
            <a:spLocks noChangeArrowheads="1"/>
          </p:cNvSpPr>
          <p:nvPr/>
        </p:nvSpPr>
        <p:spPr bwMode="auto">
          <a:xfrm>
            <a:off x="7134225" y="4832350"/>
            <a:ext cx="21907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(4)                4.000,00</a:t>
            </a:r>
          </a:p>
        </p:txBody>
      </p:sp>
      <p:sp>
        <p:nvSpPr>
          <p:cNvPr id="128" name="Textfeld 127"/>
          <p:cNvSpPr txBox="1">
            <a:spLocks noChangeArrowheads="1"/>
          </p:cNvSpPr>
          <p:nvPr/>
        </p:nvSpPr>
        <p:spPr bwMode="auto">
          <a:xfrm>
            <a:off x="127000" y="463708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(4)                 4.000,00</a:t>
            </a:r>
          </a:p>
        </p:txBody>
      </p:sp>
      <p:cxnSp>
        <p:nvCxnSpPr>
          <p:cNvPr id="129" name="Gerade Verbindung 128"/>
          <p:cNvCxnSpPr/>
          <p:nvPr/>
        </p:nvCxnSpPr>
        <p:spPr>
          <a:xfrm>
            <a:off x="250825" y="2636838"/>
            <a:ext cx="3600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Gerade Verbindung 129"/>
          <p:cNvCxnSpPr/>
          <p:nvPr/>
        </p:nvCxnSpPr>
        <p:spPr>
          <a:xfrm>
            <a:off x="323850" y="3787775"/>
            <a:ext cx="3600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130"/>
          <p:cNvCxnSpPr/>
          <p:nvPr/>
        </p:nvCxnSpPr>
        <p:spPr>
          <a:xfrm>
            <a:off x="250825" y="4903788"/>
            <a:ext cx="3600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Gerade Verbindung 131"/>
          <p:cNvCxnSpPr/>
          <p:nvPr/>
        </p:nvCxnSpPr>
        <p:spPr>
          <a:xfrm>
            <a:off x="5257800" y="2492375"/>
            <a:ext cx="3600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 Verbindung 132"/>
          <p:cNvCxnSpPr/>
          <p:nvPr/>
        </p:nvCxnSpPr>
        <p:spPr>
          <a:xfrm>
            <a:off x="5292725" y="3811588"/>
            <a:ext cx="35988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Gerade Verbindung 133"/>
          <p:cNvCxnSpPr/>
          <p:nvPr/>
        </p:nvCxnSpPr>
        <p:spPr>
          <a:xfrm>
            <a:off x="5445125" y="5119688"/>
            <a:ext cx="35988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feld 134"/>
          <p:cNvSpPr txBox="1">
            <a:spLocks noChangeArrowheads="1"/>
          </p:cNvSpPr>
          <p:nvPr/>
        </p:nvSpPr>
        <p:spPr bwMode="auto">
          <a:xfrm>
            <a:off x="215900" y="259873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                   63.000,00</a:t>
            </a:r>
          </a:p>
        </p:txBody>
      </p:sp>
      <p:sp>
        <p:nvSpPr>
          <p:cNvPr id="136" name="Textfeld 135"/>
          <p:cNvSpPr txBox="1">
            <a:spLocks noChangeArrowheads="1"/>
          </p:cNvSpPr>
          <p:nvPr/>
        </p:nvSpPr>
        <p:spPr bwMode="auto">
          <a:xfrm>
            <a:off x="2051050" y="2598738"/>
            <a:ext cx="219233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                   63.000,00</a:t>
            </a:r>
          </a:p>
        </p:txBody>
      </p:sp>
      <p:sp>
        <p:nvSpPr>
          <p:cNvPr id="137" name="Textfeld 136"/>
          <p:cNvSpPr txBox="1">
            <a:spLocks noChangeArrowheads="1"/>
          </p:cNvSpPr>
          <p:nvPr/>
        </p:nvSpPr>
        <p:spPr bwMode="auto">
          <a:xfrm>
            <a:off x="2066925" y="2154238"/>
            <a:ext cx="219233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SB              63.000,00</a:t>
            </a:r>
          </a:p>
        </p:txBody>
      </p:sp>
      <p:sp>
        <p:nvSpPr>
          <p:cNvPr id="138" name="Textfeld 137"/>
          <p:cNvSpPr txBox="1">
            <a:spLocks noChangeArrowheads="1"/>
          </p:cNvSpPr>
          <p:nvPr/>
        </p:nvSpPr>
        <p:spPr bwMode="auto">
          <a:xfrm>
            <a:off x="312738" y="3775075"/>
            <a:ext cx="21907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                   35.000,00</a:t>
            </a:r>
          </a:p>
        </p:txBody>
      </p:sp>
      <p:sp>
        <p:nvSpPr>
          <p:cNvPr id="139" name="Textfeld 138"/>
          <p:cNvSpPr txBox="1">
            <a:spLocks noChangeArrowheads="1"/>
          </p:cNvSpPr>
          <p:nvPr/>
        </p:nvSpPr>
        <p:spPr bwMode="auto">
          <a:xfrm>
            <a:off x="2149475" y="3775075"/>
            <a:ext cx="21907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                   35.000,00</a:t>
            </a:r>
          </a:p>
        </p:txBody>
      </p:sp>
      <p:sp>
        <p:nvSpPr>
          <p:cNvPr id="140" name="Textfeld 139"/>
          <p:cNvSpPr txBox="1">
            <a:spLocks noChangeArrowheads="1"/>
          </p:cNvSpPr>
          <p:nvPr/>
        </p:nvSpPr>
        <p:spPr bwMode="auto">
          <a:xfrm>
            <a:off x="2138363" y="3522663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SB              31.000,00</a:t>
            </a:r>
          </a:p>
        </p:txBody>
      </p:sp>
      <p:sp>
        <p:nvSpPr>
          <p:cNvPr id="141" name="Textfeld 140"/>
          <p:cNvSpPr txBox="1">
            <a:spLocks noChangeArrowheads="1"/>
          </p:cNvSpPr>
          <p:nvPr/>
        </p:nvSpPr>
        <p:spPr bwMode="auto">
          <a:xfrm>
            <a:off x="111125" y="491648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                   9.000,00</a:t>
            </a:r>
          </a:p>
        </p:txBody>
      </p:sp>
      <p:sp>
        <p:nvSpPr>
          <p:cNvPr id="142" name="Textfeld 141"/>
          <p:cNvSpPr txBox="1">
            <a:spLocks noChangeArrowheads="1"/>
          </p:cNvSpPr>
          <p:nvPr/>
        </p:nvSpPr>
        <p:spPr bwMode="auto">
          <a:xfrm>
            <a:off x="1947863" y="491648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                         9.000,00</a:t>
            </a:r>
          </a:p>
        </p:txBody>
      </p:sp>
      <p:sp>
        <p:nvSpPr>
          <p:cNvPr id="143" name="Textfeld 142"/>
          <p:cNvSpPr txBox="1">
            <a:spLocks noChangeArrowheads="1"/>
          </p:cNvSpPr>
          <p:nvPr/>
        </p:nvSpPr>
        <p:spPr bwMode="auto">
          <a:xfrm>
            <a:off x="1963738" y="437038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SB                   9.000,00</a:t>
            </a:r>
          </a:p>
        </p:txBody>
      </p:sp>
      <p:sp>
        <p:nvSpPr>
          <p:cNvPr id="144" name="Textfeld 143"/>
          <p:cNvSpPr txBox="1">
            <a:spLocks noChangeArrowheads="1"/>
          </p:cNvSpPr>
          <p:nvPr/>
        </p:nvSpPr>
        <p:spPr bwMode="auto">
          <a:xfrm>
            <a:off x="5141913" y="2471738"/>
            <a:ext cx="21923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                   70.000,00</a:t>
            </a:r>
          </a:p>
        </p:txBody>
      </p:sp>
      <p:sp>
        <p:nvSpPr>
          <p:cNvPr id="145" name="Textfeld 144"/>
          <p:cNvSpPr txBox="1">
            <a:spLocks noChangeArrowheads="1"/>
          </p:cNvSpPr>
          <p:nvPr/>
        </p:nvSpPr>
        <p:spPr bwMode="auto">
          <a:xfrm>
            <a:off x="6978650" y="247173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                      70.000,00</a:t>
            </a:r>
          </a:p>
        </p:txBody>
      </p:sp>
      <p:sp>
        <p:nvSpPr>
          <p:cNvPr id="146" name="Textfeld 145"/>
          <p:cNvSpPr txBox="1">
            <a:spLocks noChangeArrowheads="1"/>
          </p:cNvSpPr>
          <p:nvPr/>
        </p:nvSpPr>
        <p:spPr bwMode="auto">
          <a:xfrm>
            <a:off x="5130800" y="215423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SB                  70.000,00</a:t>
            </a:r>
          </a:p>
        </p:txBody>
      </p:sp>
      <p:sp>
        <p:nvSpPr>
          <p:cNvPr id="147" name="Textfeld 146"/>
          <p:cNvSpPr txBox="1">
            <a:spLocks noChangeArrowheads="1"/>
          </p:cNvSpPr>
          <p:nvPr/>
        </p:nvSpPr>
        <p:spPr bwMode="auto">
          <a:xfrm>
            <a:off x="5334000" y="3760788"/>
            <a:ext cx="21907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                   10.000,00</a:t>
            </a:r>
          </a:p>
        </p:txBody>
      </p:sp>
      <p:sp>
        <p:nvSpPr>
          <p:cNvPr id="148" name="Textfeld 147"/>
          <p:cNvSpPr txBox="1">
            <a:spLocks noChangeArrowheads="1"/>
          </p:cNvSpPr>
          <p:nvPr/>
        </p:nvSpPr>
        <p:spPr bwMode="auto">
          <a:xfrm>
            <a:off x="6996113" y="3760788"/>
            <a:ext cx="21907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                      10.000,00</a:t>
            </a:r>
          </a:p>
        </p:txBody>
      </p:sp>
      <p:sp>
        <p:nvSpPr>
          <p:cNvPr id="149" name="Textfeld 148"/>
          <p:cNvSpPr txBox="1">
            <a:spLocks noChangeArrowheads="1"/>
          </p:cNvSpPr>
          <p:nvPr/>
        </p:nvSpPr>
        <p:spPr bwMode="auto">
          <a:xfrm>
            <a:off x="5121275" y="3536950"/>
            <a:ext cx="21907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  SB                  4.000,00</a:t>
            </a:r>
          </a:p>
        </p:txBody>
      </p:sp>
      <p:sp>
        <p:nvSpPr>
          <p:cNvPr id="150" name="Textfeld 149"/>
          <p:cNvSpPr txBox="1">
            <a:spLocks noChangeArrowheads="1"/>
          </p:cNvSpPr>
          <p:nvPr/>
        </p:nvSpPr>
        <p:spPr bwMode="auto">
          <a:xfrm>
            <a:off x="5153025" y="5124450"/>
            <a:ext cx="21923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                   29.000,00</a:t>
            </a:r>
          </a:p>
        </p:txBody>
      </p:sp>
      <p:sp>
        <p:nvSpPr>
          <p:cNvPr id="151" name="Textfeld 150"/>
          <p:cNvSpPr txBox="1">
            <a:spLocks noChangeArrowheads="1"/>
          </p:cNvSpPr>
          <p:nvPr/>
        </p:nvSpPr>
        <p:spPr bwMode="auto">
          <a:xfrm>
            <a:off x="6989763" y="5124450"/>
            <a:ext cx="21907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                      29.000,00</a:t>
            </a:r>
          </a:p>
        </p:txBody>
      </p:sp>
      <p:sp>
        <p:nvSpPr>
          <p:cNvPr id="152" name="Textfeld 151"/>
          <p:cNvSpPr txBox="1">
            <a:spLocks noChangeArrowheads="1"/>
          </p:cNvSpPr>
          <p:nvPr/>
        </p:nvSpPr>
        <p:spPr bwMode="auto">
          <a:xfrm>
            <a:off x="5141913" y="4471988"/>
            <a:ext cx="21907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>
                <a:latin typeface="Calibri" pitchFamily="34" charset="0"/>
              </a:rPr>
              <a:t>  SB                29.000,00</a:t>
            </a:r>
          </a:p>
        </p:txBody>
      </p:sp>
      <p:sp>
        <p:nvSpPr>
          <p:cNvPr id="153" name="Textfeld 152"/>
          <p:cNvSpPr txBox="1">
            <a:spLocks noChangeArrowheads="1"/>
          </p:cNvSpPr>
          <p:nvPr/>
        </p:nvSpPr>
        <p:spPr bwMode="auto">
          <a:xfrm>
            <a:off x="2043113" y="3287713"/>
            <a:ext cx="23034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(3)	 </a:t>
            </a:r>
            <a:r>
              <a:rPr lang="de-DE" dirty="0">
                <a:latin typeface="Calibri" pitchFamily="34" charset="0"/>
              </a:rPr>
              <a:t> </a:t>
            </a:r>
            <a:r>
              <a:rPr lang="de-DE" sz="1600" dirty="0">
                <a:latin typeface="Calibri" pitchFamily="34" charset="0"/>
              </a:rPr>
              <a:t> 1.000,00</a:t>
            </a:r>
          </a:p>
        </p:txBody>
      </p:sp>
      <p:sp>
        <p:nvSpPr>
          <p:cNvPr id="154" name="Textfeld 153"/>
          <p:cNvSpPr txBox="1">
            <a:spLocks noChangeArrowheads="1"/>
          </p:cNvSpPr>
          <p:nvPr/>
        </p:nvSpPr>
        <p:spPr bwMode="auto">
          <a:xfrm>
            <a:off x="5202238" y="3311525"/>
            <a:ext cx="21907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600" dirty="0">
                <a:latin typeface="Calibri" pitchFamily="34" charset="0"/>
              </a:rPr>
              <a:t>(3)	   1.000,00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6" grpId="0"/>
      <p:bldP spid="77" grpId="0"/>
      <p:bldP spid="78" grpId="0"/>
      <p:bldP spid="79" grpId="0"/>
      <p:bldP spid="80" grpId="0"/>
      <p:bldP spid="83" grpId="0"/>
      <p:bldP spid="84" grpId="0"/>
      <p:bldP spid="85" grpId="0" animBg="1"/>
      <p:bldP spid="95" grpId="0"/>
      <p:bldP spid="96" grpId="0"/>
      <p:bldP spid="97" grpId="0"/>
      <p:bldP spid="98" grpId="0"/>
      <p:bldP spid="99" grpId="0"/>
      <p:bldP spid="100" grpId="0"/>
      <p:bldP spid="102" grpId="0"/>
      <p:bldP spid="103" grpId="0"/>
      <p:bldP spid="104" grpId="0" animBg="1"/>
      <p:bldP spid="111" grpId="0"/>
      <p:bldP spid="117" grpId="0"/>
      <p:bldP spid="118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r>
              <a:rPr lang="de-DE" sz="3200" dirty="0"/>
              <a:t>HA: Buchungssätze  B.S. 42 Nr. 33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107345"/>
              </p:ext>
            </p:extLst>
          </p:nvPr>
        </p:nvGraphicFramePr>
        <p:xfrm>
          <a:off x="755650" y="981075"/>
          <a:ext cx="7704856" cy="5616626"/>
        </p:xfrm>
        <a:graphic>
          <a:graphicData uri="http://schemas.openxmlformats.org/drawingml/2006/table">
            <a:tbl>
              <a:tblPr/>
              <a:tblGrid>
                <a:gridCol w="63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1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3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01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5956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W. Peters e. </a:t>
                      </a:r>
                      <a:r>
                        <a:rPr lang="de-DE" sz="1400" b="1" dirty="0" err="1">
                          <a:latin typeface="Times New Roman"/>
                          <a:ea typeface="Times New Roman"/>
                          <a:cs typeface="Times New Roman"/>
                        </a:rPr>
                        <a:t>Kfm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 Monat:  Dez. Jahr:.........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97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Haben-Kto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BGA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450,00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450,00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5.800,00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5.800,00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14.600,00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14.600,00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Darlehen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13.500,00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13.500,00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5.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400,00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400,00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6.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Hilfsstoffe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800,00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800,00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7.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Betriebsstoffe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3.600,00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3.600,00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8.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TA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34.700,00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34.700,00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9.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Postbankguthaben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1.900,00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1.900,00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10.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1.800,00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1.800,00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2.800,00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2.800,00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2.400,00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2.400,00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BGA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 aus L + L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2.850,00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2.850,00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Hypothekendarlehen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14.000,00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14.000,00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16.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Grundstücke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166.000.00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166.000,00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17.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Fuhrpark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4.100,00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4.100,00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18.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Darlehen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12.000,00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12.000,00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19.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12.600,00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12.600,00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r>
              <a:rPr lang="de-DE" sz="3200" dirty="0"/>
              <a:t>Zusammengesetzter Buchungssatz (vgl. B.S.45)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827088" y="1196975"/>
            <a:ext cx="7705725" cy="1754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de-DE" dirty="0"/>
              <a:t>Geschäftsfälle (vgl. Aufgabe 38)</a:t>
            </a:r>
          </a:p>
          <a:p>
            <a:pPr marL="342900" indent="-342900">
              <a:buFontTx/>
              <a:buAutoNum type="arabicPeriod"/>
              <a:defRPr/>
            </a:pPr>
            <a:r>
              <a:rPr lang="de-DE" dirty="0"/>
              <a:t>Kauf von Rohstoffen gegen bar 500,00 € und auf Ziel 11.500,00 €</a:t>
            </a:r>
          </a:p>
          <a:p>
            <a:pPr marL="342900" indent="-342900">
              <a:buFontTx/>
              <a:buAutoNum type="arabicPeriod"/>
              <a:defRPr/>
            </a:pPr>
            <a:r>
              <a:rPr lang="de-DE" dirty="0"/>
              <a:t>Kauf eines Baugrundstücks gegen Bankscheck 168.000,00 und </a:t>
            </a:r>
            <a:br>
              <a:rPr lang="de-DE" dirty="0"/>
            </a:br>
            <a:r>
              <a:rPr lang="de-DE" dirty="0"/>
              <a:t>gegen bar 2.000,00 €</a:t>
            </a:r>
          </a:p>
          <a:p>
            <a:pPr marL="342900" indent="-342900">
              <a:buFontTx/>
              <a:buAutoNum type="arabicPeriod"/>
              <a:defRPr/>
            </a:pPr>
            <a:r>
              <a:rPr lang="de-DE" dirty="0"/>
              <a:t>Verkauf eines gebrauchten LKW gegen bar 2.000,00 und gegen</a:t>
            </a:r>
            <a:br>
              <a:rPr lang="de-DE" dirty="0"/>
            </a:br>
            <a:r>
              <a:rPr lang="de-DE" dirty="0"/>
              <a:t>Bankscheck 14.000,00 €</a:t>
            </a:r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303435"/>
              </p:ext>
            </p:extLst>
          </p:nvPr>
        </p:nvGraphicFramePr>
        <p:xfrm>
          <a:off x="755650" y="3068638"/>
          <a:ext cx="7632847" cy="3383280"/>
        </p:xfrm>
        <a:graphic>
          <a:graphicData uri="http://schemas.openxmlformats.org/drawingml/2006/table">
            <a:tbl>
              <a:tblPr/>
              <a:tblGrid>
                <a:gridCol w="633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3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5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2000" b="1" dirty="0">
                          <a:latin typeface="Times New Roman"/>
                          <a:ea typeface="Times New Roman"/>
                        </a:rPr>
                        <a:t>Buchungsanweisungen: </a:t>
                      </a:r>
                      <a:r>
                        <a:rPr lang="de-DE" sz="1200" b="1" dirty="0">
                          <a:latin typeface="Times New Roman"/>
                          <a:ea typeface="Times New Roman"/>
                        </a:rPr>
                        <a:t>Grundbuch (Buchungsjournal) </a:t>
                      </a:r>
                      <a:r>
                        <a:rPr lang="de-DE" sz="1600" b="1" dirty="0">
                          <a:latin typeface="Times New Roman"/>
                          <a:ea typeface="Times New Roman"/>
                        </a:rPr>
                        <a:t>Seite: .......</a:t>
                      </a:r>
                      <a:br>
                        <a:rPr lang="de-DE" sz="1600" b="1" dirty="0">
                          <a:latin typeface="Times New Roman"/>
                          <a:ea typeface="Times New Roman"/>
                        </a:rPr>
                      </a:br>
                      <a:r>
                        <a:rPr lang="de-DE" sz="1600" b="1" dirty="0">
                          <a:latin typeface="Times New Roman"/>
                          <a:ea typeface="Times New Roman"/>
                        </a:rPr>
                        <a:t>Unternehmen /Aufgabe: ..........................Monat: ...........Jahr:.........</a:t>
                      </a:r>
                      <a:endParaRPr lang="de-DE" sz="10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>
                          <a:latin typeface="Times New Roman"/>
                          <a:ea typeface="Times New Roman"/>
                        </a:rPr>
                        <a:t>Lfd Nr.</a:t>
                      </a:r>
                      <a:endParaRPr lang="de-DE" sz="1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b="1">
                          <a:latin typeface="Times New Roman"/>
                          <a:ea typeface="Times New Roman"/>
                        </a:rPr>
                        <a:t>Buchungstext (Soll an Haben)</a:t>
                      </a:r>
                      <a:endParaRPr lang="de-DE" sz="1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>
                          <a:latin typeface="Times New Roman"/>
                          <a:ea typeface="Times New Roman"/>
                        </a:rPr>
                        <a:t>Soll-Betrag</a:t>
                      </a:r>
                      <a:endParaRPr lang="de-DE" sz="1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>
                          <a:latin typeface="Times New Roman"/>
                          <a:ea typeface="Times New Roman"/>
                        </a:rPr>
                        <a:t>Haben-Betrag</a:t>
                      </a:r>
                      <a:endParaRPr lang="de-DE" sz="1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2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>
                          <a:latin typeface="Times New Roman"/>
                          <a:ea typeface="Times New Roman"/>
                        </a:rPr>
                        <a:t>Soll-Kto</a:t>
                      </a:r>
                      <a:endParaRPr lang="de-DE" sz="1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>
                          <a:latin typeface="Times New Roman"/>
                          <a:ea typeface="Times New Roman"/>
                        </a:rPr>
                        <a:t>Haben-Kto</a:t>
                      </a:r>
                      <a:endParaRPr lang="de-DE" sz="1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2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2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1.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Rohstoffe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Kasse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     12.000,00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            500,00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Verbindlichkeiten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       11.500,00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2.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Grundstücke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Bankguthaben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   170.000,00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     168.000,00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Kasse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         2.000,00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Kasse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       2.000,00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       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Bankguthaben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Fuhrpark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     14.000,00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16.000,00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750" y="260350"/>
            <a:ext cx="8229600" cy="504825"/>
          </a:xfrm>
        </p:spPr>
        <p:txBody>
          <a:bodyPr/>
          <a:lstStyle/>
          <a:p>
            <a:pPr eaLnBrk="1" hangingPunct="1"/>
            <a:r>
              <a:rPr lang="de-DE" sz="2000"/>
              <a:t>Zusammenhang: Inventar – Bilanz – Hauptbuchbestandskonten - Bilanz</a:t>
            </a:r>
          </a:p>
        </p:txBody>
      </p:sp>
      <p:pic>
        <p:nvPicPr>
          <p:cNvPr id="4" name="Inhaltsplatzhalter 3" descr="EBK_SBK 001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908175" y="765175"/>
            <a:ext cx="5472113" cy="5894388"/>
          </a:xfrm>
        </p:spPr>
      </p:pic>
      <p:sp>
        <p:nvSpPr>
          <p:cNvPr id="5" name="Rechteckige Legende 4"/>
          <p:cNvSpPr/>
          <p:nvPr/>
        </p:nvSpPr>
        <p:spPr>
          <a:xfrm>
            <a:off x="7885113" y="981075"/>
            <a:ext cx="1079500" cy="792163"/>
          </a:xfrm>
          <a:prstGeom prst="wedgeRectCallout">
            <a:avLst>
              <a:gd name="adj1" fmla="val -111081"/>
              <a:gd name="adj2" fmla="val 494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dirty="0"/>
              <a:t>Bilanz</a:t>
            </a:r>
          </a:p>
        </p:txBody>
      </p:sp>
      <p:sp>
        <p:nvSpPr>
          <p:cNvPr id="6" name="Rechteckige Legende 5"/>
          <p:cNvSpPr/>
          <p:nvPr/>
        </p:nvSpPr>
        <p:spPr>
          <a:xfrm>
            <a:off x="8027988" y="3500438"/>
            <a:ext cx="792162" cy="865187"/>
          </a:xfrm>
          <a:prstGeom prst="wedgeRectCallout">
            <a:avLst>
              <a:gd name="adj1" fmla="val -121027"/>
              <a:gd name="adj2" fmla="val -153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dirty="0"/>
              <a:t>Haupt-buch</a:t>
            </a:r>
          </a:p>
        </p:txBody>
      </p:sp>
      <p:cxnSp>
        <p:nvCxnSpPr>
          <p:cNvPr id="8" name="Gerade Verbindung 7"/>
          <p:cNvCxnSpPr/>
          <p:nvPr/>
        </p:nvCxnSpPr>
        <p:spPr>
          <a:xfrm>
            <a:off x="7164388" y="2276475"/>
            <a:ext cx="287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/>
        </p:nvCxnSpPr>
        <p:spPr>
          <a:xfrm>
            <a:off x="7451725" y="2276475"/>
            <a:ext cx="0" cy="2305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/>
          <p:cNvCxnSpPr/>
          <p:nvPr/>
        </p:nvCxnSpPr>
        <p:spPr>
          <a:xfrm flipH="1">
            <a:off x="7235825" y="4581525"/>
            <a:ext cx="215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eckige Legende 14"/>
          <p:cNvSpPr/>
          <p:nvPr/>
        </p:nvSpPr>
        <p:spPr>
          <a:xfrm>
            <a:off x="7885113" y="5013325"/>
            <a:ext cx="1079500" cy="719138"/>
          </a:xfrm>
          <a:prstGeom prst="wedgeRectCallout">
            <a:avLst>
              <a:gd name="adj1" fmla="val -111080"/>
              <a:gd name="adj2" fmla="val 12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dirty="0"/>
              <a:t>Bilanz</a:t>
            </a:r>
          </a:p>
        </p:txBody>
      </p:sp>
      <p:sp>
        <p:nvSpPr>
          <p:cNvPr id="17418" name="Textfeld 9"/>
          <p:cNvSpPr txBox="1">
            <a:spLocks noChangeArrowheads="1"/>
          </p:cNvSpPr>
          <p:nvPr/>
        </p:nvSpPr>
        <p:spPr bwMode="auto">
          <a:xfrm>
            <a:off x="539750" y="765175"/>
            <a:ext cx="187166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200" dirty="0" err="1"/>
              <a:t>Quelle:Lehrbuch</a:t>
            </a:r>
            <a:r>
              <a:rPr lang="de-DE" sz="1200" dirty="0"/>
              <a:t> S. 48</a:t>
            </a:r>
          </a:p>
        </p:txBody>
      </p:sp>
      <p:sp>
        <p:nvSpPr>
          <p:cNvPr id="12" name="Textfeld 11"/>
          <p:cNvSpPr txBox="1">
            <a:spLocks noChangeArrowheads="1"/>
          </p:cNvSpPr>
          <p:nvPr/>
        </p:nvSpPr>
        <p:spPr bwMode="auto">
          <a:xfrm>
            <a:off x="179388" y="2133600"/>
            <a:ext cx="151288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de-DE" sz="1200"/>
              <a:t>Saldovortragskonto</a:t>
            </a:r>
          </a:p>
        </p:txBody>
      </p:sp>
      <p:sp>
        <p:nvSpPr>
          <p:cNvPr id="14" name="Legende mit Linie 3 13"/>
          <p:cNvSpPr/>
          <p:nvPr/>
        </p:nvSpPr>
        <p:spPr>
          <a:xfrm>
            <a:off x="250825" y="2133600"/>
            <a:ext cx="1441450" cy="287338"/>
          </a:xfrm>
          <a:prstGeom prst="borderCallout3">
            <a:avLst>
              <a:gd name="adj1" fmla="val 54689"/>
              <a:gd name="adj2" fmla="val 102250"/>
              <a:gd name="adj3" fmla="val 50197"/>
              <a:gd name="adj4" fmla="val 101288"/>
              <a:gd name="adj5" fmla="val 95508"/>
              <a:gd name="adj6" fmla="val 101288"/>
              <a:gd name="adj7" fmla="val 62049"/>
              <a:gd name="adj8" fmla="val 25775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5" grpId="1" animBg="1"/>
      <p:bldP spid="6" grpId="0" animBg="1"/>
      <p:bldP spid="15" grpId="0" animBg="1"/>
      <p:bldP spid="17418" grpId="0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br>
              <a:rPr lang="de-DE" sz="2400"/>
            </a:br>
            <a:r>
              <a:rPr lang="de-DE" sz="2400" b="1"/>
              <a:t> </a:t>
            </a:r>
            <a:r>
              <a:rPr lang="de-DE" sz="1800" b="1"/>
              <a:t>Von der Übernahme von Bilanzpositionen in Bestandskonten bis zum Abschluss der Bestandskonten (vgl. Arbeitsblatt)</a:t>
            </a:r>
            <a:br>
              <a:rPr lang="de-DE" sz="2400"/>
            </a:br>
            <a:endParaRPr lang="de-DE" sz="2400"/>
          </a:p>
        </p:txBody>
      </p:sp>
      <p:sp>
        <p:nvSpPr>
          <p:cNvPr id="22531" name="Textfeld 4"/>
          <p:cNvSpPr txBox="1">
            <a:spLocks noChangeArrowheads="1"/>
          </p:cNvSpPr>
          <p:nvPr/>
        </p:nvSpPr>
        <p:spPr bwMode="auto">
          <a:xfrm>
            <a:off x="611188" y="949325"/>
            <a:ext cx="8064500" cy="618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hangingPunct="0"/>
            <a:r>
              <a:rPr lang="de-DE" dirty="0"/>
              <a:t>Folgende Anfangsbestände sind gegeben: (alle Angaben in T€)</a:t>
            </a:r>
            <a:br>
              <a:rPr lang="de-DE" dirty="0"/>
            </a:br>
            <a:r>
              <a:rPr lang="de-DE" dirty="0"/>
              <a:t>Gebäude		310             Darlehensschulden      55</a:t>
            </a:r>
          </a:p>
          <a:p>
            <a:pPr hangingPunct="0"/>
            <a:r>
              <a:rPr lang="de-DE" dirty="0"/>
              <a:t>TA und Maschinen	170             Verbindlichkeiten a. LL 20</a:t>
            </a:r>
            <a:br>
              <a:rPr lang="de-DE" dirty="0"/>
            </a:br>
            <a:r>
              <a:rPr lang="de-DE" dirty="0"/>
              <a:t>Rohstoffe		30                Eigenkapital                 ?</a:t>
            </a:r>
            <a:br>
              <a:rPr lang="de-DE" dirty="0"/>
            </a:br>
            <a:r>
              <a:rPr lang="de-DE" dirty="0"/>
              <a:t>Forderungen a. LL.	35</a:t>
            </a:r>
            <a:br>
              <a:rPr lang="de-DE" dirty="0"/>
            </a:br>
            <a:r>
              <a:rPr lang="de-DE" dirty="0"/>
              <a:t>Kassenbestand		 5</a:t>
            </a:r>
            <a:br>
              <a:rPr lang="de-DE" dirty="0"/>
            </a:br>
            <a:r>
              <a:rPr lang="de-DE" dirty="0"/>
              <a:t>Bankguthaben		55</a:t>
            </a:r>
          </a:p>
          <a:p>
            <a:pPr hangingPunct="0"/>
            <a:endParaRPr lang="de-DE" dirty="0"/>
          </a:p>
          <a:p>
            <a:pPr hangingPunct="0"/>
            <a:r>
              <a:rPr lang="de-DE" dirty="0"/>
              <a:t>Es haben sich die folgenden Geschäftsfälle ereignet: </a:t>
            </a:r>
          </a:p>
          <a:p>
            <a:pPr hangingPunct="0"/>
            <a:r>
              <a:rPr lang="de-DE" dirty="0"/>
              <a:t>1. Zum Ausgleich einer Lieferantenrechnung überweisen wir 11.300 an</a:t>
            </a:r>
            <a:br>
              <a:rPr lang="de-DE" dirty="0"/>
            </a:br>
            <a:r>
              <a:rPr lang="de-DE" dirty="0"/>
              <a:t>    unseren Lieferanten.</a:t>
            </a:r>
          </a:p>
          <a:p>
            <a:pPr hangingPunct="0"/>
            <a:r>
              <a:rPr lang="de-DE" dirty="0"/>
              <a:t>2. Wir kaufen Rohstoffe auf Ziel (d.h. wir erhalten eine Eingangsrechnung für</a:t>
            </a:r>
            <a:br>
              <a:rPr lang="de-DE" dirty="0"/>
            </a:br>
            <a:r>
              <a:rPr lang="de-DE" dirty="0"/>
              <a:t>     erhaltene Rohstoffe) in Höhe von 7.200.00 €.</a:t>
            </a:r>
            <a:br>
              <a:rPr lang="de-DE" dirty="0"/>
            </a:br>
            <a:r>
              <a:rPr lang="de-DE" dirty="0"/>
              <a:t>3. Wir tilgen einen Teil unseres Darlehens durch Überweisung von 5.000 €</a:t>
            </a:r>
            <a:br>
              <a:rPr lang="de-DE" dirty="0"/>
            </a:br>
            <a:r>
              <a:rPr lang="de-DE" dirty="0"/>
              <a:t>    von unserem Bankgirokonto.</a:t>
            </a:r>
            <a:br>
              <a:rPr lang="de-DE" dirty="0"/>
            </a:br>
            <a:r>
              <a:rPr lang="de-DE" dirty="0"/>
              <a:t>4. Ein Kunde überweist zum Ausgleich für eine Rechnung 5.200,00 € auf </a:t>
            </a:r>
            <a:br>
              <a:rPr lang="de-DE" dirty="0"/>
            </a:br>
            <a:r>
              <a:rPr lang="de-DE" dirty="0"/>
              <a:t>    unser Bankkonto.</a:t>
            </a:r>
            <a:br>
              <a:rPr lang="de-DE" dirty="0"/>
            </a:br>
            <a:r>
              <a:rPr lang="de-DE" dirty="0"/>
              <a:t>5. Wir zahlen 2.200,00 € auf das Geschäftskonto bar ein!</a:t>
            </a:r>
          </a:p>
          <a:p>
            <a:pPr hangingPunct="0"/>
            <a:endParaRPr lang="de-DE" dirty="0"/>
          </a:p>
          <a:p>
            <a:pPr hangingPunct="0"/>
            <a:r>
              <a:rPr lang="de-DE" b="1" dirty="0">
                <a:solidFill>
                  <a:srgbClr val="FF0000"/>
                </a:solidFill>
              </a:rPr>
              <a:t>Die am Ende der Periode (Jahr) durchgeführte Inventur ergibt keine Abweichungen zu den Beständen in den Konten!</a:t>
            </a:r>
            <a:br>
              <a:rPr lang="de-DE" dirty="0"/>
            </a:br>
            <a:endParaRPr lang="de-DE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272737"/>
              </p:ext>
            </p:extLst>
          </p:nvPr>
        </p:nvGraphicFramePr>
        <p:xfrm>
          <a:off x="395288" y="692150"/>
          <a:ext cx="8496943" cy="5034573"/>
        </p:xfrm>
        <a:graphic>
          <a:graphicData uri="http://schemas.openxmlformats.org/drawingml/2006/table">
            <a:tbl>
              <a:tblPr/>
              <a:tblGrid>
                <a:gridCol w="704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0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36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1389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2000" b="1" dirty="0">
                          <a:latin typeface="Times New Roman"/>
                          <a:ea typeface="Times New Roman"/>
                        </a:rPr>
                        <a:t>Buchungsanweisungen: </a:t>
                      </a:r>
                      <a:r>
                        <a:rPr lang="de-DE" sz="1200" b="1" dirty="0">
                          <a:latin typeface="Times New Roman"/>
                          <a:ea typeface="Times New Roman"/>
                        </a:rPr>
                        <a:t>Grundbuch (Buchungsjournal) </a:t>
                      </a:r>
                      <a:r>
                        <a:rPr lang="de-DE" sz="1600" b="1" dirty="0">
                          <a:latin typeface="Times New Roman"/>
                          <a:ea typeface="Times New Roman"/>
                        </a:rPr>
                        <a:t>Seite: .......</a:t>
                      </a:r>
                      <a:br>
                        <a:rPr lang="de-DE" sz="1600" b="1" dirty="0">
                          <a:latin typeface="Times New Roman"/>
                          <a:ea typeface="Times New Roman"/>
                        </a:rPr>
                      </a:br>
                      <a:r>
                        <a:rPr lang="de-DE" sz="1600" b="1" dirty="0">
                          <a:latin typeface="Times New Roman"/>
                          <a:ea typeface="Times New Roman"/>
                        </a:rPr>
                        <a:t>Unternehmen /Aufgabe: ..........................Monat: ...........Jahr:.........</a:t>
                      </a:r>
                      <a:br>
                        <a:rPr lang="de-DE" sz="1600" b="1" dirty="0">
                          <a:latin typeface="Times New Roman"/>
                          <a:ea typeface="Times New Roman"/>
                        </a:rPr>
                      </a:br>
                      <a:r>
                        <a:rPr lang="de-DE" sz="1600" b="1" dirty="0">
                          <a:latin typeface="Times New Roman"/>
                          <a:ea typeface="Times New Roman"/>
                        </a:rPr>
                        <a:t>Buchungsanweisungen (Buchungssätze) zur Aufgabe Folie 24</a:t>
                      </a:r>
                      <a:endParaRPr lang="de-DE" sz="10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59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b="1" dirty="0" err="1">
                          <a:latin typeface="Times New Roman"/>
                          <a:ea typeface="Times New Roman"/>
                        </a:rPr>
                        <a:t>Lfd</a:t>
                      </a:r>
                      <a:r>
                        <a:rPr lang="de-DE" sz="1800" b="1" dirty="0">
                          <a:latin typeface="Times New Roman"/>
                          <a:ea typeface="Times New Roman"/>
                        </a:rPr>
                        <a:t> Nr.</a:t>
                      </a:r>
                      <a:endParaRPr lang="de-DE" sz="18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</a:rPr>
                        <a:t>Buchungstext (Soll an Haben)</a:t>
                      </a:r>
                      <a:endParaRPr lang="de-DE" sz="18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</a:rPr>
                        <a:t>Soll-Betrag</a:t>
                      </a:r>
                      <a:endParaRPr lang="de-DE" sz="18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</a:rPr>
                        <a:t>Haben-Betrag</a:t>
                      </a:r>
                      <a:endParaRPr lang="de-DE" sz="18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8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b="1">
                          <a:latin typeface="Times New Roman"/>
                          <a:ea typeface="Times New Roman"/>
                        </a:rPr>
                        <a:t>Soll-Kto</a:t>
                      </a:r>
                      <a:endParaRPr lang="de-DE" sz="18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800" b="1">
                          <a:latin typeface="Times New Roman"/>
                          <a:ea typeface="Times New Roman"/>
                        </a:rPr>
                        <a:t>Haben-Kto</a:t>
                      </a:r>
                      <a:endParaRPr lang="de-DE" sz="18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8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8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59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b="1" dirty="0">
                          <a:latin typeface="Times New Roman"/>
                          <a:ea typeface="Times New Roman"/>
                        </a:rPr>
                        <a:t>Verbindlichkeiten</a:t>
                      </a:r>
                      <a:endParaRPr lang="de-DE" sz="20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b="1" dirty="0">
                          <a:latin typeface="Times New Roman"/>
                          <a:ea typeface="Times New Roman"/>
                        </a:rPr>
                        <a:t>Bankguthaben</a:t>
                      </a:r>
                      <a:endParaRPr lang="de-DE" sz="20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>
                          <a:latin typeface="Times New Roman"/>
                          <a:ea typeface="Times New Roman"/>
                        </a:rPr>
                        <a:t>11.3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>
                          <a:latin typeface="Times New Roman"/>
                          <a:ea typeface="Times New Roman"/>
                        </a:rPr>
                        <a:t>11,3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59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b="1">
                          <a:latin typeface="Times New Roman"/>
                          <a:ea typeface="Times New Roman"/>
                        </a:rPr>
                        <a:t>Rohstoffe</a:t>
                      </a: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b="1" dirty="0">
                          <a:latin typeface="Times New Roman"/>
                          <a:ea typeface="Times New Roman"/>
                        </a:rPr>
                        <a:t>Verbindlichkeiten</a:t>
                      </a:r>
                      <a:endParaRPr lang="de-DE" sz="20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>
                          <a:latin typeface="Times New Roman"/>
                          <a:ea typeface="Times New Roman"/>
                        </a:rPr>
                        <a:t>7,2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7,2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59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b="1">
                          <a:latin typeface="Times New Roman"/>
                          <a:ea typeface="Times New Roman"/>
                        </a:rPr>
                        <a:t>Darlehen</a:t>
                      </a: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b="1" dirty="0">
                          <a:latin typeface="Times New Roman"/>
                          <a:ea typeface="Times New Roman"/>
                        </a:rPr>
                        <a:t>Bankguthaben</a:t>
                      </a:r>
                      <a:endParaRPr lang="de-DE" sz="20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5,0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>
                          <a:latin typeface="Times New Roman"/>
                          <a:ea typeface="Times New Roman"/>
                        </a:rPr>
                        <a:t>5,0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59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b="1">
                          <a:latin typeface="Times New Roman"/>
                          <a:ea typeface="Times New Roman"/>
                        </a:rPr>
                        <a:t>Bankguthaben</a:t>
                      </a: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b="1">
                          <a:latin typeface="Times New Roman"/>
                          <a:ea typeface="Times New Roman"/>
                        </a:rPr>
                        <a:t>Forderungen a. LL</a:t>
                      </a: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5,2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5,2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59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>
                          <a:latin typeface="Times New Roman"/>
                          <a:ea typeface="Times New Roman"/>
                        </a:rPr>
                        <a:t>5.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b="1">
                          <a:latin typeface="Times New Roman"/>
                          <a:ea typeface="Times New Roman"/>
                        </a:rPr>
                        <a:t>Bankguthaben</a:t>
                      </a: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b="1">
                          <a:latin typeface="Times New Roman"/>
                          <a:ea typeface="Times New Roman"/>
                        </a:rPr>
                        <a:t>Kasse</a:t>
                      </a:r>
                      <a:endParaRPr lang="de-DE" sz="2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2,2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2000" dirty="0">
                        <a:latin typeface="Times New Roman"/>
                        <a:ea typeface="Times New Roman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2000" dirty="0">
                          <a:latin typeface="Times New Roman"/>
                          <a:ea typeface="Times New Roman"/>
                        </a:rPr>
                        <a:t>2,2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2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0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20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2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dirty="0"/>
              <a:t>Schlussbilanzkonto zur Übungsaufgabe</a:t>
            </a:r>
            <a:br>
              <a:rPr lang="de-DE" sz="3600" dirty="0"/>
            </a:br>
            <a:r>
              <a:rPr lang="de-DE" sz="3600" dirty="0"/>
              <a:t> (vgl. Folie 24)</a:t>
            </a:r>
          </a:p>
        </p:txBody>
      </p:sp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1115616" y="1556795"/>
          <a:ext cx="7344814" cy="3384373"/>
        </p:xfrm>
        <a:graphic>
          <a:graphicData uri="http://schemas.openxmlformats.org/drawingml/2006/table">
            <a:tbl>
              <a:tblPr/>
              <a:tblGrid>
                <a:gridCol w="196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7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868">
                <a:tc>
                  <a:txBody>
                    <a:bodyPr/>
                    <a:lstStyle/>
                    <a:p>
                      <a:pPr algn="l" fontAlgn="b"/>
                      <a:r>
                        <a:rPr lang="de-DE" sz="1500" b="0" i="0" u="none" strike="noStrike" dirty="0">
                          <a:latin typeface="Times New Roman"/>
                        </a:rPr>
                        <a:t> S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500" b="0" i="0" u="none" strike="noStrike">
                          <a:latin typeface="Times New Roman"/>
                        </a:rPr>
                        <a:t>Schlussbilanzkonto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500" b="0" i="0" u="none" strike="noStrike">
                          <a:latin typeface="Times New Roman"/>
                        </a:rPr>
                        <a:t>                         H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541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Grundstück/Gebäude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310.000,00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Eigenkapital</a:t>
                      </a: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530.000,00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541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TA/Maschinen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170.000,00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Darlehen</a:t>
                      </a: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50.000,00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541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 dirty="0">
                          <a:latin typeface="Times New Roman"/>
                        </a:rPr>
                        <a:t>Rohstoffe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37.200,00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 dirty="0">
                          <a:latin typeface="Times New Roman"/>
                        </a:rPr>
                        <a:t>Verbindlichkeiten</a:t>
                      </a:r>
                      <a:r>
                        <a:rPr lang="de-DE" sz="1400" b="0" i="0" u="none" strike="noStrike" baseline="0" dirty="0">
                          <a:latin typeface="Times New Roman"/>
                        </a:rPr>
                        <a:t> a. LL</a:t>
                      </a:r>
                      <a:endParaRPr lang="de-DE" sz="1400" b="0" i="0" u="none" strike="noStrike" dirty="0">
                        <a:latin typeface="Times New Roman"/>
                      </a:endParaRP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 dirty="0">
                          <a:latin typeface="Times New Roman"/>
                        </a:rPr>
                        <a:t>	15.900,00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541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 dirty="0">
                          <a:latin typeface="Times New Roman"/>
                        </a:rPr>
                        <a:t>Forderungen a. LL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29.800,00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 dirty="0">
                        <a:latin typeface="Times New Roman"/>
                      </a:endParaRP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541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 dirty="0">
                          <a:latin typeface="Times New Roman"/>
                        </a:rPr>
                        <a:t>Kasse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2.800,00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541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 dirty="0">
                          <a:latin typeface="Times New Roman"/>
                        </a:rPr>
                        <a:t>Bankguthaben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46.100,00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 dirty="0">
                          <a:latin typeface="Times New Roman"/>
                        </a:rPr>
                        <a:t> </a:t>
                      </a: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259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1" i="0" u="none" strike="noStrike" dirty="0">
                          <a:latin typeface="Times New Roman"/>
                        </a:rPr>
                        <a:t>595.900,00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1" i="0" u="none" strike="noStrike" dirty="0">
                          <a:latin typeface="Times New Roman"/>
                        </a:rPr>
                        <a:t>595.900,00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el 1"/>
          <p:cNvSpPr>
            <a:spLocks noGrp="1"/>
          </p:cNvSpPr>
          <p:nvPr>
            <p:ph type="title"/>
          </p:nvPr>
        </p:nvSpPr>
        <p:spPr>
          <a:xfrm>
            <a:off x="468313" y="115888"/>
            <a:ext cx="8229600" cy="360362"/>
          </a:xfrm>
        </p:spPr>
        <p:txBody>
          <a:bodyPr/>
          <a:lstStyle/>
          <a:p>
            <a:r>
              <a:rPr lang="de-DE" sz="2400" dirty="0"/>
              <a:t>HA: Buchungssätze/ SBK   B.S. 49 Nr. 41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094223"/>
              </p:ext>
            </p:extLst>
          </p:nvPr>
        </p:nvGraphicFramePr>
        <p:xfrm>
          <a:off x="730685" y="474464"/>
          <a:ext cx="7704856" cy="3473648"/>
        </p:xfrm>
        <a:graphic>
          <a:graphicData uri="http://schemas.openxmlformats.org/drawingml/2006/table">
            <a:tbl>
              <a:tblPr/>
              <a:tblGrid>
                <a:gridCol w="63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1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3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01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  In T€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41    Monat:  ………  Jahr:.........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148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Darlehen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42,6   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42,6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 </a:t>
                      </a:r>
                      <a:r>
                        <a:rPr lang="de-DE" sz="1200" dirty="0" err="1">
                          <a:latin typeface="Times New Roman"/>
                          <a:ea typeface="Times New Roman"/>
                          <a:cs typeface="Times New Roman"/>
                        </a:rPr>
                        <a:t>a.LL</a:t>
                      </a:r>
                      <a:endParaRPr lang="de-DE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4,0     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4,0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TA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12,1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12,1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 a. LL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2,95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2,95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5.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 a. LL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8,15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8,15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6.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BGA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0,3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0,3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7.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Kasse 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1,2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1,2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8.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Hilfsstoffe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Verbindlichkeiten a. LL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1,2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1,2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9.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Postbankguthaben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1,4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1,4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10.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Darlehen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14,0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14,0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548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11.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Bankguthaben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Forderungen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   4,4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dirty="0">
                          <a:latin typeface="Times New Roman"/>
                          <a:ea typeface="Times New Roman"/>
                          <a:cs typeface="Times New Roman"/>
                        </a:rPr>
                        <a:t>                       4,4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8" name="Tabelle 7"/>
          <p:cNvGraphicFramePr>
            <a:graphicFrameLocks noGrp="1"/>
          </p:cNvGraphicFramePr>
          <p:nvPr/>
        </p:nvGraphicFramePr>
        <p:xfrm>
          <a:off x="1547813" y="4005263"/>
          <a:ext cx="6336704" cy="2592284"/>
        </p:xfrm>
        <a:graphic>
          <a:graphicData uri="http://schemas.openxmlformats.org/drawingml/2006/table">
            <a:tbl>
              <a:tblPr/>
              <a:tblGrid>
                <a:gridCol w="164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2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1942">
                <a:tc>
                  <a:txBody>
                    <a:bodyPr/>
                    <a:lstStyle/>
                    <a:p>
                      <a:pPr algn="l" fontAlgn="b"/>
                      <a:r>
                        <a:rPr lang="de-DE" sz="1500" b="0" i="0" u="none" strike="noStrike" dirty="0">
                          <a:latin typeface="Times New Roman"/>
                        </a:rPr>
                        <a:t> S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500" b="0" i="0" u="none" strike="noStrike">
                          <a:latin typeface="Times New Roman"/>
                        </a:rPr>
                        <a:t>Schlussbilanzkonto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500" b="0" i="0" u="none" strike="noStrike">
                          <a:latin typeface="Times New Roman"/>
                        </a:rPr>
                        <a:t>                         H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 dirty="0">
                          <a:latin typeface="Times New Roman"/>
                        </a:rPr>
                        <a:t>Grundstück/Gebäude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380.000,00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Eigenkapital</a:t>
                      </a: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721.400,00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TA/Maschinen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277.900,00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Darlehen</a:t>
                      </a: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206.600,00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BGA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130.300,00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 dirty="0">
                          <a:latin typeface="Times New Roman"/>
                        </a:rPr>
                        <a:t>Verbindlichkeiten</a:t>
                      </a: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55.000,00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Rohstoffe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 dirty="0">
                          <a:latin typeface="Times New Roman"/>
                        </a:rPr>
                        <a:t>54.950,00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Hilfsstoffe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15.200,00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Forderungen a. LL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41.700,00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Postbankguthaben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2.000,00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Bankguthaben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76.450,00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400" b="0" i="0" u="none" strike="noStrike">
                        <a:latin typeface="Times New Roman"/>
                      </a:endParaRP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Kasse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0" i="0" u="none" strike="noStrike">
                          <a:latin typeface="Times New Roman"/>
                        </a:rPr>
                        <a:t>4.500,00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0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949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1" i="0" u="none" strike="noStrike">
                          <a:latin typeface="Times New Roman"/>
                        </a:rPr>
                        <a:t>983.000,00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b="1" i="0" u="none" strike="noStrike">
                          <a:latin typeface="Times New Roman"/>
                        </a:rPr>
                        <a:t> </a:t>
                      </a:r>
                    </a:p>
                  </a:txBody>
                  <a:tcPr marL="8135" marR="8135" marT="81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400" b="1" i="0" u="none" strike="noStrike" dirty="0">
                          <a:latin typeface="Times New Roman"/>
                        </a:rPr>
                        <a:t>983.000,00</a:t>
                      </a:r>
                    </a:p>
                  </a:txBody>
                  <a:tcPr marL="8135" marR="8135" marT="813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/////wQAPwwAAAAAAAAAAAAAIAD///////////////8AAAD////////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1caXMmmp8hOj664+/+BBY4FAAAAAAADAAAAAwADAAAAAQADAAIA////////BAAAAAMAEAALbL07P520G0qxjGL2wZ/GQwUAAAAB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FcaXMmmp8hOj664+/+BBY4DRGF0YQAbAAAABExpbmtlZFNoYXBlRGF0YQAFAAAAAAACTmFtZQAZAAAATGlua2VkU2hhcGVzRGF0YVByb3BlcnR5ABBWZXJzaW9uAAAAAAAJTGFzdFdyaXRlAO0SfEaVAQAAAAEA/////8YAxgAAAAVfaWQAEAAAAARsvTs/nbQbSrGMYvbBn8ZDA0RhdGEAUwAAAAhQcmVzZW50YXRpb25TY2FubmVkRm9yTGlua2VkU2hhcGVzAAECTnVtYmVyRm9ybWF0U2VwYXJhdG9yTW9kZQAKAAAAQXV0b21hdGljAAACTmFtZQAkAAAATGlua2VkU2hhcGVQcmVzZW50YXRpb25TZXR0aW5nc0RhdGEAEFZlcnNpb24AAAAAAAlMYXN0V3JpdGUAWxN8RpU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2876</Words>
  <Application>Microsoft Office PowerPoint</Application>
  <PresentationFormat>Bildschirmpräsentation (4:3)</PresentationFormat>
  <Paragraphs>750</Paragraphs>
  <Slides>27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5" baseType="lpstr">
      <vt:lpstr>Arial</vt:lpstr>
      <vt:lpstr>Arial Rounded MT Bold</vt:lpstr>
      <vt:lpstr>Calibri</vt:lpstr>
      <vt:lpstr>Comic Sans MS</vt:lpstr>
      <vt:lpstr>Monotype Sorts</vt:lpstr>
      <vt:lpstr>Times New Roman</vt:lpstr>
      <vt:lpstr>Wingdings</vt:lpstr>
      <vt:lpstr>Larissa-Design</vt:lpstr>
      <vt:lpstr>PowerPoint-Präsentation</vt:lpstr>
      <vt:lpstr>Industriebetrieb allgemein</vt:lpstr>
      <vt:lpstr>PowerPoint-Präsentation</vt:lpstr>
      <vt:lpstr>Gliederung von „Technik der Finanzbuchführung“</vt:lpstr>
      <vt:lpstr>PowerPoint-Präsentation</vt:lpstr>
      <vt:lpstr>PowerPoint-Präsentation</vt:lpstr>
      <vt:lpstr>Gesetzliche Grundlagen der Buchführung </vt:lpstr>
      <vt:lpstr>PowerPoint-Präsentation</vt:lpstr>
      <vt:lpstr>3. Inventar, Inventur, Bilanz - Inventurverfahren (vgl. HGB § 241, B.S. 19 f)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Reihenfolge der Buchungsarbeiten</vt:lpstr>
      <vt:lpstr>Erstellen Sie für die folgenden Geschäftsfälle die Buchungssätze (Soll an Haben) (vgl. Arbeitsblatt zur Folie 20)</vt:lpstr>
      <vt:lpstr>PowerPoint-Präsentation</vt:lpstr>
      <vt:lpstr>HA: Buchungssätze  B.S. 42 Nr. 33</vt:lpstr>
      <vt:lpstr>Zusammengesetzter Buchungssatz (vgl. B.S.45)</vt:lpstr>
      <vt:lpstr>Zusammenhang: Inventar – Bilanz – Hauptbuchbestandskonten - Bilanz</vt:lpstr>
      <vt:lpstr>  Von der Übernahme von Bilanzpositionen in Bestandskonten bis zum Abschluss der Bestandskonten (vgl. Arbeitsblatt) </vt:lpstr>
      <vt:lpstr>PowerPoint-Präsentation</vt:lpstr>
      <vt:lpstr>Schlussbilanzkonto zur Übungsaufgabe  (vgl. Folie 24)</vt:lpstr>
      <vt:lpstr>HA: Buchungssätze/ SBK   B.S. 49 Nr. 41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J.P Metzger</dc:creator>
  <cp:lastModifiedBy>Duong, Thi Quynh Nhi  SH/HZA-HAADD</cp:lastModifiedBy>
  <cp:revision>173</cp:revision>
  <cp:lastPrinted>2024-05-21T08:49:10Z</cp:lastPrinted>
  <dcterms:created xsi:type="dcterms:W3CDTF">2015-05-11T07:47:32Z</dcterms:created>
  <dcterms:modified xsi:type="dcterms:W3CDTF">2025-02-27T10:14:51Z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3c2d95-ffb8-4f09-8d49-eacb0a6220f7_Enabled">
    <vt:lpwstr>true</vt:lpwstr>
  </property>
  <property fmtid="{D5CDD505-2E9C-101B-9397-08002B2CF9AE}" pid="3" name="MSIP_Label_f33c2d95-ffb8-4f09-8d49-eacb0a6220f7_SetDate">
    <vt:lpwstr>2025-02-27T08:44:36Z</vt:lpwstr>
  </property>
  <property fmtid="{D5CDD505-2E9C-101B-9397-08002B2CF9AE}" pid="4" name="MSIP_Label_f33c2d95-ffb8-4f09-8d49-eacb0a6220f7_Method">
    <vt:lpwstr>Standard</vt:lpwstr>
  </property>
  <property fmtid="{D5CDD505-2E9C-101B-9397-08002B2CF9AE}" pid="5" name="MSIP_Label_f33c2d95-ffb8-4f09-8d49-eacb0a6220f7_Name">
    <vt:lpwstr>Internal</vt:lpwstr>
  </property>
  <property fmtid="{D5CDD505-2E9C-101B-9397-08002B2CF9AE}" pid="6" name="MSIP_Label_f33c2d95-ffb8-4f09-8d49-eacb0a6220f7_SiteId">
    <vt:lpwstr>67416604-6509-4014-9859-45e709f53d3f</vt:lpwstr>
  </property>
  <property fmtid="{D5CDD505-2E9C-101B-9397-08002B2CF9AE}" pid="7" name="MSIP_Label_f33c2d95-ffb8-4f09-8d49-eacb0a6220f7_ActionId">
    <vt:lpwstr>3fcf6bae-a2bb-4673-90fa-c9fddc706ec4</vt:lpwstr>
  </property>
  <property fmtid="{D5CDD505-2E9C-101B-9397-08002B2CF9AE}" pid="8" name="MSIP_Label_f33c2d95-ffb8-4f09-8d49-eacb0a6220f7_ContentBits">
    <vt:lpwstr>2</vt:lpwstr>
  </property>
  <property fmtid="{D5CDD505-2E9C-101B-9397-08002B2CF9AE}" pid="9" name="ClassificationContentMarkingFooterLocations">
    <vt:lpwstr>Larissa-Design:3</vt:lpwstr>
  </property>
  <property fmtid="{D5CDD505-2E9C-101B-9397-08002B2CF9AE}" pid="10" name="ClassificationContentMarkingFooterText">
    <vt:lpwstr>INTERNAL</vt:lpwstr>
  </property>
</Properties>
</file>