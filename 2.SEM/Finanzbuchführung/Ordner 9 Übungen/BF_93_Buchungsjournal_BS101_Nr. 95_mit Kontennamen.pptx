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9" r:id="rId2"/>
    <p:sldId id="281" r:id="rId3"/>
    <p:sldId id="280" r:id="rId4"/>
  </p:sldIdLst>
  <p:sldSz cx="9144000" cy="6858000" type="screen4x3"/>
  <p:notesSz cx="6797675" cy="9926638"/>
  <p:custDataLst>
    <p:tags r:id="rId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93" autoAdjust="0"/>
  </p:normalViewPr>
  <p:slideViewPr>
    <p:cSldViewPr>
      <p:cViewPr varScale="1">
        <p:scale>
          <a:sx n="52" d="100"/>
          <a:sy n="52" d="100"/>
        </p:scale>
        <p:origin x="1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DD" userId="fa5d8dce-1e87-4da3-b2b1-08b1cf4c506d" providerId="ADAL" clId="{3D5D5307-593B-44A1-9A4B-9C72179A2C46}"/>
    <pc:docChg chg="modSld">
      <pc:chgData name="Duong, Thi Quynh Nhi  SH/HZA-HAADD" userId="fa5d8dce-1e87-4da3-b2b1-08b1cf4c506d" providerId="ADAL" clId="{3D5D5307-593B-44A1-9A4B-9C72179A2C46}" dt="2025-03-27T08:25:26.842" v="103" actId="20577"/>
      <pc:docMkLst>
        <pc:docMk/>
      </pc:docMkLst>
      <pc:sldChg chg="modNotesTx">
        <pc:chgData name="Duong, Thi Quynh Nhi  SH/HZA-HAADD" userId="fa5d8dce-1e87-4da3-b2b1-08b1cf4c506d" providerId="ADAL" clId="{3D5D5307-593B-44A1-9A4B-9C72179A2C46}" dt="2025-03-27T08:23:29.392" v="56" actId="20577"/>
        <pc:sldMkLst>
          <pc:docMk/>
          <pc:sldMk cId="0" sldId="279"/>
        </pc:sldMkLst>
      </pc:sldChg>
      <pc:sldChg chg="modNotesTx">
        <pc:chgData name="Duong, Thi Quynh Nhi  SH/HZA-HAADD" userId="fa5d8dce-1e87-4da3-b2b1-08b1cf4c506d" providerId="ADAL" clId="{3D5D5307-593B-44A1-9A4B-9C72179A2C46}" dt="2025-03-27T08:25:26.842" v="103" actId="20577"/>
        <pc:sldMkLst>
          <pc:docMk/>
          <pc:sldMk cId="4150607843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ADC0E8F0-96FB-42DA-BCE6-91E89C8A5193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62" tIns="47781" rIns="95562" bIns="47781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B33CA4F0-8477-45D8-A10A-9ACF782B21DF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Private </a:t>
            </a:r>
            <a:r>
              <a:rPr lang="en-US" dirty="0" err="1"/>
              <a:t>Entnahme</a:t>
            </a:r>
            <a:r>
              <a:rPr lang="en-US" dirty="0"/>
              <a:t> in Bar.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89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</a:t>
            </a:r>
            <a:r>
              <a:rPr lang="en-US" dirty="0" err="1"/>
              <a:t>Zielseinkauf</a:t>
            </a:r>
            <a:r>
              <a:rPr lang="en-US" dirty="0"/>
              <a:t> von </a:t>
            </a:r>
            <a:r>
              <a:rPr lang="en-US" dirty="0" err="1"/>
              <a:t>Hilfsstoffe</a:t>
            </a:r>
            <a:endParaRPr lang="en-US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CA4F0-8477-45D8-A10A-9ACF782B21DF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2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6B41A-1A19-42F6-BF0A-4CE712537B09}" type="datetimeFigureOut">
              <a:rPr lang="de-DE" smtClean="0"/>
              <a:pPr/>
              <a:t>27.03.2025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DB53-B465-42FC-AF9E-93DC21005B1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1FCEA41-9DDA-4186-1F4D-877686F7D53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66387" y="6672580"/>
            <a:ext cx="433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864706"/>
              </p:ext>
            </p:extLst>
          </p:nvPr>
        </p:nvGraphicFramePr>
        <p:xfrm>
          <a:off x="395536" y="548680"/>
          <a:ext cx="8352928" cy="5397098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        </a:t>
                      </a:r>
                      <a:r>
                        <a:rPr lang="de-DE" sz="14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Mietaufwand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 aus L+L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31773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26700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USt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5073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Frachtaufwand (6140)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1666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 (2600)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266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Verb. Aus L+L (4400)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15000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17850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2850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für BS (6030)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Betriebsstoffe (2030)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Bank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 aus L+L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12852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12852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Aufwand für RS (6000)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Rohstoffe (2000)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14800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14800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8.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Zinsaufwand (7510)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Bankguth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 (2800)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2200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2200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Privat (3001)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Kasse (2880)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1400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81668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Forderungen aus L+L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Umsatzerlöse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22134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18600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Ust</a:t>
                      </a: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3534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11.	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Löhne (6200)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Bankguth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11700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11700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Gewerbesteueraufwand (7700)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 err="1">
                          <a:latin typeface="Times New Roman"/>
                          <a:ea typeface="Times New Roman"/>
                          <a:cs typeface="Times New Roman"/>
                        </a:rPr>
                        <a:t>Bankguth</a:t>
                      </a: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2100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2100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47466"/>
              </p:ext>
            </p:extLst>
          </p:nvPr>
        </p:nvGraphicFramePr>
        <p:xfrm>
          <a:off x="395536" y="548680"/>
          <a:ext cx="8352928" cy="2898130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        </a:t>
                      </a:r>
                      <a:r>
                        <a:rPr lang="de-DE" sz="14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Hilfsstoffe (2020)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Verb. Aus L+L (4400)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Vorsteuer (2060)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665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4165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Fremdinstandhaltung (6160)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Vorsteuer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 err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Bankguth</a:t>
                      </a: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(2800)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714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15.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Privat (3001)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 err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Entn</a:t>
                      </a: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 von G + L (5420)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1904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1600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48794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 err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Ust</a:t>
                      </a: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(4800)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304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11058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60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de-DE" sz="2400" dirty="0"/>
              <a:t>HA: Buchungssätze/ Kontenrahmen IKR  B.S. 101 Nr. 95</a:t>
            </a:r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6463"/>
              </p:ext>
            </p:extLst>
          </p:nvPr>
        </p:nvGraphicFramePr>
        <p:xfrm>
          <a:off x="395536" y="548680"/>
          <a:ext cx="8352928" cy="6265533"/>
        </p:xfrm>
        <a:graphic>
          <a:graphicData uri="http://schemas.openxmlformats.org/drawingml/2006/table">
            <a:tbl>
              <a:tblPr/>
              <a:tblGrid>
                <a:gridCol w="69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056">
                <a:tc gridSpan="5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  <a:tab pos="4951095" algn="l"/>
                        </a:tabLst>
                      </a:pPr>
                      <a:r>
                        <a:rPr lang="de-DE" sz="1800" b="1" dirty="0">
                          <a:latin typeface="Times New Roman"/>
                          <a:ea typeface="Times New Roman"/>
                          <a:cs typeface="Times New Roman"/>
                        </a:rPr>
                        <a:t>Buchungsanweisungen: 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Grundbuch (Buchungsjournal) </a:t>
                      </a: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Seite: .......           </a:t>
                      </a:r>
                      <a:r>
                        <a:rPr lang="de-DE" sz="1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vorbereitende Abschlussbuchungen  </a:t>
                      </a:r>
                      <a:b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de-DE" sz="1400" b="1" dirty="0">
                          <a:latin typeface="Times New Roman"/>
                          <a:ea typeface="Times New Roman"/>
                          <a:cs typeface="Times New Roman"/>
                        </a:rPr>
                        <a:t>Unternehmen /Aufgabe: Nr. 95    Monat:  ………  Jahr:.........                     </a:t>
                      </a:r>
                      <a:r>
                        <a:rPr lang="de-DE" sz="14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zur Aufgabe Nr. 95</a:t>
                      </a:r>
                      <a:endParaRPr lang="de-DE" sz="9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826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Lfd</a:t>
                      </a: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 Nr.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200" b="1" dirty="0">
                          <a:latin typeface="Times New Roman"/>
                          <a:ea typeface="Times New Roman"/>
                          <a:cs typeface="Times New Roman"/>
                        </a:rPr>
                        <a:t>Buchungstext (Soll an Haben)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Soll-Betrag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Haben-Betrag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>
                          <a:latin typeface="Times New Roman"/>
                          <a:ea typeface="Times New Roman"/>
                          <a:cs typeface="Times New Roman"/>
                        </a:rPr>
                        <a:t>Soll-Kto</a:t>
                      </a:r>
                      <a:endParaRPr lang="de-DE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100" b="1" dirty="0">
                          <a:latin typeface="Times New Roman"/>
                          <a:ea typeface="Times New Roman"/>
                          <a:cs typeface="Times New Roman"/>
                        </a:rPr>
                        <a:t>Haben-</a:t>
                      </a:r>
                      <a:r>
                        <a:rPr lang="de-DE" sz="1100" b="1" dirty="0" err="1">
                          <a:latin typeface="Times New Roman"/>
                          <a:ea typeface="Times New Roman"/>
                          <a:cs typeface="Times New Roman"/>
                        </a:rPr>
                        <a:t>Kto</a:t>
                      </a:r>
                      <a:endParaRPr lang="de-DE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1.)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 a)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2 b)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340610" algn="l"/>
                          <a:tab pos="4050665" algn="l"/>
                        </a:tabLst>
                        <a:defRPr/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3)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4)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r>
                        <a:rPr lang="de-DE" sz="1400" dirty="0">
                          <a:latin typeface="Times New Roman"/>
                          <a:ea typeface="Times New Roman"/>
                          <a:cs typeface="Times New Roman"/>
                        </a:rPr>
                        <a:t>A 5)</a:t>
                      </a: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9031"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0">
                        <a:spcAft>
                          <a:spcPts val="0"/>
                        </a:spcAft>
                        <a:tabLst>
                          <a:tab pos="2340610" algn="l"/>
                          <a:tab pos="4050665" algn="l"/>
                        </a:tabLst>
                      </a:pPr>
                      <a:endParaRPr lang="de-DE" sz="1400" kern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9511" marR="395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IAAAAAAAAAAwAAAAMAAAAA/////wQADwwAAAAAAAAAAAAAIAD///////////////8AAAD///////////////8DAAAAAwD///////8DAAAAAwD///////8DAAAAAw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EAP///////wQAAAACABAAC/OgwAmAo7ZLvmJrPT0ayqwFAAAAAAADAAAAAwADAAAAAQADAAAAAwD///////8DAAAAAwD///////8DAAAAAAD///////8DAAMA////////BAAAAAMAEAALI03WABbodESVRvUPsn9lnQUAAAABAAMAAAAAAAMAAAACAAMAAAAAAAMAAAAC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BAEDAAAAAgD///////8aAAZMaW5rZWRTaGFwZXNEYXRhUHJvcGVydHlfMAUAAAAAAAQAAAADAAQAAAABAAQAAAADAP///////wQAAAADAP///////wQAAAAAAP///////wMAAwEDAAAAAwD///////8lAAZMaW5rZWRTaGFwZVByZXNlbnRhdGlvblNldHRpbmdzRGF0YV8wBQAAAAEABAAAAAAABAAAAAIABAAAAAAABAAAAAI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POgwAmAo7ZLvmJrPT0ayqwDRGF0YQAbAAAABExpbmtlZFNoYXBlRGF0YQAFAAAAAAACTmFtZQAZAAAATGlua2VkU2hhcGVzRGF0YVByb3BlcnR5ABBWZXJzaW9uAAAAAAAJTGFzdFdyaXRlAE0yqNaVAQAAAAEA/////8YAxgAAAAVfaWQAEAAAAAQjTdYAFuh0RJVG9Q+yf2WdA0RhdGEAUwAAAAhQcmVzZW50YXRpb25TY2FubmVkRm9yTGlua2VkU2hhcGVzAAECTnVtYmVyRm9ybWF0U2VwYXJhdG9yTW9kZQAKAAAAQXV0b21hdGljAAACTmFtZQAkAAAATGlua2VkU2hhcGVQcmVzZW50YXRpb25TZXR0aW5nc0RhdGEAEFZlcnNpb24AAAAAAAlMYXN0V3JpdGUAbDKo1pU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Bildschirmpräsentation (4:3)</PresentationFormat>
  <Paragraphs>123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Larissa-Design</vt:lpstr>
      <vt:lpstr>HA: Buchungssätze/ Kontenrahmen IKR  B.S. 101 Nr. 95</vt:lpstr>
      <vt:lpstr>HA: Buchungssätze/ Kontenrahmen IKR  B.S. 101 Nr. 95</vt:lpstr>
      <vt:lpstr>HA: Buchungssätze/ Kontenrahmen IKR  B.S. 101 Nr. 95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Thorsten Galm</dc:creator>
  <cp:lastModifiedBy>Duong, Thi Quynh Nhi  SH/HZA-HAADD</cp:lastModifiedBy>
  <cp:revision>99</cp:revision>
  <dcterms:created xsi:type="dcterms:W3CDTF">2015-05-11T07:47:32Z</dcterms:created>
  <dcterms:modified xsi:type="dcterms:W3CDTF">2025-03-27T08:25:31Z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2025-03-27T08:23:20Z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6c0152eb-82a9-4b2e-a0a0-903f86fa6c4e</vt:lpwstr>
  </property>
  <property fmtid="{D5CDD505-2E9C-101B-9397-08002B2CF9AE}" pid="8" name="MSIP_Label_f33c2d95-ffb8-4f09-8d49-eacb0a6220f7_ContentBits">
    <vt:lpwstr>2</vt:lpwstr>
  </property>
  <property fmtid="{D5CDD505-2E9C-101B-9397-08002B2CF9AE}" pid="9" name="MSIP_Label_f33c2d95-ffb8-4f09-8d49-eacb0a6220f7_Tag">
    <vt:lpwstr>10, 3, 0, 1</vt:lpwstr>
  </property>
  <property fmtid="{D5CDD505-2E9C-101B-9397-08002B2CF9AE}" pid="10" name="ClassificationContentMarkingFooterLocations">
    <vt:lpwstr>Larissa-Design:8</vt:lpwstr>
  </property>
  <property fmtid="{D5CDD505-2E9C-101B-9397-08002B2CF9AE}" pid="11" name="ClassificationContentMarkingFooterText">
    <vt:lpwstr>INTERNAL</vt:lpwstr>
  </property>
</Properties>
</file>